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2"/>
  </p:notesMasterIdLst>
  <p:sldIdLst>
    <p:sldId id="256" r:id="rId2"/>
    <p:sldId id="302" r:id="rId3"/>
    <p:sldId id="265" r:id="rId4"/>
    <p:sldId id="273" r:id="rId5"/>
    <p:sldId id="304" r:id="rId6"/>
    <p:sldId id="306" r:id="rId7"/>
    <p:sldId id="307" r:id="rId8"/>
    <p:sldId id="308" r:id="rId9"/>
    <p:sldId id="305" r:id="rId10"/>
    <p:sldId id="309" r:id="rId11"/>
    <p:sldId id="287" r:id="rId12"/>
    <p:sldId id="310" r:id="rId13"/>
    <p:sldId id="311" r:id="rId14"/>
    <p:sldId id="312" r:id="rId15"/>
    <p:sldId id="313" r:id="rId16"/>
    <p:sldId id="314" r:id="rId17"/>
    <p:sldId id="315" r:id="rId18"/>
    <p:sldId id="292" r:id="rId19"/>
    <p:sldId id="316" r:id="rId20"/>
    <p:sldId id="317" r:id="rId21"/>
    <p:sldId id="318" r:id="rId22"/>
    <p:sldId id="319" r:id="rId23"/>
    <p:sldId id="325" r:id="rId24"/>
    <p:sldId id="320" r:id="rId25"/>
    <p:sldId id="321" r:id="rId26"/>
    <p:sldId id="322" r:id="rId27"/>
    <p:sldId id="323" r:id="rId28"/>
    <p:sldId id="326" r:id="rId29"/>
    <p:sldId id="324" r:id="rId30"/>
    <p:sldId id="329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49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1281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9838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2184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5605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5025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1355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4310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02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57351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353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76838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5083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315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tângulo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tângulo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tângulo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tângulo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tângulo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tângulo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tângulo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tângulo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tângulo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tângulo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tângulo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07568" y="5301208"/>
            <a:ext cx="6400800" cy="1104528"/>
          </a:xfrm>
        </p:spPr>
        <p:txBody>
          <a:bodyPr/>
          <a:lstStyle/>
          <a:p>
            <a:pPr algn="l"/>
            <a:r>
              <a:rPr lang="pt-BR" dirty="0"/>
              <a:t>Professor: Carlos Alberto</a:t>
            </a:r>
          </a:p>
          <a:p>
            <a:pPr algn="l"/>
            <a:r>
              <a:rPr lang="pt-BR" dirty="0" err="1"/>
              <a:t>Email</a:t>
            </a:r>
            <a:r>
              <a:rPr lang="pt-BR" dirty="0"/>
              <a:t>: carloswgama@gmail.com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48C3F07-DB98-A34D-D499-CE330CDBA789}"/>
              </a:ext>
            </a:extLst>
          </p:cNvPr>
          <p:cNvSpPr>
            <a:spLocks noGrp="1"/>
          </p:cNvSpPr>
          <p:nvPr/>
        </p:nvSpPr>
        <p:spPr>
          <a:xfrm>
            <a:off x="925216" y="665261"/>
            <a:ext cx="10657184" cy="2763739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6000" dirty="0"/>
              <a:t>Laboratório de Programação I</a:t>
            </a:r>
            <a:r>
              <a:rPr lang="pt-BR" sz="5400" dirty="0"/>
              <a:t> </a:t>
            </a:r>
            <a:r>
              <a:rPr lang="pt-BR" dirty="0"/>
              <a:t>Variáveis</a:t>
            </a:r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Programando!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Até o momento, nossos códigos estão apenas exibindo textos e estáticos.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Para permitir que ele possa variar dependendo de valores informados, será preciso trabalhar com </a:t>
            </a:r>
            <a:r>
              <a:rPr lang="pt-BR" sz="2000" b="1" u="sng" dirty="0"/>
              <a:t>variáveis</a:t>
            </a:r>
            <a:r>
              <a:rPr lang="pt-BR" sz="2000" dirty="0"/>
              <a:t>! </a:t>
            </a:r>
            <a:endParaRPr lang="pt-BR" sz="1800" dirty="0"/>
          </a:p>
          <a:p>
            <a:pPr lvl="1" algn="just"/>
            <a:endParaRPr lang="pt-BR" sz="18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84437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1143000"/>
            <a:ext cx="8229600" cy="5022304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Variável</a:t>
            </a:r>
          </a:p>
        </p:txBody>
      </p:sp>
    </p:spTree>
    <p:extLst>
      <p:ext uri="{BB962C8B-B14F-4D97-AF65-F5344CB8AC3E}">
        <p14:creationId xmlns:p14="http://schemas.microsoft.com/office/powerpoint/2010/main" val="935046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Variáveis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que é uma variável na matemática? </a:t>
            </a:r>
          </a:p>
          <a:p>
            <a:pPr lvl="1" algn="just"/>
            <a:r>
              <a:rPr lang="pt-BR" sz="1800" dirty="0"/>
              <a:t>É um valor X, que pode variar de valor! Ora ser 3, ora ser 5.</a:t>
            </a:r>
          </a:p>
          <a:p>
            <a:pPr lvl="1" algn="just"/>
            <a:endParaRPr lang="pt-BR" sz="1800" dirty="0"/>
          </a:p>
          <a:p>
            <a:pPr algn="just"/>
            <a:r>
              <a:rPr lang="pt-BR" sz="2000" dirty="0"/>
              <a:t>Como vimos antes, uma linguagem de programação tem conceitos de português como </a:t>
            </a:r>
            <a:r>
              <a:rPr lang="pt-BR" sz="2000" u="sng" dirty="0"/>
              <a:t>sintaxe e semântica</a:t>
            </a:r>
            <a:r>
              <a:rPr lang="pt-BR" sz="2000" dirty="0"/>
              <a:t>, mas a sua </a:t>
            </a:r>
            <a:r>
              <a:rPr lang="pt-BR" sz="2000" u="sng" dirty="0"/>
              <a:t>base</a:t>
            </a:r>
            <a:r>
              <a:rPr lang="pt-BR" sz="2000" dirty="0"/>
              <a:t> é a </a:t>
            </a:r>
            <a:r>
              <a:rPr lang="pt-BR" sz="2000" u="sng" dirty="0"/>
              <a:t>matemática</a:t>
            </a:r>
            <a:r>
              <a:rPr lang="pt-BR" sz="2000" dirty="0"/>
              <a:t>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Na programação também poderemos criar uma variável que hora vai poder ser um valor ou outro. 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95030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Variáveis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Para declarar uma variável, fazemos isso dentro da função </a:t>
            </a:r>
            <a:r>
              <a:rPr lang="pt-BR" sz="2000" dirty="0" err="1"/>
              <a:t>main</a:t>
            </a:r>
            <a:r>
              <a:rPr lang="pt-BR" sz="2000" dirty="0"/>
              <a:t>(), com a seguinte sintaxe: 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2423592" y="3068960"/>
            <a:ext cx="734481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C000"/>
                </a:solidFill>
              </a:rPr>
              <a:t>&lt;tipo da </a:t>
            </a:r>
            <a:r>
              <a:rPr lang="pt-BR" b="1" dirty="0" err="1">
                <a:solidFill>
                  <a:srgbClr val="FFC000"/>
                </a:solidFill>
              </a:rPr>
              <a:t>variavel</a:t>
            </a:r>
            <a:r>
              <a:rPr lang="pt-BR" b="1" dirty="0">
                <a:solidFill>
                  <a:srgbClr val="FFC000"/>
                </a:solidFill>
              </a:rPr>
              <a:t>&gt;</a:t>
            </a:r>
            <a:r>
              <a:rPr lang="pt-BR" b="1" dirty="0"/>
              <a:t> </a:t>
            </a:r>
            <a:r>
              <a:rPr lang="pt-BR" b="1" dirty="0">
                <a:solidFill>
                  <a:srgbClr val="FF0000"/>
                </a:solidFill>
              </a:rPr>
              <a:t>&lt;nome da </a:t>
            </a:r>
            <a:r>
              <a:rPr lang="pt-BR" b="1" dirty="0" err="1">
                <a:solidFill>
                  <a:srgbClr val="FF0000"/>
                </a:solidFill>
              </a:rPr>
              <a:t>variavel</a:t>
            </a:r>
            <a:r>
              <a:rPr lang="pt-BR" b="1" dirty="0">
                <a:solidFill>
                  <a:srgbClr val="FF0000"/>
                </a:solidFill>
              </a:rPr>
              <a:t>&gt;</a:t>
            </a:r>
            <a:r>
              <a:rPr lang="pt-BR" b="1" dirty="0"/>
              <a:t> </a:t>
            </a:r>
            <a:r>
              <a:rPr lang="pt-BR" dirty="0"/>
              <a:t>= </a:t>
            </a:r>
            <a:r>
              <a:rPr lang="pt-BR" b="1" dirty="0">
                <a:solidFill>
                  <a:srgbClr val="7030A0"/>
                </a:solidFill>
              </a:rPr>
              <a:t>&lt;valor aplicado&gt;</a:t>
            </a:r>
            <a:r>
              <a:rPr lang="pt-BR" dirty="0"/>
              <a:t>;</a:t>
            </a:r>
          </a:p>
        </p:txBody>
      </p:sp>
      <p:sp>
        <p:nvSpPr>
          <p:cNvPr id="5" name="Retângulo 4"/>
          <p:cNvSpPr/>
          <p:nvPr/>
        </p:nvSpPr>
        <p:spPr>
          <a:xfrm>
            <a:off x="5086154" y="4012436"/>
            <a:ext cx="129614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FFC000"/>
                </a:solidFill>
              </a:rPr>
              <a:t>int</a:t>
            </a:r>
            <a:r>
              <a:rPr lang="pt-BR" b="1" dirty="0"/>
              <a:t> </a:t>
            </a:r>
            <a:r>
              <a:rPr lang="pt-BR" b="1" dirty="0">
                <a:solidFill>
                  <a:srgbClr val="FF0000"/>
                </a:solidFill>
              </a:rPr>
              <a:t>x</a:t>
            </a:r>
            <a:r>
              <a:rPr lang="pt-BR" b="1" dirty="0"/>
              <a:t> </a:t>
            </a:r>
            <a:r>
              <a:rPr lang="pt-BR" dirty="0"/>
              <a:t>= </a:t>
            </a:r>
            <a:r>
              <a:rPr lang="pt-BR" b="1" dirty="0">
                <a:solidFill>
                  <a:srgbClr val="7030A0"/>
                </a:solidFill>
              </a:rPr>
              <a:t>3</a:t>
            </a:r>
            <a:r>
              <a:rPr lang="pt-BR" dirty="0"/>
              <a:t>;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5159897" y="3540698"/>
            <a:ext cx="1090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Exemplo</a:t>
            </a:r>
          </a:p>
        </p:txBody>
      </p:sp>
    </p:spTree>
    <p:extLst>
      <p:ext uri="{BB962C8B-B14F-4D97-AF65-F5344CB8AC3E}">
        <p14:creationId xmlns:p14="http://schemas.microsoft.com/office/powerpoint/2010/main" val="2898357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- Nome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nome de uma variável deve respeitar as seguintes regras:</a:t>
            </a:r>
          </a:p>
          <a:p>
            <a:pPr lvl="1" algn="just"/>
            <a:r>
              <a:rPr lang="pt-BR" sz="2000" dirty="0"/>
              <a:t>Só pode ter letra, numero e “_”</a:t>
            </a:r>
          </a:p>
          <a:p>
            <a:pPr lvl="1" algn="just"/>
            <a:r>
              <a:rPr lang="pt-BR" sz="2000" dirty="0"/>
              <a:t>Deve começar obrigatoriamente com uma letra</a:t>
            </a:r>
          </a:p>
          <a:p>
            <a:pPr lvl="1" algn="just"/>
            <a:r>
              <a:rPr lang="pt-BR" sz="2000" dirty="0"/>
              <a:t>Não pode ter acentuação ou caractere especial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079992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- Nome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09800"/>
            <a:ext cx="11247040" cy="4364736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As variáveis a seguir são validas ou inválidas?</a:t>
            </a:r>
          </a:p>
          <a:p>
            <a:pPr algn="just"/>
            <a:r>
              <a:rPr lang="pt-BR" sz="1600" dirty="0"/>
              <a:t>nome</a:t>
            </a:r>
          </a:p>
          <a:p>
            <a:pPr lvl="1" algn="just"/>
            <a:r>
              <a:rPr lang="pt-BR" sz="1600" dirty="0"/>
              <a:t>válido</a:t>
            </a:r>
          </a:p>
          <a:p>
            <a:pPr algn="just"/>
            <a:r>
              <a:rPr lang="pt-BR" sz="1600" dirty="0"/>
              <a:t>33</a:t>
            </a:r>
          </a:p>
          <a:p>
            <a:pPr lvl="1" algn="just"/>
            <a:r>
              <a:rPr lang="pt-BR" sz="1600" dirty="0"/>
              <a:t>Inválido</a:t>
            </a:r>
          </a:p>
          <a:p>
            <a:pPr algn="just"/>
            <a:r>
              <a:rPr lang="pt-BR" sz="1600" dirty="0"/>
              <a:t>d5</a:t>
            </a:r>
          </a:p>
          <a:p>
            <a:pPr lvl="1" algn="just"/>
            <a:r>
              <a:rPr lang="pt-BR" sz="1600" dirty="0"/>
              <a:t>válido</a:t>
            </a:r>
          </a:p>
          <a:p>
            <a:pPr algn="just"/>
            <a:r>
              <a:rPr lang="pt-BR" sz="1600" dirty="0"/>
              <a:t>5d</a:t>
            </a:r>
          </a:p>
          <a:p>
            <a:pPr lvl="1" algn="just"/>
            <a:r>
              <a:rPr lang="pt-BR" sz="1600" dirty="0"/>
              <a:t>inválido</a:t>
            </a:r>
          </a:p>
          <a:p>
            <a:pPr algn="just"/>
            <a:r>
              <a:rPr lang="pt-BR" sz="1600" dirty="0"/>
              <a:t>acentuação</a:t>
            </a:r>
          </a:p>
          <a:p>
            <a:pPr lvl="1" algn="just"/>
            <a:r>
              <a:rPr lang="pt-BR" sz="1600" dirty="0"/>
              <a:t>inválido</a:t>
            </a:r>
          </a:p>
          <a:p>
            <a:pPr algn="just"/>
            <a:r>
              <a:rPr lang="pt-BR" sz="1600" dirty="0" err="1"/>
              <a:t>nome_composto</a:t>
            </a:r>
            <a:endParaRPr lang="pt-BR" sz="1600" dirty="0"/>
          </a:p>
          <a:p>
            <a:pPr lvl="1" algn="just"/>
            <a:r>
              <a:rPr lang="pt-BR" sz="1600" dirty="0"/>
              <a:t>válido</a:t>
            </a:r>
          </a:p>
          <a:p>
            <a:pPr algn="just"/>
            <a:r>
              <a:rPr lang="pt-BR" sz="1600" dirty="0" err="1"/>
              <a:t>nomeComposto</a:t>
            </a:r>
            <a:endParaRPr lang="pt-BR" sz="1600" dirty="0"/>
          </a:p>
          <a:p>
            <a:pPr lvl="1" algn="just"/>
            <a:r>
              <a:rPr lang="pt-BR" sz="1600" dirty="0"/>
              <a:t>válido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96707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- Nome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09800"/>
            <a:ext cx="11247040" cy="4364736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Para nomes compostos podemos fazer como quiser, mas existe alguns padrões recomendados: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 err="1"/>
              <a:t>PascalCase</a:t>
            </a:r>
            <a:r>
              <a:rPr lang="pt-BR" sz="2000" dirty="0"/>
              <a:t> – A primeira letra de cada palavra é maiúscula</a:t>
            </a:r>
          </a:p>
          <a:p>
            <a:pPr lvl="1" algn="just"/>
            <a:r>
              <a:rPr lang="pt-BR" sz="1800" dirty="0"/>
              <a:t>nome variável = </a:t>
            </a:r>
            <a:r>
              <a:rPr lang="pt-BR" sz="1800" dirty="0" err="1"/>
              <a:t>NomeVariavel</a:t>
            </a:r>
            <a:endParaRPr lang="pt-BR" sz="18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 err="1"/>
              <a:t>camelCase</a:t>
            </a:r>
            <a:r>
              <a:rPr lang="pt-BR" sz="2000" dirty="0"/>
              <a:t> – Apenas as próximas palavras começam com letra maiúscula. (É o mais comum)</a:t>
            </a:r>
          </a:p>
          <a:p>
            <a:pPr lvl="1" algn="just"/>
            <a:r>
              <a:rPr lang="pt-BR" sz="1800" dirty="0"/>
              <a:t>nome variável = </a:t>
            </a:r>
            <a:r>
              <a:rPr lang="pt-BR" sz="1800" dirty="0" err="1"/>
              <a:t>nomeVariavel</a:t>
            </a:r>
            <a:endParaRPr lang="pt-BR" sz="18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 err="1"/>
              <a:t>underscore_case</a:t>
            </a:r>
            <a:r>
              <a:rPr lang="pt-BR" sz="2000" dirty="0"/>
              <a:t> – Tudo minúsculo e sendo juntadas com “_”</a:t>
            </a:r>
          </a:p>
          <a:p>
            <a:pPr lvl="1" algn="just"/>
            <a:r>
              <a:rPr lang="pt-BR" sz="1800" dirty="0"/>
              <a:t>nome variável = </a:t>
            </a:r>
            <a:r>
              <a:rPr lang="pt-BR" sz="1800" dirty="0" err="1"/>
              <a:t>nome_variavel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73104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Variáveis e Tipos Primitivos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95400" y="2249424"/>
            <a:ext cx="9515400" cy="4608576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Toda variável tem que ser de um tipo em C.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 que são tipos primitivos?</a:t>
            </a:r>
          </a:p>
          <a:p>
            <a:pPr lvl="1" algn="just"/>
            <a:r>
              <a:rPr lang="pt-BR" sz="1800" dirty="0"/>
              <a:t>São tipos nativos da linguagem, que todo programa possui.</a:t>
            </a:r>
          </a:p>
          <a:p>
            <a:pPr algn="just"/>
            <a:r>
              <a:rPr lang="pt-BR" sz="2000" dirty="0"/>
              <a:t>Quais são os tipos primitivos?</a:t>
            </a:r>
            <a:endParaRPr lang="pt-BR" sz="1800" dirty="0"/>
          </a:p>
          <a:p>
            <a:pPr algn="just"/>
            <a:endParaRPr lang="pt-BR" sz="2000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5550"/>
              </p:ext>
            </p:extLst>
          </p:nvPr>
        </p:nvGraphicFramePr>
        <p:xfrm>
          <a:off x="1703512" y="4149080"/>
          <a:ext cx="8784976" cy="242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3145307739"/>
                    </a:ext>
                  </a:extLst>
                </a:gridCol>
                <a:gridCol w="3971511">
                  <a:extLst>
                    <a:ext uri="{9D8B030D-6E8A-4147-A177-3AD203B41FA5}">
                      <a16:colId xmlns:a16="http://schemas.microsoft.com/office/drawing/2014/main" val="1930059594"/>
                    </a:ext>
                  </a:extLst>
                </a:gridCol>
                <a:gridCol w="3805353">
                  <a:extLst>
                    <a:ext uri="{9D8B030D-6E8A-4147-A177-3AD203B41FA5}">
                      <a16:colId xmlns:a16="http://schemas.microsoft.com/office/drawing/2014/main" val="2876460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Tipo.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Exemplo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317328"/>
                  </a:ext>
                </a:extLst>
              </a:tr>
              <a:tr h="399648">
                <a:tc>
                  <a:txBody>
                    <a:bodyPr/>
                    <a:lstStyle/>
                    <a:p>
                      <a:r>
                        <a:rPr lang="pt-BR" dirty="0" err="1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Números inteiros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304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float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Números fracionários com 7 casa</a:t>
                      </a:r>
                      <a:r>
                        <a:rPr lang="pt-BR" baseline="0" dirty="0"/>
                        <a:t>s decimais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 1,2342342</a:t>
                      </a:r>
                      <a:endParaRPr lang="pt-B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572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double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Número fracionário com 15 casas</a:t>
                      </a:r>
                      <a:r>
                        <a:rPr lang="pt-BR" baseline="0" dirty="0"/>
                        <a:t> decimais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1,1231123123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984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Um único caractere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‘a’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66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882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Variáveis e Texto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2249424"/>
            <a:ext cx="11175032" cy="4608576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E textos? Palavras com mais de um caractere?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Texto em programação é chamado de </a:t>
            </a:r>
            <a:r>
              <a:rPr lang="pt-BR" sz="2000" u="sng" dirty="0" err="1"/>
              <a:t>String</a:t>
            </a:r>
            <a:r>
              <a:rPr lang="pt-BR" sz="2000" u="sng" dirty="0"/>
              <a:t>.</a:t>
            </a:r>
            <a:r>
              <a:rPr lang="pt-BR" sz="2000" dirty="0"/>
              <a:t> Porém uma </a:t>
            </a:r>
            <a:r>
              <a:rPr lang="pt-BR" sz="2000" dirty="0" err="1"/>
              <a:t>String</a:t>
            </a:r>
            <a:r>
              <a:rPr lang="pt-BR" sz="2000" dirty="0"/>
              <a:t> não é um tipo primitivo.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Para criar uma </a:t>
            </a:r>
            <a:r>
              <a:rPr lang="pt-BR" sz="2000" dirty="0" err="1"/>
              <a:t>String</a:t>
            </a:r>
            <a:r>
              <a:rPr lang="pt-BR" sz="2000" dirty="0"/>
              <a:t> em c devemos criar uma cadeia de caracteres:</a:t>
            </a:r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3863753" y="4553712"/>
            <a:ext cx="33505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texto[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"texto"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095480" y="5589240"/>
            <a:ext cx="344357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Tamanho máximo de caracteres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744073" y="5589240"/>
            <a:ext cx="27783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Valor atribuído a variável</a:t>
            </a:r>
          </a:p>
        </p:txBody>
      </p:sp>
      <p:sp>
        <p:nvSpPr>
          <p:cNvPr id="8" name="Retângulo Arredondado 7"/>
          <p:cNvSpPr/>
          <p:nvPr/>
        </p:nvSpPr>
        <p:spPr>
          <a:xfrm>
            <a:off x="5159896" y="4514088"/>
            <a:ext cx="576064" cy="499088"/>
          </a:xfrm>
          <a:prstGeom prst="round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Arredondado 8"/>
          <p:cNvSpPr/>
          <p:nvPr/>
        </p:nvSpPr>
        <p:spPr>
          <a:xfrm>
            <a:off x="6075173" y="4488834"/>
            <a:ext cx="956931" cy="499088"/>
          </a:xfrm>
          <a:prstGeom prst="round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Angulado 10"/>
          <p:cNvCxnSpPr>
            <a:stCxn id="6" idx="0"/>
            <a:endCxn id="8" idx="2"/>
          </p:cNvCxnSpPr>
          <p:nvPr/>
        </p:nvCxnSpPr>
        <p:spPr>
          <a:xfrm rot="5400000" flipH="1" flipV="1">
            <a:off x="4344564" y="4485878"/>
            <a:ext cx="576064" cy="1630663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ector Angulado 12"/>
          <p:cNvCxnSpPr>
            <a:stCxn id="7" idx="0"/>
            <a:endCxn id="9" idx="2"/>
          </p:cNvCxnSpPr>
          <p:nvPr/>
        </p:nvCxnSpPr>
        <p:spPr>
          <a:xfrm rot="16200000" flipV="1">
            <a:off x="7042778" y="4498783"/>
            <a:ext cx="601318" cy="157959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186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– Aspas simples </a:t>
            </a:r>
            <a:r>
              <a:rPr lang="pt-BR" dirty="0" err="1"/>
              <a:t>vs</a:t>
            </a:r>
            <a:r>
              <a:rPr lang="pt-BR" dirty="0"/>
              <a:t> dupla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Aspas são sempre usadas para texto!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Quando devemos usar </a:t>
            </a:r>
            <a:r>
              <a:rPr lang="pt-BR" sz="2000" dirty="0" err="1"/>
              <a:t>asplas</a:t>
            </a:r>
            <a:r>
              <a:rPr lang="pt-BR" sz="2000" dirty="0"/>
              <a:t> simples ou aspas dupla?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Aspas simples são usada para atribuir valor que possui apenas um único caractere (char), enquanto as aspas duplas são usados para vetores de caracteres.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4007768" y="4941169"/>
            <a:ext cx="358214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caractere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'c';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texto[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carlos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4897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–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as seguintes variáveis: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Para valores decimais, usamos </a:t>
            </a:r>
            <a:r>
              <a:rPr lang="pt-BR" sz="2000" b="1" dirty="0"/>
              <a:t>ponto</a:t>
            </a:r>
            <a:r>
              <a:rPr lang="pt-BR" sz="2000" dirty="0"/>
              <a:t> Ao invés de </a:t>
            </a:r>
            <a:r>
              <a:rPr lang="pt-BR" sz="2000" b="1" dirty="0"/>
              <a:t>virgula</a:t>
            </a:r>
            <a:r>
              <a:rPr lang="pt-BR" sz="2000" dirty="0"/>
              <a:t> na programação.</a:t>
            </a:r>
          </a:p>
          <a:p>
            <a:pPr algn="just"/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240481"/>
              </p:ext>
            </p:extLst>
          </p:nvPr>
        </p:nvGraphicFramePr>
        <p:xfrm>
          <a:off x="3575720" y="2780928"/>
          <a:ext cx="417646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2877084823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3303921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Atributo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Valor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004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663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53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Altura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1,70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687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Raça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Pardo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863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Gênero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73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5435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–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 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4007768" y="2852936"/>
            <a:ext cx="4176464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nome[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"Maria"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idade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altura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1.7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raca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"Pardo"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genero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'F'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019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– Extra de Declaração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Também é possível declarar em uma única linha mais de uma variável do mesmo tipo, separando-as por vírgula. </a:t>
            </a:r>
          </a:p>
          <a:p>
            <a:pPr algn="just"/>
            <a:r>
              <a:rPr lang="pt-BR" sz="2000" dirty="0"/>
              <a:t>Exemplo: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Também é possível declarar um tipo e depois declarar seu valor (Com exceção de uma </a:t>
            </a:r>
            <a:r>
              <a:rPr lang="pt-BR" sz="2000" dirty="0" err="1"/>
              <a:t>String</a:t>
            </a:r>
            <a:r>
              <a:rPr lang="pt-BR" sz="2000" dirty="0"/>
              <a:t>):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  <p:sp>
        <p:nvSpPr>
          <p:cNvPr id="5" name="Retângulo 4"/>
          <p:cNvSpPr/>
          <p:nvPr/>
        </p:nvSpPr>
        <p:spPr>
          <a:xfrm>
            <a:off x="3647729" y="3356992"/>
            <a:ext cx="423705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altura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1.7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peso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63.5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6" name="Retângulo 5"/>
          <p:cNvSpPr/>
          <p:nvPr/>
        </p:nvSpPr>
        <p:spPr>
          <a:xfrm>
            <a:off x="4850781" y="4827265"/>
            <a:ext cx="183095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altura;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altura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1.7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7483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– Extra de Declaração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No caso de </a:t>
            </a:r>
            <a:r>
              <a:rPr lang="pt-BR" sz="2000" dirty="0" err="1"/>
              <a:t>String</a:t>
            </a:r>
            <a:r>
              <a:rPr lang="pt-BR" sz="2000" dirty="0"/>
              <a:t> para primeiro declarar  a variável e em outra linha atribuir (</a:t>
            </a:r>
            <a:r>
              <a:rPr lang="pt-BR" sz="2000" dirty="0" err="1"/>
              <a:t>setar</a:t>
            </a:r>
            <a:r>
              <a:rPr lang="pt-BR" sz="2000" dirty="0"/>
              <a:t>) o valor, devemos usar a função </a:t>
            </a:r>
            <a:r>
              <a:rPr lang="pt-BR" sz="2000" b="1" u="sng" dirty="0" err="1"/>
              <a:t>strcpy</a:t>
            </a:r>
            <a:r>
              <a:rPr lang="pt-BR" sz="2000" b="1" u="sng" dirty="0"/>
              <a:t>()</a:t>
            </a:r>
            <a:r>
              <a:rPr lang="pt-BR" sz="2000" dirty="0"/>
              <a:t>, que faz parte da biblioteca </a:t>
            </a:r>
            <a:r>
              <a:rPr lang="pt-BR" sz="2000" b="1" u="sng" dirty="0" err="1"/>
              <a:t>strings.h</a:t>
            </a:r>
            <a:r>
              <a:rPr lang="pt-BR" sz="2000" dirty="0"/>
              <a:t>  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4223792" y="3356993"/>
            <a:ext cx="3168352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nome[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strcpy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(nome,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"Carlos"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529537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– Prática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Declare a variável nome em uma linha para receber texto;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 em outra sete o seu nome próprio na variável.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Execute o programa para checar se não deu erro!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Dica:</a:t>
            </a:r>
          </a:p>
          <a:p>
            <a:pPr lvl="1" algn="just"/>
            <a:r>
              <a:rPr lang="pt-BR" sz="1800" dirty="0"/>
              <a:t>Biblioteca strings.xml</a:t>
            </a:r>
          </a:p>
          <a:p>
            <a:pPr lvl="1" algn="just"/>
            <a:r>
              <a:rPr lang="pt-BR" sz="1800" dirty="0" err="1"/>
              <a:t>strcpy</a:t>
            </a:r>
            <a:r>
              <a:rPr lang="pt-BR" sz="1800" dirty="0"/>
              <a:t>(variável, “texto”) 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351649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– Prática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 </a:t>
            </a:r>
            <a:endParaRPr lang="pt-BR" sz="18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3810000" y="2780929"/>
            <a:ext cx="4572000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stdlib.h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b="1" u="sng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b="1" u="sng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b="1" u="sng" dirty="0" err="1">
                <a:solidFill>
                  <a:srgbClr val="A31515"/>
                </a:solidFill>
                <a:latin typeface="Consolas" panose="020B0609020204030204" pitchFamily="49" charset="0"/>
              </a:rPr>
              <a:t>strings.h</a:t>
            </a:r>
            <a:r>
              <a:rPr lang="pt-BR" b="1" u="sng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b="1" u="sn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nome[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b="1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strcpy</a:t>
            </a:r>
            <a:r>
              <a:rPr lang="pt-BR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(nome, </a:t>
            </a:r>
            <a:r>
              <a:rPr lang="pt-BR" b="1" u="sng" dirty="0">
                <a:solidFill>
                  <a:srgbClr val="A31515"/>
                </a:solidFill>
                <a:latin typeface="Consolas" panose="020B0609020204030204" pitchFamily="49" charset="0"/>
              </a:rPr>
              <a:t>"Carlos"</a:t>
            </a:r>
            <a:r>
              <a:rPr lang="pt-BR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2703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Exibindo variáveis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É possível juntar nossas variáveis no texto do </a:t>
            </a:r>
            <a:r>
              <a:rPr lang="pt-BR" sz="2000" b="1" dirty="0" err="1"/>
              <a:t>printf</a:t>
            </a:r>
            <a:r>
              <a:rPr lang="pt-BR" sz="2000" b="1" dirty="0"/>
              <a:t>()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 termo “</a:t>
            </a:r>
            <a:r>
              <a:rPr lang="pt-BR" sz="2000" dirty="0" err="1"/>
              <a:t>print</a:t>
            </a:r>
            <a:r>
              <a:rPr lang="pt-BR" sz="2000" dirty="0"/>
              <a:t>” na programação significa exibir algo na tela, também chamado por nós de “</a:t>
            </a:r>
            <a:r>
              <a:rPr lang="pt-BR" sz="2000" dirty="0" err="1"/>
              <a:t>printar</a:t>
            </a:r>
            <a:r>
              <a:rPr lang="pt-BR" sz="2000" dirty="0"/>
              <a:t>” uma informação.</a:t>
            </a:r>
          </a:p>
          <a:p>
            <a:pPr algn="just"/>
            <a:endParaRPr lang="pt-BR" sz="1800" dirty="0"/>
          </a:p>
          <a:p>
            <a:pPr algn="just"/>
            <a:r>
              <a:rPr lang="pt-BR" sz="2000" dirty="0"/>
              <a:t>Já o </a:t>
            </a:r>
            <a:r>
              <a:rPr lang="pt-BR" sz="2000" b="1" dirty="0"/>
              <a:t>f</a:t>
            </a:r>
            <a:r>
              <a:rPr lang="pt-BR" sz="2000" dirty="0"/>
              <a:t>, vem de </a:t>
            </a:r>
            <a:r>
              <a:rPr lang="pt-BR" sz="2000" u="sng" dirty="0" err="1"/>
              <a:t>format</a:t>
            </a:r>
            <a:r>
              <a:rPr lang="pt-BR" sz="2000" dirty="0"/>
              <a:t> (formatar), ou seja </a:t>
            </a:r>
            <a:r>
              <a:rPr lang="pt-BR" sz="2000" dirty="0" err="1"/>
              <a:t>printf</a:t>
            </a:r>
            <a:r>
              <a:rPr lang="pt-BR" sz="2000" dirty="0"/>
              <a:t> é exibir um texto formatado.</a:t>
            </a:r>
          </a:p>
        </p:txBody>
      </p:sp>
    </p:spTree>
    <p:extLst>
      <p:ext uri="{BB962C8B-B14F-4D97-AF65-F5344CB8AC3E}">
        <p14:creationId xmlns:p14="http://schemas.microsoft.com/office/powerpoint/2010/main" val="107762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Exibindo variáveis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1800" dirty="0"/>
              <a:t>Para exibir uma variável em um texto de um </a:t>
            </a:r>
            <a:r>
              <a:rPr lang="pt-BR" sz="1800" dirty="0" err="1"/>
              <a:t>printf</a:t>
            </a:r>
            <a:r>
              <a:rPr lang="pt-BR" sz="1800" dirty="0"/>
              <a:t>, basta no </a:t>
            </a:r>
            <a:r>
              <a:rPr lang="pt-BR" sz="1800" b="1" dirty="0"/>
              <a:t>local desejado</a:t>
            </a:r>
            <a:r>
              <a:rPr lang="pt-BR" sz="1800" dirty="0"/>
              <a:t> do texto, colocar </a:t>
            </a:r>
            <a:r>
              <a:rPr lang="pt-BR" sz="1800" b="1" dirty="0"/>
              <a:t>%</a:t>
            </a:r>
            <a:r>
              <a:rPr lang="pt-BR" sz="1800" dirty="0"/>
              <a:t> e uma </a:t>
            </a:r>
            <a:r>
              <a:rPr lang="pt-BR" sz="1800" b="1" dirty="0"/>
              <a:t>letra reservada  </a:t>
            </a:r>
            <a:r>
              <a:rPr lang="pt-BR" sz="1800" dirty="0"/>
              <a:t>para cada tipo de variável. </a:t>
            </a:r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lvl="1" algn="just"/>
            <a:endParaRPr lang="pt-BR" sz="1600" dirty="0"/>
          </a:p>
        </p:txBody>
      </p:sp>
      <p:sp>
        <p:nvSpPr>
          <p:cNvPr id="4" name="Retângulo 3"/>
          <p:cNvSpPr/>
          <p:nvPr/>
        </p:nvSpPr>
        <p:spPr>
          <a:xfrm>
            <a:off x="2451724" y="3356992"/>
            <a:ext cx="728855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"Exibindo variável: %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letra_reservada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variavel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1932550" y="4235803"/>
            <a:ext cx="4879862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Usar:</a:t>
            </a:r>
          </a:p>
          <a:p>
            <a:r>
              <a:rPr lang="pt-BR" dirty="0"/>
              <a:t>%c –variável do tipo char (char)</a:t>
            </a:r>
          </a:p>
          <a:p>
            <a:r>
              <a:rPr lang="pt-BR" dirty="0"/>
              <a:t>%s – variável do tipo </a:t>
            </a:r>
            <a:r>
              <a:rPr lang="pt-BR" dirty="0" err="1"/>
              <a:t>String</a:t>
            </a:r>
            <a:r>
              <a:rPr lang="pt-BR" dirty="0"/>
              <a:t> (char[])</a:t>
            </a:r>
          </a:p>
          <a:p>
            <a:r>
              <a:rPr lang="pt-BR" dirty="0"/>
              <a:t>%d – variável do tipo inteiro (</a:t>
            </a:r>
            <a:r>
              <a:rPr lang="pt-BR" dirty="0" err="1"/>
              <a:t>int</a:t>
            </a:r>
            <a:r>
              <a:rPr lang="pt-BR" dirty="0"/>
              <a:t>)</a:t>
            </a:r>
          </a:p>
          <a:p>
            <a:r>
              <a:rPr lang="pt-BR" dirty="0"/>
              <a:t>%f – variável do tipo decimal (</a:t>
            </a:r>
            <a:r>
              <a:rPr lang="pt-BR" dirty="0" err="1"/>
              <a:t>double</a:t>
            </a:r>
            <a:r>
              <a:rPr lang="pt-BR" dirty="0"/>
              <a:t> ou </a:t>
            </a:r>
            <a:r>
              <a:rPr lang="pt-BR" dirty="0" err="1"/>
              <a:t>float</a:t>
            </a:r>
            <a:r>
              <a:rPr lang="pt-BR" dirty="0"/>
              <a:t>)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6886274" y="4204309"/>
            <a:ext cx="334973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A variável que será exibida no texto no lugar da letra</a:t>
            </a:r>
          </a:p>
        </p:txBody>
      </p:sp>
      <p:sp>
        <p:nvSpPr>
          <p:cNvPr id="7" name="Retângulo Arredondado 6"/>
          <p:cNvSpPr/>
          <p:nvPr/>
        </p:nvSpPr>
        <p:spPr>
          <a:xfrm>
            <a:off x="5807968" y="3356992"/>
            <a:ext cx="2160240" cy="369332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Arredondado 10"/>
          <p:cNvSpPr/>
          <p:nvPr/>
        </p:nvSpPr>
        <p:spPr>
          <a:xfrm>
            <a:off x="8184232" y="3356992"/>
            <a:ext cx="1296144" cy="369332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Angulado 8"/>
          <p:cNvCxnSpPr>
            <a:stCxn id="5" idx="0"/>
            <a:endCxn id="7" idx="2"/>
          </p:cNvCxnSpPr>
          <p:nvPr/>
        </p:nvCxnSpPr>
        <p:spPr>
          <a:xfrm rot="5400000" flipH="1" flipV="1">
            <a:off x="5375546" y="2723262"/>
            <a:ext cx="509479" cy="251560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ector Angulado 11"/>
          <p:cNvCxnSpPr>
            <a:stCxn id="6" idx="0"/>
            <a:endCxn id="11" idx="2"/>
          </p:cNvCxnSpPr>
          <p:nvPr/>
        </p:nvCxnSpPr>
        <p:spPr>
          <a:xfrm rot="5400000" flipH="1" flipV="1">
            <a:off x="8457731" y="3829737"/>
            <a:ext cx="477984" cy="27116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233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Exibindo variáveis  - 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uma variável do </a:t>
            </a:r>
            <a:r>
              <a:rPr lang="pt-BR" sz="2000" b="1" dirty="0"/>
              <a:t>nome</a:t>
            </a:r>
            <a:r>
              <a:rPr lang="pt-BR" sz="2000" dirty="0"/>
              <a:t> do tipo </a:t>
            </a:r>
            <a:r>
              <a:rPr lang="pt-BR" sz="2000" u="sng" dirty="0" err="1"/>
              <a:t>String</a:t>
            </a:r>
            <a:r>
              <a:rPr lang="pt-BR" sz="2000" dirty="0"/>
              <a:t> com o seu </a:t>
            </a:r>
            <a:r>
              <a:rPr lang="pt-BR" sz="2000" u="sng" dirty="0"/>
              <a:t>nome</a:t>
            </a:r>
            <a:r>
              <a:rPr lang="pt-BR" sz="2000" dirty="0"/>
              <a:t>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Exiba o texto:</a:t>
            </a:r>
          </a:p>
          <a:p>
            <a:pPr lvl="1" algn="just"/>
            <a:r>
              <a:rPr lang="pt-BR" sz="1800" dirty="0"/>
              <a:t>Olá, meu nome é SEUNOME</a:t>
            </a:r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lvl="1" algn="just"/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68040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Exibindo variáveis  - Código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lvl="1" algn="just"/>
            <a:endParaRPr lang="pt-BR" sz="1600" dirty="0"/>
          </a:p>
        </p:txBody>
      </p:sp>
      <p:sp>
        <p:nvSpPr>
          <p:cNvPr id="4" name="Retângulo 3"/>
          <p:cNvSpPr/>
          <p:nvPr/>
        </p:nvSpPr>
        <p:spPr>
          <a:xfrm>
            <a:off x="3332820" y="2674555"/>
            <a:ext cx="552636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nome[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"Carlos"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"Olá, meu nome é %s"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nome);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57669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Exibindo variáveis 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Também é possível exibir mais de uma variável no mesmo </a:t>
            </a:r>
            <a:r>
              <a:rPr lang="pt-BR" sz="2000" dirty="0" err="1"/>
              <a:t>printf</a:t>
            </a:r>
            <a:r>
              <a:rPr lang="pt-BR" sz="2000" dirty="0"/>
              <a:t>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Para isso basta passá-las na função separando-as por virgula e na mesma ordem do texto:</a:t>
            </a:r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lvl="1" algn="just"/>
            <a:endParaRPr lang="pt-BR" sz="1600" dirty="0"/>
          </a:p>
        </p:txBody>
      </p:sp>
      <p:sp>
        <p:nvSpPr>
          <p:cNvPr id="5" name="Retângulo 4"/>
          <p:cNvSpPr/>
          <p:nvPr/>
        </p:nvSpPr>
        <p:spPr>
          <a:xfrm>
            <a:off x="2418420" y="3950315"/>
            <a:ext cx="735516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nome[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30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"Carlos"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idade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27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"Olá, meu nome é %s e tenho 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nome, idade);</a:t>
            </a:r>
          </a:p>
        </p:txBody>
      </p:sp>
      <p:sp>
        <p:nvSpPr>
          <p:cNvPr id="6" name="Retângulo Arredondado 5"/>
          <p:cNvSpPr/>
          <p:nvPr/>
        </p:nvSpPr>
        <p:spPr>
          <a:xfrm>
            <a:off x="5447928" y="4437113"/>
            <a:ext cx="360040" cy="436533"/>
          </a:xfrm>
          <a:prstGeom prst="round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Arredondado 6"/>
          <p:cNvSpPr/>
          <p:nvPr/>
        </p:nvSpPr>
        <p:spPr>
          <a:xfrm>
            <a:off x="6816080" y="4437113"/>
            <a:ext cx="426876" cy="436533"/>
          </a:xfrm>
          <a:prstGeom prst="roundRect">
            <a:avLst/>
          </a:prstGeom>
          <a:noFill/>
          <a:ln w="5715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Arredondado 7"/>
          <p:cNvSpPr/>
          <p:nvPr/>
        </p:nvSpPr>
        <p:spPr>
          <a:xfrm>
            <a:off x="7458980" y="4448155"/>
            <a:ext cx="581236" cy="436533"/>
          </a:xfrm>
          <a:prstGeom prst="round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Arredondado 8"/>
          <p:cNvSpPr/>
          <p:nvPr/>
        </p:nvSpPr>
        <p:spPr>
          <a:xfrm>
            <a:off x="8256240" y="4437113"/>
            <a:ext cx="637728" cy="436533"/>
          </a:xfrm>
          <a:prstGeom prst="roundRect">
            <a:avLst/>
          </a:prstGeom>
          <a:noFill/>
          <a:ln w="5715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Angulado 10"/>
          <p:cNvCxnSpPr>
            <a:stCxn id="8" idx="2"/>
            <a:endCxn id="6" idx="2"/>
          </p:cNvCxnSpPr>
          <p:nvPr/>
        </p:nvCxnSpPr>
        <p:spPr>
          <a:xfrm rot="5400000" flipH="1">
            <a:off x="6683252" y="3818341"/>
            <a:ext cx="11042" cy="2121650"/>
          </a:xfrm>
          <a:prstGeom prst="bentConnector3">
            <a:avLst>
              <a:gd name="adj1" fmla="val -207027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ector Angulado 12"/>
          <p:cNvCxnSpPr>
            <a:stCxn id="9" idx="2"/>
            <a:endCxn id="7" idx="2"/>
          </p:cNvCxnSpPr>
          <p:nvPr/>
        </p:nvCxnSpPr>
        <p:spPr>
          <a:xfrm rot="5400000">
            <a:off x="7802311" y="4100852"/>
            <a:ext cx="12700" cy="1545586"/>
          </a:xfrm>
          <a:prstGeom prst="bentConnector3">
            <a:avLst>
              <a:gd name="adj1" fmla="val 6793543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04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Limitar casas decimais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Para limitar o número de casas decimais de um </a:t>
            </a:r>
            <a:r>
              <a:rPr lang="pt-BR" sz="2000" dirty="0" err="1"/>
              <a:t>float</a:t>
            </a:r>
            <a:r>
              <a:rPr lang="pt-BR" sz="2000" dirty="0"/>
              <a:t> ou </a:t>
            </a:r>
            <a:r>
              <a:rPr lang="pt-BR" sz="2000" dirty="0" err="1"/>
              <a:t>double</a:t>
            </a:r>
            <a:r>
              <a:rPr lang="pt-BR" sz="2000" dirty="0"/>
              <a:t>, ao chamar a letra %f, antes colocamos “.”  e o número de casas demais</a:t>
            </a:r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lvl="1" algn="just"/>
            <a:endParaRPr lang="pt-BR" sz="1600" dirty="0"/>
          </a:p>
        </p:txBody>
      </p:sp>
      <p:sp>
        <p:nvSpPr>
          <p:cNvPr id="4" name="Retângulo 3"/>
          <p:cNvSpPr/>
          <p:nvPr/>
        </p:nvSpPr>
        <p:spPr>
          <a:xfrm>
            <a:off x="3935760" y="3140969"/>
            <a:ext cx="432048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tamanho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1.7777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b="1" dirty="0">
                <a:solidFill>
                  <a:srgbClr val="A31515"/>
                </a:solidFill>
                <a:latin typeface="Consolas" panose="020B0609020204030204" pitchFamily="49" charset="0"/>
              </a:rPr>
              <a:t>.2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f metros"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tamanho);</a:t>
            </a: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240" y="4229939"/>
            <a:ext cx="3735001" cy="95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15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Recuperando valores informado pelo usuário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Para permitir uma interação entre sistema e usuário também temos um método para recupera essa informação.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 método usado será:</a:t>
            </a:r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lvl="1" algn="just"/>
            <a:endParaRPr lang="pt-BR" sz="1600" dirty="0"/>
          </a:p>
        </p:txBody>
      </p:sp>
      <p:sp>
        <p:nvSpPr>
          <p:cNvPr id="10" name="Retângulo 9"/>
          <p:cNvSpPr/>
          <p:nvPr/>
        </p:nvSpPr>
        <p:spPr>
          <a:xfrm>
            <a:off x="3683732" y="3789040"/>
            <a:ext cx="482453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letra_reservada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variavel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1703512" y="4959324"/>
            <a:ext cx="4879862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Usar:</a:t>
            </a:r>
          </a:p>
          <a:p>
            <a:r>
              <a:rPr lang="pt-BR" dirty="0"/>
              <a:t>%c –variável do tipo char (char)</a:t>
            </a:r>
          </a:p>
          <a:p>
            <a:r>
              <a:rPr lang="pt-BR" dirty="0"/>
              <a:t>%s – variável do tipo </a:t>
            </a:r>
            <a:r>
              <a:rPr lang="pt-BR" dirty="0" err="1"/>
              <a:t>String</a:t>
            </a:r>
            <a:r>
              <a:rPr lang="pt-BR" dirty="0"/>
              <a:t> (char[])</a:t>
            </a:r>
          </a:p>
          <a:p>
            <a:r>
              <a:rPr lang="pt-BR" dirty="0"/>
              <a:t>%d – variável do tipo inteiro (</a:t>
            </a:r>
            <a:r>
              <a:rPr lang="pt-BR" dirty="0" err="1"/>
              <a:t>int</a:t>
            </a:r>
            <a:r>
              <a:rPr lang="pt-BR" dirty="0"/>
              <a:t>)</a:t>
            </a:r>
          </a:p>
          <a:p>
            <a:r>
              <a:rPr lang="pt-BR" dirty="0"/>
              <a:t>%f – variável do tipo decimal (</a:t>
            </a:r>
            <a:r>
              <a:rPr lang="pt-BR" dirty="0" err="1"/>
              <a:t>double</a:t>
            </a:r>
            <a:r>
              <a:rPr lang="pt-BR" dirty="0"/>
              <a:t> ou </a:t>
            </a:r>
            <a:r>
              <a:rPr lang="pt-BR" dirty="0" err="1"/>
              <a:t>float</a:t>
            </a:r>
            <a:r>
              <a:rPr lang="pt-BR" dirty="0"/>
              <a:t>)</a:t>
            </a:r>
          </a:p>
        </p:txBody>
      </p:sp>
      <p:sp>
        <p:nvSpPr>
          <p:cNvPr id="15" name="Retângulo Arredondado 14"/>
          <p:cNvSpPr/>
          <p:nvPr/>
        </p:nvSpPr>
        <p:spPr>
          <a:xfrm>
            <a:off x="4583832" y="3789040"/>
            <a:ext cx="2160240" cy="369332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6" name="Conector Angulado 15"/>
          <p:cNvCxnSpPr>
            <a:stCxn id="14" idx="0"/>
            <a:endCxn id="15" idx="2"/>
          </p:cNvCxnSpPr>
          <p:nvPr/>
        </p:nvCxnSpPr>
        <p:spPr>
          <a:xfrm rot="5400000" flipH="1" flipV="1">
            <a:off x="4503221" y="3798595"/>
            <a:ext cx="800952" cy="152050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6888089" y="4860646"/>
            <a:ext cx="3572409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Nome da variável que irá receber o conteúdo informado pelo usuário.</a:t>
            </a:r>
          </a:p>
          <a:p>
            <a:endParaRPr lang="pt-BR" dirty="0"/>
          </a:p>
          <a:p>
            <a:r>
              <a:rPr lang="pt-BR" dirty="0"/>
              <a:t>Devemos usar o &amp; antes da variável, com exceção de </a:t>
            </a:r>
            <a:r>
              <a:rPr lang="pt-BR" b="1" dirty="0" err="1"/>
              <a:t>String</a:t>
            </a:r>
            <a:endParaRPr lang="pt-BR" b="1" dirty="0"/>
          </a:p>
        </p:txBody>
      </p:sp>
      <p:sp>
        <p:nvSpPr>
          <p:cNvPr id="18" name="Retângulo Arredondado 17"/>
          <p:cNvSpPr/>
          <p:nvPr/>
        </p:nvSpPr>
        <p:spPr>
          <a:xfrm>
            <a:off x="7046972" y="3789040"/>
            <a:ext cx="1296144" cy="369332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Angulado 18"/>
          <p:cNvCxnSpPr>
            <a:stCxn id="17" idx="0"/>
            <a:endCxn id="18" idx="2"/>
          </p:cNvCxnSpPr>
          <p:nvPr/>
        </p:nvCxnSpPr>
        <p:spPr>
          <a:xfrm rot="16200000" flipV="1">
            <a:off x="7833532" y="4019885"/>
            <a:ext cx="702274" cy="97924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779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Recuperando valores informado pelo usuário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Exemplo:</a:t>
            </a:r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lvl="1" algn="just"/>
            <a:endParaRPr lang="pt-BR" sz="1600" dirty="0"/>
          </a:p>
        </p:txBody>
      </p:sp>
      <p:sp>
        <p:nvSpPr>
          <p:cNvPr id="5" name="Retângulo 4"/>
          <p:cNvSpPr/>
          <p:nvPr/>
        </p:nvSpPr>
        <p:spPr>
          <a:xfrm>
            <a:off x="4007768" y="2592771"/>
            <a:ext cx="5544616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//Declara </a:t>
            </a:r>
            <a:r>
              <a:rPr lang="pt-BR" dirty="0" err="1">
                <a:solidFill>
                  <a:srgbClr val="008000"/>
                </a:solidFill>
                <a:latin typeface="Consolas" panose="020B0609020204030204" pitchFamily="49" charset="0"/>
              </a:rPr>
              <a:t>varíavel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//Recupera valor digitado pelo usuário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&amp;x);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//Informa um texto com a variável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 valor de X é 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x);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692" y="5035502"/>
            <a:ext cx="3728309" cy="1110794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464" y="4837106"/>
            <a:ext cx="3466728" cy="1951550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3143672" y="4513083"/>
            <a:ext cx="2610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Aguarda usuário digitar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7248129" y="4797482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Exibe o conteúdo</a:t>
            </a:r>
          </a:p>
        </p:txBody>
      </p:sp>
    </p:spTree>
    <p:extLst>
      <p:ext uri="{BB962C8B-B14F-4D97-AF65-F5344CB8AC3E}">
        <p14:creationId xmlns:p14="http://schemas.microsoft.com/office/powerpoint/2010/main" val="3664612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 que é o &amp;?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Para entender o &amp;, primeiro temos que entender como funciona uma variável.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Sempre que uma variável é declarada, ela reserva um espaço na memoria. E o valor </a:t>
            </a:r>
            <a:r>
              <a:rPr lang="pt-BR" sz="2000" dirty="0" err="1"/>
              <a:t>setado</a:t>
            </a:r>
            <a:r>
              <a:rPr lang="pt-BR" sz="2000" dirty="0"/>
              <a:t> é lançado nesse espaço:</a:t>
            </a:r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lvl="1" algn="just"/>
            <a:endParaRPr lang="pt-BR" sz="16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2351585" y="4293096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Código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2279577" y="5733256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Memória</a:t>
            </a:r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063783"/>
              </p:ext>
            </p:extLst>
          </p:nvPr>
        </p:nvGraphicFramePr>
        <p:xfrm>
          <a:off x="3503713" y="5718109"/>
          <a:ext cx="448556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80495">
                  <a:extLst>
                    <a:ext uri="{9D8B030D-6E8A-4147-A177-3AD203B41FA5}">
                      <a16:colId xmlns:a16="http://schemas.microsoft.com/office/drawing/2014/main" val="409639660"/>
                    </a:ext>
                  </a:extLst>
                </a:gridCol>
                <a:gridCol w="1505072">
                  <a:extLst>
                    <a:ext uri="{9D8B030D-6E8A-4147-A177-3AD203B41FA5}">
                      <a16:colId xmlns:a16="http://schemas.microsoft.com/office/drawing/2014/main" val="2053589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Endereço da Memoria de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1131212312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940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Valor Armazenado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155809"/>
                  </a:ext>
                </a:extLst>
              </a:tr>
            </a:tbl>
          </a:graphicData>
        </a:graphic>
      </p:graphicFrame>
      <p:cxnSp>
        <p:nvCxnSpPr>
          <p:cNvPr id="15" name="Conector reto 14"/>
          <p:cNvCxnSpPr/>
          <p:nvPr/>
        </p:nvCxnSpPr>
        <p:spPr>
          <a:xfrm>
            <a:off x="1981200" y="5157192"/>
            <a:ext cx="822960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tângulo 15"/>
          <p:cNvSpPr/>
          <p:nvPr/>
        </p:nvSpPr>
        <p:spPr>
          <a:xfrm>
            <a:off x="4079777" y="4293096"/>
            <a:ext cx="944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4079777" y="4293096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graphicFrame>
        <p:nvGraphicFramePr>
          <p:cNvPr id="19" name="Tabela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166922"/>
              </p:ext>
            </p:extLst>
          </p:nvPr>
        </p:nvGraphicFramePr>
        <p:xfrm>
          <a:off x="3500285" y="5711656"/>
          <a:ext cx="4488995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82773">
                  <a:extLst>
                    <a:ext uri="{9D8B030D-6E8A-4147-A177-3AD203B41FA5}">
                      <a16:colId xmlns:a16="http://schemas.microsoft.com/office/drawing/2014/main" val="409639660"/>
                    </a:ext>
                  </a:extLst>
                </a:gridCol>
                <a:gridCol w="1506222">
                  <a:extLst>
                    <a:ext uri="{9D8B030D-6E8A-4147-A177-3AD203B41FA5}">
                      <a16:colId xmlns:a16="http://schemas.microsoft.com/office/drawing/2014/main" val="2053589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Endereço da Memoria de x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1131212312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940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Valor Armazenado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155809"/>
                  </a:ext>
                </a:extLst>
              </a:tr>
            </a:tbl>
          </a:graphicData>
        </a:graphic>
      </p:graphicFrame>
      <p:sp>
        <p:nvSpPr>
          <p:cNvPr id="21" name="Retângulo 20"/>
          <p:cNvSpPr/>
          <p:nvPr/>
        </p:nvSpPr>
        <p:spPr>
          <a:xfrm>
            <a:off x="3503712" y="4273111"/>
            <a:ext cx="70054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X 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 Recupera o valor armazenado na memoria de x (10)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&amp;x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 Recupera o endereço da memoria de x (1131212312)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190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6" grpId="0"/>
      <p:bldP spid="16" grpId="1"/>
      <p:bldP spid="18" grpId="0"/>
      <p:bldP spid="18" grpId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 que é o &amp;?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Logo no </a:t>
            </a:r>
            <a:r>
              <a:rPr lang="pt-BR" sz="2000" dirty="0" err="1"/>
              <a:t>Scanf</a:t>
            </a:r>
            <a:r>
              <a:rPr lang="pt-BR" sz="2000" dirty="0"/>
              <a:t> usamos o &amp; para dizer que o valor será jogado no endereço da memoria da variável.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Com exceção de </a:t>
            </a:r>
            <a:r>
              <a:rPr lang="pt-BR" sz="2000" dirty="0" err="1"/>
              <a:t>String</a:t>
            </a:r>
            <a:r>
              <a:rPr lang="pt-BR" sz="2000" dirty="0"/>
              <a:t>, que na realidade é um ponteiro (Assunto futuro)</a:t>
            </a:r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lvl="1" algn="just"/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78153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script que deva solicitar o nome do usuário e a altura.</a:t>
            </a:r>
          </a:p>
          <a:p>
            <a:pPr algn="just"/>
            <a:endParaRPr lang="pt-BR" sz="2400" dirty="0"/>
          </a:p>
          <a:p>
            <a:pPr algn="just"/>
            <a:r>
              <a:rPr lang="pt-BR" sz="2200" dirty="0"/>
              <a:t>Por fim, exiba a mensagem:</a:t>
            </a:r>
          </a:p>
          <a:p>
            <a:pPr lvl="1" algn="just"/>
            <a:r>
              <a:rPr lang="pt-BR" sz="2000" dirty="0"/>
              <a:t>Olá, </a:t>
            </a:r>
            <a:r>
              <a:rPr lang="pt-BR" sz="2000" b="1" u="sng" dirty="0" err="1"/>
              <a:t>nome_informado</a:t>
            </a:r>
            <a:r>
              <a:rPr lang="pt-BR" sz="2000" dirty="0"/>
              <a:t>, você tem  </a:t>
            </a:r>
            <a:r>
              <a:rPr lang="pt-BR" sz="2000" b="1" u="sng" dirty="0" err="1"/>
              <a:t>x,xx</a:t>
            </a:r>
            <a:r>
              <a:rPr lang="pt-BR" sz="2000" dirty="0"/>
              <a:t> metros</a:t>
            </a:r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lvl="1" algn="just"/>
            <a:endParaRPr lang="pt-BR" sz="16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617" y="4293096"/>
            <a:ext cx="6027523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114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Praticando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</a:t>
            </a:r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lvl="1" algn="just"/>
            <a:endParaRPr lang="pt-BR" sz="1600" dirty="0"/>
          </a:p>
        </p:txBody>
      </p:sp>
      <p:sp>
        <p:nvSpPr>
          <p:cNvPr id="5" name="Retângulo 4"/>
          <p:cNvSpPr/>
          <p:nvPr/>
        </p:nvSpPr>
        <p:spPr>
          <a:xfrm>
            <a:off x="1953417" y="1268761"/>
            <a:ext cx="7427168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//Nome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nome[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seu nome: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nome);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//Altura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altura;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sua altura: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&amp;altura);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//Resultado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"Olá, %s, você tem %.2f metros"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nome, altura);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22952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Scanf</a:t>
            </a:r>
            <a:r>
              <a:rPr lang="pt-BR" dirty="0"/>
              <a:t> com espaço </a:t>
            </a:r>
            <a:r>
              <a:rPr lang="pt-BR"/>
              <a:t>- Extra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%s no </a:t>
            </a:r>
            <a:r>
              <a:rPr lang="pt-BR" sz="2000" dirty="0" err="1"/>
              <a:t>scanf</a:t>
            </a:r>
            <a:r>
              <a:rPr lang="pt-BR" sz="2000" dirty="0"/>
              <a:t>, por sua vez não tem a capacidade de pegar o que vem após  espaços: 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Caso deseje recuperar um elemento com espaço, use o %[^\n], onde vai buscar tudo até encontrar uma quebra de linha (\n).</a:t>
            </a:r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lvl="1" algn="just"/>
            <a:endParaRPr lang="pt-BR" sz="1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2C68027-672C-1E5A-EA30-D8014061EEBE}"/>
              </a:ext>
            </a:extLst>
          </p:cNvPr>
          <p:cNvSpPr txBox="1"/>
          <p:nvPr/>
        </p:nvSpPr>
        <p:spPr>
          <a:xfrm>
            <a:off x="1981201" y="2708920"/>
            <a:ext cx="4013229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>
                <a:solidFill>
                  <a:srgbClr val="000000"/>
                </a:solidFill>
                <a:latin typeface="Consolas" panose="020B0609020204030204" pitchFamily="49" charset="0"/>
              </a:rPr>
              <a:t> nome[</a:t>
            </a:r>
            <a:r>
              <a:rPr lang="pt-BR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pt-BR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>
                <a:solidFill>
                  <a:srgbClr val="000000"/>
                </a:solidFill>
                <a:latin typeface="Consolas" panose="020B0609020204030204" pitchFamily="49" charset="0"/>
              </a:rPr>
              <a:t>printf(</a:t>
            </a:r>
            <a:r>
              <a:rPr lang="pt-BR">
                <a:solidFill>
                  <a:srgbClr val="A31515"/>
                </a:solidFill>
                <a:latin typeface="Consolas" panose="020B0609020204030204" pitchFamily="49" charset="0"/>
              </a:rPr>
              <a:t>"Digiteu seu nome: "</a:t>
            </a:r>
            <a:r>
              <a:rPr lang="pt-BR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>
                <a:solidFill>
                  <a:srgbClr val="000000"/>
                </a:solidFill>
                <a:latin typeface="Consolas" panose="020B0609020204030204" pitchFamily="49" charset="0"/>
              </a:rPr>
              <a:t>scanf(</a:t>
            </a:r>
            <a:r>
              <a:rPr lang="pt-BR">
                <a:solidFill>
                  <a:srgbClr val="A31515"/>
                </a:solidFill>
                <a:latin typeface="Consolas" panose="020B0609020204030204" pitchFamily="49" charset="0"/>
              </a:rPr>
              <a:t>"%s"</a:t>
            </a:r>
            <a:r>
              <a:rPr lang="pt-BR">
                <a:solidFill>
                  <a:srgbClr val="000000"/>
                </a:solidFill>
                <a:latin typeface="Consolas" panose="020B0609020204030204" pitchFamily="49" charset="0"/>
              </a:rPr>
              <a:t>, nome);</a:t>
            </a:r>
          </a:p>
          <a:p>
            <a:r>
              <a:rPr lang="pt-BR">
                <a:solidFill>
                  <a:srgbClr val="000000"/>
                </a:solidFill>
                <a:latin typeface="Consolas" panose="020B0609020204030204" pitchFamily="49" charset="0"/>
              </a:rPr>
              <a:t>printf(</a:t>
            </a:r>
            <a:r>
              <a:rPr lang="pt-BR">
                <a:solidFill>
                  <a:srgbClr val="A31515"/>
                </a:solidFill>
                <a:latin typeface="Consolas" panose="020B0609020204030204" pitchFamily="49" charset="0"/>
              </a:rPr>
              <a:t>"Olá %s"</a:t>
            </a:r>
            <a:r>
              <a:rPr lang="pt-BR">
                <a:solidFill>
                  <a:srgbClr val="000000"/>
                </a:solidFill>
                <a:latin typeface="Consolas" panose="020B0609020204030204" pitchFamily="49" charset="0"/>
              </a:rPr>
              <a:t>, nome);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C3D27EB-AA5A-8138-9368-4C7EBB2DB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37075"/>
            <a:ext cx="4200000" cy="63809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0E1D84A5-52B6-ACBD-71A7-04F0EDD11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024" y="5373216"/>
            <a:ext cx="4180952" cy="52381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9297C177-B7FF-B365-42B8-9D4D3056E76F}"/>
              </a:ext>
            </a:extLst>
          </p:cNvPr>
          <p:cNvSpPr txBox="1"/>
          <p:nvPr/>
        </p:nvSpPr>
        <p:spPr>
          <a:xfrm>
            <a:off x="1975918" y="5034957"/>
            <a:ext cx="4013229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nome[</a:t>
            </a:r>
            <a:r>
              <a:rPr lang="pt-BR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Digiteu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 seu nome: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CD3131"/>
                </a:solidFill>
                <a:latin typeface="Consolas" panose="020B0609020204030204" pitchFamily="49" charset="0"/>
              </a:rPr>
              <a:t>%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[^\n]"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nome);</a:t>
            </a:r>
          </a:p>
          <a:p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"Olá %s"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nome);</a:t>
            </a:r>
          </a:p>
        </p:txBody>
      </p:sp>
    </p:spTree>
    <p:extLst>
      <p:ext uri="{BB962C8B-B14F-4D97-AF65-F5344CB8AC3E}">
        <p14:creationId xmlns:p14="http://schemas.microsoft.com/office/powerpoint/2010/main" val="1944372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0" ma:contentTypeDescription="Crie um novo documento." ma:contentTypeScope="" ma:versionID="8d2370ab5a92c900c9496cf828b71e6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74c6ccb71ee63fbc30cff3237551ec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0131817-75F5-45D7-8EAC-309F3EB5ADFA}"/>
</file>

<file path=customXml/itemProps2.xml><?xml version="1.0" encoding="utf-8"?>
<ds:datastoreItem xmlns:ds="http://schemas.openxmlformats.org/officeDocument/2006/customXml" ds:itemID="{C7731DDF-92C1-4301-AA7E-9D817B1443E6}"/>
</file>

<file path=customXml/itemProps3.xml><?xml version="1.0" encoding="utf-8"?>
<ds:datastoreItem xmlns:ds="http://schemas.openxmlformats.org/officeDocument/2006/customXml" ds:itemID="{58F4C08F-2F66-4636-81D1-B4A80AFC3D4D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1268</TotalTime>
  <Words>1644</Words>
  <Application>Microsoft Office PowerPoint</Application>
  <PresentationFormat>Widescreen</PresentationFormat>
  <Paragraphs>377</Paragraphs>
  <Slides>30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6" baseType="lpstr">
      <vt:lpstr>Calibri</vt:lpstr>
      <vt:lpstr>Consolas</vt:lpstr>
      <vt:lpstr>Georgia</vt:lpstr>
      <vt:lpstr>Trebuchet MS</vt:lpstr>
      <vt:lpstr>Wingdings 2</vt:lpstr>
      <vt:lpstr>Urbano</vt:lpstr>
      <vt:lpstr>Apresentação do PowerPoint</vt:lpstr>
      <vt:lpstr>Programando!</vt:lpstr>
      <vt:lpstr>Variável</vt:lpstr>
      <vt:lpstr>Variáveis</vt:lpstr>
      <vt:lpstr>Variáveis</vt:lpstr>
      <vt:lpstr>Variáveis - Nome</vt:lpstr>
      <vt:lpstr>Variáveis - Nome</vt:lpstr>
      <vt:lpstr>Variáveis - Nome</vt:lpstr>
      <vt:lpstr>Variáveis e Tipos Primitivos</vt:lpstr>
      <vt:lpstr>Variáveis e Texto</vt:lpstr>
      <vt:lpstr>Variáveis – Aspas simples vs dupla</vt:lpstr>
      <vt:lpstr>Variáveis – Praticando</vt:lpstr>
      <vt:lpstr>Variáveis – Praticando</vt:lpstr>
      <vt:lpstr>Variáveis – Extra de Declaração</vt:lpstr>
      <vt:lpstr>Variáveis – Extra de Declaração</vt:lpstr>
      <vt:lpstr>Variáveis – Prática</vt:lpstr>
      <vt:lpstr>Variáveis – Prática</vt:lpstr>
      <vt:lpstr>Exibindo variáveis </vt:lpstr>
      <vt:lpstr>Exibindo variáveis </vt:lpstr>
      <vt:lpstr>Exibindo variáveis  - Praticando</vt:lpstr>
      <vt:lpstr>Exibindo variáveis  - Código</vt:lpstr>
      <vt:lpstr>Exibindo variáveis  </vt:lpstr>
      <vt:lpstr>Limitar casas decimais </vt:lpstr>
      <vt:lpstr>Recuperando valores informado pelo usuário</vt:lpstr>
      <vt:lpstr>Recuperando valores informado pelo usuário</vt:lpstr>
      <vt:lpstr>O que é o &amp;?</vt:lpstr>
      <vt:lpstr>O que é o &amp;?</vt:lpstr>
      <vt:lpstr>Praticando</vt:lpstr>
      <vt:lpstr>Praticando</vt:lpstr>
      <vt:lpstr>Scanf com espaço - Extra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154</cp:revision>
  <dcterms:created xsi:type="dcterms:W3CDTF">2017-03-10T13:05:03Z</dcterms:created>
  <dcterms:modified xsi:type="dcterms:W3CDTF">2024-12-05T12:48:39Z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