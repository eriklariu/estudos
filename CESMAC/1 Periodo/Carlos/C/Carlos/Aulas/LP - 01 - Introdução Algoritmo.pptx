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sldIdLst>
    <p:sldId id="256" r:id="rId2"/>
    <p:sldId id="265" r:id="rId3"/>
    <p:sldId id="257" r:id="rId4"/>
    <p:sldId id="309" r:id="rId5"/>
    <p:sldId id="304" r:id="rId6"/>
    <p:sldId id="311" r:id="rId7"/>
    <p:sldId id="312" r:id="rId8"/>
    <p:sldId id="325" r:id="rId9"/>
    <p:sldId id="300" r:id="rId10"/>
    <p:sldId id="305" r:id="rId11"/>
    <p:sldId id="313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08" r:id="rId22"/>
    <p:sldId id="320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7408" y="1412777"/>
            <a:ext cx="10801200" cy="2187674"/>
          </a:xfrm>
        </p:spPr>
        <p:txBody>
          <a:bodyPr>
            <a:noAutofit/>
          </a:bodyPr>
          <a:lstStyle/>
          <a:p>
            <a:r>
              <a:rPr lang="pt-BR" sz="4800" dirty="0"/>
              <a:t>Laboratório de Programação I</a:t>
            </a:r>
            <a:br>
              <a:rPr lang="pt-BR" sz="6000" dirty="0"/>
            </a:br>
            <a:r>
              <a:rPr lang="pt-BR" sz="5400" dirty="0"/>
              <a:t>Introdução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Algoritmo</a:t>
            </a:r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Algoritmo?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Algoritmo pode ser definido como um </a:t>
            </a:r>
            <a:r>
              <a:rPr lang="pt-BR" sz="2000" u="sng" dirty="0"/>
              <a:t>conjunto</a:t>
            </a:r>
            <a:r>
              <a:rPr lang="pt-BR" sz="2000" dirty="0"/>
              <a:t> de </a:t>
            </a:r>
            <a:r>
              <a:rPr lang="pt-BR" sz="2000" u="sng" dirty="0"/>
              <a:t>passos finitos</a:t>
            </a:r>
            <a:r>
              <a:rPr lang="pt-BR" sz="2000" dirty="0"/>
              <a:t>, para </a:t>
            </a:r>
            <a:r>
              <a:rPr lang="pt-BR" sz="2000" u="sng" dirty="0"/>
              <a:t>resolver</a:t>
            </a:r>
            <a:r>
              <a:rPr lang="pt-BR" sz="2000" dirty="0"/>
              <a:t> algum tipo de </a:t>
            </a:r>
            <a:r>
              <a:rPr lang="pt-BR" sz="2000" u="sng" dirty="0"/>
              <a:t>problema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Ou seja, algoritmo é um programa criado para resolver coisas, correto?</a:t>
            </a:r>
          </a:p>
          <a:p>
            <a:pPr lvl="1" algn="just"/>
            <a:r>
              <a:rPr lang="pt-BR" sz="2000" dirty="0"/>
              <a:t>ERRADO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2000" dirty="0"/>
              <a:t>Usamos o algoritmo no nosso dia-a-dia, sem nem mesmo usar programas, apenas criando passos.</a:t>
            </a:r>
            <a:r>
              <a:rPr lang="pt-BR" sz="2200" dirty="0"/>
              <a:t> </a:t>
            </a:r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0232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Algoritmo?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Podemos criar um algoritmo para preparar um bolo, como por exemplo: </a:t>
            </a:r>
          </a:p>
          <a:p>
            <a:pPr lvl="1" algn="just"/>
            <a:r>
              <a:rPr lang="pt-BR" sz="2000" dirty="0"/>
              <a:t>Adicione 2 xicaras de açúcar</a:t>
            </a:r>
          </a:p>
          <a:p>
            <a:pPr lvl="1" algn="just"/>
            <a:r>
              <a:rPr lang="pt-BR" sz="2000" dirty="0"/>
              <a:t>Adicione 3 xicaras de farinha de trigo</a:t>
            </a:r>
          </a:p>
          <a:p>
            <a:pPr lvl="1" algn="just"/>
            <a:r>
              <a:rPr lang="pt-BR" sz="2000" dirty="0"/>
              <a:t>Adicione 3 ovos</a:t>
            </a:r>
          </a:p>
          <a:p>
            <a:pPr lvl="1" algn="just"/>
            <a:r>
              <a:rPr lang="pt-BR" sz="2000" dirty="0"/>
              <a:t>Adicione 1 xicara de leite </a:t>
            </a:r>
          </a:p>
          <a:p>
            <a:pPr lvl="1" algn="just"/>
            <a:r>
              <a:rPr lang="pt-BR" sz="2000" dirty="0"/>
              <a:t>Misture tudo enquanto não for homogêneo</a:t>
            </a:r>
          </a:p>
          <a:p>
            <a:pPr lvl="1" algn="just"/>
            <a:r>
              <a:rPr lang="pt-BR" sz="2000" dirty="0"/>
              <a:t>Coloque no forno </a:t>
            </a:r>
          </a:p>
          <a:p>
            <a:pPr lvl="1" algn="just"/>
            <a:r>
              <a:rPr lang="pt-BR" sz="2000" dirty="0"/>
              <a:t>Enquanto não tiver passado 40 minutos, aguarde</a:t>
            </a:r>
          </a:p>
          <a:p>
            <a:pPr lvl="1" algn="just"/>
            <a:r>
              <a:rPr lang="pt-BR" sz="2000" dirty="0"/>
              <a:t>Retire do forno.</a:t>
            </a:r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7536160" y="2924945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Foi definido um passo a passo finito para resolver um problema?</a:t>
            </a:r>
          </a:p>
          <a:p>
            <a:r>
              <a:rPr lang="pt-BR" dirty="0"/>
              <a:t>- Então é um algoritmo</a:t>
            </a:r>
          </a:p>
        </p:txBody>
      </p:sp>
    </p:spTree>
    <p:extLst>
      <p:ext uri="{BB962C8B-B14F-4D97-AF65-F5344CB8AC3E}">
        <p14:creationId xmlns:p14="http://schemas.microsoft.com/office/powerpoint/2010/main" val="264621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Algoritmo?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Se o algoritmo é uma sequencia de passos, poderia ser criado um algoritmo de como eu (professor) devo interagir no primeiro contato com a turma?</a:t>
            </a:r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3356993"/>
            <a:ext cx="8784976" cy="29022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0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060848"/>
            <a:ext cx="11305256" cy="458569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Então o algoritmo é o passo a passo para resolver uma situação, que </a:t>
            </a:r>
            <a:r>
              <a:rPr lang="pt-BR" sz="2000" u="sng" dirty="0"/>
              <a:t>não necessariamente é o melhor caminho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Apesar de não ser a melhor solução, ainda sim eu defini um passo a passo para resolver meu problema.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999656" y="3040892"/>
            <a:ext cx="1368152" cy="951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511824" y="2898171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a Esquerda 8"/>
          <p:cNvSpPr/>
          <p:nvPr/>
        </p:nvSpPr>
        <p:spPr>
          <a:xfrm>
            <a:off x="4511824" y="3429000"/>
            <a:ext cx="144016" cy="21602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669712" y="2785513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Destino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727848" y="3347700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Você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6050375" y="2743760"/>
            <a:ext cx="446232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Vire em 90graus a esquerda</a:t>
            </a:r>
          </a:p>
          <a:p>
            <a:r>
              <a:rPr lang="pt-BR" dirty="0"/>
              <a:t>ENQUANTO não chegar a destino</a:t>
            </a:r>
          </a:p>
          <a:p>
            <a:r>
              <a:rPr lang="pt-BR" dirty="0"/>
              <a:t>	Ande para frente</a:t>
            </a:r>
          </a:p>
          <a:p>
            <a:r>
              <a:rPr lang="pt-BR" dirty="0"/>
              <a:t>	SE puder virar a direita</a:t>
            </a:r>
          </a:p>
          <a:p>
            <a:r>
              <a:rPr lang="pt-BR" dirty="0"/>
              <a:t>		Vire 90 graus a direita</a:t>
            </a:r>
          </a:p>
        </p:txBody>
      </p:sp>
      <p:sp>
        <p:nvSpPr>
          <p:cNvPr id="14" name="Seta para a Esquerda 13"/>
          <p:cNvSpPr/>
          <p:nvPr/>
        </p:nvSpPr>
        <p:spPr>
          <a:xfrm rot="16200000">
            <a:off x="4511824" y="3429000"/>
            <a:ext cx="144016" cy="21602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de Seta Reta 15"/>
          <p:cNvCxnSpPr/>
          <p:nvPr/>
        </p:nvCxnSpPr>
        <p:spPr>
          <a:xfrm>
            <a:off x="4583832" y="3717032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 flipH="1">
            <a:off x="2855640" y="4221088"/>
            <a:ext cx="1512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V="1">
            <a:off x="2855640" y="2898172"/>
            <a:ext cx="0" cy="1178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2999656" y="2898171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92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9" grpId="1" animBg="1"/>
      <p:bldP spid="10" grpId="0"/>
      <p:bldP spid="11" grpId="0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384" y="2060848"/>
            <a:ext cx="9525744" cy="458569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 melhor solução é chamada de </a:t>
            </a:r>
            <a:r>
              <a:rPr lang="pt-BR" sz="2000" u="sng" dirty="0"/>
              <a:t>Algoritmo Ótimo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resolve o problema na menor quantidade de passos possíveis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999656" y="3904988"/>
            <a:ext cx="1368152" cy="951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511824" y="3762267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a Esquerda 8"/>
          <p:cNvSpPr/>
          <p:nvPr/>
        </p:nvSpPr>
        <p:spPr>
          <a:xfrm>
            <a:off x="4511824" y="4293096"/>
            <a:ext cx="144016" cy="21602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669712" y="3649609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Destino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727848" y="421179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Você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6050375" y="3607857"/>
            <a:ext cx="446232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Vire em 90graus a direita</a:t>
            </a:r>
          </a:p>
          <a:p>
            <a:r>
              <a:rPr lang="pt-BR" dirty="0"/>
              <a:t>Ande para frente</a:t>
            </a:r>
          </a:p>
        </p:txBody>
      </p:sp>
      <p:sp>
        <p:nvSpPr>
          <p:cNvPr id="14" name="Seta para a Esquerda 13"/>
          <p:cNvSpPr/>
          <p:nvPr/>
        </p:nvSpPr>
        <p:spPr>
          <a:xfrm rot="5400000">
            <a:off x="4511824" y="4293096"/>
            <a:ext cx="144016" cy="21602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de Seta Reta 15"/>
          <p:cNvCxnSpPr/>
          <p:nvPr/>
        </p:nvCxnSpPr>
        <p:spPr>
          <a:xfrm flipV="1">
            <a:off x="4583832" y="3933057"/>
            <a:ext cx="0" cy="321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9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9" grpId="1" animBg="1"/>
      <p:bldP spid="10" grpId="0"/>
      <p:bldP spid="11" grpId="0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Algoritmo Determinístico </a:t>
            </a:r>
            <a:br>
              <a:rPr lang="pt-BR" dirty="0"/>
            </a:br>
            <a:r>
              <a:rPr lang="pt-BR" dirty="0"/>
              <a:t>				 Não Determinístico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Nossos algoritmos também podem ser considerados determinísticos ou não determinísticos. </a:t>
            </a:r>
            <a:endParaRPr lang="pt-BR" sz="1800" dirty="0"/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Um </a:t>
            </a:r>
            <a:r>
              <a:rPr lang="pt-BR" sz="1800" u="sng" dirty="0"/>
              <a:t>algoritmo determinístico</a:t>
            </a:r>
            <a:r>
              <a:rPr lang="pt-BR" sz="1800" dirty="0"/>
              <a:t> é um algoritmo que sempre que for executado com os mesmo dados de entrada, </a:t>
            </a:r>
            <a:r>
              <a:rPr lang="pt-BR" sz="1800" u="sng" dirty="0"/>
              <a:t>SEMPRE</a:t>
            </a:r>
            <a:r>
              <a:rPr lang="pt-BR" sz="1800" dirty="0"/>
              <a:t> dará  o </a:t>
            </a:r>
            <a:r>
              <a:rPr lang="pt-BR" sz="1800" u="sng" dirty="0"/>
              <a:t>mesmo resultado</a:t>
            </a:r>
            <a:r>
              <a:rPr lang="pt-BR" sz="1800" dirty="0"/>
              <a:t>. </a:t>
            </a:r>
          </a:p>
          <a:p>
            <a:pPr lvl="1" algn="just"/>
            <a:r>
              <a:rPr lang="pt-BR" sz="1600" dirty="0"/>
              <a:t>Entra A e B;</a:t>
            </a:r>
          </a:p>
          <a:p>
            <a:pPr lvl="1" algn="just"/>
            <a:r>
              <a:rPr lang="pt-BR" sz="1600" dirty="0"/>
              <a:t>Informe soma de A e B;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u="sng" dirty="0"/>
              <a:t>Algoritmo</a:t>
            </a:r>
            <a:r>
              <a:rPr lang="pt-BR" sz="2000" dirty="0"/>
              <a:t> </a:t>
            </a:r>
            <a:r>
              <a:rPr lang="pt-BR" sz="2000" u="sng" dirty="0"/>
              <a:t>não determinístico</a:t>
            </a:r>
            <a:r>
              <a:rPr lang="pt-BR" sz="2000" dirty="0"/>
              <a:t> é um algoritmo que </a:t>
            </a:r>
            <a:r>
              <a:rPr lang="pt-BR" sz="2000" u="sng" dirty="0"/>
              <a:t>pode variar </a:t>
            </a:r>
            <a:r>
              <a:rPr lang="pt-BR" sz="2000" dirty="0"/>
              <a:t>a cada vez que é executado.</a:t>
            </a:r>
          </a:p>
          <a:p>
            <a:pPr lvl="1" algn="just"/>
            <a:r>
              <a:rPr lang="pt-BR" sz="1800" dirty="0"/>
              <a:t>Entrada data de nascimento</a:t>
            </a:r>
          </a:p>
          <a:p>
            <a:pPr lvl="1" algn="just"/>
            <a:r>
              <a:rPr lang="pt-BR" sz="1800" dirty="0"/>
              <a:t>Informe quantos dias você já viveu. </a:t>
            </a:r>
          </a:p>
        </p:txBody>
      </p:sp>
    </p:spTree>
    <p:extLst>
      <p:ext uri="{BB962C8B-B14F-4D97-AF65-F5344CB8AC3E}">
        <p14:creationId xmlns:p14="http://schemas.microsoft.com/office/powerpoint/2010/main" val="163827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Quem já buscou </a:t>
            </a:r>
            <a:r>
              <a:rPr lang="pt-BR" sz="2000" u="sng" dirty="0"/>
              <a:t>algoritmo</a:t>
            </a:r>
            <a:r>
              <a:rPr lang="pt-BR" sz="2000" dirty="0"/>
              <a:t> no Google Imagens? 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80" y="526680"/>
            <a:ext cx="6048672" cy="63313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387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Representações de um Algoritmo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Um algoritmo pode ser representado: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982290" y="3673316"/>
            <a:ext cx="382567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RECEBA VALOR(idade)</a:t>
            </a:r>
          </a:p>
          <a:p>
            <a:r>
              <a:rPr lang="pt-BR" dirty="0"/>
              <a:t>SE idade for maior 18</a:t>
            </a:r>
          </a:p>
          <a:p>
            <a:r>
              <a:rPr lang="pt-BR" dirty="0"/>
              <a:t>      INFORME "Maior de Idade"</a:t>
            </a:r>
          </a:p>
          <a:p>
            <a:r>
              <a:rPr lang="pt-BR" dirty="0"/>
              <a:t>SENAO</a:t>
            </a:r>
          </a:p>
          <a:p>
            <a:r>
              <a:rPr lang="pt-BR" dirty="0"/>
              <a:t>      INFORME "Menor de idade"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268194" y="3264360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TEXTUAL</a:t>
            </a:r>
          </a:p>
        </p:txBody>
      </p:sp>
      <p:sp>
        <p:nvSpPr>
          <p:cNvPr id="8" name="Fluxograma: Terminação 7"/>
          <p:cNvSpPr/>
          <p:nvPr/>
        </p:nvSpPr>
        <p:spPr>
          <a:xfrm>
            <a:off x="7942479" y="2224076"/>
            <a:ext cx="1226811" cy="3505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Início</a:t>
            </a:r>
          </a:p>
        </p:txBody>
      </p:sp>
      <p:sp>
        <p:nvSpPr>
          <p:cNvPr id="9" name="Fluxograma: Terminação 8"/>
          <p:cNvSpPr/>
          <p:nvPr/>
        </p:nvSpPr>
        <p:spPr>
          <a:xfrm>
            <a:off x="7786168" y="6109740"/>
            <a:ext cx="1395205" cy="39863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Fim</a:t>
            </a:r>
          </a:p>
        </p:txBody>
      </p:sp>
      <p:sp>
        <p:nvSpPr>
          <p:cNvPr id="10" name="Fluxograma: Entrada Manual 9"/>
          <p:cNvSpPr/>
          <p:nvPr/>
        </p:nvSpPr>
        <p:spPr>
          <a:xfrm>
            <a:off x="8089746" y="2989829"/>
            <a:ext cx="932276" cy="466138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Idade</a:t>
            </a:r>
          </a:p>
        </p:txBody>
      </p:sp>
      <p:sp>
        <p:nvSpPr>
          <p:cNvPr id="11" name="Fluxograma: Decisão 10"/>
          <p:cNvSpPr/>
          <p:nvPr/>
        </p:nvSpPr>
        <p:spPr>
          <a:xfrm>
            <a:off x="7804290" y="3908412"/>
            <a:ext cx="1503188" cy="100713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Idade &gt;= 18</a:t>
            </a:r>
          </a:p>
        </p:txBody>
      </p:sp>
      <p:cxnSp>
        <p:nvCxnSpPr>
          <p:cNvPr id="15" name="Conector de Seta Reta 14"/>
          <p:cNvCxnSpPr>
            <a:stCxn id="8" idx="2"/>
            <a:endCxn id="10" idx="0"/>
          </p:cNvCxnSpPr>
          <p:nvPr/>
        </p:nvCxnSpPr>
        <p:spPr>
          <a:xfrm>
            <a:off x="8555884" y="2574593"/>
            <a:ext cx="0" cy="461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10" idx="2"/>
            <a:endCxn id="11" idx="0"/>
          </p:cNvCxnSpPr>
          <p:nvPr/>
        </p:nvCxnSpPr>
        <p:spPr>
          <a:xfrm>
            <a:off x="8555884" y="3455968"/>
            <a:ext cx="0" cy="452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Angulado 19"/>
          <p:cNvCxnSpPr>
            <a:stCxn id="11" idx="1"/>
            <a:endCxn id="29" idx="0"/>
          </p:cNvCxnSpPr>
          <p:nvPr/>
        </p:nvCxnSpPr>
        <p:spPr>
          <a:xfrm rot="10800000" flipV="1">
            <a:off x="7262613" y="4411980"/>
            <a:ext cx="541679" cy="70294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stCxn id="11" idx="3"/>
            <a:endCxn id="32" idx="0"/>
          </p:cNvCxnSpPr>
          <p:nvPr/>
        </p:nvCxnSpPr>
        <p:spPr>
          <a:xfrm>
            <a:off x="9307479" y="4411980"/>
            <a:ext cx="439169" cy="72375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Angulado 24"/>
          <p:cNvCxnSpPr>
            <a:stCxn id="29" idx="2"/>
            <a:endCxn id="9" idx="1"/>
          </p:cNvCxnSpPr>
          <p:nvPr/>
        </p:nvCxnSpPr>
        <p:spPr>
          <a:xfrm rot="16200000" flipH="1">
            <a:off x="7252326" y="5775212"/>
            <a:ext cx="544129" cy="5235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ector Angulado 26"/>
          <p:cNvCxnSpPr>
            <a:stCxn id="32" idx="2"/>
            <a:endCxn id="9" idx="3"/>
          </p:cNvCxnSpPr>
          <p:nvPr/>
        </p:nvCxnSpPr>
        <p:spPr>
          <a:xfrm rot="5400000">
            <a:off x="9202351" y="5764758"/>
            <a:ext cx="523321" cy="5652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9590776" y="2213629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Visual</a:t>
            </a:r>
          </a:p>
        </p:txBody>
      </p:sp>
      <p:sp>
        <p:nvSpPr>
          <p:cNvPr id="29" name="Fluxograma: Exibir 28"/>
          <p:cNvSpPr/>
          <p:nvPr/>
        </p:nvSpPr>
        <p:spPr>
          <a:xfrm>
            <a:off x="6396390" y="5114922"/>
            <a:ext cx="1732442" cy="65000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Maior de Idade</a:t>
            </a:r>
            <a:endParaRPr lang="pt-BR" dirty="0"/>
          </a:p>
        </p:txBody>
      </p:sp>
      <p:sp>
        <p:nvSpPr>
          <p:cNvPr id="32" name="Fluxograma: Exibir 31"/>
          <p:cNvSpPr/>
          <p:nvPr/>
        </p:nvSpPr>
        <p:spPr>
          <a:xfrm>
            <a:off x="8880426" y="5135730"/>
            <a:ext cx="1732442" cy="65000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Menor de Idade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9552384" y="4077072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Verdade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6817083" y="407707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Falso</a:t>
            </a:r>
          </a:p>
        </p:txBody>
      </p:sp>
    </p:spTree>
    <p:extLst>
      <p:ext uri="{BB962C8B-B14F-4D97-AF65-F5344CB8AC3E}">
        <p14:creationId xmlns:p14="http://schemas.microsoft.com/office/powerpoint/2010/main" val="356699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 animBg="1"/>
      <p:bldP spid="9" grpId="0" animBg="1"/>
      <p:bldP spid="10" grpId="0" animBg="1"/>
      <p:bldP spid="11" grpId="0" animBg="1"/>
      <p:bldP spid="28" grpId="0"/>
      <p:bldP spid="29" grpId="0" animBg="1"/>
      <p:bldP spid="32" grpId="0" animBg="1"/>
      <p:bldP spid="41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49424"/>
            <a:ext cx="1116124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No modo textual é comum usarmos:</a:t>
            </a:r>
          </a:p>
          <a:p>
            <a:pPr lvl="1" algn="just"/>
            <a:r>
              <a:rPr lang="pt-BR" sz="2000" dirty="0"/>
              <a:t>Estrutura de Decisão (SE | CASO)</a:t>
            </a:r>
          </a:p>
          <a:p>
            <a:pPr lvl="1" algn="just"/>
            <a:r>
              <a:rPr lang="pt-BR" sz="2000" dirty="0"/>
              <a:t>Estrutura de Repetição (ENQUANTO | PARA CADA | REPITA ATÉ)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E os textos são lidos de cima para baixo, sequencialmente.</a:t>
            </a:r>
          </a:p>
          <a:p>
            <a:pPr algn="just"/>
            <a:r>
              <a:rPr lang="pt-BR" sz="2000" dirty="0"/>
              <a:t>Ao usar essas estruturas, costumamos deixar o texto que faz parte da estrutura </a:t>
            </a:r>
            <a:r>
              <a:rPr lang="pt-BR" sz="2000" u="sng" dirty="0"/>
              <a:t>aninhado</a:t>
            </a:r>
            <a:r>
              <a:rPr lang="pt-BR" sz="2000" dirty="0"/>
              <a:t>.  E apenas a lemos, caso a condição seja verdadeira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703512" y="4653136"/>
            <a:ext cx="43924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u="sng" dirty="0"/>
              <a:t>SE</a:t>
            </a:r>
            <a:r>
              <a:rPr lang="pt-BR" dirty="0"/>
              <a:t> (idade é maior ou igual a 18) </a:t>
            </a:r>
            <a:r>
              <a:rPr lang="pt-BR" b="1" dirty="0"/>
              <a:t>ENTÃO</a:t>
            </a:r>
          </a:p>
          <a:p>
            <a:r>
              <a:rPr lang="pt-BR" dirty="0"/>
              <a:t>	Exibe "É maior de idade"</a:t>
            </a:r>
          </a:p>
          <a:p>
            <a:r>
              <a:rPr lang="pt-BR" b="1" u="sng" dirty="0"/>
              <a:t>SENÃO</a:t>
            </a:r>
          </a:p>
          <a:p>
            <a:r>
              <a:rPr lang="pt-BR" dirty="0"/>
              <a:t>	Exibe "É menor de idade"</a:t>
            </a:r>
          </a:p>
          <a:p>
            <a:r>
              <a:rPr lang="pt-BR" b="1" i="1" u="sng" dirty="0"/>
              <a:t>FIM SE </a:t>
            </a:r>
            <a:r>
              <a:rPr lang="pt-BR" i="1" u="sng" dirty="0"/>
              <a:t>(OPCIONAL)</a:t>
            </a:r>
          </a:p>
        </p:txBody>
      </p:sp>
      <p:sp>
        <p:nvSpPr>
          <p:cNvPr id="5" name="Retângulo 4"/>
          <p:cNvSpPr/>
          <p:nvPr/>
        </p:nvSpPr>
        <p:spPr>
          <a:xfrm>
            <a:off x="5735960" y="5415519"/>
            <a:ext cx="412960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u="sng" dirty="0"/>
              <a:t>PARA CADA</a:t>
            </a:r>
            <a:r>
              <a:rPr lang="pt-BR" dirty="0"/>
              <a:t> avaliação do semestre</a:t>
            </a:r>
            <a:endParaRPr lang="pt-BR" b="1" u="sng" dirty="0"/>
          </a:p>
          <a:p>
            <a:r>
              <a:rPr lang="pt-BR" dirty="0"/>
              <a:t>	estude</a:t>
            </a:r>
          </a:p>
          <a:p>
            <a:r>
              <a:rPr lang="pt-BR" dirty="0"/>
              <a:t>	realize a prova</a:t>
            </a:r>
            <a:endParaRPr lang="pt-BR" b="1" i="1" u="sng" dirty="0"/>
          </a:p>
          <a:p>
            <a:r>
              <a:rPr lang="pt-BR" b="1" i="1" u="sng" dirty="0"/>
              <a:t>FIM PARA</a:t>
            </a:r>
            <a:r>
              <a:rPr lang="pt-BR" i="1" u="sng" dirty="0"/>
              <a:t> (OPCIONAL)</a:t>
            </a:r>
          </a:p>
        </p:txBody>
      </p:sp>
    </p:spTree>
    <p:extLst>
      <p:ext uri="{BB962C8B-B14F-4D97-AF65-F5344CB8AC3E}">
        <p14:creationId xmlns:p14="http://schemas.microsoft.com/office/powerpoint/2010/main" val="96562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na Programação?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o algoritmo na programação?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Algoritmo em programação é baseado (na maioria das vezes) em códigos (modo textual)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Porém algoritmo em programação </a:t>
            </a:r>
            <a:r>
              <a:rPr lang="pt-BR" sz="2000" u="sng" dirty="0"/>
              <a:t>não é o próprio software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Algoritmo em programação é </a:t>
            </a:r>
            <a:r>
              <a:rPr lang="pt-BR" sz="2000" u="sng" dirty="0"/>
              <a:t>os passos </a:t>
            </a:r>
            <a:r>
              <a:rPr lang="pt-BR" sz="2000" dirty="0"/>
              <a:t>que o </a:t>
            </a:r>
            <a:r>
              <a:rPr lang="pt-BR" sz="2000" u="sng" dirty="0"/>
              <a:t>software</a:t>
            </a:r>
            <a:r>
              <a:rPr lang="pt-BR" sz="2000" dirty="0"/>
              <a:t> deve </a:t>
            </a:r>
            <a:r>
              <a:rPr lang="pt-BR" sz="2000" u="sng" dirty="0"/>
              <a:t>realizar</a:t>
            </a:r>
            <a:r>
              <a:rPr lang="pt-BR" sz="2000" dirty="0"/>
              <a:t> para a </a:t>
            </a:r>
            <a:r>
              <a:rPr lang="pt-BR" sz="2000" u="sng" dirty="0"/>
              <a:t>atender um problema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Normalmente realizado em uma </a:t>
            </a:r>
            <a:r>
              <a:rPr lang="pt-BR" sz="2000" u="sng" dirty="0"/>
              <a:t>Linguagem de Programação</a:t>
            </a:r>
            <a:r>
              <a:rPr lang="pt-BR" sz="2000" dirty="0"/>
              <a:t>.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9491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uma linguagem de programação?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É um </a:t>
            </a:r>
            <a:r>
              <a:rPr lang="pt-BR" sz="2000" u="sng" dirty="0"/>
              <a:t>conjunto de instruções predefinidas</a:t>
            </a:r>
            <a:r>
              <a:rPr lang="pt-BR" sz="2000" dirty="0"/>
              <a:t> que permite o programador “</a:t>
            </a:r>
            <a:r>
              <a:rPr lang="pt-BR" sz="2000" u="sng" dirty="0"/>
              <a:t>dialogar</a:t>
            </a:r>
            <a:r>
              <a:rPr lang="pt-BR" sz="2000" dirty="0"/>
              <a:t>” numa </a:t>
            </a:r>
            <a:r>
              <a:rPr lang="pt-BR" sz="2000" u="sng" dirty="0"/>
              <a:t>linguagem</a:t>
            </a:r>
            <a:r>
              <a:rPr lang="pt-BR" sz="2000" dirty="0"/>
              <a:t> que um </a:t>
            </a:r>
            <a:r>
              <a:rPr lang="pt-BR" sz="2000" u="sng" dirty="0"/>
              <a:t>interpretador</a:t>
            </a:r>
            <a:r>
              <a:rPr lang="pt-BR" sz="2000" dirty="0"/>
              <a:t> ou </a:t>
            </a:r>
            <a:r>
              <a:rPr lang="pt-BR" sz="2000" u="sng" dirty="0"/>
              <a:t>compilador</a:t>
            </a:r>
            <a:r>
              <a:rPr lang="pt-BR" sz="2000" dirty="0"/>
              <a:t> entenda o que um programa deve fazer.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As linguagens de programação </a:t>
            </a:r>
            <a:r>
              <a:rPr lang="pt-BR" sz="2000" u="sng" dirty="0"/>
              <a:t>permitem</a:t>
            </a:r>
            <a:r>
              <a:rPr lang="pt-BR" sz="2000" dirty="0"/>
              <a:t> que o </a:t>
            </a:r>
            <a:r>
              <a:rPr lang="pt-BR" sz="2000" u="sng" dirty="0"/>
              <a:t>programador</a:t>
            </a:r>
            <a:r>
              <a:rPr lang="pt-BR" sz="2000" dirty="0"/>
              <a:t> use uma </a:t>
            </a:r>
            <a:r>
              <a:rPr lang="pt-BR" sz="2000" u="sng" dirty="0"/>
              <a:t>sintaxe de nível mais alto</a:t>
            </a:r>
            <a:r>
              <a:rPr lang="pt-BR" sz="2000" dirty="0"/>
              <a:t>, </a:t>
            </a:r>
            <a:r>
              <a:rPr lang="pt-BR" sz="2000" u="sng" dirty="0"/>
              <a:t>evitando</a:t>
            </a:r>
            <a:r>
              <a:rPr lang="pt-BR" sz="2000" dirty="0"/>
              <a:t> que o programador precise usar uma </a:t>
            </a:r>
            <a:r>
              <a:rPr lang="pt-BR" sz="2000" u="sng" dirty="0"/>
              <a:t>linguagem de máquina</a:t>
            </a:r>
            <a:r>
              <a:rPr lang="pt-BR" sz="2000" dirty="0"/>
              <a:t>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4924360"/>
            <a:ext cx="3991688" cy="17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5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Sintaxe e Semântica na disciplina de português? </a:t>
            </a:r>
          </a:p>
          <a:p>
            <a:pPr lvl="1" algn="just"/>
            <a:r>
              <a:rPr lang="pt-BR" sz="1800" dirty="0"/>
              <a:t>Sintaxe é o que cada conteúdo é em uma frase.</a:t>
            </a:r>
          </a:p>
          <a:p>
            <a:pPr lvl="1" algn="just"/>
            <a:r>
              <a:rPr lang="pt-BR" sz="1800" dirty="0"/>
              <a:t>Semântica é significado de cada conteúdo numa frase. 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200" dirty="0"/>
              <a:t>O João comprou um carro da hora.</a:t>
            </a:r>
          </a:p>
          <a:p>
            <a:pPr lvl="2" algn="just"/>
            <a:endParaRPr lang="pt-BR" sz="1800" dirty="0"/>
          </a:p>
          <a:p>
            <a:pPr lvl="2" algn="just"/>
            <a:endParaRPr lang="pt-BR" sz="1800" dirty="0"/>
          </a:p>
          <a:p>
            <a:pPr lvl="2" algn="just"/>
            <a:endParaRPr lang="pt-BR" sz="1800" dirty="0"/>
          </a:p>
          <a:p>
            <a:pPr lvl="2" algn="just"/>
            <a:endParaRPr lang="pt-BR" sz="1800" dirty="0"/>
          </a:p>
          <a:p>
            <a:pPr lvl="2" algn="just"/>
            <a:endParaRPr lang="pt-BR" sz="1800" dirty="0"/>
          </a:p>
          <a:p>
            <a:pPr lvl="2" algn="just"/>
            <a:endParaRPr lang="pt-BR" sz="1800" dirty="0"/>
          </a:p>
          <a:p>
            <a:pPr algn="just"/>
            <a:r>
              <a:rPr lang="pt-BR" sz="2200" dirty="0"/>
              <a:t>Em Linguagens de Programação também sintaxe e semântica.</a:t>
            </a:r>
          </a:p>
        </p:txBody>
      </p:sp>
      <p:sp>
        <p:nvSpPr>
          <p:cNvPr id="5" name="Retângulo 4"/>
          <p:cNvSpPr/>
          <p:nvPr/>
        </p:nvSpPr>
        <p:spPr>
          <a:xfrm>
            <a:off x="7042448" y="3212977"/>
            <a:ext cx="316835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2" algn="just"/>
            <a:r>
              <a:rPr lang="pt-BR" dirty="0"/>
              <a:t>O = Artigo definido</a:t>
            </a:r>
          </a:p>
          <a:p>
            <a:pPr marL="0" lvl="2" algn="just"/>
            <a:r>
              <a:rPr lang="pt-BR" dirty="0"/>
              <a:t>João = Substantivo Próprio</a:t>
            </a:r>
          </a:p>
          <a:p>
            <a:pPr marL="0" lvl="2" algn="just"/>
            <a:r>
              <a:rPr lang="pt-BR" dirty="0"/>
              <a:t>comprou = Verbo</a:t>
            </a:r>
          </a:p>
          <a:p>
            <a:pPr marL="0" lvl="2" algn="just"/>
            <a:r>
              <a:rPr lang="pt-BR" dirty="0"/>
              <a:t>Um = Artigo indefinido</a:t>
            </a:r>
          </a:p>
          <a:p>
            <a:pPr marL="0" lvl="2" algn="just"/>
            <a:r>
              <a:rPr lang="pt-BR" dirty="0"/>
              <a:t>Carro = Substantivo</a:t>
            </a:r>
          </a:p>
          <a:p>
            <a:pPr marL="0" lvl="2" algn="just"/>
            <a:r>
              <a:rPr lang="pt-BR" dirty="0"/>
              <a:t>Da = preposição</a:t>
            </a:r>
          </a:p>
          <a:p>
            <a:pPr marL="0" lvl="2" algn="just"/>
            <a:r>
              <a:rPr lang="pt-BR" dirty="0"/>
              <a:t>Hora = verbo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295868" y="284364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Sintaxe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071665" y="4797153"/>
            <a:ext cx="321273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Semântica – Qual Sentido?</a:t>
            </a:r>
          </a:p>
          <a:p>
            <a:r>
              <a:rPr lang="pt-BR" dirty="0"/>
              <a:t>Da hora -&gt; Legal e não tempo</a:t>
            </a:r>
          </a:p>
        </p:txBody>
      </p:sp>
      <p:cxnSp>
        <p:nvCxnSpPr>
          <p:cNvPr id="10" name="Conector Angulado 9"/>
          <p:cNvCxnSpPr>
            <a:stCxn id="8" idx="0"/>
          </p:cNvCxnSpPr>
          <p:nvPr/>
        </p:nvCxnSpPr>
        <p:spPr>
          <a:xfrm rot="5400000" flipH="1" flipV="1">
            <a:off x="5085174" y="3597925"/>
            <a:ext cx="792088" cy="160636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52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u="sng" dirty="0"/>
              <a:t>Sintaxes</a:t>
            </a:r>
            <a:r>
              <a:rPr lang="pt-BR" sz="2000" dirty="0"/>
              <a:t> </a:t>
            </a:r>
            <a:r>
              <a:rPr lang="pt-BR" sz="2000" u="sng" dirty="0"/>
              <a:t>diferentes</a:t>
            </a:r>
            <a:r>
              <a:rPr lang="pt-BR" sz="2000" dirty="0"/>
              <a:t>, porém com a </a:t>
            </a:r>
            <a:r>
              <a:rPr lang="pt-BR" sz="2000" u="sng" dirty="0"/>
              <a:t>mesma semântica</a:t>
            </a:r>
            <a:r>
              <a:rPr lang="pt-BR" sz="2000" dirty="0"/>
              <a:t> em duas linguagens de programação</a:t>
            </a:r>
            <a:r>
              <a:rPr lang="pt-BR" sz="2200" dirty="0"/>
              <a:t>:</a:t>
            </a:r>
          </a:p>
        </p:txBody>
      </p:sp>
      <p:sp>
        <p:nvSpPr>
          <p:cNvPr id="4" name="Retângulo 3"/>
          <p:cNvSpPr/>
          <p:nvPr/>
        </p:nvSpPr>
        <p:spPr>
          <a:xfrm>
            <a:off x="1956885" y="3696205"/>
            <a:ext cx="396044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/>
              <a:t>if</a:t>
            </a:r>
            <a:r>
              <a:rPr lang="pt-BR" dirty="0"/>
              <a:t> (valor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): </a:t>
            </a:r>
          </a:p>
          <a:p>
            <a:r>
              <a:rPr lang="pt-BR" dirty="0"/>
              <a:t>     </a:t>
            </a:r>
            <a:r>
              <a:rPr lang="pt-BR" dirty="0" err="1"/>
              <a:t>print</a:t>
            </a:r>
            <a:r>
              <a:rPr lang="pt-BR" dirty="0"/>
              <a:t> "Valor não informado"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063559" y="330128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Python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6168008" y="3696204"/>
            <a:ext cx="404279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/>
              <a:t>if</a:t>
            </a:r>
            <a:r>
              <a:rPr lang="pt-BR" dirty="0"/>
              <a:t> (valor == NULL) {</a:t>
            </a:r>
          </a:p>
          <a:p>
            <a:r>
              <a:rPr lang="pt-BR" dirty="0"/>
              <a:t>          </a:t>
            </a:r>
            <a:r>
              <a:rPr lang="pt-BR" dirty="0" err="1"/>
              <a:t>printf</a:t>
            </a:r>
            <a:r>
              <a:rPr lang="pt-BR" dirty="0"/>
              <a:t>("Valor não informado");</a:t>
            </a:r>
          </a:p>
          <a:p>
            <a:r>
              <a:rPr lang="pt-BR" dirty="0"/>
              <a:t>}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471109" y="33268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7935106" y="3335357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2232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1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Atualmente existem diversas linguagens de programação com diversas finalidades:</a:t>
            </a:r>
          </a:p>
          <a:p>
            <a:pPr lvl="1" algn="just"/>
            <a:r>
              <a:rPr lang="pt-BR" sz="2000" dirty="0"/>
              <a:t>Desenvolvimento Web: PHP, Ruby, </a:t>
            </a:r>
            <a:r>
              <a:rPr lang="pt-BR" sz="2000" dirty="0" err="1"/>
              <a:t>JavaScript</a:t>
            </a:r>
            <a:r>
              <a:rPr lang="pt-BR" sz="2000" dirty="0"/>
              <a:t>..</a:t>
            </a:r>
          </a:p>
          <a:p>
            <a:pPr lvl="1" algn="just"/>
            <a:r>
              <a:rPr lang="pt-BR" sz="2000" dirty="0"/>
              <a:t>Mobile: Java, </a:t>
            </a:r>
            <a:r>
              <a:rPr lang="pt-BR" sz="2000" dirty="0" err="1"/>
              <a:t>Kotlin</a:t>
            </a:r>
            <a:r>
              <a:rPr lang="pt-BR" sz="2000" dirty="0"/>
              <a:t>, </a:t>
            </a:r>
            <a:r>
              <a:rPr lang="pt-BR" sz="2000" dirty="0" err="1"/>
              <a:t>TypeScript</a:t>
            </a:r>
            <a:r>
              <a:rPr lang="pt-BR" sz="2000" dirty="0"/>
              <a:t>, </a:t>
            </a:r>
            <a:r>
              <a:rPr lang="pt-BR" sz="2000" dirty="0" err="1"/>
              <a:t>Objective</a:t>
            </a:r>
            <a:r>
              <a:rPr lang="pt-BR" sz="2000" dirty="0"/>
              <a:t>-C...</a:t>
            </a:r>
          </a:p>
          <a:p>
            <a:pPr lvl="1" algn="just"/>
            <a:r>
              <a:rPr lang="pt-BR" sz="2000" dirty="0"/>
              <a:t>Desktop: C, C#, Python...</a:t>
            </a:r>
          </a:p>
          <a:p>
            <a:pPr lvl="1" algn="just"/>
            <a:r>
              <a:rPr lang="pt-BR" sz="2000" dirty="0"/>
              <a:t>Jogos: C++...</a:t>
            </a:r>
          </a:p>
          <a:p>
            <a:pPr lvl="1" algn="just"/>
            <a:r>
              <a:rPr lang="pt-BR" sz="2000" dirty="0" err="1"/>
              <a:t>Estátitica</a:t>
            </a:r>
            <a:r>
              <a:rPr lang="pt-BR" sz="2000" dirty="0"/>
              <a:t>: R...</a:t>
            </a:r>
          </a:p>
          <a:p>
            <a:pPr lvl="1" algn="just"/>
            <a:r>
              <a:rPr lang="pt-BR" sz="2000" dirty="0"/>
              <a:t>Estudos: </a:t>
            </a:r>
            <a:r>
              <a:rPr lang="pt-BR" sz="2000" dirty="0" err="1"/>
              <a:t>Pseudo-Código</a:t>
            </a:r>
            <a:r>
              <a:rPr lang="pt-BR" sz="2000" dirty="0"/>
              <a:t>, </a:t>
            </a:r>
            <a:r>
              <a:rPr lang="pt-BR" sz="2000" dirty="0" err="1"/>
              <a:t>Portugol</a:t>
            </a:r>
            <a:r>
              <a:rPr lang="pt-BR" sz="2000" dirty="0"/>
              <a:t>...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2200" dirty="0"/>
              <a:t>Porém o conceito de algoritmo será igual a todos, ou seja, aprendeu como programar em uma, será fácil migrar para outra. </a:t>
            </a:r>
          </a:p>
          <a:p>
            <a:pPr lvl="1" algn="just"/>
            <a:endParaRPr lang="pt-BR" sz="2000" dirty="0"/>
          </a:p>
          <a:p>
            <a:pPr lvl="1"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22407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Exemplificando:</a:t>
            </a:r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1026" name="Picture 2" descr="https://adrmarques.files.wordpress.com/2007/12/solucionad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6" y="621968"/>
            <a:ext cx="5410944" cy="643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746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Exemplificando:</a:t>
            </a:r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2050" name="Picture 2" descr="Resultado de imagem para algoritmo engraÃ§ad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1676400"/>
            <a:ext cx="4857750" cy="420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30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Fluxograma por </a:t>
            </a:r>
            <a:r>
              <a:rPr lang="pt-BR" sz="2000" dirty="0" err="1"/>
              <a:t>susa</a:t>
            </a:r>
            <a:r>
              <a:rPr lang="pt-BR" sz="2000" dirty="0"/>
              <a:t> vez pode ter símbolos que específicos. </a:t>
            </a:r>
          </a:p>
          <a:p>
            <a:pPr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Fluxograma: Terminação 3"/>
          <p:cNvSpPr/>
          <p:nvPr/>
        </p:nvSpPr>
        <p:spPr>
          <a:xfrm>
            <a:off x="2351584" y="3068960"/>
            <a:ext cx="1728192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Início/Fim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079776" y="3100898"/>
            <a:ext cx="4860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Define o inicio e o fim de um Fluxograma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079777" y="3717032"/>
            <a:ext cx="643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Recebe um valor, como um conteúdo digitado pelo usuário</a:t>
            </a:r>
          </a:p>
        </p:txBody>
      </p:sp>
      <p:sp>
        <p:nvSpPr>
          <p:cNvPr id="9" name="Fluxograma: Entrada Manual 8"/>
          <p:cNvSpPr/>
          <p:nvPr/>
        </p:nvSpPr>
        <p:spPr>
          <a:xfrm>
            <a:off x="2299647" y="3746939"/>
            <a:ext cx="1666528" cy="648072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Recebe valor</a:t>
            </a:r>
          </a:p>
        </p:txBody>
      </p:sp>
      <p:sp>
        <p:nvSpPr>
          <p:cNvPr id="10" name="Fluxograma: Exibir 9"/>
          <p:cNvSpPr/>
          <p:nvPr/>
        </p:nvSpPr>
        <p:spPr>
          <a:xfrm>
            <a:off x="1981200" y="4608694"/>
            <a:ext cx="2035678" cy="576064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Exibe informação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079776" y="4696671"/>
            <a:ext cx="4342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Exibe uma informação a um usuário</a:t>
            </a:r>
          </a:p>
        </p:txBody>
      </p:sp>
      <p:sp>
        <p:nvSpPr>
          <p:cNvPr id="13" name="Fluxograma: Processo 12"/>
          <p:cNvSpPr/>
          <p:nvPr/>
        </p:nvSpPr>
        <p:spPr>
          <a:xfrm>
            <a:off x="2207568" y="5373216"/>
            <a:ext cx="1656184" cy="5638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Realiza operação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057346" y="5385410"/>
            <a:ext cx="615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Realiza alguma ação, que não seja receber ou exibir valor. Normalmente uma operação matemática.</a:t>
            </a:r>
          </a:p>
        </p:txBody>
      </p:sp>
      <p:sp>
        <p:nvSpPr>
          <p:cNvPr id="15" name="Fluxograma: Decisão 14"/>
          <p:cNvSpPr/>
          <p:nvPr/>
        </p:nvSpPr>
        <p:spPr>
          <a:xfrm>
            <a:off x="1991544" y="6021288"/>
            <a:ext cx="2016224" cy="76470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Decisão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082135" y="6110538"/>
            <a:ext cx="615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Define um questionamento, que define qual caminho seguir. Normalmente é baseado em </a:t>
            </a:r>
            <a:r>
              <a:rPr lang="pt-BR" sz="2000" i="1" dirty="0" err="1"/>
              <a:t>true</a:t>
            </a:r>
            <a:r>
              <a:rPr lang="pt-BR" sz="2000" dirty="0"/>
              <a:t> ou </a:t>
            </a:r>
            <a:r>
              <a:rPr lang="pt-BR" sz="2000" i="1" dirty="0"/>
              <a:t>false.</a:t>
            </a:r>
          </a:p>
        </p:txBody>
      </p:sp>
    </p:spTree>
    <p:extLst>
      <p:ext uri="{BB962C8B-B14F-4D97-AF65-F5344CB8AC3E}">
        <p14:creationId xmlns:p14="http://schemas.microsoft.com/office/powerpoint/2010/main" val="2314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/>
      <p:bldP spid="9" grpId="0" animBg="1"/>
      <p:bldP spid="10" grpId="0" animBg="1"/>
      <p:bldP spid="11" grpId="0"/>
      <p:bldP spid="13" grpId="0" animBg="1"/>
      <p:bldP spid="14" grpId="0"/>
      <p:bldP spid="15" grpId="0" animBg="1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Terminação 3"/>
          <p:cNvSpPr/>
          <p:nvPr/>
        </p:nvSpPr>
        <p:spPr>
          <a:xfrm>
            <a:off x="4654016" y="452931"/>
            <a:ext cx="1152128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6" name="Fluxograma: Decisão 5"/>
          <p:cNvSpPr/>
          <p:nvPr/>
        </p:nvSpPr>
        <p:spPr>
          <a:xfrm>
            <a:off x="4293976" y="3189942"/>
            <a:ext cx="1872208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Possui produto?</a:t>
            </a:r>
          </a:p>
        </p:txBody>
      </p:sp>
      <p:sp>
        <p:nvSpPr>
          <p:cNvPr id="7" name="Fluxograma: Exibir 6"/>
          <p:cNvSpPr/>
          <p:nvPr/>
        </p:nvSpPr>
        <p:spPr>
          <a:xfrm>
            <a:off x="4279569" y="1296330"/>
            <a:ext cx="1901022" cy="576063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Pergunta qual produto dar baixa</a:t>
            </a:r>
          </a:p>
        </p:txBody>
      </p:sp>
      <p:sp>
        <p:nvSpPr>
          <p:cNvPr id="8" name="Fluxograma: Terminação 7"/>
          <p:cNvSpPr/>
          <p:nvPr/>
        </p:nvSpPr>
        <p:spPr>
          <a:xfrm>
            <a:off x="7813567" y="537534"/>
            <a:ext cx="1152128" cy="43204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sp>
        <p:nvSpPr>
          <p:cNvPr id="9" name="Fluxograma: Entrada Manual 8"/>
          <p:cNvSpPr/>
          <p:nvPr/>
        </p:nvSpPr>
        <p:spPr>
          <a:xfrm>
            <a:off x="4326385" y="2266088"/>
            <a:ext cx="1807390" cy="576064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Coleta Código Produto</a:t>
            </a:r>
          </a:p>
        </p:txBody>
      </p:sp>
      <p:sp>
        <p:nvSpPr>
          <p:cNvPr id="10" name="Fluxograma: Exibir 9"/>
          <p:cNvSpPr/>
          <p:nvPr/>
        </p:nvSpPr>
        <p:spPr>
          <a:xfrm>
            <a:off x="1699891" y="3172230"/>
            <a:ext cx="2052228" cy="648072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Informa inexistência de produto</a:t>
            </a:r>
          </a:p>
        </p:txBody>
      </p:sp>
      <p:sp>
        <p:nvSpPr>
          <p:cNvPr id="11" name="Fluxograma: Exibir 10"/>
          <p:cNvSpPr/>
          <p:nvPr/>
        </p:nvSpPr>
        <p:spPr>
          <a:xfrm>
            <a:off x="4316457" y="4483680"/>
            <a:ext cx="1901022" cy="576063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Pergunta quantidade a dar baixa</a:t>
            </a:r>
          </a:p>
        </p:txBody>
      </p:sp>
      <p:sp>
        <p:nvSpPr>
          <p:cNvPr id="13" name="Fluxograma: Cartão 12"/>
          <p:cNvSpPr/>
          <p:nvPr/>
        </p:nvSpPr>
        <p:spPr>
          <a:xfrm>
            <a:off x="7628141" y="1584361"/>
            <a:ext cx="1522980" cy="604299"/>
          </a:xfrm>
          <a:prstGeom prst="flowChartPunchedCar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Dar baixa no estoque</a:t>
            </a:r>
          </a:p>
        </p:txBody>
      </p:sp>
      <p:sp>
        <p:nvSpPr>
          <p:cNvPr id="14" name="Fluxograma: Entrada Manual 13"/>
          <p:cNvSpPr/>
          <p:nvPr/>
        </p:nvSpPr>
        <p:spPr>
          <a:xfrm>
            <a:off x="4373201" y="5448757"/>
            <a:ext cx="1807390" cy="576064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Coleta quantidade</a:t>
            </a:r>
          </a:p>
        </p:txBody>
      </p:sp>
      <p:sp>
        <p:nvSpPr>
          <p:cNvPr id="15" name="Fluxograma: Decisão 14"/>
          <p:cNvSpPr/>
          <p:nvPr/>
        </p:nvSpPr>
        <p:spPr>
          <a:xfrm>
            <a:off x="7763397" y="5173584"/>
            <a:ext cx="198022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Possui quantidade?</a:t>
            </a:r>
          </a:p>
        </p:txBody>
      </p:sp>
      <p:sp>
        <p:nvSpPr>
          <p:cNvPr id="16" name="Fluxograma: Exibir 15"/>
          <p:cNvSpPr/>
          <p:nvPr/>
        </p:nvSpPr>
        <p:spPr>
          <a:xfrm>
            <a:off x="7226881" y="3418215"/>
            <a:ext cx="2325503" cy="648072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Informa não possuir quantidade desejada</a:t>
            </a:r>
          </a:p>
        </p:txBody>
      </p:sp>
      <p:cxnSp>
        <p:nvCxnSpPr>
          <p:cNvPr id="18" name="Conector de Seta Reta 17"/>
          <p:cNvCxnSpPr>
            <a:stCxn id="4" idx="2"/>
            <a:endCxn id="7" idx="0"/>
          </p:cNvCxnSpPr>
          <p:nvPr/>
        </p:nvCxnSpPr>
        <p:spPr>
          <a:xfrm>
            <a:off x="5230080" y="884979"/>
            <a:ext cx="0" cy="4113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2"/>
            <a:endCxn id="9" idx="0"/>
          </p:cNvCxnSpPr>
          <p:nvPr/>
        </p:nvCxnSpPr>
        <p:spPr>
          <a:xfrm>
            <a:off x="5230080" y="1872392"/>
            <a:ext cx="0" cy="4513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9" idx="2"/>
            <a:endCxn id="6" idx="0"/>
          </p:cNvCxnSpPr>
          <p:nvPr/>
        </p:nvCxnSpPr>
        <p:spPr>
          <a:xfrm>
            <a:off x="5230080" y="2842152"/>
            <a:ext cx="0" cy="347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6" idx="1"/>
            <a:endCxn id="10" idx="3"/>
          </p:cNvCxnSpPr>
          <p:nvPr/>
        </p:nvCxnSpPr>
        <p:spPr>
          <a:xfrm flipH="1">
            <a:off x="3752120" y="3496266"/>
            <a:ext cx="5418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ector Angulado 28"/>
          <p:cNvCxnSpPr>
            <a:stCxn id="10" idx="0"/>
            <a:endCxn id="7" idx="0"/>
          </p:cNvCxnSpPr>
          <p:nvPr/>
        </p:nvCxnSpPr>
        <p:spPr>
          <a:xfrm rot="5400000" flipH="1" flipV="1">
            <a:off x="3040093" y="982244"/>
            <a:ext cx="1875901" cy="2504075"/>
          </a:xfrm>
          <a:prstGeom prst="bentConnector3">
            <a:avLst>
              <a:gd name="adj1" fmla="val 11218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Angulado 34"/>
          <p:cNvCxnSpPr>
            <a:stCxn id="6" idx="3"/>
            <a:endCxn id="11" idx="0"/>
          </p:cNvCxnSpPr>
          <p:nvPr/>
        </p:nvCxnSpPr>
        <p:spPr>
          <a:xfrm flipH="1">
            <a:off x="5266968" y="3496267"/>
            <a:ext cx="899216" cy="987413"/>
          </a:xfrm>
          <a:prstGeom prst="bentConnector4">
            <a:avLst>
              <a:gd name="adj1" fmla="val -25422"/>
              <a:gd name="adj2" fmla="val 6551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11" idx="2"/>
            <a:endCxn id="14" idx="0"/>
          </p:cNvCxnSpPr>
          <p:nvPr/>
        </p:nvCxnSpPr>
        <p:spPr>
          <a:xfrm>
            <a:off x="5266968" y="5059743"/>
            <a:ext cx="9928" cy="446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stCxn id="14" idx="3"/>
            <a:endCxn id="15" idx="2"/>
          </p:cNvCxnSpPr>
          <p:nvPr/>
        </p:nvCxnSpPr>
        <p:spPr>
          <a:xfrm>
            <a:off x="6180591" y="5736790"/>
            <a:ext cx="2572916" cy="49443"/>
          </a:xfrm>
          <a:prstGeom prst="bentConnector4">
            <a:avLst>
              <a:gd name="adj1" fmla="val 30759"/>
              <a:gd name="adj2" fmla="val 56235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Angulado 40"/>
          <p:cNvCxnSpPr>
            <a:stCxn id="15" idx="1"/>
            <a:endCxn id="16" idx="2"/>
          </p:cNvCxnSpPr>
          <p:nvPr/>
        </p:nvCxnSpPr>
        <p:spPr>
          <a:xfrm rot="10800000" flipH="1">
            <a:off x="7763397" y="4066289"/>
            <a:ext cx="626235" cy="1413621"/>
          </a:xfrm>
          <a:prstGeom prst="bentConnector4">
            <a:avLst>
              <a:gd name="adj1" fmla="val -36504"/>
              <a:gd name="adj2" fmla="val 6083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ector Angulado 42"/>
          <p:cNvCxnSpPr>
            <a:stCxn id="15" idx="3"/>
            <a:endCxn id="13" idx="2"/>
          </p:cNvCxnSpPr>
          <p:nvPr/>
        </p:nvCxnSpPr>
        <p:spPr>
          <a:xfrm flipH="1" flipV="1">
            <a:off x="8389631" y="2188660"/>
            <a:ext cx="1353986" cy="3291249"/>
          </a:xfrm>
          <a:prstGeom prst="bentConnector4">
            <a:avLst>
              <a:gd name="adj1" fmla="val -16883"/>
              <a:gd name="adj2" fmla="val 8155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13" idx="0"/>
            <a:endCxn id="8" idx="2"/>
          </p:cNvCxnSpPr>
          <p:nvPr/>
        </p:nvCxnSpPr>
        <p:spPr>
          <a:xfrm flipV="1">
            <a:off x="8389631" y="969582"/>
            <a:ext cx="0" cy="6147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3863752" y="3172230"/>
            <a:ext cx="60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6920440" y="5054351"/>
            <a:ext cx="60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6035638" y="3161142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9979358" y="504931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009061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Exemplificando:</a:t>
            </a:r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555141" y="2852936"/>
            <a:ext cx="511256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u="sng" dirty="0"/>
              <a:t>ENQUANTO</a:t>
            </a:r>
            <a:r>
              <a:rPr lang="pt-BR" dirty="0"/>
              <a:t> não tiver 3 notas </a:t>
            </a:r>
          </a:p>
          <a:p>
            <a:r>
              <a:rPr lang="pt-BR" dirty="0"/>
              <a:t>	</a:t>
            </a:r>
            <a:r>
              <a:rPr lang="pt-BR" b="1" u="sng" dirty="0"/>
              <a:t>LEIA</a:t>
            </a:r>
            <a:r>
              <a:rPr lang="pt-BR" dirty="0"/>
              <a:t> (</a:t>
            </a:r>
            <a:r>
              <a:rPr lang="pt-BR" dirty="0" err="1"/>
              <a:t>novaNota</a:t>
            </a:r>
            <a:r>
              <a:rPr lang="pt-BR" dirty="0"/>
              <a:t>)</a:t>
            </a:r>
          </a:p>
          <a:p>
            <a:r>
              <a:rPr lang="pt-BR" dirty="0"/>
              <a:t>	</a:t>
            </a:r>
          </a:p>
          <a:p>
            <a:r>
              <a:rPr lang="pt-BR" b="1" dirty="0"/>
              <a:t>Calcule</a:t>
            </a:r>
            <a:r>
              <a:rPr lang="pt-BR" dirty="0"/>
              <a:t> média sendo (nota1 + nota2 + nota3)/3</a:t>
            </a:r>
          </a:p>
          <a:p>
            <a:r>
              <a:rPr lang="pt-BR" b="1" u="sng" dirty="0"/>
              <a:t>SE</a:t>
            </a:r>
            <a:r>
              <a:rPr lang="pt-BR" dirty="0"/>
              <a:t> média menor que 6 </a:t>
            </a:r>
            <a:r>
              <a:rPr lang="pt-BR" b="1" u="sng" dirty="0"/>
              <a:t>ENTÃO</a:t>
            </a:r>
          </a:p>
          <a:p>
            <a:r>
              <a:rPr lang="pt-BR" dirty="0"/>
              <a:t>	</a:t>
            </a:r>
            <a:r>
              <a:rPr lang="pt-BR" b="1" u="sng" dirty="0"/>
              <a:t>EXIBA</a:t>
            </a:r>
            <a:r>
              <a:rPr lang="pt-BR" dirty="0"/>
              <a:t> "Reprovado"</a:t>
            </a:r>
          </a:p>
          <a:p>
            <a:r>
              <a:rPr lang="pt-BR" b="1" u="sng" dirty="0"/>
              <a:t>SENÃO</a:t>
            </a:r>
          </a:p>
          <a:p>
            <a:r>
              <a:rPr lang="pt-BR" dirty="0"/>
              <a:t>	</a:t>
            </a:r>
            <a:r>
              <a:rPr lang="pt-BR" b="1" u="sng" dirty="0"/>
              <a:t>EXIBA</a:t>
            </a:r>
            <a:r>
              <a:rPr lang="pt-BR" dirty="0"/>
              <a:t> "Aprovado"</a:t>
            </a:r>
          </a:p>
        </p:txBody>
      </p:sp>
      <p:sp>
        <p:nvSpPr>
          <p:cNvPr id="5" name="Fluxograma: Terminação 4"/>
          <p:cNvSpPr/>
          <p:nvPr/>
        </p:nvSpPr>
        <p:spPr>
          <a:xfrm>
            <a:off x="8328249" y="730049"/>
            <a:ext cx="1226811" cy="3505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Início</a:t>
            </a:r>
          </a:p>
        </p:txBody>
      </p:sp>
      <p:sp>
        <p:nvSpPr>
          <p:cNvPr id="21" name="Fluxograma: Decisão 20"/>
          <p:cNvSpPr/>
          <p:nvPr/>
        </p:nvSpPr>
        <p:spPr>
          <a:xfrm>
            <a:off x="7727099" y="1422350"/>
            <a:ext cx="2429105" cy="78745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Total Notas &lt; 3?</a:t>
            </a:r>
          </a:p>
        </p:txBody>
      </p:sp>
      <p:sp>
        <p:nvSpPr>
          <p:cNvPr id="22" name="Fluxograma: Entrada Manual 21"/>
          <p:cNvSpPr/>
          <p:nvPr/>
        </p:nvSpPr>
        <p:spPr>
          <a:xfrm>
            <a:off x="8500021" y="2505144"/>
            <a:ext cx="883259" cy="441630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nota</a:t>
            </a:r>
          </a:p>
        </p:txBody>
      </p:sp>
      <p:sp>
        <p:nvSpPr>
          <p:cNvPr id="23" name="Fluxograma: Processo 22"/>
          <p:cNvSpPr/>
          <p:nvPr/>
        </p:nvSpPr>
        <p:spPr>
          <a:xfrm>
            <a:off x="7825525" y="3374645"/>
            <a:ext cx="2232248" cy="4194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Calcula média</a:t>
            </a:r>
          </a:p>
        </p:txBody>
      </p:sp>
      <p:sp>
        <p:nvSpPr>
          <p:cNvPr id="24" name="Fluxograma: Decisão 23"/>
          <p:cNvSpPr/>
          <p:nvPr/>
        </p:nvSpPr>
        <p:spPr>
          <a:xfrm>
            <a:off x="8061817" y="4123223"/>
            <a:ext cx="1773211" cy="78884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Media &lt; 6</a:t>
            </a:r>
          </a:p>
        </p:txBody>
      </p:sp>
      <p:sp>
        <p:nvSpPr>
          <p:cNvPr id="25" name="Fluxograma: Terminação 24"/>
          <p:cNvSpPr/>
          <p:nvPr/>
        </p:nvSpPr>
        <p:spPr>
          <a:xfrm>
            <a:off x="8253957" y="6369407"/>
            <a:ext cx="1226811" cy="3505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Fim</a:t>
            </a:r>
          </a:p>
        </p:txBody>
      </p:sp>
      <p:cxnSp>
        <p:nvCxnSpPr>
          <p:cNvPr id="27" name="Conector de Seta Reta 26"/>
          <p:cNvCxnSpPr>
            <a:stCxn id="5" idx="2"/>
            <a:endCxn id="21" idx="0"/>
          </p:cNvCxnSpPr>
          <p:nvPr/>
        </p:nvCxnSpPr>
        <p:spPr>
          <a:xfrm flipH="1">
            <a:off x="8941652" y="1080565"/>
            <a:ext cx="3" cy="3417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21" idx="2"/>
            <a:endCxn id="22" idx="0"/>
          </p:cNvCxnSpPr>
          <p:nvPr/>
        </p:nvCxnSpPr>
        <p:spPr>
          <a:xfrm flipH="1">
            <a:off x="8941651" y="2209801"/>
            <a:ext cx="1" cy="3395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987591" y="145471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FALSO</a:t>
            </a:r>
          </a:p>
        </p:txBody>
      </p:sp>
      <p:cxnSp>
        <p:nvCxnSpPr>
          <p:cNvPr id="32" name="Conector Angulado 31"/>
          <p:cNvCxnSpPr>
            <a:stCxn id="21" idx="1"/>
            <a:endCxn id="23" idx="0"/>
          </p:cNvCxnSpPr>
          <p:nvPr/>
        </p:nvCxnSpPr>
        <p:spPr>
          <a:xfrm rot="10800000" flipH="1" flipV="1">
            <a:off x="7727098" y="1816075"/>
            <a:ext cx="1214551" cy="1558570"/>
          </a:xfrm>
          <a:prstGeom prst="bentConnector4">
            <a:avLst>
              <a:gd name="adj1" fmla="val -18822"/>
              <a:gd name="adj2" fmla="val 8630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8895142" y="215455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Verdade</a:t>
            </a:r>
          </a:p>
        </p:txBody>
      </p:sp>
      <p:cxnSp>
        <p:nvCxnSpPr>
          <p:cNvPr id="52" name="Conector de Seta Reta 51"/>
          <p:cNvCxnSpPr>
            <a:stCxn id="23" idx="2"/>
            <a:endCxn id="24" idx="0"/>
          </p:cNvCxnSpPr>
          <p:nvPr/>
        </p:nvCxnSpPr>
        <p:spPr>
          <a:xfrm>
            <a:off x="8941650" y="3794126"/>
            <a:ext cx="6773" cy="3290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ector Angulado 53"/>
          <p:cNvCxnSpPr>
            <a:stCxn id="22" idx="3"/>
            <a:endCxn id="21" idx="0"/>
          </p:cNvCxnSpPr>
          <p:nvPr/>
        </p:nvCxnSpPr>
        <p:spPr>
          <a:xfrm flipH="1" flipV="1">
            <a:off x="8941651" y="1422349"/>
            <a:ext cx="441628" cy="1303610"/>
          </a:xfrm>
          <a:prstGeom prst="bentConnector4">
            <a:avLst>
              <a:gd name="adj1" fmla="val -226780"/>
              <a:gd name="adj2" fmla="val 11753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Fluxograma: Exibir 62"/>
          <p:cNvSpPr/>
          <p:nvPr/>
        </p:nvSpPr>
        <p:spPr>
          <a:xfrm>
            <a:off x="8492000" y="5533261"/>
            <a:ext cx="2094387" cy="420082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Reprovado</a:t>
            </a:r>
          </a:p>
        </p:txBody>
      </p:sp>
      <p:sp>
        <p:nvSpPr>
          <p:cNvPr id="64" name="Fluxograma: Exibir 63"/>
          <p:cNvSpPr/>
          <p:nvPr/>
        </p:nvSpPr>
        <p:spPr>
          <a:xfrm>
            <a:off x="6159570" y="5533596"/>
            <a:ext cx="2094387" cy="420082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Aprovado</a:t>
            </a:r>
          </a:p>
        </p:txBody>
      </p:sp>
      <p:cxnSp>
        <p:nvCxnSpPr>
          <p:cNvPr id="68" name="Conector Angulado 67"/>
          <p:cNvCxnSpPr>
            <a:stCxn id="64" idx="2"/>
            <a:endCxn id="25" idx="0"/>
          </p:cNvCxnSpPr>
          <p:nvPr/>
        </p:nvCxnSpPr>
        <p:spPr>
          <a:xfrm rot="16200000" flipH="1">
            <a:off x="7829198" y="5331243"/>
            <a:ext cx="415728" cy="166059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Conector Angulado 69"/>
          <p:cNvCxnSpPr>
            <a:stCxn id="63" idx="2"/>
            <a:endCxn id="25" idx="0"/>
          </p:cNvCxnSpPr>
          <p:nvPr/>
        </p:nvCxnSpPr>
        <p:spPr>
          <a:xfrm rot="5400000">
            <a:off x="8995248" y="5825460"/>
            <a:ext cx="416063" cy="67183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Conector Angulado 71"/>
          <p:cNvCxnSpPr>
            <a:stCxn id="24" idx="3"/>
          </p:cNvCxnSpPr>
          <p:nvPr/>
        </p:nvCxnSpPr>
        <p:spPr>
          <a:xfrm flipH="1">
            <a:off x="9555059" y="4517647"/>
            <a:ext cx="279968" cy="1015615"/>
          </a:xfrm>
          <a:prstGeom prst="bentConnector4">
            <a:avLst>
              <a:gd name="adj1" fmla="val -81652"/>
              <a:gd name="adj2" fmla="val 6941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Conector Angulado 73"/>
          <p:cNvCxnSpPr>
            <a:stCxn id="24" idx="1"/>
            <a:endCxn id="64" idx="0"/>
          </p:cNvCxnSpPr>
          <p:nvPr/>
        </p:nvCxnSpPr>
        <p:spPr>
          <a:xfrm rot="10800000" flipV="1">
            <a:off x="7206765" y="4517646"/>
            <a:ext cx="855053" cy="101595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CaixaDeTexto 74"/>
          <p:cNvSpPr txBox="1"/>
          <p:nvPr/>
        </p:nvSpPr>
        <p:spPr>
          <a:xfrm>
            <a:off x="9658227" y="4176913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Verdade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7049972" y="416646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FALSO</a:t>
            </a:r>
          </a:p>
        </p:txBody>
      </p:sp>
    </p:spTree>
    <p:extLst>
      <p:ext uri="{BB962C8B-B14F-4D97-AF65-F5344CB8AC3E}">
        <p14:creationId xmlns:p14="http://schemas.microsoft.com/office/powerpoint/2010/main" val="31792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/>
      <p:bldP spid="50" grpId="0"/>
      <p:bldP spid="63" grpId="0" animBg="1"/>
      <p:bldP spid="64" grpId="0" animBg="1"/>
      <p:bldP spid="75" grpId="0"/>
      <p:bldP spid="7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Como ficaria o fluxograma do algoritmo abaixo?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947044" y="270892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u="sng" dirty="0"/>
              <a:t>LEIA</a:t>
            </a:r>
            <a:r>
              <a:rPr lang="pt-BR" dirty="0"/>
              <a:t>(numero)</a:t>
            </a:r>
          </a:p>
          <a:p>
            <a:r>
              <a:rPr lang="pt-BR" b="1" u="sng" dirty="0"/>
              <a:t>ENQUANTO</a:t>
            </a:r>
            <a:r>
              <a:rPr lang="pt-BR" dirty="0"/>
              <a:t> numero for maior que 0</a:t>
            </a:r>
          </a:p>
          <a:p>
            <a:r>
              <a:rPr lang="pt-BR" dirty="0"/>
              <a:t>	</a:t>
            </a:r>
            <a:r>
              <a:rPr lang="pt-BR" b="1" u="sng" dirty="0"/>
              <a:t>SE</a:t>
            </a:r>
            <a:r>
              <a:rPr lang="pt-BR" dirty="0"/>
              <a:t> numero é par </a:t>
            </a:r>
            <a:r>
              <a:rPr lang="pt-BR" b="1" u="sng" dirty="0"/>
              <a:t>ENTÃO</a:t>
            </a:r>
          </a:p>
          <a:p>
            <a:r>
              <a:rPr lang="pt-BR" dirty="0"/>
              <a:t>		</a:t>
            </a:r>
            <a:r>
              <a:rPr lang="pt-BR" b="1" u="sng" dirty="0"/>
              <a:t>EXIBA</a:t>
            </a:r>
            <a:r>
              <a:rPr lang="pt-BR" dirty="0"/>
              <a:t> numero</a:t>
            </a:r>
          </a:p>
          <a:p>
            <a:r>
              <a:rPr lang="pt-BR" dirty="0"/>
              <a:t>	numero = numero - 1;</a:t>
            </a:r>
          </a:p>
        </p:txBody>
      </p:sp>
      <p:sp>
        <p:nvSpPr>
          <p:cNvPr id="5" name="Fluxograma: Terminação 4"/>
          <p:cNvSpPr/>
          <p:nvPr/>
        </p:nvSpPr>
        <p:spPr>
          <a:xfrm>
            <a:off x="8383702" y="1960164"/>
            <a:ext cx="1226811" cy="3505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Início</a:t>
            </a:r>
          </a:p>
        </p:txBody>
      </p:sp>
      <p:sp>
        <p:nvSpPr>
          <p:cNvPr id="6" name="Fluxograma: Terminação 5"/>
          <p:cNvSpPr/>
          <p:nvPr/>
        </p:nvSpPr>
        <p:spPr>
          <a:xfrm>
            <a:off x="6589235" y="4182377"/>
            <a:ext cx="1226811" cy="3505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Fim</a:t>
            </a:r>
          </a:p>
        </p:txBody>
      </p:sp>
      <p:sp>
        <p:nvSpPr>
          <p:cNvPr id="7" name="Fluxograma: Entrada Manual 6"/>
          <p:cNvSpPr/>
          <p:nvPr/>
        </p:nvSpPr>
        <p:spPr>
          <a:xfrm>
            <a:off x="8349035" y="2661489"/>
            <a:ext cx="1296144" cy="413464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número</a:t>
            </a:r>
          </a:p>
        </p:txBody>
      </p:sp>
      <p:sp>
        <p:nvSpPr>
          <p:cNvPr id="8" name="Fluxograma: Decisão 7"/>
          <p:cNvSpPr/>
          <p:nvPr/>
        </p:nvSpPr>
        <p:spPr>
          <a:xfrm>
            <a:off x="7976838" y="3508734"/>
            <a:ext cx="2016224" cy="68209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Número &gt; 0</a:t>
            </a:r>
          </a:p>
        </p:txBody>
      </p:sp>
      <p:sp>
        <p:nvSpPr>
          <p:cNvPr id="9" name="Fluxograma: Decisão 8"/>
          <p:cNvSpPr/>
          <p:nvPr/>
        </p:nvSpPr>
        <p:spPr>
          <a:xfrm>
            <a:off x="7976838" y="4686541"/>
            <a:ext cx="2016224" cy="68209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Número é par</a:t>
            </a:r>
          </a:p>
        </p:txBody>
      </p:sp>
      <p:sp>
        <p:nvSpPr>
          <p:cNvPr id="10" name="Fluxograma: Processo 9"/>
          <p:cNvSpPr/>
          <p:nvPr/>
        </p:nvSpPr>
        <p:spPr>
          <a:xfrm>
            <a:off x="7688806" y="6146315"/>
            <a:ext cx="2592288" cy="39288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Número = número - 1</a:t>
            </a:r>
          </a:p>
        </p:txBody>
      </p:sp>
      <p:sp>
        <p:nvSpPr>
          <p:cNvPr id="11" name="Fluxograma: Exibir 10"/>
          <p:cNvSpPr/>
          <p:nvPr/>
        </p:nvSpPr>
        <p:spPr>
          <a:xfrm>
            <a:off x="6630547" y="5316514"/>
            <a:ext cx="1512168" cy="393173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número</a:t>
            </a:r>
          </a:p>
        </p:txBody>
      </p:sp>
      <p:cxnSp>
        <p:nvCxnSpPr>
          <p:cNvPr id="13" name="Conector de Seta Reta 12"/>
          <p:cNvCxnSpPr>
            <a:stCxn id="5" idx="2"/>
            <a:endCxn id="7" idx="0"/>
          </p:cNvCxnSpPr>
          <p:nvPr/>
        </p:nvCxnSpPr>
        <p:spPr>
          <a:xfrm>
            <a:off x="8997107" y="2310681"/>
            <a:ext cx="0" cy="3921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Angulado 16"/>
          <p:cNvCxnSpPr>
            <a:stCxn id="8" idx="1"/>
            <a:endCxn id="6" idx="0"/>
          </p:cNvCxnSpPr>
          <p:nvPr/>
        </p:nvCxnSpPr>
        <p:spPr>
          <a:xfrm rot="10800000" flipV="1">
            <a:off x="7202640" y="3849782"/>
            <a:ext cx="774198" cy="33259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8" idx="2"/>
            <a:endCxn id="9" idx="0"/>
          </p:cNvCxnSpPr>
          <p:nvPr/>
        </p:nvCxnSpPr>
        <p:spPr>
          <a:xfrm>
            <a:off x="8984950" y="4190830"/>
            <a:ext cx="0" cy="495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2"/>
            <a:endCxn id="10" idx="0"/>
          </p:cNvCxnSpPr>
          <p:nvPr/>
        </p:nvCxnSpPr>
        <p:spPr>
          <a:xfrm>
            <a:off x="8984950" y="5368638"/>
            <a:ext cx="0" cy="7776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Angulado 22"/>
          <p:cNvCxnSpPr>
            <a:stCxn id="9" idx="1"/>
            <a:endCxn id="11" idx="0"/>
          </p:cNvCxnSpPr>
          <p:nvPr/>
        </p:nvCxnSpPr>
        <p:spPr>
          <a:xfrm rot="10800000" flipV="1">
            <a:off x="7386633" y="5027589"/>
            <a:ext cx="590207" cy="28892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Angulado 25"/>
          <p:cNvCxnSpPr>
            <a:stCxn id="11" idx="2"/>
            <a:endCxn id="10" idx="0"/>
          </p:cNvCxnSpPr>
          <p:nvPr/>
        </p:nvCxnSpPr>
        <p:spPr>
          <a:xfrm rot="16200000" flipH="1">
            <a:off x="7967476" y="5128841"/>
            <a:ext cx="436628" cy="15983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Angulado 27"/>
          <p:cNvCxnSpPr>
            <a:stCxn id="10" idx="3"/>
            <a:endCxn id="8" idx="0"/>
          </p:cNvCxnSpPr>
          <p:nvPr/>
        </p:nvCxnSpPr>
        <p:spPr>
          <a:xfrm flipH="1" flipV="1">
            <a:off x="8984950" y="3508733"/>
            <a:ext cx="1296144" cy="2834026"/>
          </a:xfrm>
          <a:prstGeom prst="bentConnector4">
            <a:avLst>
              <a:gd name="adj1" fmla="val -17637"/>
              <a:gd name="adj2" fmla="val 10806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>
            <a:stCxn id="7" idx="2"/>
            <a:endCxn id="8" idx="0"/>
          </p:cNvCxnSpPr>
          <p:nvPr/>
        </p:nvCxnSpPr>
        <p:spPr>
          <a:xfrm flipH="1">
            <a:off x="8984951" y="3074953"/>
            <a:ext cx="12157" cy="433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7306461" y="3538477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Falso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8962646" y="5417861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Falso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8996203" y="4230454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Verdadeiro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6794269" y="4730104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Verdadeiro</a:t>
            </a:r>
          </a:p>
        </p:txBody>
      </p:sp>
    </p:spTree>
    <p:extLst>
      <p:ext uri="{BB962C8B-B14F-4D97-AF65-F5344CB8AC3E}">
        <p14:creationId xmlns:p14="http://schemas.microsoft.com/office/powerpoint/2010/main" val="258575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57" grpId="0"/>
      <p:bldP spid="58" grpId="0"/>
      <p:bldP spid="59" grpId="0"/>
      <p:bldP spid="6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0" ma:contentTypeDescription="Crie um novo documento." ma:contentTypeScope="" ma:versionID="8d2370ab5a92c900c9496cf828b71e6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D04841-36DC-4D85-A637-980AD1C76312}"/>
</file>

<file path=customXml/itemProps2.xml><?xml version="1.0" encoding="utf-8"?>
<ds:datastoreItem xmlns:ds="http://schemas.openxmlformats.org/officeDocument/2006/customXml" ds:itemID="{4257A517-6A0D-42D5-9E7C-74995E96A65D}"/>
</file>

<file path=customXml/itemProps3.xml><?xml version="1.0" encoding="utf-8"?>
<ds:datastoreItem xmlns:ds="http://schemas.openxmlformats.org/officeDocument/2006/customXml" ds:itemID="{D9CD84AC-80D6-48AD-B767-707B44F5AAFA}"/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1830</TotalTime>
  <Words>1132</Words>
  <Application>Microsoft Office PowerPoint</Application>
  <PresentationFormat>Widescreen</PresentationFormat>
  <Paragraphs>250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Calibri</vt:lpstr>
      <vt:lpstr>Georgia</vt:lpstr>
      <vt:lpstr>Trebuchet MS</vt:lpstr>
      <vt:lpstr>Wingdings 2</vt:lpstr>
      <vt:lpstr>Urbano</vt:lpstr>
      <vt:lpstr>Laboratório de Programação I Introdução</vt:lpstr>
      <vt:lpstr>Algoritmo</vt:lpstr>
      <vt:lpstr>O que é Algoritmo?</vt:lpstr>
      <vt:lpstr>O que é Algoritmo?</vt:lpstr>
      <vt:lpstr>O que é Algoritmo?</vt:lpstr>
      <vt:lpstr>Algoritmo</vt:lpstr>
      <vt:lpstr>Algoritmo</vt:lpstr>
      <vt:lpstr>Algoritmo Determinístico       Não Determinístico</vt:lpstr>
      <vt:lpstr>Algoritmo</vt:lpstr>
      <vt:lpstr>Representações de um Algoritmo</vt:lpstr>
      <vt:lpstr>Textual</vt:lpstr>
      <vt:lpstr>Algoritmo na Programação? </vt:lpstr>
      <vt:lpstr>Linguagem de Programação</vt:lpstr>
      <vt:lpstr>Linguagem de Programação</vt:lpstr>
      <vt:lpstr>Linguagem de Programação</vt:lpstr>
      <vt:lpstr>Linguagem de Programação</vt:lpstr>
      <vt:lpstr>Fluxograma</vt:lpstr>
      <vt:lpstr>Fluxograma</vt:lpstr>
      <vt:lpstr>Fluxograma</vt:lpstr>
      <vt:lpstr>Apresentação do PowerPoint</vt:lpstr>
      <vt:lpstr>Fluxograma</vt:lpstr>
      <vt:lpstr>Fluxograma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171</cp:revision>
  <dcterms:created xsi:type="dcterms:W3CDTF">2017-03-10T13:05:03Z</dcterms:created>
  <dcterms:modified xsi:type="dcterms:W3CDTF">2024-12-05T12:39:55Z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