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sldIdLst>
    <p:sldId id="256" r:id="rId2"/>
    <p:sldId id="345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9" r:id="rId19"/>
    <p:sldId id="346" r:id="rId20"/>
    <p:sldId id="347" r:id="rId21"/>
    <p:sldId id="348" r:id="rId22"/>
    <p:sldId id="376" r:id="rId23"/>
    <p:sldId id="377" r:id="rId24"/>
    <p:sldId id="378" r:id="rId25"/>
    <p:sldId id="349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6" autoAdjust="0"/>
  </p:normalViewPr>
  <p:slideViewPr>
    <p:cSldViewPr>
      <p:cViewPr varScale="1">
        <p:scale>
          <a:sx n="99" d="100"/>
          <a:sy n="99" d="100"/>
        </p:scale>
        <p:origin x="91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51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41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1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615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355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634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933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550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71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61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12/12/2024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1384" y="1412777"/>
            <a:ext cx="11017224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sz="3600" dirty="0"/>
              <a:t>Vetor e Matriz| </a:t>
            </a:r>
            <a:r>
              <a:rPr lang="pt-BR" sz="3600" dirty="0" err="1"/>
              <a:t>Array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O que é uma variável? </a:t>
            </a:r>
          </a:p>
          <a:p>
            <a:pPr lvl="1" algn="just"/>
            <a:r>
              <a:rPr lang="pt-BR" sz="2000" dirty="0"/>
              <a:t>Variável é um </a:t>
            </a:r>
            <a:r>
              <a:rPr lang="pt-BR" sz="2000" u="sng" dirty="0"/>
              <a:t>elemento</a:t>
            </a:r>
            <a:r>
              <a:rPr lang="pt-BR" sz="2000" dirty="0"/>
              <a:t> na programação que tem o papel de </a:t>
            </a:r>
            <a:r>
              <a:rPr lang="pt-BR" sz="2000" u="sng" dirty="0"/>
              <a:t>guardar</a:t>
            </a:r>
            <a:r>
              <a:rPr lang="pt-BR" sz="2000" dirty="0"/>
              <a:t> uma </a:t>
            </a:r>
            <a:r>
              <a:rPr lang="pt-BR" sz="2000" u="sng" dirty="0"/>
              <a:t>informação</a:t>
            </a:r>
            <a:r>
              <a:rPr lang="pt-BR" sz="2000" dirty="0"/>
              <a:t> na </a:t>
            </a:r>
            <a:r>
              <a:rPr lang="pt-BR" sz="2000" u="sng" dirty="0"/>
              <a:t>memoria</a:t>
            </a:r>
            <a:r>
              <a:rPr lang="pt-BR" sz="2000" dirty="0"/>
              <a:t> </a:t>
            </a:r>
            <a:r>
              <a:rPr lang="pt-BR" sz="2000" dirty="0" err="1"/>
              <a:t>ram</a:t>
            </a:r>
            <a:r>
              <a:rPr lang="pt-BR" sz="2000" dirty="0"/>
              <a:t> do computador.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200" dirty="0"/>
              <a:t>Até o momento todas nossas variáveis apenas podem armazenar </a:t>
            </a:r>
            <a:r>
              <a:rPr lang="pt-BR" sz="2200" u="sng" dirty="0"/>
              <a:t>um único valor por variável</a:t>
            </a:r>
            <a:r>
              <a:rPr lang="pt-BR" sz="2200" dirty="0"/>
              <a:t>.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deve receber e guardar 5 nomes.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fim, listar todos os nomes digitados. </a:t>
            </a:r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3429001"/>
            <a:ext cx="6082204" cy="289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4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resolver esse problema, teríamos que </a:t>
            </a:r>
            <a:r>
              <a:rPr lang="pt-BR" sz="2000" u="sng" dirty="0"/>
              <a:t>criar 5 variáveis</a:t>
            </a:r>
            <a:r>
              <a:rPr lang="pt-BR" sz="2000" dirty="0"/>
              <a:t>, para armazenar cada palavra digitada.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Mas se tivéssemos 20?  50? 100 nomes? Iriamos criar 100 variáveis?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Nossos código se </a:t>
            </a:r>
            <a:r>
              <a:rPr lang="pt-BR" sz="2000" u="sng" dirty="0"/>
              <a:t>tornaria complexo</a:t>
            </a:r>
            <a:r>
              <a:rPr lang="pt-BR" sz="2000" dirty="0"/>
              <a:t> e bastante </a:t>
            </a:r>
            <a:r>
              <a:rPr lang="pt-BR" sz="2000" u="sng" dirty="0"/>
              <a:t>repetitivo</a:t>
            </a:r>
            <a:r>
              <a:rPr lang="pt-BR" sz="2000" dirty="0"/>
              <a:t> já que não teríamos como usar estrutura de repetição por possuir variáveis distintas. 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07964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resolver esse tipo de situação, podemos usar </a:t>
            </a:r>
            <a:r>
              <a:rPr lang="pt-BR" sz="2000" u="sng" dirty="0"/>
              <a:t>VETORES</a:t>
            </a:r>
            <a:r>
              <a:rPr lang="pt-BR" sz="2000" dirty="0"/>
              <a:t> (</a:t>
            </a:r>
            <a:r>
              <a:rPr lang="pt-BR" sz="2000" u="sng" dirty="0"/>
              <a:t>ARRAY</a:t>
            </a:r>
            <a:r>
              <a:rPr lang="pt-BR" sz="2000" dirty="0"/>
              <a:t> em inglês).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Um vetor é uma </a:t>
            </a:r>
            <a:r>
              <a:rPr lang="pt-BR" sz="2000" u="sng" dirty="0"/>
              <a:t>variável</a:t>
            </a:r>
            <a:r>
              <a:rPr lang="pt-BR" sz="2000" dirty="0"/>
              <a:t> capaz de </a:t>
            </a:r>
            <a:r>
              <a:rPr lang="pt-BR" sz="2000" u="sng" dirty="0"/>
              <a:t>armazenar</a:t>
            </a:r>
            <a:r>
              <a:rPr lang="pt-BR" sz="2000" dirty="0"/>
              <a:t> não apenas um único valor, mas sim </a:t>
            </a:r>
            <a:r>
              <a:rPr lang="pt-BR" sz="2000" u="sng" dirty="0"/>
              <a:t>uma quantidade determinada de valores</a:t>
            </a:r>
            <a:r>
              <a:rPr lang="pt-BR" sz="2000" dirty="0"/>
              <a:t>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sintaxe para instanciar uma vetor é: 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719737" y="4941168"/>
            <a:ext cx="42370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tipo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tamanhoVetor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558683" y="5926115"/>
            <a:ext cx="655916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Qual é o tipo de valores (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float</a:t>
            </a:r>
            <a:r>
              <a:rPr lang="pt-BR" dirty="0"/>
              <a:t>, </a:t>
            </a:r>
            <a:r>
              <a:rPr lang="pt-BR" dirty="0" err="1"/>
              <a:t>double</a:t>
            </a:r>
            <a:r>
              <a:rPr lang="pt-BR" dirty="0"/>
              <a:t>, char) que podem ser armazenados naquela </a:t>
            </a:r>
            <a:r>
              <a:rPr lang="pt-BR" dirty="0" err="1"/>
              <a:t>variavel</a:t>
            </a:r>
            <a:r>
              <a:rPr lang="pt-BR" dirty="0"/>
              <a:t>.</a:t>
            </a:r>
          </a:p>
        </p:txBody>
      </p:sp>
      <p:sp>
        <p:nvSpPr>
          <p:cNvPr id="6" name="Retângulo Arredondado 5"/>
          <p:cNvSpPr/>
          <p:nvPr/>
        </p:nvSpPr>
        <p:spPr>
          <a:xfrm>
            <a:off x="3719736" y="4941168"/>
            <a:ext cx="648072" cy="3693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Angulado 7"/>
          <p:cNvCxnSpPr>
            <a:stCxn id="5" idx="0"/>
            <a:endCxn id="6" idx="2"/>
          </p:cNvCxnSpPr>
          <p:nvPr/>
        </p:nvCxnSpPr>
        <p:spPr>
          <a:xfrm rot="16200000" flipV="1">
            <a:off x="4633211" y="4721061"/>
            <a:ext cx="615614" cy="17944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2711083" y="5926114"/>
            <a:ext cx="5977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Quantos valores podem ser armazenados nessa variável. </a:t>
            </a:r>
          </a:p>
        </p:txBody>
      </p:sp>
      <p:sp>
        <p:nvSpPr>
          <p:cNvPr id="10" name="Retângulo Arredondado 9"/>
          <p:cNvSpPr/>
          <p:nvPr/>
        </p:nvSpPr>
        <p:spPr>
          <a:xfrm>
            <a:off x="6033809" y="4941168"/>
            <a:ext cx="1542991" cy="3693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Angulado 10"/>
          <p:cNvCxnSpPr>
            <a:stCxn id="9" idx="0"/>
            <a:endCxn id="10" idx="2"/>
          </p:cNvCxnSpPr>
          <p:nvPr/>
        </p:nvCxnSpPr>
        <p:spPr>
          <a:xfrm rot="5400000" flipH="1" flipV="1">
            <a:off x="5944687" y="5065499"/>
            <a:ext cx="615614" cy="11056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8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Se eu quiser criar uma variável </a:t>
            </a:r>
            <a:r>
              <a:rPr lang="pt-BR" sz="2000" u="sng" dirty="0" err="1"/>
              <a:t>numeros</a:t>
            </a:r>
            <a:r>
              <a:rPr lang="pt-BR" sz="2000" dirty="0"/>
              <a:t> que armazene </a:t>
            </a:r>
            <a:r>
              <a:rPr lang="pt-BR" sz="2000" u="sng" dirty="0"/>
              <a:t>10</a:t>
            </a:r>
            <a:r>
              <a:rPr lang="pt-BR" sz="2000" dirty="0"/>
              <a:t> números inteiros, como faria:</a:t>
            </a:r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Uma variável </a:t>
            </a:r>
            <a:r>
              <a:rPr lang="pt-BR" sz="2000" u="sng" dirty="0"/>
              <a:t>pesos</a:t>
            </a:r>
            <a:r>
              <a:rPr lang="pt-BR" sz="2000" dirty="0"/>
              <a:t> que guarde </a:t>
            </a:r>
            <a:r>
              <a:rPr lang="pt-BR" sz="2000" u="sng" dirty="0"/>
              <a:t>100</a:t>
            </a:r>
            <a:r>
              <a:rPr lang="pt-BR" sz="2000" dirty="0"/>
              <a:t> valores </a:t>
            </a:r>
            <a:r>
              <a:rPr lang="pt-BR" sz="2000" dirty="0" err="1"/>
              <a:t>float</a:t>
            </a:r>
            <a:r>
              <a:rPr lang="pt-BR" sz="2000" dirty="0"/>
              <a:t>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Uma variável </a:t>
            </a:r>
            <a:r>
              <a:rPr lang="pt-BR" sz="2000" u="sng" dirty="0"/>
              <a:t>vogais</a:t>
            </a:r>
            <a:r>
              <a:rPr lang="pt-BR" sz="2000" dirty="0"/>
              <a:t> que armazene </a:t>
            </a:r>
            <a:r>
              <a:rPr lang="pt-BR" sz="2000" u="sng" dirty="0"/>
              <a:t>5</a:t>
            </a:r>
            <a:r>
              <a:rPr lang="pt-BR" sz="2000" dirty="0"/>
              <a:t> letras</a:t>
            </a:r>
          </a:p>
          <a:p>
            <a:pPr algn="just"/>
            <a:endParaRPr lang="pt-BR" sz="1800" dirty="0"/>
          </a:p>
        </p:txBody>
      </p:sp>
      <p:sp>
        <p:nvSpPr>
          <p:cNvPr id="7" name="Retângulo 6"/>
          <p:cNvSpPr/>
          <p:nvPr/>
        </p:nvSpPr>
        <p:spPr>
          <a:xfrm>
            <a:off x="4583832" y="3068960"/>
            <a:ext cx="22860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602317" y="4042648"/>
            <a:ext cx="237626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pesos[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682716" y="5123926"/>
            <a:ext cx="2088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vogais[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47504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 </a:t>
            </a:r>
            <a:r>
              <a:rPr lang="pt-BR" sz="2000" dirty="0" err="1"/>
              <a:t>String</a:t>
            </a:r>
            <a:r>
              <a:rPr lang="pt-BR" sz="2000" dirty="0"/>
              <a:t> como dito anteriormente é uma </a:t>
            </a:r>
            <a:r>
              <a:rPr lang="pt-BR" sz="2000" u="sng" dirty="0"/>
              <a:t>cadeia de caracteres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Ou seja, para trabalhar com </a:t>
            </a:r>
            <a:r>
              <a:rPr lang="pt-BR" sz="2000" u="sng" dirty="0"/>
              <a:t>texto</a:t>
            </a:r>
            <a:r>
              <a:rPr lang="pt-BR" sz="2000" dirty="0"/>
              <a:t> criamos um </a:t>
            </a:r>
            <a:r>
              <a:rPr lang="pt-BR" sz="2000" u="sng" dirty="0"/>
              <a:t>vetor</a:t>
            </a:r>
            <a:r>
              <a:rPr lang="pt-BR" sz="2000" dirty="0"/>
              <a:t> que pode armazenar não um caractere, mas sim vários:</a:t>
            </a:r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4367809" y="3861048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65349"/>
              </p:ext>
            </p:extLst>
          </p:nvPr>
        </p:nvGraphicFramePr>
        <p:xfrm>
          <a:off x="3843718" y="4433155"/>
          <a:ext cx="427213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023">
                  <a:extLst>
                    <a:ext uri="{9D8B030D-6E8A-4147-A177-3AD203B41FA5}">
                      <a16:colId xmlns:a16="http://schemas.microsoft.com/office/drawing/2014/main" val="3802166123"/>
                    </a:ext>
                  </a:extLst>
                </a:gridCol>
                <a:gridCol w="712023">
                  <a:extLst>
                    <a:ext uri="{9D8B030D-6E8A-4147-A177-3AD203B41FA5}">
                      <a16:colId xmlns:a16="http://schemas.microsoft.com/office/drawing/2014/main" val="1175434157"/>
                    </a:ext>
                  </a:extLst>
                </a:gridCol>
                <a:gridCol w="712023">
                  <a:extLst>
                    <a:ext uri="{9D8B030D-6E8A-4147-A177-3AD203B41FA5}">
                      <a16:colId xmlns:a16="http://schemas.microsoft.com/office/drawing/2014/main" val="284318258"/>
                    </a:ext>
                  </a:extLst>
                </a:gridCol>
                <a:gridCol w="712023">
                  <a:extLst>
                    <a:ext uri="{9D8B030D-6E8A-4147-A177-3AD203B41FA5}">
                      <a16:colId xmlns:a16="http://schemas.microsoft.com/office/drawing/2014/main" val="4200938467"/>
                    </a:ext>
                  </a:extLst>
                </a:gridCol>
                <a:gridCol w="712023">
                  <a:extLst>
                    <a:ext uri="{9D8B030D-6E8A-4147-A177-3AD203B41FA5}">
                      <a16:colId xmlns:a16="http://schemas.microsoft.com/office/drawing/2014/main" val="3645113099"/>
                    </a:ext>
                  </a:extLst>
                </a:gridCol>
                <a:gridCol w="712023">
                  <a:extLst>
                    <a:ext uri="{9D8B030D-6E8A-4147-A177-3AD203B41FA5}">
                      <a16:colId xmlns:a16="http://schemas.microsoft.com/office/drawing/2014/main" val="2129677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61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Por isso o código abaixo não funciona: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Sendo obrigado a usar: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Porque o correto seria </a:t>
            </a:r>
            <a:r>
              <a:rPr lang="pt-BR" sz="2000" dirty="0" err="1"/>
              <a:t>setar</a:t>
            </a:r>
            <a:r>
              <a:rPr lang="pt-BR" sz="2000" dirty="0"/>
              <a:t> (informar) </a:t>
            </a:r>
            <a:r>
              <a:rPr lang="pt-BR" sz="2000" u="sng" dirty="0"/>
              <a:t>letra por letra no vetor</a:t>
            </a:r>
            <a:r>
              <a:rPr lang="pt-BR" sz="2000" dirty="0"/>
              <a:t>, que é o que a procedure </a:t>
            </a:r>
            <a:r>
              <a:rPr lang="pt-BR" sz="2000" u="sng" dirty="0" err="1"/>
              <a:t>strcpy</a:t>
            </a:r>
            <a:r>
              <a:rPr lang="pt-BR" sz="2000" dirty="0"/>
              <a:t> faz.</a:t>
            </a:r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4799856" y="2708921"/>
            <a:ext cx="235800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nome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Retângulo 6"/>
          <p:cNvSpPr/>
          <p:nvPr/>
        </p:nvSpPr>
        <p:spPr>
          <a:xfrm>
            <a:off x="4547828" y="3995398"/>
            <a:ext cx="309634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(nome,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5455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Setando</a:t>
            </a:r>
            <a:r>
              <a:rPr lang="pt-BR" dirty="0"/>
              <a:t> valor em um 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Então qual é a formar corretar de </a:t>
            </a:r>
            <a:r>
              <a:rPr lang="pt-BR" sz="2000" dirty="0" err="1"/>
              <a:t>setar</a:t>
            </a:r>
            <a:r>
              <a:rPr lang="pt-BR" sz="2000" dirty="0"/>
              <a:t> (passar) um valor para um vetor?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Primeiro temos que entender como funciona um vetor.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Ao criar uma vetor de </a:t>
            </a:r>
            <a:r>
              <a:rPr lang="pt-BR" sz="2000" u="sng" dirty="0"/>
              <a:t>X posições</a:t>
            </a:r>
            <a:r>
              <a:rPr lang="pt-BR" sz="2000" dirty="0"/>
              <a:t>, serão reservados </a:t>
            </a:r>
            <a:r>
              <a:rPr lang="pt-BR" sz="2000" u="sng" dirty="0"/>
              <a:t>X espaços na memória</a:t>
            </a:r>
            <a:r>
              <a:rPr lang="pt-BR" sz="2000" dirty="0"/>
              <a:t>, onde o </a:t>
            </a:r>
            <a:r>
              <a:rPr lang="pt-BR" sz="2000" u="sng" dirty="0"/>
              <a:t>primeiro</a:t>
            </a:r>
            <a:r>
              <a:rPr lang="pt-BR" sz="2000" dirty="0"/>
              <a:t> espaço começa na </a:t>
            </a:r>
            <a:r>
              <a:rPr lang="pt-BR" sz="2000" u="sng" dirty="0"/>
              <a:t>posição 0</a:t>
            </a:r>
            <a:r>
              <a:rPr lang="pt-BR" sz="2000" dirty="0"/>
              <a:t>!</a:t>
            </a: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5180525" y="4797152"/>
            <a:ext cx="18309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099307"/>
              </p:ext>
            </p:extLst>
          </p:nvPr>
        </p:nvGraphicFramePr>
        <p:xfrm>
          <a:off x="3575720" y="5373216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840945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7372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81962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72322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016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7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20998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1814735" y="5368093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Posição|Index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2666186" y="5737425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34335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Setando</a:t>
            </a:r>
            <a:r>
              <a:rPr lang="pt-BR" dirty="0"/>
              <a:t> valor em um 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Costumamos chamar a </a:t>
            </a:r>
            <a:r>
              <a:rPr lang="pt-BR" sz="2000" u="sng" dirty="0"/>
              <a:t>posição</a:t>
            </a:r>
            <a:r>
              <a:rPr lang="pt-BR" sz="2000" dirty="0"/>
              <a:t> do vetor de </a:t>
            </a:r>
            <a:r>
              <a:rPr lang="pt-BR" sz="2000" u="sng" dirty="0"/>
              <a:t>index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por que o </a:t>
            </a:r>
            <a:r>
              <a:rPr lang="pt-BR" sz="2000" u="sng" dirty="0"/>
              <a:t>index</a:t>
            </a:r>
            <a:r>
              <a:rPr lang="pt-BR" sz="2000" dirty="0"/>
              <a:t> começa em 0?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Porque </a:t>
            </a:r>
            <a:r>
              <a:rPr lang="pt-BR" sz="2000" u="sng" dirty="0"/>
              <a:t>não</a:t>
            </a:r>
            <a:r>
              <a:rPr lang="pt-BR" sz="2000" dirty="0"/>
              <a:t> será um </a:t>
            </a:r>
            <a:r>
              <a:rPr lang="pt-BR" sz="2000" u="sng" dirty="0"/>
              <a:t>único espaço na memoria</a:t>
            </a:r>
            <a:r>
              <a:rPr lang="pt-BR" sz="2000" dirty="0"/>
              <a:t> que irá guardar os valores e </a:t>
            </a:r>
            <a:r>
              <a:rPr lang="pt-BR" sz="2000" u="sng" dirty="0"/>
              <a:t>sim n</a:t>
            </a:r>
            <a:r>
              <a:rPr lang="pt-BR" sz="2000" dirty="0"/>
              <a:t>, sendo o tamanho do vetor.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o endereço do primeiro valor, será o mesmo do vetor (index = 0)</a:t>
            </a:r>
          </a:p>
          <a:p>
            <a:pPr algn="just"/>
            <a:r>
              <a:rPr lang="pt-BR" sz="2000" dirty="0"/>
              <a:t>O do segundo será a posição do vetor + 1 (index = 1)</a:t>
            </a:r>
          </a:p>
          <a:p>
            <a:pPr algn="just"/>
            <a:r>
              <a:rPr lang="pt-BR" sz="2000" dirty="0"/>
              <a:t>O do terceiro será a posição do vetor + 2 (index = 2)</a:t>
            </a:r>
          </a:p>
          <a:p>
            <a:pPr algn="just"/>
            <a:r>
              <a:rPr lang="pt-BR" sz="2000" dirty="0"/>
              <a:t>... 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38196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Setando</a:t>
            </a:r>
            <a:r>
              <a:rPr lang="pt-BR" dirty="0"/>
              <a:t> valor em um 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Como a gente observar o endereço da memoria de uma variável? </a:t>
            </a:r>
          </a:p>
          <a:p>
            <a:pPr lvl="1" algn="just"/>
            <a:r>
              <a:rPr lang="pt-BR" sz="2000" dirty="0"/>
              <a:t>Usando o &amp;</a:t>
            </a:r>
          </a:p>
          <a:p>
            <a:pPr lvl="1" algn="just"/>
            <a:endParaRPr lang="pt-BR" sz="1600" dirty="0"/>
          </a:p>
          <a:p>
            <a:pPr algn="just"/>
            <a:r>
              <a:rPr lang="pt-BR" sz="2000" dirty="0"/>
              <a:t>Logo execute o código abaixo e veja o resultado: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posição </a:t>
            </a:r>
            <a:r>
              <a:rPr lang="pt-BR" sz="2000" u="sng" dirty="0"/>
              <a:t>0 terá o mesmo endereço do vetor</a:t>
            </a:r>
            <a:r>
              <a:rPr lang="pt-BR" sz="2000" dirty="0"/>
              <a:t>, e as próximas posições os valores seguintes.</a:t>
            </a:r>
          </a:p>
        </p:txBody>
      </p:sp>
      <p:sp>
        <p:nvSpPr>
          <p:cNvPr id="7" name="Retângulo 6"/>
          <p:cNvSpPr/>
          <p:nvPr/>
        </p:nvSpPr>
        <p:spPr>
          <a:xfrm>
            <a:off x="3116796" y="3618890"/>
            <a:ext cx="595840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&amp;letra);  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//Exemplo: 63567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49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&amp;letra[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]);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//Exemplo: 63567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49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&amp;letra[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]);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//Exemplo: 63567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50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&amp;letra[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]);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//Exemplo: 63567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51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9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Setando</a:t>
            </a:r>
            <a:r>
              <a:rPr lang="pt-BR" dirty="0"/>
              <a:t> valor em um 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Então para informar um valor em um vetor </a:t>
            </a:r>
            <a:r>
              <a:rPr lang="pt-BR" sz="2000" dirty="0" err="1"/>
              <a:t>setamos</a:t>
            </a:r>
            <a:r>
              <a:rPr lang="pt-BR" sz="2000" dirty="0"/>
              <a:t> de acordo com a sua posição: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</a:t>
            </a:r>
            <a:r>
              <a:rPr lang="pt-BR" sz="2000" dirty="0" err="1"/>
              <a:t>setar</a:t>
            </a:r>
            <a:r>
              <a:rPr lang="pt-BR" sz="2000" dirty="0"/>
              <a:t> um valor em uma posição, basta chamar o vetor com a posição em que deseja informar o valor, logo: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5180525" y="3068960"/>
            <a:ext cx="18309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375781"/>
              </p:ext>
            </p:extLst>
          </p:nvPr>
        </p:nvGraphicFramePr>
        <p:xfrm>
          <a:off x="3575720" y="5373216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840945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7372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81962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72322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016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7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20998"/>
                  </a:ext>
                </a:extLst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1814735" y="5368093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Posição|Index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2666186" y="5737425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5197630" y="4257828"/>
            <a:ext cx="223224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445355"/>
              </p:ext>
            </p:extLst>
          </p:nvPr>
        </p:nvGraphicFramePr>
        <p:xfrm>
          <a:off x="3575720" y="5373216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840945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7372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81962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72322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016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7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20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07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Recuperando valor em um vetor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ler o valor de uma posição ,também basta chamar o vetor e informar a posição: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Qual valor será exibido ao executar?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50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13738"/>
              </p:ext>
            </p:extLst>
          </p:nvPr>
        </p:nvGraphicFramePr>
        <p:xfrm>
          <a:off x="3772994" y="3212976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840945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7372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81962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72322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016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7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20998"/>
                  </a:ext>
                </a:extLst>
              </a:tr>
            </a:tbl>
          </a:graphicData>
        </a:graphic>
      </p:graphicFrame>
      <p:sp>
        <p:nvSpPr>
          <p:cNvPr id="13" name="CaixaDeTexto 12"/>
          <p:cNvSpPr txBox="1"/>
          <p:nvPr/>
        </p:nvSpPr>
        <p:spPr>
          <a:xfrm>
            <a:off x="2012009" y="3207853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Posição|Index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2863460" y="3577185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</a:t>
            </a:r>
          </a:p>
        </p:txBody>
      </p: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915112"/>
              </p:ext>
            </p:extLst>
          </p:nvPr>
        </p:nvGraphicFramePr>
        <p:xfrm>
          <a:off x="3772994" y="3212976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840945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7372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81962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72322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016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7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20998"/>
                  </a:ext>
                </a:extLst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547339" y="4733542"/>
            <a:ext cx="30973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69924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vetor inteiro  </a:t>
            </a:r>
            <a:r>
              <a:rPr lang="pt-BR" sz="2000" u="sng" dirty="0"/>
              <a:t>idade,</a:t>
            </a:r>
            <a:r>
              <a:rPr lang="pt-BR" sz="2000" dirty="0"/>
              <a:t> com </a:t>
            </a:r>
            <a:r>
              <a:rPr lang="pt-BR" sz="2000" u="sng" dirty="0"/>
              <a:t>5 posições.</a:t>
            </a:r>
          </a:p>
          <a:p>
            <a:pPr algn="just"/>
            <a:endParaRPr lang="pt-BR" sz="2000" u="sng" dirty="0"/>
          </a:p>
          <a:p>
            <a:pPr algn="just"/>
            <a:r>
              <a:rPr lang="pt-BR" sz="2000" dirty="0"/>
              <a:t>Informe uma idade para cada posição do vetor;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 usando um FOR, liste todos os valores do vetor;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4509121"/>
            <a:ext cx="38862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62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603612" y="2636912"/>
            <a:ext cx="698477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idades[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idades[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idades[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idades[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idades[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"Idade na posição %d é 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,i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idades[i]);</a:t>
            </a:r>
          </a:p>
        </p:txBody>
      </p:sp>
    </p:spTree>
    <p:extLst>
      <p:ext uri="{BB962C8B-B14F-4D97-AF65-F5344CB8AC3E}">
        <p14:creationId xmlns:p14="http://schemas.microsoft.com/office/powerpoint/2010/main" val="278105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 Alternativa informar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Uma forma alternativa de informar os valores do vetor </a:t>
            </a:r>
            <a:r>
              <a:rPr lang="pt-BR" sz="2000" u="sng" dirty="0"/>
              <a:t>na hora da criação da variável</a:t>
            </a:r>
            <a:r>
              <a:rPr lang="pt-BR" sz="2000" dirty="0"/>
              <a:t> é data pela sintaxe abaixo: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2855640" y="3068960"/>
            <a:ext cx="61926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tipo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[] = {valor1, valor2, valor3};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639616" y="3796163"/>
            <a:ext cx="669674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u="sng" dirty="0"/>
              <a:t>Não informamos o tamanho do vetor</a:t>
            </a:r>
            <a:r>
              <a:rPr lang="pt-BR" dirty="0"/>
              <a:t>, pois ele vai </a:t>
            </a:r>
            <a:r>
              <a:rPr lang="pt-BR" u="sng" dirty="0"/>
              <a:t>assumir</a:t>
            </a:r>
            <a:r>
              <a:rPr lang="pt-BR" dirty="0"/>
              <a:t> o tamanho de acordo com a </a:t>
            </a:r>
            <a:r>
              <a:rPr lang="pt-BR" u="sng" dirty="0"/>
              <a:t>quantidade</a:t>
            </a:r>
            <a:r>
              <a:rPr lang="pt-BR" dirty="0"/>
              <a:t> de valores </a:t>
            </a:r>
            <a:r>
              <a:rPr lang="pt-BR" u="sng" dirty="0"/>
              <a:t>passados</a:t>
            </a:r>
            <a:r>
              <a:rPr lang="pt-BR" dirty="0"/>
              <a:t> entre as </a:t>
            </a:r>
            <a:r>
              <a:rPr lang="pt-BR" u="sng" dirty="0"/>
              <a:t>chaves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5015880" y="3068960"/>
            <a:ext cx="432048" cy="37744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Arredondado 11"/>
          <p:cNvSpPr/>
          <p:nvPr/>
        </p:nvSpPr>
        <p:spPr>
          <a:xfrm>
            <a:off x="5879976" y="3010428"/>
            <a:ext cx="2736304" cy="485637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2674192" y="5763658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Posição|Index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3525643" y="6132990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</a:t>
            </a:r>
          </a:p>
        </p:txBody>
      </p:sp>
      <p:graphicFrame>
        <p:nvGraphicFramePr>
          <p:cNvPr id="20" name="Tabe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147487"/>
              </p:ext>
            </p:extLst>
          </p:nvPr>
        </p:nvGraphicFramePr>
        <p:xfrm>
          <a:off x="4435177" y="5768781"/>
          <a:ext cx="3657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840945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7372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8196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7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20998"/>
                  </a:ext>
                </a:extLst>
              </a:tr>
            </a:tbl>
          </a:graphicData>
        </a:graphic>
      </p:graphicFrame>
      <p:sp>
        <p:nvSpPr>
          <p:cNvPr id="8" name="Retângulo 7"/>
          <p:cNvSpPr/>
          <p:nvPr/>
        </p:nvSpPr>
        <p:spPr>
          <a:xfrm>
            <a:off x="4357383" y="5057944"/>
            <a:ext cx="34772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 vetor[] = {</a:t>
            </a:r>
            <a:r>
              <a:rPr lang="sv-SE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v-SE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v-SE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4855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 animBg="1"/>
      <p:bldP spid="18" grpId="0"/>
      <p:bldP spid="19" grpId="0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Atualize a atividade anterior para receber os valores na hora da criação de vetor </a:t>
            </a:r>
            <a:r>
              <a:rPr lang="pt-BR" sz="2000" u="sng" dirty="0"/>
              <a:t>idades</a:t>
            </a:r>
            <a:r>
              <a:rPr lang="pt-BR" sz="2000" dirty="0"/>
              <a:t>;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423592" y="3673316"/>
            <a:ext cx="699512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idades[] = {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"Idade na posição %d é 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,i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idades[i]);</a:t>
            </a:r>
          </a:p>
        </p:txBody>
      </p:sp>
    </p:spTree>
    <p:extLst>
      <p:ext uri="{BB962C8B-B14F-4D97-AF65-F5344CB8AC3E}">
        <p14:creationId xmlns:p14="http://schemas.microsoft.com/office/powerpoint/2010/main" val="349860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Um vetor é um elemento capaz de guardar vários dados, pois ele cria vários espaços na memoria definidos no código.</a:t>
            </a:r>
          </a:p>
          <a:p>
            <a:pPr marL="109728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Mas também podemos ter um </a:t>
            </a:r>
            <a:r>
              <a:rPr lang="pt-BR" sz="2200" u="sng" dirty="0"/>
              <a:t>vetor de vetores</a:t>
            </a:r>
            <a:r>
              <a:rPr lang="pt-BR" sz="2200" dirty="0"/>
              <a:t>, que é o que chamamos de </a:t>
            </a:r>
            <a:r>
              <a:rPr lang="pt-BR" sz="2200" u="sng" dirty="0"/>
              <a:t>Matriz</a:t>
            </a:r>
            <a:r>
              <a:rPr lang="pt-BR" sz="2200" dirty="0"/>
              <a:t>.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7793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Na matemática uma matriz é representada por: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Um elemento conteúdo N linhas com M colunas: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1026" name="Picture 2" descr="Resultado de imagem para matri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5" y="3645024"/>
            <a:ext cx="4569915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7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na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Na Linguagem </a:t>
            </a:r>
            <a:r>
              <a:rPr lang="pt-BR" sz="2200" u="sng" dirty="0"/>
              <a:t>C</a:t>
            </a:r>
            <a:r>
              <a:rPr lang="pt-BR" sz="2200" dirty="0"/>
              <a:t>, uma matriz </a:t>
            </a:r>
            <a:r>
              <a:rPr lang="pt-BR" sz="2200" u="sng" dirty="0"/>
              <a:t>obrigatoriamente</a:t>
            </a:r>
            <a:r>
              <a:rPr lang="pt-BR" sz="2200" dirty="0"/>
              <a:t> precisa ter </a:t>
            </a:r>
            <a:r>
              <a:rPr lang="pt-BR" sz="2200" u="sng" dirty="0"/>
              <a:t>todos</a:t>
            </a:r>
            <a:r>
              <a:rPr lang="pt-BR" sz="2200" dirty="0"/>
              <a:t> os valores do </a:t>
            </a:r>
            <a:r>
              <a:rPr lang="pt-BR" sz="2200" u="sng" dirty="0"/>
              <a:t>mesmo</a:t>
            </a:r>
            <a:r>
              <a:rPr lang="pt-BR" sz="2200" dirty="0"/>
              <a:t> tipo.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obrigatoriamente </a:t>
            </a:r>
            <a:r>
              <a:rPr lang="pt-BR" sz="2000" u="sng" dirty="0"/>
              <a:t>toda linha</a:t>
            </a:r>
            <a:r>
              <a:rPr lang="pt-BR" sz="2000" dirty="0"/>
              <a:t> deve possuir a </a:t>
            </a:r>
            <a:r>
              <a:rPr lang="pt-BR" sz="2000" u="sng" dirty="0"/>
              <a:t>mesma quantidade de colunas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Em </a:t>
            </a:r>
            <a:r>
              <a:rPr lang="pt-BR" sz="2000" u="sng" dirty="0"/>
              <a:t>outras linguagens</a:t>
            </a:r>
            <a:r>
              <a:rPr lang="pt-BR" sz="2000" dirty="0"/>
              <a:t> esse comportamento é mais </a:t>
            </a:r>
            <a:r>
              <a:rPr lang="pt-BR" sz="2000" u="sng" dirty="0"/>
              <a:t>dinâmico</a:t>
            </a:r>
            <a:r>
              <a:rPr lang="pt-BR" sz="2000" dirty="0"/>
              <a:t>.   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67628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na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A sintaxe para construir uma matriz em C é: </a:t>
            </a:r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927648" y="3140968"/>
            <a:ext cx="61024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tipo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nomeMatriz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[NUMERO_LINHAS][NUMERO_COLUNAS];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703512" y="4440029"/>
            <a:ext cx="68451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O tipo dos valores que serão armazenados: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float</a:t>
            </a:r>
            <a:r>
              <a:rPr lang="pt-BR" dirty="0"/>
              <a:t>, char, </a:t>
            </a:r>
            <a:r>
              <a:rPr lang="pt-BR" dirty="0" err="1"/>
              <a:t>double</a:t>
            </a:r>
            <a:endParaRPr lang="pt-BR" dirty="0"/>
          </a:p>
        </p:txBody>
      </p:sp>
      <p:sp>
        <p:nvSpPr>
          <p:cNvPr id="6" name="Retângulo Arredondado 5"/>
          <p:cNvSpPr/>
          <p:nvPr/>
        </p:nvSpPr>
        <p:spPr>
          <a:xfrm>
            <a:off x="2927648" y="3101344"/>
            <a:ext cx="648072" cy="45590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Angulado 7"/>
          <p:cNvCxnSpPr>
            <a:stCxn id="5" idx="0"/>
            <a:endCxn id="6" idx="2"/>
          </p:cNvCxnSpPr>
          <p:nvPr/>
        </p:nvCxnSpPr>
        <p:spPr>
          <a:xfrm rot="16200000" flipV="1">
            <a:off x="3747497" y="3061441"/>
            <a:ext cx="882777" cy="18744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643344" y="4407645"/>
            <a:ext cx="39308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Quantos vetores vão exibir na matriz</a:t>
            </a:r>
          </a:p>
        </p:txBody>
      </p:sp>
      <p:sp>
        <p:nvSpPr>
          <p:cNvPr id="11" name="Retângulo Arredondado 10"/>
          <p:cNvSpPr/>
          <p:nvPr/>
        </p:nvSpPr>
        <p:spPr>
          <a:xfrm>
            <a:off x="4867480" y="3139529"/>
            <a:ext cx="1876592" cy="385339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Angulado 11"/>
          <p:cNvCxnSpPr>
            <a:stCxn id="10" idx="0"/>
            <a:endCxn id="11" idx="2"/>
          </p:cNvCxnSpPr>
          <p:nvPr/>
        </p:nvCxnSpPr>
        <p:spPr>
          <a:xfrm rot="5400000" flipH="1" flipV="1">
            <a:off x="5265892" y="3867761"/>
            <a:ext cx="882778" cy="196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727848" y="4921090"/>
            <a:ext cx="507222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Quantos valores podem ser guardados por vetor</a:t>
            </a:r>
          </a:p>
        </p:txBody>
      </p:sp>
      <p:sp>
        <p:nvSpPr>
          <p:cNvPr id="16" name="Retângulo Arredondado 15"/>
          <p:cNvSpPr/>
          <p:nvPr/>
        </p:nvSpPr>
        <p:spPr>
          <a:xfrm>
            <a:off x="6800617" y="3147533"/>
            <a:ext cx="1876592" cy="385339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Angulado 16"/>
          <p:cNvCxnSpPr>
            <a:stCxn id="15" idx="0"/>
            <a:endCxn id="16" idx="2"/>
          </p:cNvCxnSpPr>
          <p:nvPr/>
        </p:nvCxnSpPr>
        <p:spPr>
          <a:xfrm rot="5400000" flipH="1" flipV="1">
            <a:off x="6807328" y="3989504"/>
            <a:ext cx="1388219" cy="47495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16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10" grpId="0" animBg="1"/>
      <p:bldP spid="10" grpId="1" animBg="1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de </a:t>
            </a:r>
            <a:r>
              <a:rPr lang="pt-BR" dirty="0" err="1"/>
              <a:t>String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 no caso de um vetor de </a:t>
            </a:r>
            <a:r>
              <a:rPr lang="pt-BR" sz="2000" dirty="0" err="1"/>
              <a:t>String</a:t>
            </a:r>
            <a:r>
              <a:rPr lang="pt-BR" sz="2000" dirty="0"/>
              <a:t>, como a gente trabalha?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Iremos trabalhar semelhante a uma matriz (Nosso próximo assunto), e sua sintaxe será dada por: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Exemplos de uso: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783632" y="3789040"/>
            <a:ext cx="66247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tamanhoVetor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limiteCaracteres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9" name="Retângulo 8"/>
          <p:cNvSpPr/>
          <p:nvPr/>
        </p:nvSpPr>
        <p:spPr>
          <a:xfrm>
            <a:off x="3431704" y="5051658"/>
            <a:ext cx="4572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83129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Resolva nosso problema inicial: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Crie um algoritmo que deve receber e guardar 5 nomes.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fim, listar todos os nomes digitados. </a:t>
            </a:r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437" y="4069280"/>
            <a:ext cx="5351126" cy="254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89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2202396" y="2643842"/>
            <a:ext cx="77872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nomes[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//Recebe os valores;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nome para ser armazenado: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nomes[i]);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//Informa os valores digitados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nomes[i]);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141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200" dirty="0"/>
              <a:t>Crie uma Matriz de 3x3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Insira os valores de 1 a 9 nessa matriz.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Por fim, exiba cada valor da matriz multiplicado por 3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E ao final de cada vetor de uma quebra de linha (\n)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Dica: usar </a:t>
            </a:r>
            <a:r>
              <a:rPr lang="pt-BR" sz="2200" b="1" dirty="0"/>
              <a:t>%.2d</a:t>
            </a:r>
            <a:r>
              <a:rPr lang="pt-BR" sz="2200" dirty="0"/>
              <a:t>, o número deverá ser exibido com 2 casas, (sendo completado com zero a esquerda caso o valor seja menor que 2 casas)</a:t>
            </a:r>
            <a:endParaRPr lang="pt-BR" sz="20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60" y="764704"/>
            <a:ext cx="2232248" cy="166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9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203E51-9F10-42AF-9333-6E7DEBD952D4}"/>
</file>

<file path=customXml/itemProps2.xml><?xml version="1.0" encoding="utf-8"?>
<ds:datastoreItem xmlns:ds="http://schemas.openxmlformats.org/officeDocument/2006/customXml" ds:itemID="{496003D4-D8AB-400F-8D54-05D47F98FDDC}"/>
</file>

<file path=customXml/itemProps3.xml><?xml version="1.0" encoding="utf-8"?>
<ds:datastoreItem xmlns:ds="http://schemas.openxmlformats.org/officeDocument/2006/customXml" ds:itemID="{AEE17847-0891-42E6-98B4-47AB1BE5C595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2363</TotalTime>
  <Words>1478</Words>
  <Application>Microsoft Office PowerPoint</Application>
  <PresentationFormat>Widescreen</PresentationFormat>
  <Paragraphs>295</Paragraphs>
  <Slides>25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Vetor e Matriz| Array</vt:lpstr>
      <vt:lpstr>Relembrando </vt:lpstr>
      <vt:lpstr>Problema</vt:lpstr>
      <vt:lpstr>Problema</vt:lpstr>
      <vt:lpstr>Vetor</vt:lpstr>
      <vt:lpstr>Vetor</vt:lpstr>
      <vt:lpstr>String </vt:lpstr>
      <vt:lpstr>String </vt:lpstr>
      <vt:lpstr>Setando valor em um vetor</vt:lpstr>
      <vt:lpstr>Setando valor em um vetor</vt:lpstr>
      <vt:lpstr>Setando valor em um vetor</vt:lpstr>
      <vt:lpstr>Setando valor em um vetor</vt:lpstr>
      <vt:lpstr>Recuperando valor em um vetor</vt:lpstr>
      <vt:lpstr>Praticando</vt:lpstr>
      <vt:lpstr>Praticando</vt:lpstr>
      <vt:lpstr>Forma Alternativa informar valor</vt:lpstr>
      <vt:lpstr>Praticando</vt:lpstr>
      <vt:lpstr>Matriz</vt:lpstr>
      <vt:lpstr>Matriz</vt:lpstr>
      <vt:lpstr>Matriz na Programação</vt:lpstr>
      <vt:lpstr>Matriz na Programação</vt:lpstr>
      <vt:lpstr>Vetor de String</vt:lpstr>
      <vt:lpstr>Praticando</vt:lpstr>
      <vt:lpstr>Praticando</vt:lpstr>
      <vt:lpstr>Desafio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304</cp:revision>
  <dcterms:created xsi:type="dcterms:W3CDTF">2017-03-10T13:05:03Z</dcterms:created>
  <dcterms:modified xsi:type="dcterms:W3CDTF">2024-12-12T20:55:34Z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