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9"/>
  </p:notesMasterIdLst>
  <p:sldIdLst>
    <p:sldId id="256" r:id="rId2"/>
    <p:sldId id="345" r:id="rId3"/>
    <p:sldId id="265" r:id="rId4"/>
    <p:sldId id="347" r:id="rId5"/>
    <p:sldId id="348" r:id="rId6"/>
    <p:sldId id="349" r:id="rId7"/>
    <p:sldId id="350" r:id="rId8"/>
    <p:sldId id="351" r:id="rId9"/>
    <p:sldId id="352" r:id="rId10"/>
    <p:sldId id="353" r:id="rId11"/>
    <p:sldId id="355" r:id="rId12"/>
    <p:sldId id="354" r:id="rId13"/>
    <p:sldId id="356" r:id="rId14"/>
    <p:sldId id="357" r:id="rId15"/>
    <p:sldId id="358" r:id="rId16"/>
    <p:sldId id="359" r:id="rId17"/>
    <p:sldId id="360" r:id="rId1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1" d="100"/>
          <a:sy n="101" d="100"/>
        </p:scale>
        <p:origin x="2496" y="10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3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CD27BF-5A77-4FF9-8400-4B8E709EB083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D6EFE9-8848-4E94-B2E4-46DCA18F97A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7412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tângulo 22"/>
          <p:cNvSpPr/>
          <p:nvPr/>
        </p:nvSpPr>
        <p:spPr>
          <a:xfrm flipV="1">
            <a:off x="7213577" y="3810001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4" name="Retângulo 23"/>
          <p:cNvSpPr/>
          <p:nvPr/>
        </p:nvSpPr>
        <p:spPr>
          <a:xfrm flipV="1">
            <a:off x="7213601" y="3897010"/>
            <a:ext cx="49784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5" name="Retângulo 24"/>
          <p:cNvSpPr/>
          <p:nvPr/>
        </p:nvSpPr>
        <p:spPr>
          <a:xfrm flipV="1">
            <a:off x="7213601" y="4115167"/>
            <a:ext cx="49784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6" name="Retângulo 25"/>
          <p:cNvSpPr/>
          <p:nvPr/>
        </p:nvSpPr>
        <p:spPr>
          <a:xfrm flipV="1">
            <a:off x="7213600" y="4164403"/>
            <a:ext cx="262128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7" name="Retângulo 26"/>
          <p:cNvSpPr/>
          <p:nvPr/>
        </p:nvSpPr>
        <p:spPr>
          <a:xfrm flipV="1">
            <a:off x="7213600" y="4199572"/>
            <a:ext cx="262128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0" name="Retângulo de cantos arredondados 29"/>
          <p:cNvSpPr/>
          <p:nvPr/>
        </p:nvSpPr>
        <p:spPr bwMode="white">
          <a:xfrm>
            <a:off x="7213600" y="3962400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1" name="Retângulo de cantos arredondados 30"/>
          <p:cNvSpPr/>
          <p:nvPr/>
        </p:nvSpPr>
        <p:spPr bwMode="white">
          <a:xfrm>
            <a:off x="9835343" y="406098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7" name="Retângulo 6"/>
          <p:cNvSpPr/>
          <p:nvPr/>
        </p:nvSpPr>
        <p:spPr>
          <a:xfrm>
            <a:off x="1" y="3649662"/>
            <a:ext cx="12192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tângulo 9"/>
          <p:cNvSpPr/>
          <p:nvPr/>
        </p:nvSpPr>
        <p:spPr>
          <a:xfrm>
            <a:off x="1" y="3675528"/>
            <a:ext cx="12192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1" name="Retângulo 10"/>
          <p:cNvSpPr/>
          <p:nvPr/>
        </p:nvSpPr>
        <p:spPr>
          <a:xfrm flipV="1">
            <a:off x="8552068" y="3643090"/>
            <a:ext cx="3639933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9" name="Retângulo 18"/>
          <p:cNvSpPr/>
          <p:nvPr/>
        </p:nvSpPr>
        <p:spPr>
          <a:xfrm>
            <a:off x="0" y="0"/>
            <a:ext cx="12192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609600" y="2401888"/>
            <a:ext cx="112776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609600" y="3899938"/>
            <a:ext cx="6604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8940800" y="4206240"/>
            <a:ext cx="1280160" cy="457200"/>
          </a:xfrm>
        </p:spPr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7213600" y="4205288"/>
            <a:ext cx="1727200" cy="457200"/>
          </a:xfrm>
        </p:spPr>
        <p:txBody>
          <a:bodyPr/>
          <a:lstStyle/>
          <a:p>
            <a:endParaRPr lang="pt-BR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11093451" y="1136"/>
            <a:ext cx="996949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1981201"/>
            <a:ext cx="103632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963084" y="3367088"/>
            <a:ext cx="103632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09600" y="2249425"/>
            <a:ext cx="53848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97600" y="2249425"/>
            <a:ext cx="53848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08000" y="1143000"/>
            <a:ext cx="11176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508000" y="2244970"/>
            <a:ext cx="5388864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6294968" y="2244970"/>
            <a:ext cx="5389033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2"/>
          </p:nvPr>
        </p:nvSpPr>
        <p:spPr>
          <a:xfrm>
            <a:off x="508000" y="2708519"/>
            <a:ext cx="5388864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291073" y="2708519"/>
            <a:ext cx="5389033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26" name="Espaço Reservado para Data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27" name="Espaço Reservado para Número de Slide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sp>
        <p:nvSpPr>
          <p:cNvPr id="28" name="Espaço Reservado para Rodapé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>
          <a:xfrm>
            <a:off x="8778240" y="612648"/>
            <a:ext cx="1276352" cy="457200"/>
          </a:xfrm>
        </p:spPr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7010400" y="612648"/>
            <a:ext cx="1767840" cy="457200"/>
          </a:xfr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10899648" y="2272"/>
            <a:ext cx="1016000" cy="365760"/>
          </a:xfrm>
        </p:spPr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137995" y="1101970"/>
            <a:ext cx="451104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7137995" y="2010727"/>
            <a:ext cx="451104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1"/>
          </p:nvPr>
        </p:nvSpPr>
        <p:spPr>
          <a:xfrm>
            <a:off x="203200" y="776287"/>
            <a:ext cx="6803136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53913" y="1109161"/>
            <a:ext cx="782404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38228" y="1143000"/>
            <a:ext cx="6096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/>
              <a:t>Clique no ícone para adicionar uma imagem</a:t>
            </a:r>
            <a:endParaRPr kumimoji="0"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117924" y="3274309"/>
            <a:ext cx="34544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9042400" y="1143000"/>
            <a:ext cx="2540000" cy="5486400"/>
          </a:xfrm>
        </p:spPr>
        <p:txBody>
          <a:bodyPr vert="eaVert"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09600" y="1143000"/>
            <a:ext cx="8331200" cy="5486400"/>
          </a:xfrm>
        </p:spPr>
        <p:txBody>
          <a:bodyPr vert="eaVert"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tângulo 27"/>
          <p:cNvSpPr/>
          <p:nvPr/>
        </p:nvSpPr>
        <p:spPr>
          <a:xfrm>
            <a:off x="1" y="366819"/>
            <a:ext cx="12192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9" name="Retângulo 28"/>
          <p:cNvSpPr/>
          <p:nvPr/>
        </p:nvSpPr>
        <p:spPr>
          <a:xfrm>
            <a:off x="0" y="-1"/>
            <a:ext cx="12192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0" name="Retângulo 29"/>
          <p:cNvSpPr/>
          <p:nvPr/>
        </p:nvSpPr>
        <p:spPr>
          <a:xfrm>
            <a:off x="1" y="308277"/>
            <a:ext cx="12192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1" name="Retângulo 30"/>
          <p:cNvSpPr/>
          <p:nvPr/>
        </p:nvSpPr>
        <p:spPr>
          <a:xfrm flipV="1">
            <a:off x="7213577" y="360247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2" name="Retângulo 31"/>
          <p:cNvSpPr/>
          <p:nvPr/>
        </p:nvSpPr>
        <p:spPr>
          <a:xfrm flipV="1">
            <a:off x="7213601" y="440113"/>
            <a:ext cx="49784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3" name="Retângulo de cantos arredondados 32"/>
          <p:cNvSpPr/>
          <p:nvPr/>
        </p:nvSpPr>
        <p:spPr bwMode="white">
          <a:xfrm>
            <a:off x="7209785" y="497504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4" name="Retângulo de cantos arredondados 33"/>
          <p:cNvSpPr/>
          <p:nvPr/>
        </p:nvSpPr>
        <p:spPr bwMode="white">
          <a:xfrm>
            <a:off x="9831528" y="58894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5" name="Retângulo 34"/>
          <p:cNvSpPr/>
          <p:nvPr/>
        </p:nvSpPr>
        <p:spPr bwMode="invGray">
          <a:xfrm>
            <a:off x="12113288" y="-2001"/>
            <a:ext cx="76835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6" name="Retângulo 35"/>
          <p:cNvSpPr/>
          <p:nvPr/>
        </p:nvSpPr>
        <p:spPr bwMode="invGray">
          <a:xfrm>
            <a:off x="12059308" y="-2001"/>
            <a:ext cx="3657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7" name="Retângulo 36"/>
          <p:cNvSpPr/>
          <p:nvPr/>
        </p:nvSpPr>
        <p:spPr bwMode="invGray">
          <a:xfrm>
            <a:off x="12033904" y="-2001"/>
            <a:ext cx="12192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8" name="Retângulo 37"/>
          <p:cNvSpPr/>
          <p:nvPr/>
        </p:nvSpPr>
        <p:spPr bwMode="invGray">
          <a:xfrm>
            <a:off x="11967231" y="-2001"/>
            <a:ext cx="36576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9" name="Retângulo 38"/>
          <p:cNvSpPr/>
          <p:nvPr/>
        </p:nvSpPr>
        <p:spPr bwMode="invGray">
          <a:xfrm>
            <a:off x="11887569" y="380"/>
            <a:ext cx="73152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40" name="Retângulo 39"/>
          <p:cNvSpPr/>
          <p:nvPr/>
        </p:nvSpPr>
        <p:spPr bwMode="invGray">
          <a:xfrm>
            <a:off x="11831300" y="380"/>
            <a:ext cx="12192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609600" y="2249424"/>
            <a:ext cx="109728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/>
              <a:t>Clique para editar 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8782048" y="612648"/>
            <a:ext cx="1276352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7010400" y="612648"/>
            <a:ext cx="176784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pt-BR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10899648" y="2272"/>
            <a:ext cx="1016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95400" y="1412777"/>
            <a:ext cx="11161240" cy="2187674"/>
          </a:xfrm>
        </p:spPr>
        <p:txBody>
          <a:bodyPr>
            <a:noAutofit/>
          </a:bodyPr>
          <a:lstStyle/>
          <a:p>
            <a:r>
              <a:rPr lang="pt-BR" sz="6000" dirty="0"/>
              <a:t>Laboratório de Programação I</a:t>
            </a:r>
            <a:br>
              <a:rPr lang="pt-BR" sz="6000" dirty="0"/>
            </a:br>
            <a:r>
              <a:rPr lang="pt-BR" dirty="0"/>
              <a:t>Estrutura de Repetição - FOR</a:t>
            </a:r>
            <a:endParaRPr lang="pt-BR" sz="320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207568" y="5301208"/>
            <a:ext cx="6400800" cy="1104528"/>
          </a:xfrm>
        </p:spPr>
        <p:txBody>
          <a:bodyPr/>
          <a:lstStyle/>
          <a:p>
            <a:pPr algn="l"/>
            <a:r>
              <a:rPr lang="pt-BR" dirty="0"/>
              <a:t>Professor: Carlos Alberto</a:t>
            </a:r>
          </a:p>
          <a:p>
            <a:pPr algn="l"/>
            <a:r>
              <a:rPr lang="pt-BR" dirty="0" err="1"/>
              <a:t>Email</a:t>
            </a:r>
            <a:r>
              <a:rPr lang="pt-BR" dirty="0"/>
              <a:t>: carloswgama@gmail.com</a:t>
            </a:r>
          </a:p>
        </p:txBody>
      </p:sp>
    </p:spTree>
    <p:extLst>
      <p:ext uri="{BB962C8B-B14F-4D97-AF65-F5344CB8AC3E}">
        <p14:creationId xmlns:p14="http://schemas.microsoft.com/office/powerpoint/2010/main" val="3054800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Problema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Imagine que você precisa criar um programa que liste na tela todos os números de 1 a 1000.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Como você faria isso? 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Escrever mil linhas de código para cada </a:t>
            </a:r>
            <a:r>
              <a:rPr lang="pt-BR" sz="2000" dirty="0" err="1"/>
              <a:t>printf</a:t>
            </a:r>
            <a:r>
              <a:rPr lang="pt-BR" sz="2000" dirty="0"/>
              <a:t>, não seria tão legal, mas você pode resolver isso facilmente com uma </a:t>
            </a:r>
            <a:r>
              <a:rPr lang="pt-BR" sz="2000" u="sng" dirty="0"/>
              <a:t>Estrutura de Repetição</a:t>
            </a:r>
            <a:r>
              <a:rPr lang="pt-BR" sz="2000" dirty="0"/>
              <a:t>.</a:t>
            </a:r>
          </a:p>
          <a:p>
            <a:pPr algn="just"/>
            <a:endParaRPr lang="pt-BR" sz="1800" dirty="0"/>
          </a:p>
          <a:p>
            <a:pPr algn="just"/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190361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981200" y="1143000"/>
            <a:ext cx="8229600" cy="5022304"/>
          </a:xfrm>
        </p:spPr>
        <p:txBody>
          <a:bodyPr>
            <a:normAutofit/>
          </a:bodyPr>
          <a:lstStyle/>
          <a:p>
            <a:pPr algn="ctr"/>
            <a:r>
              <a:rPr lang="pt-BR" sz="6000" dirty="0"/>
              <a:t>Estrutura de Repetição</a:t>
            </a:r>
            <a:br>
              <a:rPr lang="pt-BR" sz="6000" dirty="0"/>
            </a:b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9350464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Estrutura de Repetição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Assim como temos </a:t>
            </a:r>
            <a:r>
              <a:rPr lang="pt-BR" sz="2000" u="sng" dirty="0"/>
              <a:t>Estrutura de Decisão</a:t>
            </a:r>
            <a:r>
              <a:rPr lang="pt-BR" sz="2000" dirty="0"/>
              <a:t> que decide </a:t>
            </a:r>
            <a:r>
              <a:rPr lang="pt-BR" sz="2000" u="sng" dirty="0"/>
              <a:t>qual trecho de código será executado</a:t>
            </a:r>
            <a:r>
              <a:rPr lang="pt-BR" sz="2000" dirty="0"/>
              <a:t> ou não.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Temos também a </a:t>
            </a:r>
            <a:r>
              <a:rPr lang="pt-BR" sz="2000" u="sng" dirty="0"/>
              <a:t>Estrutura de Repetição</a:t>
            </a:r>
            <a:r>
              <a:rPr lang="pt-BR" sz="2000" dirty="0"/>
              <a:t> que decide </a:t>
            </a:r>
            <a:r>
              <a:rPr lang="pt-BR" sz="2000" u="sng" dirty="0"/>
              <a:t>quantas vezes um trecho de código deve ser repetido</a:t>
            </a:r>
            <a:r>
              <a:rPr lang="pt-BR" sz="2000" dirty="0"/>
              <a:t>. 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As Estruturas de Repetições na programação são:</a:t>
            </a:r>
          </a:p>
          <a:p>
            <a:pPr lvl="1" algn="just"/>
            <a:r>
              <a:rPr lang="pt-BR" sz="1800" dirty="0"/>
              <a:t>FOR</a:t>
            </a:r>
          </a:p>
          <a:p>
            <a:pPr lvl="1" algn="just"/>
            <a:r>
              <a:rPr lang="pt-BR" sz="1800" dirty="0"/>
              <a:t>WHILE</a:t>
            </a:r>
          </a:p>
          <a:p>
            <a:pPr lvl="1" algn="just"/>
            <a:r>
              <a:rPr lang="pt-BR" sz="1800" dirty="0"/>
              <a:t>DO...WHILE</a:t>
            </a:r>
          </a:p>
          <a:p>
            <a:pPr lvl="1" algn="just"/>
            <a:r>
              <a:rPr lang="pt-BR" sz="1800" dirty="0"/>
              <a:t>FOREACH (Não tem em C)</a:t>
            </a:r>
          </a:p>
        </p:txBody>
      </p:sp>
    </p:spTree>
    <p:extLst>
      <p:ext uri="{BB962C8B-B14F-4D97-AF65-F5344CB8AC3E}">
        <p14:creationId xmlns:p14="http://schemas.microsoft.com/office/powerpoint/2010/main" val="3991950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981200" y="1143000"/>
            <a:ext cx="8229600" cy="5022304"/>
          </a:xfrm>
        </p:spPr>
        <p:txBody>
          <a:bodyPr>
            <a:normAutofit/>
          </a:bodyPr>
          <a:lstStyle/>
          <a:p>
            <a:pPr algn="ctr"/>
            <a:r>
              <a:rPr lang="pt-BR" sz="6000" dirty="0"/>
              <a:t>Estrutura de Repetição</a:t>
            </a:r>
            <a:br>
              <a:rPr lang="pt-BR" sz="6000" dirty="0"/>
            </a:br>
            <a:r>
              <a:rPr lang="pt-BR" sz="6000" dirty="0"/>
              <a:t>FOR</a:t>
            </a:r>
            <a:br>
              <a:rPr lang="pt-BR" sz="6000" dirty="0"/>
            </a:b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16707443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FOR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O FOR é uma Estrutura de Repetição que irá repetir uma quantidade determinada de vezes. 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A Sintaxe do FOR é data por: </a:t>
            </a:r>
            <a:endParaRPr lang="pt-BR" sz="1800" dirty="0"/>
          </a:p>
        </p:txBody>
      </p:sp>
      <p:sp>
        <p:nvSpPr>
          <p:cNvPr id="5" name="Retângulo 4"/>
          <p:cNvSpPr/>
          <p:nvPr/>
        </p:nvSpPr>
        <p:spPr>
          <a:xfrm>
            <a:off x="1667508" y="5157193"/>
            <a:ext cx="8856984" cy="8309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(&lt;ação inicial&gt;; &lt;condição de repetição&gt;; &lt;ação final de cada iteração&gt;) {</a:t>
            </a:r>
          </a:p>
          <a:p>
            <a:r>
              <a:rPr lang="pt-BR" sz="1600" dirty="0">
                <a:solidFill>
                  <a:srgbClr val="008000"/>
                </a:solidFill>
                <a:latin typeface="Consolas" panose="020B0609020204030204" pitchFamily="49" charset="0"/>
              </a:rPr>
              <a:t>	//Códigos que ficarão sendo repetidos</a:t>
            </a:r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2063552" y="3789040"/>
            <a:ext cx="8147248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dirty="0"/>
              <a:t>Código executado </a:t>
            </a:r>
            <a:r>
              <a:rPr lang="pt-BR" u="sng" dirty="0"/>
              <a:t>antes da primeira checagem (Não se repete)</a:t>
            </a:r>
            <a:r>
              <a:rPr lang="pt-BR" dirty="0"/>
              <a:t> se o código dentro do for, será executado ou não.</a:t>
            </a:r>
          </a:p>
          <a:p>
            <a:r>
              <a:rPr lang="pt-BR" dirty="0"/>
              <a:t>Normalmente inicia a condição de repetição.</a:t>
            </a:r>
          </a:p>
        </p:txBody>
      </p:sp>
      <p:sp>
        <p:nvSpPr>
          <p:cNvPr id="7" name="Retângulo Arredondado 6"/>
          <p:cNvSpPr/>
          <p:nvPr/>
        </p:nvSpPr>
        <p:spPr>
          <a:xfrm>
            <a:off x="2279576" y="5161995"/>
            <a:ext cx="1601476" cy="360040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9" name="Conector Angulado 8"/>
          <p:cNvCxnSpPr>
            <a:stCxn id="6" idx="2"/>
            <a:endCxn id="7" idx="0"/>
          </p:cNvCxnSpPr>
          <p:nvPr/>
        </p:nvCxnSpPr>
        <p:spPr>
          <a:xfrm rot="5400000">
            <a:off x="4383934" y="3408751"/>
            <a:ext cx="449625" cy="3056862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CaixaDeTexto 10"/>
          <p:cNvSpPr txBox="1"/>
          <p:nvPr/>
        </p:nvSpPr>
        <p:spPr>
          <a:xfrm>
            <a:off x="2022376" y="3805883"/>
            <a:ext cx="8147248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dirty="0"/>
              <a:t>Enquanto essa condição for verdadeira,  o código da estrutura de repetição será executado. </a:t>
            </a:r>
          </a:p>
        </p:txBody>
      </p:sp>
      <p:sp>
        <p:nvSpPr>
          <p:cNvPr id="12" name="Retângulo Arredondado 11"/>
          <p:cNvSpPr/>
          <p:nvPr/>
        </p:nvSpPr>
        <p:spPr>
          <a:xfrm>
            <a:off x="4179428" y="5224398"/>
            <a:ext cx="2475336" cy="292835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Angulado 12"/>
          <p:cNvCxnSpPr>
            <a:stCxn id="11" idx="2"/>
            <a:endCxn id="12" idx="0"/>
          </p:cNvCxnSpPr>
          <p:nvPr/>
        </p:nvCxnSpPr>
        <p:spPr>
          <a:xfrm rot="5400000">
            <a:off x="5370456" y="4498853"/>
            <a:ext cx="772184" cy="678904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4227984" y="3929416"/>
            <a:ext cx="305712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dirty="0"/>
              <a:t>Código que será repetido</a:t>
            </a:r>
          </a:p>
        </p:txBody>
      </p:sp>
      <p:sp>
        <p:nvSpPr>
          <p:cNvPr id="21" name="Retângulo Arredondado 20"/>
          <p:cNvSpPr/>
          <p:nvPr/>
        </p:nvSpPr>
        <p:spPr>
          <a:xfrm>
            <a:off x="2711624" y="5410645"/>
            <a:ext cx="4095540" cy="292422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2" name="Conector Angulado 21"/>
          <p:cNvCxnSpPr>
            <a:stCxn id="20" idx="2"/>
            <a:endCxn id="21" idx="0"/>
          </p:cNvCxnSpPr>
          <p:nvPr/>
        </p:nvCxnSpPr>
        <p:spPr>
          <a:xfrm rot="5400000">
            <a:off x="4702024" y="4356119"/>
            <a:ext cx="1111897" cy="997154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" name="CaixaDeTexto 26"/>
          <p:cNvSpPr txBox="1"/>
          <p:nvPr/>
        </p:nvSpPr>
        <p:spPr>
          <a:xfrm>
            <a:off x="2711624" y="3933056"/>
            <a:ext cx="734481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dirty="0"/>
              <a:t>Código que será executado após cada repetição do código da estrutura</a:t>
            </a:r>
          </a:p>
        </p:txBody>
      </p:sp>
      <p:sp>
        <p:nvSpPr>
          <p:cNvPr id="28" name="Retângulo Arredondado 27"/>
          <p:cNvSpPr/>
          <p:nvPr/>
        </p:nvSpPr>
        <p:spPr>
          <a:xfrm>
            <a:off x="6937916" y="5157192"/>
            <a:ext cx="3118525" cy="360040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9" name="Conector Angulado 28"/>
          <p:cNvCxnSpPr>
            <a:stCxn id="27" idx="2"/>
            <a:endCxn id="28" idx="0"/>
          </p:cNvCxnSpPr>
          <p:nvPr/>
        </p:nvCxnSpPr>
        <p:spPr>
          <a:xfrm rot="16200000" flipH="1">
            <a:off x="7013203" y="3673217"/>
            <a:ext cx="854804" cy="2113146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2109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6" grpId="1" animBg="1"/>
      <p:bldP spid="7" grpId="0" animBg="1"/>
      <p:bldP spid="7" grpId="1" animBg="1"/>
      <p:bldP spid="11" grpId="0" animBg="1"/>
      <p:bldP spid="11" grpId="1" animBg="1"/>
      <p:bldP spid="12" grpId="0" animBg="1"/>
      <p:bldP spid="12" grpId="1" animBg="1"/>
      <p:bldP spid="20" grpId="0" animBg="1"/>
      <p:bldP spid="20" grpId="1" animBg="1"/>
      <p:bldP spid="21" grpId="0" animBg="1"/>
      <p:bldP spid="21" grpId="1" animBg="1"/>
      <p:bldP spid="27" grpId="0" animBg="1"/>
      <p:bldP spid="27" grpId="1" animBg="1"/>
      <p:bldP spid="28" grpId="0" animBg="1"/>
      <p:bldP spid="28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FOR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Na prática</a:t>
            </a:r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r>
              <a:rPr lang="pt-BR" sz="1800" dirty="0"/>
              <a:t>Normalmente usamos a letra </a:t>
            </a:r>
            <a:r>
              <a:rPr lang="pt-BR" sz="1800" b="1" dirty="0"/>
              <a:t>i</a:t>
            </a:r>
            <a:r>
              <a:rPr lang="pt-BR" sz="1800" dirty="0"/>
              <a:t> para representar a variável que fará a </a:t>
            </a:r>
            <a:r>
              <a:rPr lang="pt-BR" sz="1800" dirty="0" err="1"/>
              <a:t>a</a:t>
            </a:r>
            <a:r>
              <a:rPr lang="pt-BR" sz="1800" dirty="0"/>
              <a:t> checagem de </a:t>
            </a:r>
            <a:r>
              <a:rPr lang="pt-BR" sz="1800" b="1" dirty="0"/>
              <a:t>iteração</a:t>
            </a:r>
            <a:r>
              <a:rPr lang="pt-BR" sz="1800" dirty="0"/>
              <a:t> do </a:t>
            </a:r>
            <a:r>
              <a:rPr lang="pt-BR" sz="1800" b="1" dirty="0"/>
              <a:t>FOR</a:t>
            </a:r>
          </a:p>
          <a:p>
            <a:pPr algn="just"/>
            <a:endParaRPr lang="pt-BR" sz="1800" b="1" dirty="0"/>
          </a:p>
          <a:p>
            <a:pPr algn="just"/>
            <a:endParaRPr lang="pt-BR" sz="2000" b="1" dirty="0"/>
          </a:p>
        </p:txBody>
      </p:sp>
      <p:sp>
        <p:nvSpPr>
          <p:cNvPr id="4" name="Retângulo 3"/>
          <p:cNvSpPr/>
          <p:nvPr/>
        </p:nvSpPr>
        <p:spPr>
          <a:xfrm>
            <a:off x="1703512" y="2780929"/>
            <a:ext cx="3960440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i;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(i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 i &lt;=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3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 i++) {</a:t>
            </a:r>
          </a:p>
          <a:p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   //Códigos que será repetido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7104112" y="1143000"/>
            <a:ext cx="338437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i = 1</a:t>
            </a:r>
          </a:p>
          <a:p>
            <a:r>
              <a:rPr lang="pt-BR" dirty="0"/>
              <a:t>i &lt;= 3 (i é 1)</a:t>
            </a:r>
          </a:p>
          <a:p>
            <a:r>
              <a:rPr lang="pt-BR" dirty="0"/>
              <a:t>Executa código</a:t>
            </a:r>
          </a:p>
          <a:p>
            <a:r>
              <a:rPr lang="pt-BR" dirty="0"/>
              <a:t>i++ (i vira 2)</a:t>
            </a:r>
          </a:p>
          <a:p>
            <a:r>
              <a:rPr lang="pt-BR" dirty="0"/>
              <a:t>i &lt;= 3 (i é 2)</a:t>
            </a:r>
          </a:p>
          <a:p>
            <a:r>
              <a:rPr lang="pt-BR" dirty="0"/>
              <a:t>Executa o código</a:t>
            </a:r>
          </a:p>
          <a:p>
            <a:r>
              <a:rPr lang="pt-BR" dirty="0"/>
              <a:t>i++ (i vira 3)</a:t>
            </a:r>
          </a:p>
          <a:p>
            <a:r>
              <a:rPr lang="pt-BR" dirty="0"/>
              <a:t>i &lt;= 3 (i é 3)</a:t>
            </a:r>
          </a:p>
          <a:p>
            <a:r>
              <a:rPr lang="pt-BR" dirty="0"/>
              <a:t>Executa o código</a:t>
            </a:r>
          </a:p>
          <a:p>
            <a:r>
              <a:rPr lang="pt-BR" dirty="0"/>
              <a:t>i++ (i vira 4)</a:t>
            </a:r>
          </a:p>
          <a:p>
            <a:r>
              <a:rPr lang="pt-BR" dirty="0"/>
              <a:t>i &lt;= 3 (i é 4)</a:t>
            </a:r>
          </a:p>
          <a:p>
            <a:r>
              <a:rPr lang="pt-BR" dirty="0"/>
              <a:t>Encerra estrutura de repetição</a:t>
            </a:r>
          </a:p>
        </p:txBody>
      </p:sp>
      <p:sp>
        <p:nvSpPr>
          <p:cNvPr id="19" name="Retângulo Arredondado 18"/>
          <p:cNvSpPr/>
          <p:nvPr/>
        </p:nvSpPr>
        <p:spPr>
          <a:xfrm>
            <a:off x="2351584" y="3068960"/>
            <a:ext cx="792088" cy="312132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tângulo Arredondado 22"/>
          <p:cNvSpPr/>
          <p:nvPr/>
        </p:nvSpPr>
        <p:spPr>
          <a:xfrm>
            <a:off x="3215680" y="3068960"/>
            <a:ext cx="864096" cy="312132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Retângulo Arredondado 23"/>
          <p:cNvSpPr/>
          <p:nvPr/>
        </p:nvSpPr>
        <p:spPr>
          <a:xfrm>
            <a:off x="2135560" y="3356992"/>
            <a:ext cx="3528392" cy="312132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Retângulo Arredondado 24"/>
          <p:cNvSpPr/>
          <p:nvPr/>
        </p:nvSpPr>
        <p:spPr>
          <a:xfrm>
            <a:off x="4223792" y="3068960"/>
            <a:ext cx="504056" cy="312132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Retângulo Arredondado 29"/>
          <p:cNvSpPr/>
          <p:nvPr/>
        </p:nvSpPr>
        <p:spPr>
          <a:xfrm>
            <a:off x="3215680" y="3068960"/>
            <a:ext cx="864096" cy="312132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Retângulo Arredondado 30"/>
          <p:cNvSpPr/>
          <p:nvPr/>
        </p:nvSpPr>
        <p:spPr>
          <a:xfrm>
            <a:off x="2135560" y="3356992"/>
            <a:ext cx="3528392" cy="312132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Retângulo Arredondado 31"/>
          <p:cNvSpPr/>
          <p:nvPr/>
        </p:nvSpPr>
        <p:spPr>
          <a:xfrm>
            <a:off x="4223792" y="3058699"/>
            <a:ext cx="504056" cy="312132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Retângulo Arredondado 32"/>
          <p:cNvSpPr/>
          <p:nvPr/>
        </p:nvSpPr>
        <p:spPr>
          <a:xfrm>
            <a:off x="3215680" y="3068960"/>
            <a:ext cx="864096" cy="312132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Retângulo Arredondado 33"/>
          <p:cNvSpPr/>
          <p:nvPr/>
        </p:nvSpPr>
        <p:spPr>
          <a:xfrm>
            <a:off x="2111225" y="3356992"/>
            <a:ext cx="3528392" cy="312132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tângulo Arredondado 34"/>
          <p:cNvSpPr/>
          <p:nvPr/>
        </p:nvSpPr>
        <p:spPr>
          <a:xfrm>
            <a:off x="4223792" y="3044860"/>
            <a:ext cx="504056" cy="312132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Retângulo Arredondado 35"/>
          <p:cNvSpPr/>
          <p:nvPr/>
        </p:nvSpPr>
        <p:spPr>
          <a:xfrm>
            <a:off x="3215680" y="3068960"/>
            <a:ext cx="864096" cy="312132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6142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9" grpId="1" animBg="1"/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  <p:bldP spid="30" grpId="0" animBg="1"/>
      <p:bldP spid="30" grpId="1" animBg="1"/>
      <p:bldP spid="31" grpId="0" animBg="1"/>
      <p:bldP spid="31" grpId="1" animBg="1"/>
      <p:bldP spid="32" grpId="0" animBg="1"/>
      <p:bldP spid="32" grpId="1" animBg="1"/>
      <p:bldP spid="33" grpId="0" animBg="1"/>
      <p:bldP spid="33" grpId="1" animBg="1"/>
      <p:bldP spid="34" grpId="0" animBg="1"/>
      <p:bldP spid="34" grpId="1" animBg="1"/>
      <p:bldP spid="35" grpId="0" animBg="1"/>
      <p:bldP spid="35" grpId="1" animBg="1"/>
      <p:bldP spid="36" grpId="0" animBg="1"/>
      <p:bldP spid="36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FOR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Deste modo, podemos dizer também que a estrutura abaixo:</a:t>
            </a:r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É igual a:</a:t>
            </a:r>
          </a:p>
          <a:p>
            <a:pPr algn="just"/>
            <a:endParaRPr lang="pt-BR" sz="1800" dirty="0"/>
          </a:p>
        </p:txBody>
      </p:sp>
      <p:sp>
        <p:nvSpPr>
          <p:cNvPr id="4" name="Retângulo 3"/>
          <p:cNvSpPr/>
          <p:nvPr/>
        </p:nvSpPr>
        <p:spPr>
          <a:xfrm>
            <a:off x="2567608" y="2780929"/>
            <a:ext cx="3960440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i;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(i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 i &lt;=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3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 i++) {</a:t>
            </a:r>
          </a:p>
          <a:p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   //Códigos que será repetido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Retângulo 4"/>
          <p:cNvSpPr/>
          <p:nvPr/>
        </p:nvSpPr>
        <p:spPr>
          <a:xfrm>
            <a:off x="2423592" y="4797152"/>
            <a:ext cx="4320480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i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 ; i &lt;=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3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 ) {</a:t>
            </a:r>
          </a:p>
          <a:p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    //Códigos que será repetido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i++;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48744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FOR - Praticando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Crie um algoritmo que liste 3 vezes o nome OLA!</a:t>
            </a:r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1800" dirty="0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5840" y="2708920"/>
            <a:ext cx="2317608" cy="1944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593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FOR - Praticando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Código:</a:t>
            </a:r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marL="109728" indent="0" algn="just">
              <a:buNone/>
            </a:pPr>
            <a:endParaRPr lang="pt-BR" sz="2000" dirty="0"/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Se o código dentro da estrutura apenas tem uma linha, então assim como é no IF, também posso ignorar as chaves:</a:t>
            </a:r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1800" dirty="0"/>
          </a:p>
        </p:txBody>
      </p:sp>
      <p:sp>
        <p:nvSpPr>
          <p:cNvPr id="5" name="Retângulo 4"/>
          <p:cNvSpPr/>
          <p:nvPr/>
        </p:nvSpPr>
        <p:spPr>
          <a:xfrm>
            <a:off x="4016896" y="2249425"/>
            <a:ext cx="4158208" cy="20313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nn-NO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 main() {</a:t>
            </a:r>
          </a:p>
          <a:p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   setlocale(LC_ALL, </a:t>
            </a:r>
            <a:r>
              <a:rPr lang="nn-NO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nn-NO" dirty="0">
                <a:solidFill>
                  <a:srgbClr val="0000FF"/>
                </a:solidFill>
                <a:latin typeface="Consolas" panose="020B0609020204030204" pitchFamily="49" charset="0"/>
              </a:rPr>
              <a:t>   int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 i;</a:t>
            </a:r>
          </a:p>
          <a:p>
            <a:r>
              <a:rPr lang="nn-NO" dirty="0">
                <a:solidFill>
                  <a:srgbClr val="0000FF"/>
                </a:solidFill>
                <a:latin typeface="Consolas" panose="020B0609020204030204" pitchFamily="49" charset="0"/>
              </a:rPr>
              <a:t>   for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 (i = </a:t>
            </a:r>
            <a:r>
              <a:rPr lang="nn-NO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; i &lt;= </a:t>
            </a:r>
            <a:r>
              <a:rPr lang="nn-NO" dirty="0">
                <a:solidFill>
                  <a:srgbClr val="09885A"/>
                </a:solidFill>
                <a:latin typeface="Consolas" panose="020B0609020204030204" pitchFamily="49" charset="0"/>
              </a:rPr>
              <a:t>3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; i++) { </a:t>
            </a:r>
          </a:p>
          <a:p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    	printf(</a:t>
            </a:r>
            <a:r>
              <a:rPr lang="nn-NO" dirty="0">
                <a:solidFill>
                  <a:srgbClr val="A31515"/>
                </a:solidFill>
                <a:latin typeface="Consolas" panose="020B0609020204030204" pitchFamily="49" charset="0"/>
              </a:rPr>
              <a:t>"OLA\n"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</a:p>
          <a:p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Retângulo 6"/>
          <p:cNvSpPr/>
          <p:nvPr/>
        </p:nvSpPr>
        <p:spPr>
          <a:xfrm>
            <a:off x="4007768" y="4998075"/>
            <a:ext cx="4158208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nn-NO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 main() {</a:t>
            </a:r>
          </a:p>
          <a:p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   setlocale(LC_ALL, </a:t>
            </a:r>
            <a:r>
              <a:rPr lang="nn-NO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nn-NO" dirty="0">
                <a:solidFill>
                  <a:srgbClr val="0000FF"/>
                </a:solidFill>
                <a:latin typeface="Consolas" panose="020B0609020204030204" pitchFamily="49" charset="0"/>
              </a:rPr>
              <a:t>   int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 i;</a:t>
            </a:r>
          </a:p>
          <a:p>
            <a:r>
              <a:rPr lang="nn-NO" dirty="0">
                <a:solidFill>
                  <a:srgbClr val="0000FF"/>
                </a:solidFill>
                <a:latin typeface="Consolas" panose="020B0609020204030204" pitchFamily="49" charset="0"/>
              </a:rPr>
              <a:t>   for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 (i = </a:t>
            </a:r>
            <a:r>
              <a:rPr lang="nn-NO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; i &lt;= </a:t>
            </a:r>
            <a:r>
              <a:rPr lang="nn-NO" dirty="0">
                <a:solidFill>
                  <a:srgbClr val="09885A"/>
                </a:solidFill>
                <a:latin typeface="Consolas" panose="020B0609020204030204" pitchFamily="49" charset="0"/>
              </a:rPr>
              <a:t>3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; i++)  </a:t>
            </a:r>
          </a:p>
          <a:p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    	printf(</a:t>
            </a:r>
            <a:r>
              <a:rPr lang="nn-NO" dirty="0">
                <a:solidFill>
                  <a:srgbClr val="A31515"/>
                </a:solidFill>
                <a:latin typeface="Consolas" panose="020B0609020204030204" pitchFamily="49" charset="0"/>
              </a:rPr>
              <a:t>"OLA\n"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5864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FOR - Praticando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Qual seria o valor de i ao ser exibido no final do código:</a:t>
            </a:r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i é 4 (Pois foi a condição de saída 4 &lt;= 3)</a:t>
            </a:r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1800" dirty="0"/>
          </a:p>
        </p:txBody>
      </p:sp>
      <p:sp>
        <p:nvSpPr>
          <p:cNvPr id="4" name="Retângulo 3"/>
          <p:cNvSpPr/>
          <p:nvPr/>
        </p:nvSpPr>
        <p:spPr>
          <a:xfrm>
            <a:off x="3810000" y="2708920"/>
            <a:ext cx="4572000" cy="23083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nn-NO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 main() {</a:t>
            </a:r>
          </a:p>
          <a:p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   setlocale(LC_ALL, </a:t>
            </a:r>
            <a:r>
              <a:rPr lang="nn-NO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nn-NO" dirty="0">
                <a:solidFill>
                  <a:srgbClr val="0000FF"/>
                </a:solidFill>
                <a:latin typeface="Consolas" panose="020B0609020204030204" pitchFamily="49" charset="0"/>
              </a:rPr>
              <a:t>   int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 i;</a:t>
            </a:r>
          </a:p>
          <a:p>
            <a:r>
              <a:rPr lang="nn-NO" dirty="0">
                <a:solidFill>
                  <a:srgbClr val="0000FF"/>
                </a:solidFill>
                <a:latin typeface="Consolas" panose="020B0609020204030204" pitchFamily="49" charset="0"/>
              </a:rPr>
              <a:t>   for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 (i = </a:t>
            </a:r>
            <a:r>
              <a:rPr lang="nn-NO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; i &lt;= </a:t>
            </a:r>
            <a:r>
              <a:rPr lang="nn-NO" dirty="0">
                <a:solidFill>
                  <a:srgbClr val="09885A"/>
                </a:solidFill>
                <a:latin typeface="Consolas" panose="020B0609020204030204" pitchFamily="49" charset="0"/>
              </a:rPr>
              <a:t>3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; i++) </a:t>
            </a:r>
          </a:p>
          <a:p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	printf(</a:t>
            </a:r>
            <a:r>
              <a:rPr lang="nn-NO" dirty="0">
                <a:solidFill>
                  <a:srgbClr val="A31515"/>
                </a:solidFill>
                <a:latin typeface="Consolas" panose="020B0609020204030204" pitchFamily="49" charset="0"/>
              </a:rPr>
              <a:t>"OLA\n"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</a:p>
          <a:p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   printf(</a:t>
            </a:r>
            <a:r>
              <a:rPr lang="nn-NO" dirty="0">
                <a:solidFill>
                  <a:srgbClr val="A31515"/>
                </a:solidFill>
                <a:latin typeface="Consolas" panose="020B0609020204030204" pitchFamily="49" charset="0"/>
              </a:rPr>
              <a:t>"%d"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, i);</a:t>
            </a:r>
          </a:p>
          <a:p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78198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FOR - Praticando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Crie um algoritmo que exiba todos os números de 1 a 1000:</a:t>
            </a:r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1800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3833" y="2839428"/>
            <a:ext cx="2707953" cy="3735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865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FOR - Praticando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Código:</a:t>
            </a:r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marL="109728" indent="0" algn="just">
              <a:buNone/>
            </a:pPr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1800" dirty="0"/>
          </a:p>
        </p:txBody>
      </p:sp>
      <p:sp>
        <p:nvSpPr>
          <p:cNvPr id="4" name="Retângulo 3"/>
          <p:cNvSpPr/>
          <p:nvPr/>
        </p:nvSpPr>
        <p:spPr>
          <a:xfrm>
            <a:off x="3791744" y="2934652"/>
            <a:ext cx="4014192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nn-NO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 main() {</a:t>
            </a:r>
          </a:p>
          <a:p>
            <a:r>
              <a:rPr lang="nn-NO" dirty="0">
                <a:solidFill>
                  <a:srgbClr val="0000FF"/>
                </a:solidFill>
                <a:latin typeface="Consolas" panose="020B0609020204030204" pitchFamily="49" charset="0"/>
              </a:rPr>
              <a:t>   int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 i;</a:t>
            </a:r>
          </a:p>
          <a:p>
            <a:r>
              <a:rPr lang="nn-NO" dirty="0">
                <a:solidFill>
                  <a:srgbClr val="0000FF"/>
                </a:solidFill>
                <a:latin typeface="Consolas" panose="020B0609020204030204" pitchFamily="49" charset="0"/>
              </a:rPr>
              <a:t>   for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 (i = </a:t>
            </a:r>
            <a:r>
              <a:rPr lang="nn-NO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; i &lt;= </a:t>
            </a:r>
            <a:r>
              <a:rPr lang="nn-NO" dirty="0">
                <a:solidFill>
                  <a:srgbClr val="09885A"/>
                </a:solidFill>
                <a:latin typeface="Consolas" panose="020B0609020204030204" pitchFamily="49" charset="0"/>
              </a:rPr>
              <a:t>1000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; i++)</a:t>
            </a:r>
          </a:p>
          <a:p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	printf(</a:t>
            </a:r>
            <a:r>
              <a:rPr lang="nn-NO" dirty="0">
                <a:solidFill>
                  <a:srgbClr val="A31515"/>
                </a:solidFill>
                <a:latin typeface="Consolas" panose="020B0609020204030204" pitchFamily="49" charset="0"/>
              </a:rPr>
              <a:t>"%d\n"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, i);</a:t>
            </a:r>
          </a:p>
          <a:p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36946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FOR - Praticando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Crie um algoritmo que exiba os valores 10 a 1, pulando 3 números:</a:t>
            </a:r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1800" dirty="0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9776" y="2852936"/>
            <a:ext cx="4381500" cy="268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574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FOR - Praticando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Código:</a:t>
            </a:r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marL="109728" indent="0" algn="just">
              <a:buNone/>
            </a:pPr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1800" dirty="0"/>
          </a:p>
        </p:txBody>
      </p:sp>
      <p:sp>
        <p:nvSpPr>
          <p:cNvPr id="7" name="Retângulo 6"/>
          <p:cNvSpPr/>
          <p:nvPr/>
        </p:nvSpPr>
        <p:spPr>
          <a:xfrm>
            <a:off x="3810000" y="2690336"/>
            <a:ext cx="4158208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nn-NO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 main() {</a:t>
            </a:r>
          </a:p>
          <a:p>
            <a:r>
              <a:rPr lang="nn-NO" dirty="0">
                <a:solidFill>
                  <a:srgbClr val="0000FF"/>
                </a:solidFill>
                <a:latin typeface="Consolas" panose="020B0609020204030204" pitchFamily="49" charset="0"/>
              </a:rPr>
              <a:t>   int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 i;</a:t>
            </a:r>
          </a:p>
          <a:p>
            <a:r>
              <a:rPr lang="nn-NO" dirty="0">
                <a:solidFill>
                  <a:srgbClr val="0000FF"/>
                </a:solidFill>
                <a:latin typeface="Consolas" panose="020B0609020204030204" pitchFamily="49" charset="0"/>
              </a:rPr>
              <a:t>   for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 (i = </a:t>
            </a:r>
            <a:r>
              <a:rPr lang="nn-NO" dirty="0">
                <a:solidFill>
                  <a:srgbClr val="09885A"/>
                </a:solidFill>
                <a:latin typeface="Consolas" panose="020B0609020204030204" pitchFamily="49" charset="0"/>
              </a:rPr>
              <a:t>10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; i &gt;= </a:t>
            </a:r>
            <a:r>
              <a:rPr lang="nn-NO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; i -= </a:t>
            </a:r>
            <a:r>
              <a:rPr lang="nn-NO" dirty="0">
                <a:solidFill>
                  <a:srgbClr val="09885A"/>
                </a:solidFill>
                <a:latin typeface="Consolas" panose="020B0609020204030204" pitchFamily="49" charset="0"/>
              </a:rPr>
              <a:t>3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	printf(</a:t>
            </a:r>
            <a:r>
              <a:rPr lang="nn-NO" dirty="0">
                <a:solidFill>
                  <a:srgbClr val="A31515"/>
                </a:solidFill>
                <a:latin typeface="Consolas" panose="020B0609020204030204" pitchFamily="49" charset="0"/>
              </a:rPr>
              <a:t>"%d\n"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, i);</a:t>
            </a:r>
          </a:p>
          <a:p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14664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FOR - Praticando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Exiba a tabuada de 1 a 3:</a:t>
            </a:r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Dica: FOR dentro de outro FOR</a:t>
            </a:r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1800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6676" y="97536"/>
            <a:ext cx="2524125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5578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FOR - Praticando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Código:</a:t>
            </a:r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marL="109728" indent="0" algn="just">
              <a:buNone/>
            </a:pPr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1800" dirty="0"/>
          </a:p>
        </p:txBody>
      </p:sp>
      <p:sp>
        <p:nvSpPr>
          <p:cNvPr id="5" name="Retângulo 4"/>
          <p:cNvSpPr/>
          <p:nvPr/>
        </p:nvSpPr>
        <p:spPr>
          <a:xfrm>
            <a:off x="2999657" y="2881218"/>
            <a:ext cx="6482355" cy="36933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setlocale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(LC_ALL,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i, j;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for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(i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 i &lt;=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3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 i++) { 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//tabuada de 1 a 3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"Tabuada de %d: 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i);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	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	for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(j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 j &lt;=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 j++) { 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    </a:t>
            </a:r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//multiplicação de 1 a 10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 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"%d x %d = %d\n"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i, j, i*j);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}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67673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o">
  <a:themeElements>
    <a:clrScheme name="Urbano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Urbano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Urbano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BB18BA9D9AB6240B5154E147FB65CD8" ma:contentTypeVersion="4" ma:contentTypeDescription="Crie um novo documento." ma:contentTypeScope="" ma:versionID="d137e2844ba62bc793c1c8abf70138df">
  <xsd:schema xmlns:xsd="http://www.w3.org/2001/XMLSchema" xmlns:xs="http://www.w3.org/2001/XMLSchema" xmlns:p="http://schemas.microsoft.com/office/2006/metadata/properties" xmlns:ns2="374fe2b2-f112-4a7f-a75a-e4cf13299bfb" targetNamespace="http://schemas.microsoft.com/office/2006/metadata/properties" ma:root="true" ma:fieldsID="8c06492f1f7e45b2407bc3835eac0481" ns2:_="">
    <xsd:import namespace="374fe2b2-f112-4a7f-a75a-e4cf13299bf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4fe2b2-f112-4a7f-a75a-e4cf13299bf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2087454-994B-4C62-8A2A-DDDAE7FEA4DB}"/>
</file>

<file path=customXml/itemProps2.xml><?xml version="1.0" encoding="utf-8"?>
<ds:datastoreItem xmlns:ds="http://schemas.openxmlformats.org/officeDocument/2006/customXml" ds:itemID="{422C03CB-F6CE-45D1-AB9F-3B98A5BF0DE1}"/>
</file>

<file path=customXml/itemProps3.xml><?xml version="1.0" encoding="utf-8"?>
<ds:datastoreItem xmlns:ds="http://schemas.openxmlformats.org/officeDocument/2006/customXml" ds:itemID="{275613F4-4228-42E4-B25E-303A79723A4E}"/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1759</TotalTime>
  <Words>858</Words>
  <Application>Microsoft Office PowerPoint</Application>
  <PresentationFormat>Widescreen</PresentationFormat>
  <Paragraphs>209</Paragraphs>
  <Slides>17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3" baseType="lpstr">
      <vt:lpstr>Calibri</vt:lpstr>
      <vt:lpstr>Consolas</vt:lpstr>
      <vt:lpstr>Georgia</vt:lpstr>
      <vt:lpstr>Trebuchet MS</vt:lpstr>
      <vt:lpstr>Wingdings 2</vt:lpstr>
      <vt:lpstr>Urbano</vt:lpstr>
      <vt:lpstr>Laboratório de Programação I Estrutura de Repetição - FOR</vt:lpstr>
      <vt:lpstr>Problema</vt:lpstr>
      <vt:lpstr>Estrutura de Repetição </vt:lpstr>
      <vt:lpstr>Estrutura de Repetição</vt:lpstr>
      <vt:lpstr>Estrutura de Repetição FOR </vt:lpstr>
      <vt:lpstr>FOR</vt:lpstr>
      <vt:lpstr>FOR</vt:lpstr>
      <vt:lpstr>FOR</vt:lpstr>
      <vt:lpstr>FOR - Praticando</vt:lpstr>
      <vt:lpstr>FOR - Praticando</vt:lpstr>
      <vt:lpstr>FOR - Praticando</vt:lpstr>
      <vt:lpstr>FOR - Praticando</vt:lpstr>
      <vt:lpstr>FOR - Praticando</vt:lpstr>
      <vt:lpstr>FOR - Praticando</vt:lpstr>
      <vt:lpstr>FOR - Praticando</vt:lpstr>
      <vt:lpstr>FOR - Praticando</vt:lpstr>
      <vt:lpstr>FOR - Praticando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Padrões de Projeto Padrões Criacionais(Revisão)</dc:title>
  <dc:creator>Carlos W. Gama</dc:creator>
  <cp:lastModifiedBy>Carlos W. Gama</cp:lastModifiedBy>
  <cp:revision>225</cp:revision>
  <dcterms:created xsi:type="dcterms:W3CDTF">2017-03-10T13:05:03Z</dcterms:created>
  <dcterms:modified xsi:type="dcterms:W3CDTF">2024-12-05T13:52:04Z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0x0101009BB18BA9D9AB6240B5154E147FB65CD8</vt:lpwstr>
  </property>
</Properties>
</file>