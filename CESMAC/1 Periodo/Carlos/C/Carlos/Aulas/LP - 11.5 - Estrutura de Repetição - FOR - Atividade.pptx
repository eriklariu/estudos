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6"/>
  </p:notesMasterIdLst>
  <p:sldIdLst>
    <p:sldId id="256" r:id="rId2"/>
    <p:sldId id="265" r:id="rId3"/>
    <p:sldId id="345" r:id="rId4"/>
    <p:sldId id="346" r:id="rId5"/>
    <p:sldId id="347" r:id="rId6"/>
    <p:sldId id="348" r:id="rId7"/>
    <p:sldId id="349" r:id="rId8"/>
    <p:sldId id="350" r:id="rId9"/>
    <p:sldId id="352" r:id="rId10"/>
    <p:sldId id="351" r:id="rId11"/>
    <p:sldId id="353" r:id="rId12"/>
    <p:sldId id="354" r:id="rId13"/>
    <p:sldId id="355" r:id="rId14"/>
    <p:sldId id="356" r:id="rId1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2496" y="1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CD27BF-5A77-4FF9-8400-4B8E709EB083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6EFE9-8848-4E94-B2E4-46DCA18F97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7412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 22"/>
          <p:cNvSpPr/>
          <p:nvPr/>
        </p:nvSpPr>
        <p:spPr>
          <a:xfrm flipV="1">
            <a:off x="7213577" y="3810001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4" name="Retângulo 23"/>
          <p:cNvSpPr/>
          <p:nvPr/>
        </p:nvSpPr>
        <p:spPr>
          <a:xfrm flipV="1">
            <a:off x="7213601" y="3897010"/>
            <a:ext cx="49784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5" name="Retângulo 24"/>
          <p:cNvSpPr/>
          <p:nvPr/>
        </p:nvSpPr>
        <p:spPr>
          <a:xfrm flipV="1">
            <a:off x="7213601" y="4115167"/>
            <a:ext cx="49784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6" name="Retângulo 25"/>
          <p:cNvSpPr/>
          <p:nvPr/>
        </p:nvSpPr>
        <p:spPr>
          <a:xfrm flipV="1">
            <a:off x="7213600" y="4164403"/>
            <a:ext cx="262128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7" name="Retângulo 26"/>
          <p:cNvSpPr/>
          <p:nvPr/>
        </p:nvSpPr>
        <p:spPr>
          <a:xfrm flipV="1">
            <a:off x="7213600" y="4199572"/>
            <a:ext cx="262128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0" name="Retângulo de cantos arredondados 29"/>
          <p:cNvSpPr/>
          <p:nvPr/>
        </p:nvSpPr>
        <p:spPr bwMode="white">
          <a:xfrm>
            <a:off x="7213600" y="3962400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1" name="Retângulo de cantos arredondados 30"/>
          <p:cNvSpPr/>
          <p:nvPr/>
        </p:nvSpPr>
        <p:spPr bwMode="white">
          <a:xfrm>
            <a:off x="9835343" y="406098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7" name="Retângulo 6"/>
          <p:cNvSpPr/>
          <p:nvPr/>
        </p:nvSpPr>
        <p:spPr>
          <a:xfrm>
            <a:off x="1" y="3649662"/>
            <a:ext cx="12192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tângulo 9"/>
          <p:cNvSpPr/>
          <p:nvPr/>
        </p:nvSpPr>
        <p:spPr>
          <a:xfrm>
            <a:off x="1" y="3675528"/>
            <a:ext cx="12192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Retângulo 10"/>
          <p:cNvSpPr/>
          <p:nvPr/>
        </p:nvSpPr>
        <p:spPr>
          <a:xfrm flipV="1">
            <a:off x="8552068" y="3643090"/>
            <a:ext cx="3639933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9" name="Retângulo 18"/>
          <p:cNvSpPr/>
          <p:nvPr/>
        </p:nvSpPr>
        <p:spPr>
          <a:xfrm>
            <a:off x="0" y="0"/>
            <a:ext cx="12192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609600" y="2401888"/>
            <a:ext cx="112776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609600" y="3899938"/>
            <a:ext cx="6604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8940800" y="4206240"/>
            <a:ext cx="1280160" cy="457200"/>
          </a:xfrm>
        </p:spPr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7213600" y="4205288"/>
            <a:ext cx="1727200" cy="457200"/>
          </a:xfrm>
        </p:spPr>
        <p:txBody>
          <a:bodyPr/>
          <a:lstStyle/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11093451" y="1136"/>
            <a:ext cx="996949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1981201"/>
            <a:ext cx="103632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63084" y="3367088"/>
            <a:ext cx="103632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09600" y="2249425"/>
            <a:ext cx="53848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2249425"/>
            <a:ext cx="53848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08000" y="1143000"/>
            <a:ext cx="11176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08000" y="2244970"/>
            <a:ext cx="5388864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6294968" y="2244970"/>
            <a:ext cx="5389033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508000" y="2708519"/>
            <a:ext cx="5388864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291073" y="2708519"/>
            <a:ext cx="5389033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26" name="Espaço Reservado para Data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28" name="Espaço Reservado para Rodapé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8778240" y="612648"/>
            <a:ext cx="1276352" cy="457200"/>
          </a:xfrm>
        </p:spPr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7010400" y="612648"/>
            <a:ext cx="1767840" cy="457200"/>
          </a:xfr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10899648" y="2272"/>
            <a:ext cx="1016000" cy="365760"/>
          </a:xfrm>
        </p:spPr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137995" y="1101970"/>
            <a:ext cx="451104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7137995" y="2010727"/>
            <a:ext cx="451104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203200" y="776287"/>
            <a:ext cx="6803136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53913" y="1109161"/>
            <a:ext cx="782404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38228" y="1143000"/>
            <a:ext cx="6096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/>
              <a:t>Clique no ícone para adicionar uma imagem</a:t>
            </a:r>
            <a:endParaRPr kumimoji="0"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117924" y="3274309"/>
            <a:ext cx="34544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9042400" y="1143000"/>
            <a:ext cx="2540000" cy="5486400"/>
          </a:xfrm>
        </p:spPr>
        <p:txBody>
          <a:bodyPr vert="eaVert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1143000"/>
            <a:ext cx="8331200" cy="5486400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tângulo 27"/>
          <p:cNvSpPr/>
          <p:nvPr/>
        </p:nvSpPr>
        <p:spPr>
          <a:xfrm>
            <a:off x="1" y="366819"/>
            <a:ext cx="12192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9" name="Retângulo 28"/>
          <p:cNvSpPr/>
          <p:nvPr/>
        </p:nvSpPr>
        <p:spPr>
          <a:xfrm>
            <a:off x="0" y="-1"/>
            <a:ext cx="12192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0" name="Retângulo 29"/>
          <p:cNvSpPr/>
          <p:nvPr/>
        </p:nvSpPr>
        <p:spPr>
          <a:xfrm>
            <a:off x="1" y="308277"/>
            <a:ext cx="12192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1" name="Retângulo 30"/>
          <p:cNvSpPr/>
          <p:nvPr/>
        </p:nvSpPr>
        <p:spPr>
          <a:xfrm flipV="1">
            <a:off x="7213577" y="360247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tângulo 31"/>
          <p:cNvSpPr/>
          <p:nvPr/>
        </p:nvSpPr>
        <p:spPr>
          <a:xfrm flipV="1">
            <a:off x="7213601" y="440113"/>
            <a:ext cx="49784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3" name="Retângulo de cantos arredondados 32"/>
          <p:cNvSpPr/>
          <p:nvPr/>
        </p:nvSpPr>
        <p:spPr bwMode="white">
          <a:xfrm>
            <a:off x="7209785" y="497504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4" name="Retângulo de cantos arredondados 33"/>
          <p:cNvSpPr/>
          <p:nvPr/>
        </p:nvSpPr>
        <p:spPr bwMode="white">
          <a:xfrm>
            <a:off x="9831528" y="58894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5" name="Retângulo 34"/>
          <p:cNvSpPr/>
          <p:nvPr/>
        </p:nvSpPr>
        <p:spPr bwMode="invGray">
          <a:xfrm>
            <a:off x="12113288" y="-2001"/>
            <a:ext cx="76835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6" name="Retângulo 35"/>
          <p:cNvSpPr/>
          <p:nvPr/>
        </p:nvSpPr>
        <p:spPr bwMode="invGray">
          <a:xfrm>
            <a:off x="12059308" y="-2001"/>
            <a:ext cx="3657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7" name="Retângulo 36"/>
          <p:cNvSpPr/>
          <p:nvPr/>
        </p:nvSpPr>
        <p:spPr bwMode="invGray">
          <a:xfrm>
            <a:off x="12033904" y="-2001"/>
            <a:ext cx="12192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8" name="Retângulo 37"/>
          <p:cNvSpPr/>
          <p:nvPr/>
        </p:nvSpPr>
        <p:spPr bwMode="invGray">
          <a:xfrm>
            <a:off x="11967231" y="-2001"/>
            <a:ext cx="36576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9" name="Retângulo 38"/>
          <p:cNvSpPr/>
          <p:nvPr/>
        </p:nvSpPr>
        <p:spPr bwMode="invGray">
          <a:xfrm>
            <a:off x="11887569" y="380"/>
            <a:ext cx="73152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40" name="Retângulo 39"/>
          <p:cNvSpPr/>
          <p:nvPr/>
        </p:nvSpPr>
        <p:spPr bwMode="invGray">
          <a:xfrm>
            <a:off x="11831300" y="380"/>
            <a:ext cx="12192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09600" y="2249424"/>
            <a:ext cx="109728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8782048" y="612648"/>
            <a:ext cx="1276352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pt-BR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10899648" y="2272"/>
            <a:ext cx="1016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51384" y="1412777"/>
            <a:ext cx="11233248" cy="2187674"/>
          </a:xfrm>
        </p:spPr>
        <p:txBody>
          <a:bodyPr>
            <a:noAutofit/>
          </a:bodyPr>
          <a:lstStyle/>
          <a:p>
            <a:r>
              <a:rPr lang="pt-BR" sz="6000" dirty="0"/>
              <a:t>Laboratório de Programação I</a:t>
            </a:r>
            <a:br>
              <a:rPr lang="pt-BR" sz="6000" dirty="0"/>
            </a:br>
            <a:r>
              <a:rPr lang="pt-BR" dirty="0"/>
              <a:t>Estrutura de Repetição - FOR</a:t>
            </a:r>
            <a:endParaRPr lang="pt-BR" sz="32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207568" y="5301208"/>
            <a:ext cx="6400800" cy="1104528"/>
          </a:xfrm>
        </p:spPr>
        <p:txBody>
          <a:bodyPr/>
          <a:lstStyle/>
          <a:p>
            <a:pPr algn="l"/>
            <a:r>
              <a:rPr lang="pt-BR" dirty="0"/>
              <a:t>Professor: Carlos Alberto</a:t>
            </a:r>
          </a:p>
          <a:p>
            <a:pPr algn="l"/>
            <a:r>
              <a:rPr lang="pt-BR" dirty="0" err="1"/>
              <a:t>Email</a:t>
            </a:r>
            <a:r>
              <a:rPr lang="pt-BR" dirty="0"/>
              <a:t>: carloswgama@gmail.com</a:t>
            </a:r>
          </a:p>
        </p:txBody>
      </p:sp>
    </p:spTree>
    <p:extLst>
      <p:ext uri="{BB962C8B-B14F-4D97-AF65-F5344CB8AC3E}">
        <p14:creationId xmlns:p14="http://schemas.microsoft.com/office/powerpoint/2010/main" val="3054800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81200" y="1143000"/>
            <a:ext cx="8229600" cy="5022304"/>
          </a:xfrm>
        </p:spPr>
        <p:txBody>
          <a:bodyPr>
            <a:normAutofit/>
          </a:bodyPr>
          <a:lstStyle/>
          <a:p>
            <a:pPr algn="ctr"/>
            <a:r>
              <a:rPr lang="pt-BR" sz="6000" dirty="0"/>
              <a:t>Atividade</a:t>
            </a:r>
            <a:br>
              <a:rPr lang="pt-BR" sz="6000" dirty="0"/>
            </a:br>
            <a:r>
              <a:rPr lang="pt-BR" sz="6000" dirty="0"/>
              <a:t>Estrutura de Repetição</a:t>
            </a:r>
            <a:br>
              <a:rPr lang="pt-BR" sz="6000" dirty="0"/>
            </a:br>
            <a:r>
              <a:rPr lang="pt-BR" sz="6000" dirty="0"/>
              <a:t>FOR</a:t>
            </a:r>
          </a:p>
        </p:txBody>
      </p:sp>
    </p:spTree>
    <p:extLst>
      <p:ext uri="{BB962C8B-B14F-4D97-AF65-F5344CB8AC3E}">
        <p14:creationId xmlns:p14="http://schemas.microsoft.com/office/powerpoint/2010/main" val="935046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01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Crie um algoritmo que deve receber um valor informado pelo usuário.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E exibir todos os números ímpares de 1 até esse numero. </a:t>
            </a:r>
          </a:p>
          <a:p>
            <a:pPr algn="just"/>
            <a:endParaRPr lang="pt-BR" sz="1800" dirty="0"/>
          </a:p>
          <a:p>
            <a:pPr algn="just"/>
            <a:endParaRPr lang="pt-BR" sz="2000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1784" y="3933057"/>
            <a:ext cx="3390900" cy="204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61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01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Código:</a:t>
            </a:r>
          </a:p>
          <a:p>
            <a:pPr algn="just"/>
            <a:endParaRPr lang="pt-BR" sz="1800" dirty="0"/>
          </a:p>
          <a:p>
            <a:pPr algn="just"/>
            <a:endParaRPr lang="pt-BR" sz="2000" dirty="0"/>
          </a:p>
        </p:txBody>
      </p:sp>
      <p:sp>
        <p:nvSpPr>
          <p:cNvPr id="6" name="Retângulo 5"/>
          <p:cNvSpPr/>
          <p:nvPr/>
        </p:nvSpPr>
        <p:spPr>
          <a:xfrm>
            <a:off x="3647728" y="2636913"/>
            <a:ext cx="4572000" cy="31393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setlocale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(LC_ALL,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i, n;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"Digite um número: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&amp;n);</a:t>
            </a:r>
          </a:p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(i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i &lt;= n; i++) {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(i %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//É impar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 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i);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76971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02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51384" y="2279340"/>
            <a:ext cx="11089232" cy="4325112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Crie um algoritmo que deverá receber o </a:t>
            </a:r>
            <a:r>
              <a:rPr lang="pt-BR" sz="2000" u="sng" dirty="0"/>
              <a:t>preço de um produto</a:t>
            </a:r>
            <a:r>
              <a:rPr lang="pt-BR" sz="2000" dirty="0"/>
              <a:t> e em </a:t>
            </a:r>
            <a:r>
              <a:rPr lang="pt-BR" sz="2000" u="sng" dirty="0"/>
              <a:t>quantas parcelas</a:t>
            </a:r>
            <a:r>
              <a:rPr lang="pt-BR" sz="2000" dirty="0"/>
              <a:t> o usuário deseja pagar. 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Por fim exiba o preço de cada parcela, sabendo que a cada parcela será adicionado 2% de juros a mais da anterior.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Parcela 1 – Preço da parcela + 0% do Preço da parcela</a:t>
            </a:r>
          </a:p>
          <a:p>
            <a:pPr algn="just"/>
            <a:r>
              <a:rPr lang="pt-BR" sz="2000" dirty="0"/>
              <a:t>Parcela 2 - Preço da parcela + 2% do Preço da parcela</a:t>
            </a:r>
          </a:p>
          <a:p>
            <a:pPr algn="just"/>
            <a:r>
              <a:rPr lang="pt-BR" sz="2000" dirty="0"/>
              <a:t>Parcela 3 - Preço da parcela + 4% do Preço da parcela</a:t>
            </a:r>
          </a:p>
          <a:p>
            <a:pPr algn="just"/>
            <a:endParaRPr lang="pt-BR" sz="1800" dirty="0"/>
          </a:p>
          <a:p>
            <a:pPr algn="just"/>
            <a:endParaRPr lang="pt-BR" sz="2000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5880" y="275696"/>
            <a:ext cx="5364088" cy="2003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596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02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72471" y="2279340"/>
            <a:ext cx="8229600" cy="4325112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Código:</a:t>
            </a:r>
          </a:p>
          <a:p>
            <a:pPr algn="just"/>
            <a:endParaRPr lang="pt-BR" sz="1800" dirty="0"/>
          </a:p>
          <a:p>
            <a:pPr algn="just"/>
            <a:endParaRPr lang="pt-BR" sz="2000" dirty="0"/>
          </a:p>
        </p:txBody>
      </p:sp>
      <p:sp>
        <p:nvSpPr>
          <p:cNvPr id="4" name="Retângulo 3"/>
          <p:cNvSpPr/>
          <p:nvPr/>
        </p:nvSpPr>
        <p:spPr>
          <a:xfrm>
            <a:off x="1703512" y="1143001"/>
            <a:ext cx="8784976" cy="532453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sz="17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7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700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sz="17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sz="17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sz="1700" dirty="0" err="1">
                <a:solidFill>
                  <a:srgbClr val="000000"/>
                </a:solidFill>
                <a:latin typeface="Consolas" panose="020B0609020204030204" pitchFamily="49" charset="0"/>
              </a:rPr>
              <a:t>setlocale</a:t>
            </a:r>
            <a:r>
              <a:rPr lang="pt-BR" sz="1700" dirty="0">
                <a:solidFill>
                  <a:srgbClr val="000000"/>
                </a:solidFill>
                <a:latin typeface="Consolas" panose="020B0609020204030204" pitchFamily="49" charset="0"/>
              </a:rPr>
              <a:t>(LC_ALL, </a:t>
            </a:r>
            <a:r>
              <a:rPr lang="pt-BR" sz="1700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pt-BR" sz="17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700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sz="17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700" dirty="0">
                <a:solidFill>
                  <a:srgbClr val="000000"/>
                </a:solidFill>
                <a:latin typeface="Consolas" panose="020B0609020204030204" pitchFamily="49" charset="0"/>
              </a:rPr>
              <a:t> i, parcelas;</a:t>
            </a:r>
          </a:p>
          <a:p>
            <a:r>
              <a:rPr lang="pt-BR" sz="1700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sz="1700" dirty="0" err="1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pt-BR" sz="1700" dirty="0">
                <a:solidFill>
                  <a:srgbClr val="000000"/>
                </a:solidFill>
                <a:latin typeface="Consolas" panose="020B0609020204030204" pitchFamily="49" charset="0"/>
              </a:rPr>
              <a:t> produto, </a:t>
            </a:r>
            <a:r>
              <a:rPr lang="pt-BR" sz="1700" dirty="0" err="1">
                <a:solidFill>
                  <a:srgbClr val="000000"/>
                </a:solidFill>
                <a:latin typeface="Consolas" panose="020B0609020204030204" pitchFamily="49" charset="0"/>
              </a:rPr>
              <a:t>precoParcela</a:t>
            </a:r>
            <a:r>
              <a:rPr lang="pt-BR" sz="1700" dirty="0">
                <a:solidFill>
                  <a:srgbClr val="000000"/>
                </a:solidFill>
                <a:latin typeface="Consolas" panose="020B0609020204030204" pitchFamily="49" charset="0"/>
              </a:rPr>
              <a:t>, juros;</a:t>
            </a:r>
          </a:p>
          <a:p>
            <a:br>
              <a:rPr lang="pt-BR" sz="17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7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sz="17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7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700" dirty="0">
                <a:solidFill>
                  <a:srgbClr val="A31515"/>
                </a:solidFill>
                <a:latin typeface="Consolas" panose="020B0609020204030204" pitchFamily="49" charset="0"/>
              </a:rPr>
              <a:t>"Digite o preço do produto: "</a:t>
            </a:r>
            <a:r>
              <a:rPr lang="pt-BR" sz="17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7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sz="1700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sz="17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700" dirty="0">
                <a:solidFill>
                  <a:srgbClr val="A31515"/>
                </a:solidFill>
                <a:latin typeface="Consolas" panose="020B0609020204030204" pitchFamily="49" charset="0"/>
              </a:rPr>
              <a:t>"%f"</a:t>
            </a:r>
            <a:r>
              <a:rPr lang="pt-BR" sz="1700" dirty="0">
                <a:solidFill>
                  <a:srgbClr val="000000"/>
                </a:solidFill>
                <a:latin typeface="Consolas" panose="020B0609020204030204" pitchFamily="49" charset="0"/>
              </a:rPr>
              <a:t>, &amp;produto);</a:t>
            </a:r>
          </a:p>
          <a:p>
            <a:br>
              <a:rPr lang="pt-BR" sz="17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7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sz="17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7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700" dirty="0">
                <a:solidFill>
                  <a:srgbClr val="A31515"/>
                </a:solidFill>
                <a:latin typeface="Consolas" panose="020B0609020204030204" pitchFamily="49" charset="0"/>
              </a:rPr>
              <a:t>"Digite quantas parcelas deseja pagar: "</a:t>
            </a:r>
            <a:r>
              <a:rPr lang="pt-BR" sz="17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7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sz="1700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sz="17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700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sz="1700" dirty="0">
                <a:solidFill>
                  <a:srgbClr val="000000"/>
                </a:solidFill>
                <a:latin typeface="Consolas" panose="020B0609020204030204" pitchFamily="49" charset="0"/>
              </a:rPr>
              <a:t>, &amp;parcelas);</a:t>
            </a:r>
          </a:p>
          <a:p>
            <a:br>
              <a:rPr lang="pt-BR" sz="17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7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sz="1700" dirty="0">
                <a:solidFill>
                  <a:srgbClr val="008000"/>
                </a:solidFill>
                <a:latin typeface="Consolas" panose="020B0609020204030204" pitchFamily="49" charset="0"/>
              </a:rPr>
              <a:t>//Descubro preço da parcela</a:t>
            </a:r>
            <a:endParaRPr lang="pt-BR" sz="17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7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sz="1700" dirty="0" err="1">
                <a:solidFill>
                  <a:srgbClr val="000000"/>
                </a:solidFill>
                <a:latin typeface="Consolas" panose="020B0609020204030204" pitchFamily="49" charset="0"/>
              </a:rPr>
              <a:t>precoParcela</a:t>
            </a:r>
            <a:r>
              <a:rPr lang="pt-BR" sz="1700" dirty="0">
                <a:solidFill>
                  <a:srgbClr val="000000"/>
                </a:solidFill>
                <a:latin typeface="Consolas" panose="020B0609020204030204" pitchFamily="49" charset="0"/>
              </a:rPr>
              <a:t> = produto / parcelas;</a:t>
            </a:r>
          </a:p>
          <a:p>
            <a:br>
              <a:rPr lang="pt-BR" sz="17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7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sz="17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pt-BR" sz="1700" dirty="0">
                <a:solidFill>
                  <a:srgbClr val="000000"/>
                </a:solidFill>
                <a:latin typeface="Consolas" panose="020B0609020204030204" pitchFamily="49" charset="0"/>
              </a:rPr>
              <a:t> (i = </a:t>
            </a:r>
            <a:r>
              <a:rPr lang="pt-BR" sz="17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sz="1700" dirty="0">
                <a:solidFill>
                  <a:srgbClr val="000000"/>
                </a:solidFill>
                <a:latin typeface="Consolas" panose="020B0609020204030204" pitchFamily="49" charset="0"/>
              </a:rPr>
              <a:t>; i &lt; parcelas; i++) {</a:t>
            </a:r>
          </a:p>
          <a:p>
            <a:r>
              <a:rPr lang="pt-BR" sz="1700" dirty="0">
                <a:solidFill>
                  <a:srgbClr val="008000"/>
                </a:solidFill>
                <a:latin typeface="Consolas" panose="020B0609020204030204" pitchFamily="49" charset="0"/>
              </a:rPr>
              <a:t> 	//Descubro Preço do juros na parcela</a:t>
            </a:r>
            <a:endParaRPr lang="pt-BR" sz="17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700" dirty="0">
                <a:solidFill>
                  <a:srgbClr val="000000"/>
                </a:solidFill>
                <a:latin typeface="Consolas" panose="020B0609020204030204" pitchFamily="49" charset="0"/>
              </a:rPr>
              <a:t>	juros = ((i-</a:t>
            </a:r>
            <a:r>
              <a:rPr lang="pt-BR" sz="17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sz="1700" dirty="0">
                <a:solidFill>
                  <a:srgbClr val="000000"/>
                </a:solidFill>
                <a:latin typeface="Consolas" panose="020B0609020204030204" pitchFamily="49" charset="0"/>
              </a:rPr>
              <a:t>) * </a:t>
            </a:r>
            <a:r>
              <a:rPr lang="pt-BR" sz="1700" dirty="0">
                <a:solidFill>
                  <a:srgbClr val="09885A"/>
                </a:solidFill>
                <a:latin typeface="Consolas" panose="020B0609020204030204" pitchFamily="49" charset="0"/>
              </a:rPr>
              <a:t>0.02</a:t>
            </a:r>
            <a:r>
              <a:rPr lang="pt-BR" sz="1700" dirty="0">
                <a:solidFill>
                  <a:srgbClr val="000000"/>
                </a:solidFill>
                <a:latin typeface="Consolas" panose="020B0609020204030204" pitchFamily="49" charset="0"/>
              </a:rPr>
              <a:t>) * </a:t>
            </a:r>
            <a:r>
              <a:rPr lang="pt-BR" sz="1700" dirty="0" err="1">
                <a:solidFill>
                  <a:srgbClr val="000000"/>
                </a:solidFill>
                <a:latin typeface="Consolas" panose="020B0609020204030204" pitchFamily="49" charset="0"/>
              </a:rPr>
              <a:t>precoParcela</a:t>
            </a:r>
            <a:r>
              <a:rPr lang="pt-BR" sz="17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7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sz="17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7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700" dirty="0">
                <a:solidFill>
                  <a:srgbClr val="A31515"/>
                </a:solidFill>
                <a:latin typeface="Consolas" panose="020B0609020204030204" pitchFamily="49" charset="0"/>
              </a:rPr>
              <a:t>"Parcela %d - R$%.2f \n"</a:t>
            </a:r>
            <a:r>
              <a:rPr lang="pt-BR" sz="1700" dirty="0">
                <a:solidFill>
                  <a:srgbClr val="000000"/>
                </a:solidFill>
                <a:latin typeface="Consolas" panose="020B0609020204030204" pitchFamily="49" charset="0"/>
              </a:rPr>
              <a:t>, (i+</a:t>
            </a:r>
            <a:r>
              <a:rPr lang="pt-BR" sz="17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sz="1700" dirty="0">
                <a:solidFill>
                  <a:srgbClr val="000000"/>
                </a:solidFill>
                <a:latin typeface="Consolas" panose="020B0609020204030204" pitchFamily="49" charset="0"/>
              </a:rPr>
              <a:t>), </a:t>
            </a:r>
            <a:r>
              <a:rPr lang="pt-BR" sz="1700" dirty="0" err="1">
                <a:solidFill>
                  <a:srgbClr val="000000"/>
                </a:solidFill>
                <a:latin typeface="Consolas" panose="020B0609020204030204" pitchFamily="49" charset="0"/>
              </a:rPr>
              <a:t>precoParcela</a:t>
            </a:r>
            <a:r>
              <a:rPr lang="pt-BR" sz="1700" dirty="0">
                <a:solidFill>
                  <a:srgbClr val="000000"/>
                </a:solidFill>
                <a:latin typeface="Consolas" panose="020B0609020204030204" pitchFamily="49" charset="0"/>
              </a:rPr>
              <a:t> + juros);</a:t>
            </a:r>
          </a:p>
          <a:p>
            <a:r>
              <a:rPr lang="pt-BR" sz="1700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pt-BR" sz="17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27787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03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9376" y="2279340"/>
            <a:ext cx="11593288" cy="4325112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Crie um algoritmo que receba o ano que a pessoa nasceu;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Informe quantos dias a pessoa já viveu considerando anos completos (Ignore diferença de dias e meses)</a:t>
            </a:r>
          </a:p>
          <a:p>
            <a:pPr algn="just"/>
            <a:endParaRPr lang="pt-BR" sz="1800" dirty="0"/>
          </a:p>
          <a:p>
            <a:pPr algn="just"/>
            <a:r>
              <a:rPr lang="pt-BR" sz="1800" dirty="0"/>
              <a:t>Se o ano for bissexto (É divisível por 4, mas não por 100) leve em consideração 366 dias, senão 365</a:t>
            </a:r>
          </a:p>
          <a:p>
            <a:pPr algn="just"/>
            <a:endParaRPr lang="pt-BR" sz="1800" dirty="0"/>
          </a:p>
          <a:p>
            <a:pPr algn="just"/>
            <a:r>
              <a:rPr lang="pt-BR" sz="1800" dirty="0"/>
              <a:t>Exemplo:</a:t>
            </a:r>
          </a:p>
          <a:p>
            <a:pPr lvl="1" algn="just"/>
            <a:r>
              <a:rPr lang="pt-BR" sz="1600" dirty="0"/>
              <a:t>2015 (+365)</a:t>
            </a:r>
          </a:p>
          <a:p>
            <a:pPr lvl="1" algn="just"/>
            <a:r>
              <a:rPr lang="pt-BR" sz="1600" b="1" dirty="0"/>
              <a:t>2016 (+366)</a:t>
            </a:r>
          </a:p>
          <a:p>
            <a:pPr lvl="1" algn="just"/>
            <a:r>
              <a:rPr lang="pt-BR" sz="1600" dirty="0"/>
              <a:t>2017 (+365)</a:t>
            </a:r>
          </a:p>
          <a:p>
            <a:pPr lvl="1" algn="just"/>
            <a:r>
              <a:rPr lang="pt-BR" sz="1600" dirty="0"/>
              <a:t>2018 (+365)</a:t>
            </a:r>
          </a:p>
          <a:p>
            <a:pPr algn="just"/>
            <a:endParaRPr lang="pt-BR" sz="2000" dirty="0"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1944" y="990600"/>
            <a:ext cx="42291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4322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03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72471" y="2279340"/>
            <a:ext cx="8229600" cy="4325112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Código:</a:t>
            </a:r>
          </a:p>
          <a:p>
            <a:pPr algn="just"/>
            <a:endParaRPr lang="pt-BR" sz="1800" dirty="0"/>
          </a:p>
          <a:p>
            <a:pPr algn="just"/>
            <a:endParaRPr lang="pt-BR" sz="2000" dirty="0"/>
          </a:p>
        </p:txBody>
      </p:sp>
      <p:sp>
        <p:nvSpPr>
          <p:cNvPr id="6" name="Retângulo 5"/>
          <p:cNvSpPr/>
          <p:nvPr/>
        </p:nvSpPr>
        <p:spPr>
          <a:xfrm>
            <a:off x="2027548" y="2603323"/>
            <a:ext cx="8136904" cy="42473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setlocale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(LC_ALL,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i, ano, total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"Qual ano você nasceu: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&amp;ano);</a:t>
            </a:r>
          </a:p>
          <a:p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   //Percorro do ano que nasceu até o ano atual</a:t>
            </a:r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(i = ano; i &lt;=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2018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i++) {</a:t>
            </a: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	//Checa se o ano é bissexto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total += (i %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4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&amp;&amp; i %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100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?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366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365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"Você viveu: %d dias"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total);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57082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04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72471" y="2279340"/>
            <a:ext cx="8229600" cy="4325112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Crie um algoritmo que receba 10 números informados pelo usuário e informe qual foi o maior numero digitado: </a:t>
            </a:r>
          </a:p>
          <a:p>
            <a:pPr algn="just"/>
            <a:endParaRPr lang="pt-BR" sz="2000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1745" y="3063637"/>
            <a:ext cx="4946369" cy="353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1695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04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72471" y="2279340"/>
            <a:ext cx="8229600" cy="4325112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Código:</a:t>
            </a:r>
          </a:p>
          <a:p>
            <a:pPr algn="just"/>
            <a:endParaRPr lang="pt-BR" sz="2000" dirty="0"/>
          </a:p>
        </p:txBody>
      </p:sp>
      <p:sp>
        <p:nvSpPr>
          <p:cNvPr id="6" name="Retângulo 5"/>
          <p:cNvSpPr/>
          <p:nvPr/>
        </p:nvSpPr>
        <p:spPr>
          <a:xfrm>
            <a:off x="3503712" y="2209801"/>
            <a:ext cx="6948772" cy="42473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setlocale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(LC_ALL,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i, numero, maior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(i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i &lt;=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i++)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"Digite um número: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&amp;numero);</a:t>
            </a:r>
          </a:p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	</a:t>
            </a:r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pt-BR" dirty="0" err="1">
                <a:solidFill>
                  <a:srgbClr val="008000"/>
                </a:solidFill>
                <a:latin typeface="Consolas" panose="020B0609020204030204" pitchFamily="49" charset="0"/>
              </a:rPr>
              <a:t>Ccheca</a:t>
            </a:r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 se é o maior numero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	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(numero &gt; maior)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    maior = numero;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"O maior número digitado foi: %d"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maior);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33382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05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72471" y="2279340"/>
            <a:ext cx="8229600" cy="4325112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Crie um algoritmo para um hotel que deverá pegar quantos dias um cliente ficou hospedado. 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Para os </a:t>
            </a:r>
            <a:r>
              <a:rPr lang="pt-BR" sz="2000" u="sng" dirty="0"/>
              <a:t>5 primeiros dias</a:t>
            </a:r>
            <a:r>
              <a:rPr lang="pt-BR" sz="2000" dirty="0"/>
              <a:t> será dado a diária de </a:t>
            </a:r>
            <a:r>
              <a:rPr lang="pt-BR" sz="2000" u="sng" dirty="0"/>
              <a:t>80 reais</a:t>
            </a:r>
          </a:p>
          <a:p>
            <a:pPr algn="just"/>
            <a:r>
              <a:rPr lang="pt-BR" sz="2000" dirty="0"/>
              <a:t>Os </a:t>
            </a:r>
            <a:r>
              <a:rPr lang="pt-BR" sz="2000" u="sng" dirty="0"/>
              <a:t>próximos 5 dias</a:t>
            </a:r>
            <a:r>
              <a:rPr lang="pt-BR" sz="2000" dirty="0"/>
              <a:t> (do dia 6 a 10) será cobrado </a:t>
            </a:r>
            <a:r>
              <a:rPr lang="pt-BR" sz="2000" u="sng" dirty="0"/>
              <a:t>60 reais</a:t>
            </a:r>
          </a:p>
          <a:p>
            <a:pPr algn="just"/>
            <a:r>
              <a:rPr lang="pt-BR" sz="2000" dirty="0"/>
              <a:t> E </a:t>
            </a:r>
            <a:r>
              <a:rPr lang="pt-BR" sz="2000" u="sng" dirty="0"/>
              <a:t>50 reais</a:t>
            </a:r>
            <a:r>
              <a:rPr lang="pt-BR" sz="2000" dirty="0"/>
              <a:t> para os dias que ultrapassarem o limite de 10 dias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Exemplo (20 dias):</a:t>
            </a:r>
          </a:p>
          <a:p>
            <a:pPr lvl="1" algn="just"/>
            <a:r>
              <a:rPr lang="pt-BR" sz="1800" dirty="0"/>
              <a:t> 5 dias (5 * 80 = 400)</a:t>
            </a:r>
          </a:p>
          <a:p>
            <a:pPr lvl="1" algn="just"/>
            <a:r>
              <a:rPr lang="pt-BR" sz="1800" dirty="0"/>
              <a:t>6 – 10 dias (5 * 60 = 300)</a:t>
            </a:r>
          </a:p>
          <a:p>
            <a:pPr lvl="1" algn="just"/>
            <a:r>
              <a:rPr lang="pt-BR" sz="1800" dirty="0"/>
              <a:t>Dia 11 a 20 (10 * 50 = 500)</a:t>
            </a:r>
          </a:p>
          <a:p>
            <a:pPr lvl="1" algn="just"/>
            <a:r>
              <a:rPr lang="pt-BR" sz="1800" dirty="0"/>
              <a:t>Total: 1200 reais </a:t>
            </a:r>
          </a:p>
          <a:p>
            <a:pPr algn="just"/>
            <a:endParaRPr lang="pt-BR" sz="2000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7888" y="1343025"/>
            <a:ext cx="5391150" cy="66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2039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05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72471" y="2279340"/>
            <a:ext cx="8229600" cy="4325112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Código:</a:t>
            </a:r>
            <a:endParaRPr lang="pt-BR" sz="1800" dirty="0"/>
          </a:p>
          <a:p>
            <a:pPr algn="just"/>
            <a:endParaRPr lang="pt-BR" sz="2000" dirty="0"/>
          </a:p>
        </p:txBody>
      </p:sp>
      <p:sp>
        <p:nvSpPr>
          <p:cNvPr id="4" name="Retângulo 3"/>
          <p:cNvSpPr/>
          <p:nvPr/>
        </p:nvSpPr>
        <p:spPr>
          <a:xfrm>
            <a:off x="1962048" y="1167694"/>
            <a:ext cx="7992888" cy="53553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setlocale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(LC_ALL,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i, dias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total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"Quantos dias ficou hospedado: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&amp;dias);</a:t>
            </a:r>
          </a:p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(i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i &lt;= dias; i++) {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(i &lt;=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//5 primeiros dias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   total +=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80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(i &lt;=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//de 6 a 10 dias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   total +=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60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//Acima </a:t>
            </a:r>
            <a:r>
              <a:rPr lang="pt-BR" dirty="0" err="1">
                <a:solidFill>
                  <a:srgbClr val="008000"/>
                </a:solidFill>
                <a:latin typeface="Consolas" panose="020B0609020204030204" pitchFamily="49" charset="0"/>
              </a:rPr>
              <a:t>dde</a:t>
            </a:r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 10 dias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   total +=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50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"Total: R$%.2f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total);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2991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06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600" y="2279340"/>
            <a:ext cx="10972800" cy="4325112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Crie um algoritmo que receba o salário de 10 funcionários e informe qual é a media salarial dos funcionários e quantos deles tem mais de 3mil reais. </a:t>
            </a:r>
            <a:endParaRPr lang="pt-BR" sz="1800" dirty="0"/>
          </a:p>
          <a:p>
            <a:pPr algn="just"/>
            <a:endParaRPr lang="pt-BR" sz="2000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170" y="3263738"/>
            <a:ext cx="4845660" cy="3319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4579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06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72471" y="2279340"/>
            <a:ext cx="8229600" cy="4325112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Código:</a:t>
            </a:r>
            <a:endParaRPr lang="pt-BR" sz="1800" dirty="0"/>
          </a:p>
          <a:p>
            <a:pPr algn="just"/>
            <a:endParaRPr lang="pt-BR" sz="2000" dirty="0"/>
          </a:p>
        </p:txBody>
      </p:sp>
      <p:sp>
        <p:nvSpPr>
          <p:cNvPr id="5" name="Retângulo 4"/>
          <p:cNvSpPr/>
          <p:nvPr/>
        </p:nvSpPr>
        <p:spPr>
          <a:xfrm>
            <a:off x="1915152" y="418144"/>
            <a:ext cx="8316416" cy="61863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setlocale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(LC_ALL,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i, acima3Mil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salario, media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(i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i &lt;=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i++)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"Digite seu salário: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"%f"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&amp;salario);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media += salario;</a:t>
            </a:r>
          </a:p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//Salário acima de mil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(salario &gt;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3000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   acima3Mil++;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endParaRPr lang="pt-BR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    //Descobre a média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media /=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"Média: R$%.2f\n"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media);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"Pessoas com salário acima de 3mil: %d"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acima3Mil);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86266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o">
  <a:themeElements>
    <a:clrScheme name="Urbano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o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Urbano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BB18BA9D9AB6240B5154E147FB65CD8" ma:contentTypeVersion="4" ma:contentTypeDescription="Crie um novo documento." ma:contentTypeScope="" ma:versionID="d137e2844ba62bc793c1c8abf70138df">
  <xsd:schema xmlns:xsd="http://www.w3.org/2001/XMLSchema" xmlns:xs="http://www.w3.org/2001/XMLSchema" xmlns:p="http://schemas.microsoft.com/office/2006/metadata/properties" xmlns:ns2="374fe2b2-f112-4a7f-a75a-e4cf13299bfb" targetNamespace="http://schemas.microsoft.com/office/2006/metadata/properties" ma:root="true" ma:fieldsID="8c06492f1f7e45b2407bc3835eac0481" ns2:_="">
    <xsd:import namespace="374fe2b2-f112-4a7f-a75a-e4cf13299bf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4fe2b2-f112-4a7f-a75a-e4cf13299b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567D1F9-A6B5-49A5-A8C5-8B0B88BFBF26}"/>
</file>

<file path=customXml/itemProps2.xml><?xml version="1.0" encoding="utf-8"?>
<ds:datastoreItem xmlns:ds="http://schemas.openxmlformats.org/officeDocument/2006/customXml" ds:itemID="{65657A66-7A59-4278-A431-3A6FAF0EEA77}"/>
</file>

<file path=customXml/itemProps3.xml><?xml version="1.0" encoding="utf-8"?>
<ds:datastoreItem xmlns:ds="http://schemas.openxmlformats.org/officeDocument/2006/customXml" ds:itemID="{7EA59550-8E55-4603-8D33-2C7D068D921D}"/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1842</TotalTime>
  <Words>1058</Words>
  <Application>Microsoft Office PowerPoint</Application>
  <PresentationFormat>Widescreen</PresentationFormat>
  <Paragraphs>141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20" baseType="lpstr">
      <vt:lpstr>Calibri</vt:lpstr>
      <vt:lpstr>Consolas</vt:lpstr>
      <vt:lpstr>Georgia</vt:lpstr>
      <vt:lpstr>Trebuchet MS</vt:lpstr>
      <vt:lpstr>Wingdings 2</vt:lpstr>
      <vt:lpstr>Urbano</vt:lpstr>
      <vt:lpstr>Laboratório de Programação I Estrutura de Repetição - FOR</vt:lpstr>
      <vt:lpstr>Atividade Estrutura de Repetição FOR</vt:lpstr>
      <vt:lpstr>Questão 01</vt:lpstr>
      <vt:lpstr>Questão 01</vt:lpstr>
      <vt:lpstr>Questão 02</vt:lpstr>
      <vt:lpstr>Questão 02</vt:lpstr>
      <vt:lpstr>Questão 03</vt:lpstr>
      <vt:lpstr>Questão 03</vt:lpstr>
      <vt:lpstr>Questão 04</vt:lpstr>
      <vt:lpstr>Questão 04</vt:lpstr>
      <vt:lpstr>Questão 05</vt:lpstr>
      <vt:lpstr>Questão 05</vt:lpstr>
      <vt:lpstr>Questão 06</vt:lpstr>
      <vt:lpstr>Questão 06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Padrões de Projeto Padrões Criacionais(Revisão)</dc:title>
  <dc:creator>Carlos W. Gama</dc:creator>
  <cp:lastModifiedBy>Carlos W. Gama</cp:lastModifiedBy>
  <cp:revision>238</cp:revision>
  <dcterms:created xsi:type="dcterms:W3CDTF">2017-03-10T13:05:03Z</dcterms:created>
  <dcterms:modified xsi:type="dcterms:W3CDTF">2024-12-05T13:53:45Z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0x0101009BB18BA9D9AB6240B5154E147FB65CD8</vt:lpwstr>
  </property>
</Properties>
</file>