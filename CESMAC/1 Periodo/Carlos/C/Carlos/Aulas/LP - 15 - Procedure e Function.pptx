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1"/>
  </p:notesMasterIdLst>
  <p:sldIdLst>
    <p:sldId id="256" r:id="rId2"/>
    <p:sldId id="345" r:id="rId3"/>
    <p:sldId id="361" r:id="rId4"/>
    <p:sldId id="362" r:id="rId5"/>
    <p:sldId id="363" r:id="rId6"/>
    <p:sldId id="364" r:id="rId7"/>
    <p:sldId id="365" r:id="rId8"/>
    <p:sldId id="366" r:id="rId9"/>
    <p:sldId id="381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82" r:id="rId20"/>
    <p:sldId id="383" r:id="rId21"/>
    <p:sldId id="376" r:id="rId22"/>
    <p:sldId id="377" r:id="rId23"/>
    <p:sldId id="378" r:id="rId24"/>
    <p:sldId id="379" r:id="rId25"/>
    <p:sldId id="380" r:id="rId26"/>
    <p:sldId id="384" r:id="rId27"/>
    <p:sldId id="385" r:id="rId28"/>
    <p:sldId id="386" r:id="rId29"/>
    <p:sldId id="387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99" d="100"/>
          <a:sy n="99" d="100"/>
        </p:scale>
        <p:origin x="253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84" y="1412777"/>
            <a:ext cx="10873208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Procedure e </a:t>
            </a:r>
            <a:r>
              <a:rPr lang="pt-BR" dirty="0" err="1"/>
              <a:t>Function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Desenvolvendo um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Imagine um programa real como o Windows, Linux, um jogo, Word, Excel, um Browser.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Quantas linhas de código esses programas devem possuir?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Apenas o </a:t>
            </a:r>
            <a:r>
              <a:rPr lang="pt-BR" sz="2000" dirty="0" err="1"/>
              <a:t>Kernel</a:t>
            </a:r>
            <a:r>
              <a:rPr lang="pt-BR" sz="2000" dirty="0"/>
              <a:t> do Linux possui mais 24milhões de linhas.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Imagine agora criar um programa com um único método e arquivo com 24milhões de linhas.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Seria fácil sua manutenção?  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Paradigmas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a gente entender melhor como funcionam esses programas, precisamos entender  um pouco de paradigmas de programação.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que é um paradigma?</a:t>
            </a:r>
          </a:p>
          <a:p>
            <a:pPr lvl="1" algn="just"/>
            <a:r>
              <a:rPr lang="pt-BR" sz="1800" dirty="0"/>
              <a:t>Um paradigma é um modelo ou padrão a seguir.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Então o que seriam Paradigmas de Programação? </a:t>
            </a:r>
          </a:p>
          <a:p>
            <a:pPr lvl="1" algn="just"/>
            <a:r>
              <a:rPr lang="pt-BR" sz="1800" dirty="0"/>
              <a:t>São modelos de como implementar um programa. </a:t>
            </a:r>
          </a:p>
        </p:txBody>
      </p:sp>
    </p:spTree>
    <p:extLst>
      <p:ext uri="{BB962C8B-B14F-4D97-AF65-F5344CB8AC3E}">
        <p14:creationId xmlns:p14="http://schemas.microsoft.com/office/powerpoint/2010/main" val="160914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Paradigmas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Atualmente existem diversos Paradigmas de Programação:</a:t>
            </a:r>
          </a:p>
          <a:p>
            <a:pPr lvl="1" algn="just"/>
            <a:r>
              <a:rPr lang="pt-BR" sz="1600" dirty="0"/>
              <a:t>Programação Estruturada</a:t>
            </a:r>
          </a:p>
          <a:p>
            <a:pPr lvl="1" algn="just"/>
            <a:r>
              <a:rPr lang="pt-BR" sz="1600" dirty="0"/>
              <a:t>Programação Procedural (Modular)</a:t>
            </a:r>
          </a:p>
          <a:p>
            <a:pPr lvl="1" algn="just"/>
            <a:r>
              <a:rPr lang="pt-BR" sz="1600" dirty="0"/>
              <a:t>Programação Funcional</a:t>
            </a:r>
          </a:p>
          <a:p>
            <a:pPr lvl="1" algn="just"/>
            <a:r>
              <a:rPr lang="pt-BR" sz="1600" dirty="0"/>
              <a:t>Programação Orientada a Objeto</a:t>
            </a:r>
          </a:p>
          <a:p>
            <a:pPr lvl="1" algn="just"/>
            <a:r>
              <a:rPr lang="pt-BR" sz="1600" dirty="0"/>
              <a:t>Programação Imperativa</a:t>
            </a:r>
          </a:p>
          <a:p>
            <a:pPr lvl="1" algn="just"/>
            <a:r>
              <a:rPr lang="pt-BR" sz="1600" dirty="0"/>
              <a:t>Programação Restritiva</a:t>
            </a:r>
          </a:p>
          <a:p>
            <a:pPr lvl="1" algn="just"/>
            <a:r>
              <a:rPr lang="pt-BR" sz="1600" dirty="0"/>
              <a:t>Programação Orientada a Delta</a:t>
            </a:r>
          </a:p>
          <a:p>
            <a:pPr lvl="1" algn="just"/>
            <a:r>
              <a:rPr lang="pt-BR" sz="1600" dirty="0"/>
              <a:t>Programação Orientada a Aspecto</a:t>
            </a:r>
          </a:p>
          <a:p>
            <a:pPr lvl="1" algn="just"/>
            <a:r>
              <a:rPr lang="pt-BR" sz="1600" dirty="0"/>
              <a:t>Programação Orientada a Fluxo</a:t>
            </a:r>
          </a:p>
          <a:p>
            <a:pPr lvl="1" algn="just"/>
            <a:r>
              <a:rPr lang="pt-BR" sz="16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3823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Programação Estruturada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0288" y="2249424"/>
            <a:ext cx="1122635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É uma programação orientada a </a:t>
            </a:r>
            <a:r>
              <a:rPr lang="pt-BR" sz="2000" u="sng" dirty="0"/>
              <a:t>estrutura de blocos</a:t>
            </a:r>
            <a:r>
              <a:rPr lang="pt-BR" sz="2000" dirty="0"/>
              <a:t>, com concepção </a:t>
            </a:r>
            <a:r>
              <a:rPr lang="pt-BR" sz="2000" i="1" u="sng" dirty="0"/>
              <a:t>Top-Down</a:t>
            </a:r>
            <a:r>
              <a:rPr lang="pt-BR" sz="2000" dirty="0"/>
              <a:t>, como </a:t>
            </a:r>
            <a:r>
              <a:rPr lang="pt-BR" sz="2000" i="1" dirty="0"/>
              <a:t>script</a:t>
            </a:r>
            <a:r>
              <a:rPr lang="pt-BR" sz="2000" dirty="0"/>
              <a:t>. É baseada em </a:t>
            </a:r>
            <a:r>
              <a:rPr lang="pt-BR" sz="2000" u="sng" dirty="0"/>
              <a:t>estruturas de Sequencia, Decisão ou Repetição.</a:t>
            </a:r>
          </a:p>
          <a:p>
            <a:pPr algn="just"/>
            <a:endParaRPr lang="pt-BR" sz="2000" u="sng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É mais indicado para solução de um problemas precisos e pequenos.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Atualmente ainda é a mais usada para o ensino inicial de programação e ainda pode ser usada por linguagens como C, PHP, Go, Python, </a:t>
            </a:r>
            <a:r>
              <a:rPr lang="pt-BR" sz="2000" dirty="0" err="1"/>
              <a:t>JavaScript</a:t>
            </a:r>
            <a:r>
              <a:rPr lang="pt-BR" sz="2000" dirty="0"/>
              <a:t>...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  <p:sp>
        <p:nvSpPr>
          <p:cNvPr id="5" name="Retângulo Arredondado 4"/>
          <p:cNvSpPr/>
          <p:nvPr/>
        </p:nvSpPr>
        <p:spPr>
          <a:xfrm>
            <a:off x="5591944" y="2996952"/>
            <a:ext cx="1738536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303912" y="3414872"/>
            <a:ext cx="2232248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“</a:t>
            </a:r>
            <a:r>
              <a:rPr lang="pt-BR" dirty="0" err="1"/>
              <a:t>Ola</a:t>
            </a:r>
            <a:r>
              <a:rPr lang="pt-BR" dirty="0"/>
              <a:t> Mundo”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5591944" y="3856112"/>
            <a:ext cx="1738536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 (</a:t>
            </a:r>
            <a:r>
              <a:rPr lang="pt-BR" dirty="0" err="1"/>
              <a:t>Exit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26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Programação Orientada a Objeto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249424"/>
            <a:ext cx="11233248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 mais utilizada atualmente, baseia-se no conceito de </a:t>
            </a:r>
            <a:r>
              <a:rPr lang="pt-BR" sz="2000" u="sng" dirty="0"/>
              <a:t>unidades</a:t>
            </a:r>
            <a:r>
              <a:rPr lang="pt-BR" sz="2000" dirty="0"/>
              <a:t> chamadas de </a:t>
            </a:r>
            <a:r>
              <a:rPr lang="pt-BR" sz="2000" u="sng" dirty="0"/>
              <a:t>objetos</a:t>
            </a:r>
            <a:r>
              <a:rPr lang="pt-BR" sz="2000" dirty="0"/>
              <a:t>, que possuem seus </a:t>
            </a:r>
            <a:r>
              <a:rPr lang="pt-BR" sz="2000" u="sng" dirty="0"/>
              <a:t>próprios atributos e ações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Os objetos tem o papel de </a:t>
            </a:r>
            <a:r>
              <a:rPr lang="pt-BR" sz="2000" u="sng" dirty="0"/>
              <a:t>representa um conteúdo do mundo real</a:t>
            </a:r>
            <a:r>
              <a:rPr lang="pt-BR" sz="2000" dirty="0"/>
              <a:t>, ou seja, atribuindo a este objeto responsabilidades que o pertencem.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programador deve montar classes que representam as regras aplicadas a cada objeto. 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  <p:sp>
        <p:nvSpPr>
          <p:cNvPr id="12" name="Retângulo 11"/>
          <p:cNvSpPr/>
          <p:nvPr/>
        </p:nvSpPr>
        <p:spPr>
          <a:xfrm>
            <a:off x="1847528" y="5264040"/>
            <a:ext cx="201622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Classe Pessoa {</a:t>
            </a:r>
          </a:p>
          <a:p>
            <a:r>
              <a:rPr lang="pt-BR" dirty="0"/>
              <a:t>   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   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    comer()</a:t>
            </a:r>
          </a:p>
          <a:p>
            <a:r>
              <a:rPr lang="pt-BR" dirty="0"/>
              <a:t>}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295800" y="5264040"/>
            <a:ext cx="228600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Objeto de Pessoa {</a:t>
            </a:r>
          </a:p>
          <a:p>
            <a:r>
              <a:rPr lang="pt-BR" dirty="0"/>
              <a:t>       nome: "Carlos";</a:t>
            </a:r>
          </a:p>
          <a:p>
            <a:r>
              <a:rPr lang="pt-BR" dirty="0"/>
              <a:t>       idade: 30;</a:t>
            </a:r>
          </a:p>
          <a:p>
            <a:r>
              <a:rPr lang="pt-BR" dirty="0"/>
              <a:t>       comer()</a:t>
            </a:r>
          </a:p>
          <a:p>
            <a:r>
              <a:rPr lang="pt-BR" dirty="0"/>
              <a:t>}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7176120" y="5264040"/>
            <a:ext cx="228600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Objeto de Pessoa {</a:t>
            </a:r>
          </a:p>
          <a:p>
            <a:r>
              <a:rPr lang="pt-BR" dirty="0"/>
              <a:t>       nome: "Maria";</a:t>
            </a:r>
          </a:p>
          <a:p>
            <a:r>
              <a:rPr lang="pt-BR" dirty="0"/>
              <a:t>       idade: 20;</a:t>
            </a:r>
          </a:p>
          <a:p>
            <a:r>
              <a:rPr lang="pt-BR" dirty="0"/>
              <a:t>       comer()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630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Programação Procedural/Modular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0288" y="2249424"/>
            <a:ext cx="10972800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Também é considerada por alguns autores como parte da </a:t>
            </a:r>
            <a:r>
              <a:rPr lang="pt-BR" sz="2000" u="sng" dirty="0"/>
              <a:t>Programação Estruturada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 para alguns autores a Programação Procedural é uma evolução da Estruturada, </a:t>
            </a:r>
            <a:r>
              <a:rPr lang="pt-BR" sz="2000" u="sng" dirty="0"/>
              <a:t>visando criar procedures</a:t>
            </a:r>
            <a:r>
              <a:rPr lang="pt-BR" sz="2000" dirty="0"/>
              <a:t> (funções ou procedimentos), evitando repetição de código.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Permite a criação de bibliotecas com várias funções que podem ser importados ao projeto. 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  <p:sp>
        <p:nvSpPr>
          <p:cNvPr id="5" name="Retângulo Arredondado 4"/>
          <p:cNvSpPr/>
          <p:nvPr/>
        </p:nvSpPr>
        <p:spPr>
          <a:xfrm>
            <a:off x="5591944" y="5013176"/>
            <a:ext cx="1738536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" name="Retângulo Arredondado 5"/>
          <p:cNvSpPr/>
          <p:nvPr/>
        </p:nvSpPr>
        <p:spPr>
          <a:xfrm>
            <a:off x="5201072" y="5431096"/>
            <a:ext cx="2520280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sacarDinheiro</a:t>
            </a:r>
            <a:r>
              <a:rPr lang="pt-BR" dirty="0"/>
              <a:t>(200);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591944" y="6309320"/>
            <a:ext cx="1738536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 (</a:t>
            </a:r>
            <a:r>
              <a:rPr lang="pt-BR" dirty="0" err="1"/>
              <a:t>Exit</a:t>
            </a:r>
            <a:r>
              <a:rPr lang="pt-BR" dirty="0"/>
              <a:t>)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5201072" y="5851868"/>
            <a:ext cx="2520280" cy="3782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sacarDinheiro</a:t>
            </a:r>
            <a:r>
              <a:rPr lang="pt-BR" dirty="0"/>
              <a:t>(765);</a:t>
            </a:r>
          </a:p>
        </p:txBody>
      </p:sp>
    </p:spTree>
    <p:extLst>
      <p:ext uri="{BB962C8B-B14F-4D97-AF65-F5344CB8AC3E}">
        <p14:creationId xmlns:p14="http://schemas.microsoft.com/office/powerpoint/2010/main" val="155930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Nosso Paradigma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463064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Até o momento estávamos realizando programação baseado em qual paradigma?</a:t>
            </a:r>
          </a:p>
          <a:p>
            <a:pPr lvl="1" algn="just"/>
            <a:r>
              <a:rPr lang="pt-BR" sz="1800" dirty="0"/>
              <a:t>ESTRUTURAL</a:t>
            </a:r>
          </a:p>
          <a:p>
            <a:pPr marL="411480" lvl="1" indent="0" algn="just">
              <a:buNone/>
            </a:pPr>
            <a:endParaRPr lang="pt-BR" sz="1800" dirty="0"/>
          </a:p>
          <a:p>
            <a:pPr algn="just"/>
            <a:r>
              <a:rPr lang="pt-BR" sz="2000" dirty="0"/>
              <a:t>Porém a partir de agora podemos </a:t>
            </a:r>
            <a:r>
              <a:rPr lang="pt-BR" sz="2000" u="sng" dirty="0"/>
              <a:t>organizar</a:t>
            </a:r>
            <a:r>
              <a:rPr lang="pt-BR" sz="2000" dirty="0"/>
              <a:t> melhor nosso código, </a:t>
            </a:r>
            <a:r>
              <a:rPr lang="pt-BR" sz="2000" u="sng" dirty="0"/>
              <a:t>quebrando-o em partes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Criando programas baseando no Paradigma </a:t>
            </a:r>
            <a:r>
              <a:rPr lang="pt-BR" sz="2000" u="sng" dirty="0"/>
              <a:t>Procedural/Modular</a:t>
            </a: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*Lembrando que alguns autores também tratam esse </a:t>
            </a:r>
            <a:r>
              <a:rPr lang="pt-BR" sz="2000" u="sng" dirty="0"/>
              <a:t>Paradigma</a:t>
            </a:r>
            <a:r>
              <a:rPr lang="pt-BR" sz="2000" dirty="0"/>
              <a:t> como </a:t>
            </a:r>
            <a:r>
              <a:rPr lang="pt-BR" sz="2000" u="sng" dirty="0"/>
              <a:t>Estruturado</a:t>
            </a:r>
            <a:r>
              <a:rPr lang="pt-BR" sz="2000" dirty="0"/>
              <a:t>.</a:t>
            </a:r>
          </a:p>
          <a:p>
            <a:pPr lvl="1" algn="just"/>
            <a:endParaRPr lang="pt-BR" sz="18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2955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19536" y="3212976"/>
            <a:ext cx="8229600" cy="1069848"/>
          </a:xfrm>
        </p:spPr>
        <p:txBody>
          <a:bodyPr/>
          <a:lstStyle/>
          <a:p>
            <a:pPr algn="ctr"/>
            <a:r>
              <a:rPr lang="pt-BR" dirty="0"/>
              <a:t>PROCEDURE</a:t>
            </a:r>
          </a:p>
        </p:txBody>
      </p:sp>
    </p:spTree>
    <p:extLst>
      <p:ext uri="{BB962C8B-B14F-4D97-AF65-F5344CB8AC3E}">
        <p14:creationId xmlns:p14="http://schemas.microsoft.com/office/powerpoint/2010/main" val="374671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249424"/>
            <a:ext cx="11233248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Procedure também chamada de Procedimento, é a capacidade de criar um </a:t>
            </a:r>
            <a:r>
              <a:rPr lang="pt-BR" sz="2000" u="sng" dirty="0"/>
              <a:t>método</a:t>
            </a:r>
            <a:r>
              <a:rPr lang="pt-BR" sz="2000" dirty="0"/>
              <a:t> que </a:t>
            </a:r>
            <a:r>
              <a:rPr lang="pt-BR" sz="2000" u="sng" dirty="0"/>
              <a:t>pode ser chamado quantas vezes desejar no seu código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Semelhante a </a:t>
            </a:r>
            <a:r>
              <a:rPr lang="pt-BR" sz="2000" dirty="0" err="1"/>
              <a:t>printf</a:t>
            </a:r>
            <a:r>
              <a:rPr lang="pt-BR" sz="2000" dirty="0"/>
              <a:t>, </a:t>
            </a:r>
            <a:r>
              <a:rPr lang="pt-BR" sz="2000" dirty="0" err="1"/>
              <a:t>scanf</a:t>
            </a:r>
            <a:r>
              <a:rPr lang="pt-BR" sz="2000" dirty="0"/>
              <a:t>, </a:t>
            </a:r>
            <a:r>
              <a:rPr lang="pt-BR" sz="2000" dirty="0" err="1"/>
              <a:t>strcmp</a:t>
            </a:r>
            <a:r>
              <a:rPr lang="pt-BR" sz="2000" dirty="0"/>
              <a:t> e outros, agora vamos poder criar nossos próprios procedimentos. 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88718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11161240" cy="4608576"/>
          </a:xfrm>
        </p:spPr>
        <p:txBody>
          <a:bodyPr>
            <a:normAutofit/>
          </a:bodyPr>
          <a:lstStyle/>
          <a:p>
            <a:pPr marL="109728" indent="0" algn="just">
              <a:buNone/>
            </a:pPr>
            <a:r>
              <a:rPr lang="pt-BR" sz="2000" dirty="0"/>
              <a:t>Uma procedure deve ser criada fora do método </a:t>
            </a:r>
            <a:r>
              <a:rPr lang="pt-BR" sz="2000" dirty="0" err="1"/>
              <a:t>main</a:t>
            </a:r>
            <a:r>
              <a:rPr lang="pt-BR" sz="2000" dirty="0"/>
              <a:t>() { ... }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E sua sintaxe é dada por: 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Para executar uma procedure, basta chama-la dentro do seu código:</a:t>
            </a:r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1775520" y="3536094"/>
            <a:ext cx="504056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nomeProcedure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//Aqui dentro vem seus códigos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021760" y="2770716"/>
            <a:ext cx="266429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Informa que o procedimento não deve retornar nenhum valor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1775520" y="3536094"/>
            <a:ext cx="648072" cy="31218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021760" y="2780928"/>
            <a:ext cx="332271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Nome do procedimento. Segue a mesma regra de nomes de variáveis.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Sempre tem que terminar com parêntese.</a:t>
            </a:r>
          </a:p>
        </p:txBody>
      </p:sp>
      <p:sp>
        <p:nvSpPr>
          <p:cNvPr id="11" name="Retângulo Arredondado 10"/>
          <p:cNvSpPr/>
          <p:nvPr/>
        </p:nvSpPr>
        <p:spPr>
          <a:xfrm>
            <a:off x="2433936" y="3546306"/>
            <a:ext cx="1933872" cy="30196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7021760" y="3107362"/>
            <a:ext cx="332271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Quais códigos serão executados, quando a procedure for chamada.</a:t>
            </a:r>
          </a:p>
        </p:txBody>
      </p:sp>
      <p:sp>
        <p:nvSpPr>
          <p:cNvPr id="13" name="Retângulo Arredondado 12"/>
          <p:cNvSpPr/>
          <p:nvPr/>
        </p:nvSpPr>
        <p:spPr>
          <a:xfrm>
            <a:off x="2721968" y="3880212"/>
            <a:ext cx="3888432" cy="26886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1743978" y="5083260"/>
            <a:ext cx="527778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//Chama quantas vezes quiser executar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nomeProcedure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nomeProcedure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036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9601200" cy="4608576"/>
          </a:xfrm>
        </p:spPr>
        <p:txBody>
          <a:bodyPr>
            <a:normAutofit/>
          </a:bodyPr>
          <a:lstStyle/>
          <a:p>
            <a:pPr marL="109728" indent="0" algn="just">
              <a:buNone/>
            </a:pPr>
            <a:r>
              <a:rPr lang="pt-BR" sz="2000" dirty="0"/>
              <a:t>Crie uma Procedure nomeada de </a:t>
            </a:r>
            <a:r>
              <a:rPr lang="pt-BR" sz="2000" u="sng" dirty="0" err="1"/>
              <a:t>apresentacao</a:t>
            </a:r>
            <a:r>
              <a:rPr lang="pt-BR" sz="2000" dirty="0"/>
              <a:t> que exiba o texto: “Olá, pessoa”.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r>
              <a:rPr lang="pt-BR" sz="2000" dirty="0"/>
              <a:t>Chame essa procedure no seu código e veja o resultado. </a:t>
            </a:r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552485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229600" cy="4608576"/>
          </a:xfrm>
        </p:spPr>
        <p:txBody>
          <a:bodyPr>
            <a:normAutofit/>
          </a:bodyPr>
          <a:lstStyle/>
          <a:p>
            <a:pPr marL="109728" indent="0" algn="just">
              <a:buNone/>
            </a:pPr>
            <a:r>
              <a:rPr lang="pt-BR" sz="2000" dirty="0"/>
              <a:t>Código:</a:t>
            </a:r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3791745" y="2242183"/>
            <a:ext cx="3876661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apresentacao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pessoa"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apresentacao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647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Parâmetros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249424"/>
            <a:ext cx="1144927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 no caso das procedures </a:t>
            </a:r>
            <a:r>
              <a:rPr lang="pt-BR" sz="2000" dirty="0" err="1"/>
              <a:t>printf</a:t>
            </a:r>
            <a:r>
              <a:rPr lang="pt-BR" sz="2000" dirty="0"/>
              <a:t> e </a:t>
            </a:r>
            <a:r>
              <a:rPr lang="pt-BR" sz="2000" dirty="0" err="1"/>
              <a:t>scanf</a:t>
            </a:r>
            <a:r>
              <a:rPr lang="pt-BR" sz="2000" dirty="0"/>
              <a:t>, que nós passamos valores para essas procedures: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Também será possível fazer isso nas nossas procedures.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u="sng" dirty="0"/>
              <a:t>Dentro do parêntese</a:t>
            </a:r>
            <a:r>
              <a:rPr lang="pt-BR" sz="2000" dirty="0"/>
              <a:t>, devemos </a:t>
            </a:r>
            <a:r>
              <a:rPr lang="pt-BR" sz="2000" u="sng" dirty="0"/>
              <a:t>declarar</a:t>
            </a:r>
            <a:r>
              <a:rPr lang="pt-BR" sz="2000" dirty="0"/>
              <a:t> as </a:t>
            </a:r>
            <a:r>
              <a:rPr lang="pt-BR" sz="2000" u="sng" dirty="0"/>
              <a:t>variáveis</a:t>
            </a:r>
            <a:r>
              <a:rPr lang="pt-BR" sz="2000" dirty="0"/>
              <a:t> que receberam os valores passados ao chamar a procedure.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Essas variáveis são normalmente </a:t>
            </a:r>
            <a:r>
              <a:rPr lang="pt-BR" sz="2000" u="sng" dirty="0"/>
              <a:t>chamadas</a:t>
            </a:r>
            <a:r>
              <a:rPr lang="pt-BR" sz="2000" dirty="0"/>
              <a:t> de </a:t>
            </a:r>
            <a:r>
              <a:rPr lang="pt-BR" sz="2000" u="sng" dirty="0"/>
              <a:t>parâmetros</a:t>
            </a:r>
            <a:r>
              <a:rPr lang="pt-BR" sz="2000" dirty="0"/>
              <a:t>. 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4418466" y="3120407"/>
            <a:ext cx="33757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"valor"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"valor2"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181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Parâmetros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0288" y="2249424"/>
            <a:ext cx="1122635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Sintaxe: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Pode haver quantos parâmetros quiser.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Na hora de chamar a procedure, devemos passar a </a:t>
            </a:r>
            <a:r>
              <a:rPr lang="pt-BR" sz="2000" u="sng" dirty="0"/>
              <a:t>mesma</a:t>
            </a:r>
            <a:r>
              <a:rPr lang="pt-BR" sz="2000" dirty="0"/>
              <a:t> </a:t>
            </a:r>
            <a:r>
              <a:rPr lang="pt-BR" sz="2000" u="sng" dirty="0"/>
              <a:t>quantidade</a:t>
            </a:r>
            <a:r>
              <a:rPr lang="pt-BR" sz="2000" dirty="0"/>
              <a:t> de parâmetros que a procedure espera e na mesma </a:t>
            </a:r>
            <a:r>
              <a:rPr lang="pt-BR" sz="2000" u="sng" dirty="0"/>
              <a:t>ordem</a:t>
            </a:r>
            <a:r>
              <a:rPr lang="pt-BR" sz="2000" dirty="0"/>
              <a:t>.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2315580" y="2665983"/>
            <a:ext cx="758152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nomeProcedure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tipo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, tipo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nomeVariavel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044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Parâmetros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229600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sp>
        <p:nvSpPr>
          <p:cNvPr id="7" name="Retângulo 6"/>
          <p:cNvSpPr/>
          <p:nvPr/>
        </p:nvSpPr>
        <p:spPr>
          <a:xfrm>
            <a:off x="1775520" y="2610683"/>
            <a:ext cx="777686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salvarRegistro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//Salva os dados e depois exibe mensagem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"Registro de %s, salvo com sucesso"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nomeUsuario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nomeUsuario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salvarRegistro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nomeUsuario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4007768" y="5877272"/>
            <a:ext cx="1728192" cy="43204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/>
          <p:cNvSpPr/>
          <p:nvPr/>
        </p:nvSpPr>
        <p:spPr>
          <a:xfrm>
            <a:off x="4367808" y="2566301"/>
            <a:ext cx="1944216" cy="43204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Angulado 10"/>
          <p:cNvCxnSpPr>
            <a:stCxn id="8" idx="3"/>
            <a:endCxn id="9" idx="3"/>
          </p:cNvCxnSpPr>
          <p:nvPr/>
        </p:nvCxnSpPr>
        <p:spPr>
          <a:xfrm flipV="1">
            <a:off x="5735960" y="2782326"/>
            <a:ext cx="576064" cy="3310971"/>
          </a:xfrm>
          <a:prstGeom prst="bentConnector3">
            <a:avLst>
              <a:gd name="adj1" fmla="val 53261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905892" y="3821670"/>
            <a:ext cx="385440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 variável nome vai receber o nome informado ao chamar o método</a:t>
            </a:r>
          </a:p>
        </p:txBody>
      </p:sp>
    </p:spTree>
    <p:extLst>
      <p:ext uri="{BB962C8B-B14F-4D97-AF65-F5344CB8AC3E}">
        <p14:creationId xmlns:p14="http://schemas.microsoft.com/office/powerpoint/2010/main" val="156774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– Parâmetros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723761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uma procedure </a:t>
            </a:r>
            <a:r>
              <a:rPr lang="pt-BR" sz="2000" u="sng" dirty="0" err="1"/>
              <a:t>eMultiplo</a:t>
            </a:r>
            <a:r>
              <a:rPr lang="pt-BR" sz="2000" dirty="0"/>
              <a:t>, que irá receber 2 valores (x e y) e exibir a mensagem “X é múltiplo de Y”, apenas se x for múltiplo de y.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Depois crie um algoritmo que deve receber um número informado pelo usuário e liste quais números de 1 a 100 são múltiplos desse número.</a:t>
            </a:r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2060848"/>
            <a:ext cx="2373932" cy="46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7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– Parâmetros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49424"/>
            <a:ext cx="8229600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1962762" y="2031903"/>
            <a:ext cx="8219256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eMultiplo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y)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//Salva os dados e depois exibe mensagem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(x % y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é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multiplo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de 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x, y);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n, i;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eMultiplo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(i, n);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303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19536" y="3212976"/>
            <a:ext cx="8229600" cy="1069848"/>
          </a:xfrm>
        </p:spPr>
        <p:txBody>
          <a:bodyPr/>
          <a:lstStyle/>
          <a:p>
            <a:pPr algn="ctr"/>
            <a:r>
              <a:rPr lang="pt-BR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275485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Semelhante as procedures, as </a:t>
            </a:r>
            <a:r>
              <a:rPr lang="pt-BR" sz="2000" u="sng" dirty="0"/>
              <a:t>funções</a:t>
            </a:r>
            <a:r>
              <a:rPr lang="pt-BR" sz="2000" dirty="0"/>
              <a:t> (</a:t>
            </a:r>
            <a:r>
              <a:rPr lang="pt-BR" sz="2000" u="sng" dirty="0" err="1"/>
              <a:t>functions</a:t>
            </a:r>
            <a:r>
              <a:rPr lang="pt-BR" sz="2000" dirty="0"/>
              <a:t>) tem o papel de:</a:t>
            </a:r>
          </a:p>
          <a:p>
            <a:pPr lvl="1" algn="just"/>
            <a:r>
              <a:rPr lang="pt-BR" sz="2000" dirty="0"/>
              <a:t>Armazenar um </a:t>
            </a:r>
            <a:r>
              <a:rPr lang="pt-BR" sz="2000" u="sng" dirty="0"/>
              <a:t>conjunto de comandos</a:t>
            </a:r>
            <a:r>
              <a:rPr lang="pt-BR" sz="2000" dirty="0"/>
              <a:t> a serem executados;</a:t>
            </a:r>
          </a:p>
          <a:p>
            <a:pPr lvl="1" algn="just"/>
            <a:r>
              <a:rPr lang="pt-BR" sz="2000" dirty="0"/>
              <a:t>Evitar repetir códigos; </a:t>
            </a:r>
          </a:p>
          <a:p>
            <a:pPr lvl="1" algn="just"/>
            <a:r>
              <a:rPr lang="pt-BR" sz="2000" dirty="0"/>
              <a:t>Mas também </a:t>
            </a:r>
            <a:r>
              <a:rPr lang="pt-BR" sz="2000" u="sng" dirty="0"/>
              <a:t>retornar</a:t>
            </a:r>
            <a:r>
              <a:rPr lang="pt-BR" sz="2000" dirty="0"/>
              <a:t> um </a:t>
            </a:r>
            <a:r>
              <a:rPr lang="pt-BR" sz="2000" u="sng" dirty="0"/>
              <a:t>VALOR</a:t>
            </a:r>
            <a:r>
              <a:rPr lang="pt-BR" sz="2000" dirty="0"/>
              <a:t> para quem chamou a função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2200" dirty="0"/>
              <a:t>Sua sintaxe é dada por:</a:t>
            </a:r>
          </a:p>
        </p:txBody>
      </p:sp>
      <p:sp>
        <p:nvSpPr>
          <p:cNvPr id="4" name="Retângulo 3"/>
          <p:cNvSpPr/>
          <p:nvPr/>
        </p:nvSpPr>
        <p:spPr>
          <a:xfrm>
            <a:off x="1847528" y="5413832"/>
            <a:ext cx="799288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tipoValorRetorno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nomeFuncao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(&lt;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parametros_opcionalmente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&gt;)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//Linhas que serão executadas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valorRetornado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179676" y="4429008"/>
            <a:ext cx="70311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Toda função retorna um valor, logo antes do seu nome, </a:t>
            </a:r>
            <a:r>
              <a:rPr lang="pt-BR" u="sng" dirty="0"/>
              <a:t>ao invés de por </a:t>
            </a:r>
            <a:r>
              <a:rPr lang="pt-BR" u="sng" dirty="0" err="1"/>
              <a:t>void</a:t>
            </a:r>
            <a:r>
              <a:rPr lang="pt-BR" dirty="0"/>
              <a:t>, deve ser informado qual é </a:t>
            </a:r>
            <a:r>
              <a:rPr lang="pt-BR" u="sng" dirty="0"/>
              <a:t>o tipo do valor que será retornado</a:t>
            </a:r>
            <a:r>
              <a:rPr lang="pt-BR" dirty="0"/>
              <a:t> (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float</a:t>
            </a:r>
            <a:r>
              <a:rPr lang="pt-BR" dirty="0"/>
              <a:t>, decimal, char, char[])</a:t>
            </a:r>
          </a:p>
        </p:txBody>
      </p:sp>
      <p:sp>
        <p:nvSpPr>
          <p:cNvPr id="6" name="Retângulo Arredondado 5"/>
          <p:cNvSpPr/>
          <p:nvPr/>
        </p:nvSpPr>
        <p:spPr>
          <a:xfrm>
            <a:off x="1847528" y="5413832"/>
            <a:ext cx="2160240" cy="391433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Angulado 7"/>
          <p:cNvCxnSpPr>
            <a:stCxn id="5" idx="1"/>
            <a:endCxn id="6" idx="0"/>
          </p:cNvCxnSpPr>
          <p:nvPr/>
        </p:nvCxnSpPr>
        <p:spPr>
          <a:xfrm rot="10800000" flipV="1">
            <a:off x="2927648" y="4890673"/>
            <a:ext cx="252028" cy="5231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2994484" y="4389384"/>
            <a:ext cx="70311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Retorna um valor para quem chamar a função.</a:t>
            </a:r>
          </a:p>
          <a:p>
            <a:r>
              <a:rPr lang="pt-BR" dirty="0"/>
              <a:t>O </a:t>
            </a:r>
            <a:r>
              <a:rPr lang="pt-BR" dirty="0" err="1"/>
              <a:t>return</a:t>
            </a:r>
            <a:r>
              <a:rPr lang="pt-BR" dirty="0"/>
              <a:t> encerra a função, logo tudo que estiver </a:t>
            </a:r>
            <a:r>
              <a:rPr lang="pt-BR" u="sng" dirty="0"/>
              <a:t>após o </a:t>
            </a:r>
            <a:r>
              <a:rPr lang="pt-BR" u="sng" dirty="0" err="1"/>
              <a:t>return</a:t>
            </a:r>
            <a:r>
              <a:rPr lang="pt-BR" u="sng" dirty="0"/>
              <a:t> não é executado</a:t>
            </a:r>
            <a:r>
              <a:rPr lang="pt-BR" dirty="0"/>
              <a:t>. </a:t>
            </a:r>
          </a:p>
        </p:txBody>
      </p:sp>
      <p:sp>
        <p:nvSpPr>
          <p:cNvPr id="14" name="Retângulo Arredondado 13"/>
          <p:cNvSpPr/>
          <p:nvPr/>
        </p:nvSpPr>
        <p:spPr>
          <a:xfrm>
            <a:off x="2279576" y="5994184"/>
            <a:ext cx="2880320" cy="391433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Angulado 14"/>
          <p:cNvCxnSpPr>
            <a:stCxn id="13" idx="1"/>
            <a:endCxn id="14" idx="0"/>
          </p:cNvCxnSpPr>
          <p:nvPr/>
        </p:nvCxnSpPr>
        <p:spPr>
          <a:xfrm rot="10800000" flipH="1" flipV="1">
            <a:off x="2994484" y="4851049"/>
            <a:ext cx="725252" cy="1143134"/>
          </a:xfrm>
          <a:prstGeom prst="bentConnector4">
            <a:avLst>
              <a:gd name="adj1" fmla="val -31520"/>
              <a:gd name="adj2" fmla="val 7019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63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Onde já vimos uma função antes?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nosso método </a:t>
            </a:r>
            <a:r>
              <a:rPr lang="pt-BR" sz="2000" u="sng" dirty="0" err="1"/>
              <a:t>int</a:t>
            </a:r>
            <a:r>
              <a:rPr lang="pt-BR" sz="2000" u="sng" dirty="0"/>
              <a:t> </a:t>
            </a:r>
            <a:r>
              <a:rPr lang="pt-BR" sz="2000" u="sng" dirty="0" err="1"/>
              <a:t>main</a:t>
            </a:r>
            <a:r>
              <a:rPr lang="pt-BR" sz="2000" u="sng" dirty="0"/>
              <a:t>() </a:t>
            </a:r>
            <a:r>
              <a:rPr lang="pt-BR" sz="2000" dirty="0"/>
              <a:t>{ } é uma função, que retorna </a:t>
            </a:r>
            <a:r>
              <a:rPr lang="pt-BR" sz="2000" u="sng" dirty="0"/>
              <a:t>0 quando sucesso</a:t>
            </a:r>
            <a:r>
              <a:rPr lang="pt-BR" sz="2000" dirty="0"/>
              <a:t> ou </a:t>
            </a:r>
            <a:r>
              <a:rPr lang="pt-BR" sz="2000" u="sng" dirty="0"/>
              <a:t>qualquer outro número quando falha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 não foi informado um retorno, automaticamente retorna 0.</a:t>
            </a:r>
            <a:r>
              <a:rPr lang="pt-BR" sz="1800" dirty="0"/>
              <a:t>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OBS: Nas outras linguagens de programação você </a:t>
            </a:r>
            <a:r>
              <a:rPr lang="pt-BR" sz="2000" u="sng" dirty="0"/>
              <a:t>DEVE</a:t>
            </a:r>
            <a:r>
              <a:rPr lang="pt-BR" sz="2000" dirty="0"/>
              <a:t> </a:t>
            </a:r>
            <a:r>
              <a:rPr lang="pt-BR" sz="2000" u="sng" dirty="0"/>
              <a:t>retornar</a:t>
            </a:r>
            <a:r>
              <a:rPr lang="pt-BR" sz="2000" dirty="0"/>
              <a:t> um </a:t>
            </a:r>
            <a:r>
              <a:rPr lang="pt-BR" sz="2000" u="sng" dirty="0"/>
              <a:t>valor</a:t>
            </a:r>
            <a:r>
              <a:rPr lang="pt-BR" sz="2000" dirty="0"/>
              <a:t> em uma </a:t>
            </a:r>
            <a:r>
              <a:rPr lang="pt-BR" sz="2000" u="sng" dirty="0"/>
              <a:t>função</a:t>
            </a:r>
            <a:r>
              <a:rPr lang="pt-BR" sz="2000" dirty="0"/>
              <a:t>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19751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Qual tipo de torno deve ser usado nas funções abaixo:</a:t>
            </a:r>
            <a:endParaRPr lang="pt-BR" sz="2200" dirty="0"/>
          </a:p>
        </p:txBody>
      </p:sp>
      <p:sp>
        <p:nvSpPr>
          <p:cNvPr id="7" name="Retângulo 6"/>
          <p:cNvSpPr/>
          <p:nvPr/>
        </p:nvSpPr>
        <p:spPr>
          <a:xfrm>
            <a:off x="1985009" y="2896575"/>
            <a:ext cx="32640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soma(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 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tângulo 8"/>
          <p:cNvSpPr/>
          <p:nvPr/>
        </p:nvSpPr>
        <p:spPr>
          <a:xfrm>
            <a:off x="1945442" y="4005391"/>
            <a:ext cx="4572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divisao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 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/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988819" y="5227348"/>
            <a:ext cx="326025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buscarLetra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6111990" y="5365846"/>
            <a:ext cx="308573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buscarNome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1979033" y="2896575"/>
            <a:ext cx="32640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?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soma(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 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940058" y="4005064"/>
            <a:ext cx="4572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?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divisao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b) 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/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983435" y="5227021"/>
            <a:ext cx="326025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?  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buscarLetra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6106606" y="5365519"/>
            <a:ext cx="308573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?   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buscarNome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672064" y="2896576"/>
            <a:ext cx="381642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No caso de </a:t>
            </a:r>
            <a:r>
              <a:rPr lang="pt-BR" dirty="0" err="1"/>
              <a:t>String</a:t>
            </a:r>
            <a:r>
              <a:rPr lang="pt-BR" dirty="0"/>
              <a:t> em C, não retornamos o conteúdo como uma cadeia de caracteres com </a:t>
            </a:r>
            <a:r>
              <a:rPr lang="pt-BR" u="sng" dirty="0"/>
              <a:t>[ ]</a:t>
            </a:r>
            <a:r>
              <a:rPr lang="pt-BR" dirty="0"/>
              <a:t>, e sim usando o </a:t>
            </a:r>
            <a:r>
              <a:rPr lang="pt-BR" u="sng" dirty="0"/>
              <a:t>*</a:t>
            </a:r>
            <a:r>
              <a:rPr lang="pt-BR" dirty="0"/>
              <a:t> (Ponteiro)</a:t>
            </a:r>
          </a:p>
        </p:txBody>
      </p:sp>
    </p:spTree>
    <p:extLst>
      <p:ext uri="{BB962C8B-B14F-4D97-AF65-F5344CB8AC3E}">
        <p14:creationId xmlns:p14="http://schemas.microsoft.com/office/powerpoint/2010/main" val="226789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uma função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recuperar o valor de uma função </a:t>
            </a:r>
            <a:r>
              <a:rPr lang="pt-BR" sz="2000"/>
              <a:t>basta chamá-la </a:t>
            </a:r>
            <a:r>
              <a:rPr lang="pt-BR" sz="2000" dirty="0"/>
              <a:t>no seu código.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Depois pode atribuir o valor para alguém ou fazer alguma comparação: </a:t>
            </a:r>
            <a:endParaRPr lang="pt-BR" sz="2200" dirty="0"/>
          </a:p>
        </p:txBody>
      </p:sp>
      <p:sp>
        <p:nvSpPr>
          <p:cNvPr id="4" name="Retângulo 3"/>
          <p:cNvSpPr/>
          <p:nvPr/>
        </p:nvSpPr>
        <p:spPr>
          <a:xfrm>
            <a:off x="4014482" y="4042648"/>
            <a:ext cx="37444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resultado = soma(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tângulo 4"/>
          <p:cNvSpPr/>
          <p:nvPr/>
        </p:nvSpPr>
        <p:spPr>
          <a:xfrm>
            <a:off x="3870466" y="4833482"/>
            <a:ext cx="40324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(soma(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/***/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95535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Resolvendo 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uma função </a:t>
            </a:r>
            <a:r>
              <a:rPr lang="pt-BR" sz="2000" dirty="0" err="1"/>
              <a:t>calcularMedia</a:t>
            </a:r>
            <a:r>
              <a:rPr lang="pt-BR" sz="2000" dirty="0"/>
              <a:t>, que deve receber as 3 notas e retornar a média ponderada.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Use:</a:t>
            </a:r>
          </a:p>
          <a:p>
            <a:pPr lvl="1" algn="just"/>
            <a:r>
              <a:rPr lang="pt-BR" sz="2000" dirty="0"/>
              <a:t>Nota 1 peso 2</a:t>
            </a:r>
          </a:p>
          <a:p>
            <a:pPr lvl="1" algn="just"/>
            <a:r>
              <a:rPr lang="pt-BR" sz="2000" dirty="0"/>
              <a:t>Nota 2 peso 3</a:t>
            </a:r>
          </a:p>
          <a:p>
            <a:pPr lvl="1" algn="just"/>
            <a:r>
              <a:rPr lang="pt-BR" sz="2000" dirty="0"/>
              <a:t>Nota 3 peso 4</a:t>
            </a:r>
          </a:p>
          <a:p>
            <a:pPr lvl="1"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35553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Resolvendo 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4" name="Retângulo 3"/>
          <p:cNvSpPr/>
          <p:nvPr/>
        </p:nvSpPr>
        <p:spPr>
          <a:xfrm>
            <a:off x="1957722" y="2708920"/>
            <a:ext cx="857929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calcularMedia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n1,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n2,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n3)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(n1*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n2*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n3*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)/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3163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Extra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9878888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É possível uma procedure ser chamada dentro de outra?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Além de organizar nossos códigos em blocos, aas procedures também são usadas para reaproveitar código;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Logo também é possível uma procedure ser chamada dentro de outra. 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86640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Extra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49424"/>
            <a:ext cx="1000911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Opcionalmente você também pode criar suas próprias bibliotecas.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isso crie um novo arquivo vazio no </a:t>
            </a:r>
            <a:r>
              <a:rPr lang="pt-BR" sz="2000" dirty="0" err="1"/>
              <a:t>Code:Blocks</a:t>
            </a:r>
            <a:r>
              <a:rPr lang="pt-BR" sz="2000" dirty="0"/>
              <a:t>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Salve esse arquivo com a extensão “.h”.  Pode salvar o arquivo como </a:t>
            </a:r>
            <a:r>
              <a:rPr lang="pt-BR" sz="2000" u="sng" dirty="0" err="1"/>
              <a:t>matematica.h</a:t>
            </a:r>
            <a:endParaRPr lang="pt-BR" sz="2000" u="sng" dirty="0"/>
          </a:p>
          <a:p>
            <a:pPr algn="just"/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5" y="3429000"/>
            <a:ext cx="6900061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1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Extra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49424"/>
            <a:ext cx="11233248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Retire a </a:t>
            </a:r>
            <a:r>
              <a:rPr lang="pt-BR" sz="2000" dirty="0" err="1"/>
              <a:t>funcao</a:t>
            </a:r>
            <a:r>
              <a:rPr lang="pt-BR" sz="2000" dirty="0"/>
              <a:t> </a:t>
            </a:r>
            <a:r>
              <a:rPr lang="pt-BR" sz="2000" u="sng" dirty="0" err="1"/>
              <a:t>eMultiplo</a:t>
            </a:r>
            <a:r>
              <a:rPr lang="pt-BR" sz="2000" dirty="0"/>
              <a:t> do código principal e o jogue dentro do novo arquivo criado.</a:t>
            </a:r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endParaRPr lang="pt-BR" sz="2000" u="sng" dirty="0"/>
          </a:p>
          <a:p>
            <a:pPr algn="just"/>
            <a:r>
              <a:rPr lang="pt-BR" sz="2000" dirty="0"/>
              <a:t>Nesse arquivo por exemplo poderia existir todas </a:t>
            </a:r>
            <a:r>
              <a:rPr lang="pt-BR" sz="2000" u="sng" dirty="0"/>
              <a:t>procedures</a:t>
            </a:r>
            <a:r>
              <a:rPr lang="pt-BR" sz="2000" dirty="0"/>
              <a:t> relacionado a </a:t>
            </a:r>
            <a:r>
              <a:rPr lang="pt-BR" sz="2000" u="sng" dirty="0"/>
              <a:t>matemática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Sempre que quisesse usar uma dela em algum canto, bastava </a:t>
            </a:r>
            <a:r>
              <a:rPr lang="pt-BR" sz="2000" u="sng" dirty="0"/>
              <a:t>importar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983632"/>
            <a:ext cx="8579842" cy="217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2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Procedure - Extra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7368" y="2249424"/>
            <a:ext cx="11377264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Para importar as procedures de </a:t>
            </a:r>
            <a:r>
              <a:rPr lang="pt-BR" sz="2000" u="sng" dirty="0" err="1"/>
              <a:t>matematica.h</a:t>
            </a:r>
            <a:r>
              <a:rPr lang="pt-BR" sz="2000" dirty="0"/>
              <a:t> no teu código </a:t>
            </a:r>
            <a:r>
              <a:rPr lang="pt-BR" sz="2000" u="sng" dirty="0" err="1"/>
              <a:t>main.c</a:t>
            </a:r>
            <a:r>
              <a:rPr lang="pt-BR" sz="2000" dirty="0"/>
              <a:t>, basta adicionar no código principal: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b="1" dirty="0"/>
              <a:t>Não é &lt;&gt; é aspas duplas!</a:t>
            </a:r>
          </a:p>
          <a:p>
            <a:pPr algn="just"/>
            <a:endParaRPr lang="pt-BR" sz="2000" b="1" dirty="0"/>
          </a:p>
          <a:p>
            <a:pPr algn="just"/>
            <a:endParaRPr lang="pt-BR" sz="2000" b="1" dirty="0"/>
          </a:p>
          <a:p>
            <a:pPr algn="just"/>
            <a:r>
              <a:rPr lang="pt-BR" sz="2000" dirty="0"/>
              <a:t>É assim que é criado um projeto grande, com códigos quebrado em vários arquivos distintos, com suas devidas responsabilidades. 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991544" y="2060848"/>
            <a:ext cx="8229600" cy="4797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algn="just">
              <a:buNone/>
            </a:pP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4684321" y="3092371"/>
            <a:ext cx="30973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matematica.h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407132-B56F-4588-9C56-E2119B9A08E4}"/>
</file>

<file path=customXml/itemProps2.xml><?xml version="1.0" encoding="utf-8"?>
<ds:datastoreItem xmlns:ds="http://schemas.openxmlformats.org/officeDocument/2006/customXml" ds:itemID="{5D2B1238-F108-4020-A09E-1FB805ADE17F}"/>
</file>

<file path=customXml/itemProps3.xml><?xml version="1.0" encoding="utf-8"?>
<ds:datastoreItem xmlns:ds="http://schemas.openxmlformats.org/officeDocument/2006/customXml" ds:itemID="{EF1FE0EE-1FB8-4624-87A9-711E9DBE5D56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2556</TotalTime>
  <Words>1728</Words>
  <Application>Microsoft Office PowerPoint</Application>
  <PresentationFormat>Widescreen</PresentationFormat>
  <Paragraphs>314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Procedure e Function</vt:lpstr>
      <vt:lpstr>Desenvolvendo um código</vt:lpstr>
      <vt:lpstr>Paradigmas de Programação</vt:lpstr>
      <vt:lpstr>Paradigmas de Programação</vt:lpstr>
      <vt:lpstr>Programação Estruturada</vt:lpstr>
      <vt:lpstr>Programação Orientada a Objeto</vt:lpstr>
      <vt:lpstr>Programação Procedural/Modular</vt:lpstr>
      <vt:lpstr>Nosso Paradigma</vt:lpstr>
      <vt:lpstr>PROCEDURE</vt:lpstr>
      <vt:lpstr>Procedure</vt:lpstr>
      <vt:lpstr>Procedure</vt:lpstr>
      <vt:lpstr>Procedure - Praticando</vt:lpstr>
      <vt:lpstr>Procedure - Praticando</vt:lpstr>
      <vt:lpstr>Procedure - Parâmetros</vt:lpstr>
      <vt:lpstr>Procedure - Parâmetros</vt:lpstr>
      <vt:lpstr>Procedure - Parâmetros</vt:lpstr>
      <vt:lpstr>Procedure – Parâmetros - Praticando</vt:lpstr>
      <vt:lpstr>Procedure – Parâmetros - Praticando</vt:lpstr>
      <vt:lpstr>FUNCTION</vt:lpstr>
      <vt:lpstr>Função</vt:lpstr>
      <vt:lpstr>Função</vt:lpstr>
      <vt:lpstr>Função</vt:lpstr>
      <vt:lpstr>Executando uma função</vt:lpstr>
      <vt:lpstr>Resolvendo o problema</vt:lpstr>
      <vt:lpstr>Resolvendo o problema</vt:lpstr>
      <vt:lpstr>Extra </vt:lpstr>
      <vt:lpstr>Extra </vt:lpstr>
      <vt:lpstr>Procedure - Extra </vt:lpstr>
      <vt:lpstr>Procedure - Extra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281</cp:revision>
  <dcterms:created xsi:type="dcterms:W3CDTF">2017-03-10T13:05:03Z</dcterms:created>
  <dcterms:modified xsi:type="dcterms:W3CDTF">2024-12-05T18:59:01Z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