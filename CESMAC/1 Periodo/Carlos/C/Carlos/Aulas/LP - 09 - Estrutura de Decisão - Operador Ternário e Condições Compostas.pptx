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256" r:id="rId2"/>
    <p:sldId id="347" r:id="rId3"/>
    <p:sldId id="348" r:id="rId4"/>
    <p:sldId id="349" r:id="rId5"/>
    <p:sldId id="350" r:id="rId6"/>
    <p:sldId id="352" r:id="rId7"/>
    <p:sldId id="351" r:id="rId8"/>
    <p:sldId id="353" r:id="rId9"/>
    <p:sldId id="354" r:id="rId10"/>
    <p:sldId id="355" r:id="rId11"/>
    <p:sldId id="356" r:id="rId12"/>
    <p:sldId id="357" r:id="rId13"/>
    <p:sldId id="363" r:id="rId14"/>
    <p:sldId id="364" r:id="rId15"/>
    <p:sldId id="360" r:id="rId16"/>
    <p:sldId id="361" r:id="rId17"/>
    <p:sldId id="36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4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51384" y="1412776"/>
            <a:ext cx="11377264" cy="2187674"/>
          </a:xfrm>
        </p:spPr>
        <p:txBody>
          <a:bodyPr>
            <a:noAutofit/>
          </a:bodyPr>
          <a:lstStyle/>
          <a:p>
            <a:r>
              <a:rPr lang="pt-BR" sz="6000" dirty="0"/>
              <a:t>Laboratório de Programação I</a:t>
            </a:r>
            <a:br>
              <a:rPr lang="pt-BR" sz="6000" dirty="0"/>
            </a:br>
            <a:r>
              <a:rPr lang="pt-BR" sz="2800" dirty="0"/>
              <a:t>Estrutura de Decisão – Operador Ternário e Condições Compostas</a:t>
            </a:r>
            <a:endParaRPr lang="pt-BR" sz="1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Estrutura de Decisão</a:t>
            </a:r>
            <a:br>
              <a:rPr lang="pt-BR" sz="6000" dirty="0"/>
            </a:br>
            <a:r>
              <a:rPr lang="pt-BR" sz="6000" dirty="0"/>
              <a:t>Operador Ternário</a:t>
            </a:r>
          </a:p>
        </p:txBody>
      </p:sp>
    </p:spTree>
    <p:extLst>
      <p:ext uri="{BB962C8B-B14F-4D97-AF65-F5344CB8AC3E}">
        <p14:creationId xmlns:p14="http://schemas.microsoft.com/office/powerpoint/2010/main" val="3672546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Ternário (:?)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11391056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Como vimos na aula passada, o </a:t>
            </a:r>
            <a:r>
              <a:rPr lang="pt-BR" sz="2000" u="sng" dirty="0"/>
              <a:t>IF</a:t>
            </a:r>
            <a:r>
              <a:rPr lang="pt-BR" sz="2000" dirty="0"/>
              <a:t> é uma estrutura de condição que executa </a:t>
            </a:r>
            <a:r>
              <a:rPr lang="pt-BR" sz="2000" u="sng" dirty="0"/>
              <a:t>N linhas caso a condição for verdadeira</a:t>
            </a:r>
            <a:r>
              <a:rPr lang="pt-BR" sz="2000" dirty="0"/>
              <a:t> e </a:t>
            </a:r>
            <a:r>
              <a:rPr lang="pt-BR" sz="2000" u="sng" dirty="0"/>
              <a:t>opcionalmente</a:t>
            </a:r>
            <a:r>
              <a:rPr lang="pt-BR" sz="2000" dirty="0"/>
              <a:t> </a:t>
            </a:r>
            <a:r>
              <a:rPr lang="pt-BR" sz="2000" u="sng" dirty="0"/>
              <a:t>N linhas quando a condição for falsa</a:t>
            </a:r>
            <a:endParaRPr lang="pt-BR" sz="1800" u="sng" dirty="0"/>
          </a:p>
        </p:txBody>
      </p:sp>
      <p:sp>
        <p:nvSpPr>
          <p:cNvPr id="16" name="Retângulo 15"/>
          <p:cNvSpPr/>
          <p:nvPr/>
        </p:nvSpPr>
        <p:spPr>
          <a:xfrm>
            <a:off x="3470329" y="3501009"/>
            <a:ext cx="5251342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 Executa esse bloco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 Se a condição for VERDADEIRA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 Executa esse bloco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//Se a condição for FALSA 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230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Ternário (:?)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1117503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O operador ternário é semelhante a um IF - ELSE, porém em uma única linha!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Seu principal papel é executar </a:t>
            </a:r>
            <a:r>
              <a:rPr lang="pt-BR" sz="2000" u="sng" dirty="0"/>
              <a:t>um único comando caso verdade ou outro caso falso</a:t>
            </a:r>
            <a:r>
              <a:rPr lang="pt-BR" sz="2000" dirty="0"/>
              <a:t>.</a:t>
            </a:r>
          </a:p>
          <a:p>
            <a:pPr algn="just"/>
            <a:r>
              <a:rPr lang="pt-BR" sz="2000" dirty="0"/>
              <a:t>Sua sintaxe é dada por:</a:t>
            </a:r>
          </a:p>
          <a:p>
            <a:pPr algn="just"/>
            <a:endParaRPr lang="pt-BR" sz="1800" dirty="0"/>
          </a:p>
        </p:txBody>
      </p:sp>
      <p:sp>
        <p:nvSpPr>
          <p:cNvPr id="16" name="Retângulo 15"/>
          <p:cNvSpPr/>
          <p:nvPr/>
        </p:nvSpPr>
        <p:spPr>
          <a:xfrm>
            <a:off x="3470329" y="5157192"/>
            <a:ext cx="5251342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 Comando caso verdade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 Comando caso falso 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79576" y="4398244"/>
            <a:ext cx="806489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(&lt;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condicao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&gt; ? </a:t>
            </a:r>
            <a:r>
              <a:rPr lang="pt-BR" b="1" dirty="0">
                <a:solidFill>
                  <a:srgbClr val="00B050"/>
                </a:solidFill>
                <a:latin typeface="Consolas" panose="020B0609020204030204" pitchFamily="49" charset="0"/>
              </a:rPr>
              <a:t>&lt;</a:t>
            </a:r>
            <a:r>
              <a:rPr lang="pt-BR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comando_caso_verdade</a:t>
            </a:r>
            <a:r>
              <a:rPr lang="pt-BR" b="1" dirty="0">
                <a:solidFill>
                  <a:srgbClr val="00B05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comando_caso_falso</a:t>
            </a:r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Retângulo Arredondado 16"/>
          <p:cNvSpPr/>
          <p:nvPr/>
        </p:nvSpPr>
        <p:spPr>
          <a:xfrm>
            <a:off x="2279576" y="4374510"/>
            <a:ext cx="1584176" cy="393067"/>
          </a:xfrm>
          <a:prstGeom prst="round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Arredondado 19"/>
          <p:cNvSpPr/>
          <p:nvPr/>
        </p:nvSpPr>
        <p:spPr>
          <a:xfrm>
            <a:off x="3719736" y="5124166"/>
            <a:ext cx="1584176" cy="393067"/>
          </a:xfrm>
          <a:prstGeom prst="round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Arredondado 21"/>
          <p:cNvSpPr/>
          <p:nvPr/>
        </p:nvSpPr>
        <p:spPr>
          <a:xfrm>
            <a:off x="4079776" y="4365105"/>
            <a:ext cx="2880320" cy="393067"/>
          </a:xfrm>
          <a:prstGeom prst="round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Arredondado 22"/>
          <p:cNvSpPr/>
          <p:nvPr/>
        </p:nvSpPr>
        <p:spPr>
          <a:xfrm>
            <a:off x="4511824" y="5412198"/>
            <a:ext cx="2880320" cy="393067"/>
          </a:xfrm>
          <a:prstGeom prst="round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Arredondado 23"/>
          <p:cNvSpPr/>
          <p:nvPr/>
        </p:nvSpPr>
        <p:spPr>
          <a:xfrm>
            <a:off x="7176120" y="4365105"/>
            <a:ext cx="2880320" cy="393067"/>
          </a:xfrm>
          <a:prstGeom prst="round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Arredondado 24"/>
          <p:cNvSpPr/>
          <p:nvPr/>
        </p:nvSpPr>
        <p:spPr>
          <a:xfrm>
            <a:off x="4511824" y="5988262"/>
            <a:ext cx="2880320" cy="393067"/>
          </a:xfrm>
          <a:prstGeom prst="round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Angulado 25"/>
          <p:cNvCxnSpPr>
            <a:stCxn id="20" idx="1"/>
            <a:endCxn id="17" idx="2"/>
          </p:cNvCxnSpPr>
          <p:nvPr/>
        </p:nvCxnSpPr>
        <p:spPr>
          <a:xfrm rot="10800000">
            <a:off x="3071664" y="4767578"/>
            <a:ext cx="648072" cy="55312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Conector Angulado 27"/>
          <p:cNvCxnSpPr>
            <a:stCxn id="23" idx="0"/>
            <a:endCxn id="22" idx="2"/>
          </p:cNvCxnSpPr>
          <p:nvPr/>
        </p:nvCxnSpPr>
        <p:spPr>
          <a:xfrm rot="16200000" flipV="1">
            <a:off x="5408947" y="4869160"/>
            <a:ext cx="654026" cy="4320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Conector Angulado 29"/>
          <p:cNvCxnSpPr>
            <a:stCxn id="25" idx="3"/>
            <a:endCxn id="24" idx="2"/>
          </p:cNvCxnSpPr>
          <p:nvPr/>
        </p:nvCxnSpPr>
        <p:spPr>
          <a:xfrm flipV="1">
            <a:off x="7392144" y="4758171"/>
            <a:ext cx="1224136" cy="142662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72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2" grpId="0" animBg="1"/>
      <p:bldP spid="17" grpId="0" animBg="1"/>
      <p:bldP spid="2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Ternário (:?)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2211953"/>
            <a:ext cx="9731424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O código a seguir, poderia ser feito:</a:t>
            </a:r>
          </a:p>
          <a:p>
            <a:pPr algn="just"/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5827978" y="1988840"/>
            <a:ext cx="4876534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valor;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valor: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&amp;valor);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(valor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"Valor é maior que 10"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"Valor é menor que 10"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tângulo 4"/>
          <p:cNvSpPr/>
          <p:nvPr/>
        </p:nvSpPr>
        <p:spPr>
          <a:xfrm>
            <a:off x="1524000" y="4862901"/>
            <a:ext cx="9324528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valor;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um valor: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&amp;valor);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(valor &gt;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?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"Valor é maior que 10"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: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"Valor é menor que 10"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139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Ternário (:?)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109728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Porém o operador ternário tem suas limitações como:</a:t>
            </a:r>
          </a:p>
          <a:p>
            <a:pPr lvl="1" algn="just"/>
            <a:r>
              <a:rPr lang="pt-BR" sz="1800" dirty="0"/>
              <a:t>Só pode ser executado um único comando por condição;</a:t>
            </a:r>
          </a:p>
          <a:p>
            <a:pPr lvl="1" algn="just"/>
            <a:r>
              <a:rPr lang="pt-BR" sz="1800" dirty="0"/>
              <a:t>O comando não pode ser de atribuição:</a:t>
            </a:r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Entretanto, o conteúdo executado, pode ser retornado para uma variável:</a:t>
            </a:r>
          </a:p>
          <a:p>
            <a:pPr marL="411480" lvl="1" indent="0" algn="just">
              <a:buNone/>
            </a:pPr>
            <a:endParaRPr lang="pt-BR" sz="1800" dirty="0"/>
          </a:p>
          <a:p>
            <a:pPr algn="just"/>
            <a:endParaRPr lang="pt-BR" sz="1800" dirty="0"/>
          </a:p>
        </p:txBody>
      </p:sp>
      <p:sp>
        <p:nvSpPr>
          <p:cNvPr id="6" name="Retângulo 5"/>
          <p:cNvSpPr/>
          <p:nvPr/>
        </p:nvSpPr>
        <p:spPr>
          <a:xfrm>
            <a:off x="2135560" y="3429000"/>
            <a:ext cx="72008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(valor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? valor = valor +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: valor = valor *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7" name="Multiplicar 6"/>
          <p:cNvSpPr/>
          <p:nvPr/>
        </p:nvSpPr>
        <p:spPr>
          <a:xfrm>
            <a:off x="3179676" y="3348506"/>
            <a:ext cx="5832648" cy="720080"/>
          </a:xfrm>
          <a:prstGeom prst="mathMultiply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2495600" y="5068620"/>
            <a:ext cx="597666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valor = (valor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? valor +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: valor *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1026" name="Picture 2" descr="Imagem relacionad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317" y="4850717"/>
            <a:ext cx="848086" cy="86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2495600" y="5867980"/>
            <a:ext cx="417646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valor += (valor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?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13" name="Picture 2" descr="Imagem relacionad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117" y="5648677"/>
            <a:ext cx="848086" cy="86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42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Ternário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11953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receba um valor. </a:t>
            </a:r>
          </a:p>
          <a:p>
            <a:pPr algn="just"/>
            <a:r>
              <a:rPr lang="pt-BR" sz="2000" dirty="0"/>
              <a:t>Caso esse valor seja </a:t>
            </a:r>
            <a:r>
              <a:rPr lang="pt-BR" sz="2000" u="sng" dirty="0"/>
              <a:t>par</a:t>
            </a:r>
            <a:r>
              <a:rPr lang="pt-BR" sz="2000" dirty="0"/>
              <a:t>, </a:t>
            </a:r>
            <a:r>
              <a:rPr lang="pt-BR" sz="2000" u="sng" dirty="0"/>
              <a:t>incremente</a:t>
            </a:r>
            <a:r>
              <a:rPr lang="pt-BR" sz="2000" dirty="0"/>
              <a:t> seu valor em 1. </a:t>
            </a:r>
          </a:p>
          <a:p>
            <a:pPr algn="just"/>
            <a:r>
              <a:rPr lang="pt-BR" sz="2000" dirty="0"/>
              <a:t>Caso seja valor seja </a:t>
            </a:r>
            <a:r>
              <a:rPr lang="pt-BR" sz="2000" u="sng" dirty="0"/>
              <a:t>impar</a:t>
            </a:r>
            <a:r>
              <a:rPr lang="pt-BR" sz="2000" dirty="0"/>
              <a:t>, </a:t>
            </a:r>
            <a:r>
              <a:rPr lang="pt-BR" sz="2000" u="sng" dirty="0"/>
              <a:t>decremente</a:t>
            </a:r>
            <a:r>
              <a:rPr lang="pt-BR" sz="2000" dirty="0"/>
              <a:t> seu valor em 1; </a:t>
            </a:r>
          </a:p>
          <a:p>
            <a:pPr algn="just"/>
            <a:endParaRPr lang="pt-BR" sz="18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3717285"/>
            <a:ext cx="3286125" cy="65722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76" y="3668343"/>
            <a:ext cx="307657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17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Ternário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11953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3791744" y="2066185"/>
            <a:ext cx="5256584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valor;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valor: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&amp;valor);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(valor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? valor++ : valor--);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 valor final é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valor);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tângulo 4"/>
          <p:cNvSpPr/>
          <p:nvPr/>
        </p:nvSpPr>
        <p:spPr>
          <a:xfrm>
            <a:off x="2207568" y="4383495"/>
            <a:ext cx="5194920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valor;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valor: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&amp;valor);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valor += (valor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?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: -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 valor final é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valor);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6900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Condições Compostas</a:t>
            </a:r>
          </a:p>
        </p:txBody>
      </p:sp>
    </p:spTree>
    <p:extLst>
      <p:ext uri="{BB962C8B-B14F-4D97-AF65-F5344CB8AC3E}">
        <p14:creationId xmlns:p14="http://schemas.microsoft.com/office/powerpoint/2010/main" val="1924581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Condição Composta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95400" y="2211953"/>
            <a:ext cx="11233248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Até o momento, estávamos trabalhando nosso IF ou Operador Ternário apenas com uma única condição.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Essas condições compostas são baseadas em “E” / “OU”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Exemplo:</a:t>
            </a:r>
          </a:p>
          <a:p>
            <a:pPr lvl="1" algn="just"/>
            <a:r>
              <a:rPr lang="pt-BR" sz="2000" dirty="0"/>
              <a:t>Eu vou para praia se tiver com dinheiro </a:t>
            </a:r>
            <a:r>
              <a:rPr lang="pt-BR" sz="2000" b="1" dirty="0"/>
              <a:t>EEE</a:t>
            </a:r>
            <a:r>
              <a:rPr lang="pt-BR" sz="2000" dirty="0"/>
              <a:t> tiver fazendo sol</a:t>
            </a:r>
          </a:p>
          <a:p>
            <a:pPr lvl="2" algn="just"/>
            <a:r>
              <a:rPr lang="pt-BR" sz="2000" dirty="0"/>
              <a:t>Só vou se as duas condições forem verdade (E)</a:t>
            </a:r>
          </a:p>
          <a:p>
            <a:pPr lvl="2" algn="just"/>
            <a:endParaRPr lang="pt-BR" sz="2000" dirty="0"/>
          </a:p>
          <a:p>
            <a:pPr lvl="1" algn="just"/>
            <a:r>
              <a:rPr lang="pt-BR" sz="2000" dirty="0"/>
              <a:t>Eu vou para o Cinema se o João </a:t>
            </a:r>
            <a:r>
              <a:rPr lang="pt-BR" sz="2000" b="1" dirty="0"/>
              <a:t>OOOU</a:t>
            </a:r>
            <a:r>
              <a:rPr lang="pt-BR" sz="2000" dirty="0"/>
              <a:t> a Maria for.</a:t>
            </a:r>
          </a:p>
          <a:p>
            <a:pPr lvl="2" algn="just"/>
            <a:r>
              <a:rPr lang="pt-BR" sz="2000" dirty="0"/>
              <a:t>Só vou se pelo menos uma das condições for verdade (OU)</a:t>
            </a:r>
          </a:p>
        </p:txBody>
      </p:sp>
    </p:spTree>
    <p:extLst>
      <p:ext uri="{BB962C8B-B14F-4D97-AF65-F5344CB8AC3E}">
        <p14:creationId xmlns:p14="http://schemas.microsoft.com/office/powerpoint/2010/main" val="236342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17227"/>
              </p:ext>
            </p:extLst>
          </p:nvPr>
        </p:nvGraphicFramePr>
        <p:xfrm>
          <a:off x="2783632" y="3158976"/>
          <a:ext cx="69179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645">
                  <a:extLst>
                    <a:ext uri="{9D8B030D-6E8A-4147-A177-3AD203B41FA5}">
                      <a16:colId xmlns:a16="http://schemas.microsoft.com/office/drawing/2014/main" val="2551637252"/>
                    </a:ext>
                  </a:extLst>
                </a:gridCol>
                <a:gridCol w="1640699">
                  <a:extLst>
                    <a:ext uri="{9D8B030D-6E8A-4147-A177-3AD203B41FA5}">
                      <a16:colId xmlns:a16="http://schemas.microsoft.com/office/drawing/2014/main" val="2568199095"/>
                    </a:ext>
                  </a:extLst>
                </a:gridCol>
                <a:gridCol w="2092111">
                  <a:extLst>
                    <a:ext uri="{9D8B030D-6E8A-4147-A177-3AD203B41FA5}">
                      <a16:colId xmlns:a16="http://schemas.microsoft.com/office/drawing/2014/main" val="3056891718"/>
                    </a:ext>
                  </a:extLst>
                </a:gridCol>
                <a:gridCol w="1729485">
                  <a:extLst>
                    <a:ext uri="{9D8B030D-6E8A-4147-A177-3AD203B41FA5}">
                      <a16:colId xmlns:a16="http://schemas.microsoft.com/office/drawing/2014/main" val="4227938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 (Cond1)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Q (Cond2)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 P </a:t>
                      </a:r>
                      <a:r>
                        <a:rPr lang="pt-BR" baseline="0" dirty="0"/>
                        <a:t> /\ Q (E)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 P \/</a:t>
                      </a:r>
                      <a:r>
                        <a:rPr lang="pt-BR" baseline="0" dirty="0"/>
                        <a:t> Q (OU)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141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13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013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301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982464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310504"/>
              </p:ext>
            </p:extLst>
          </p:nvPr>
        </p:nvGraphicFramePr>
        <p:xfrm>
          <a:off x="2783632" y="3140968"/>
          <a:ext cx="69179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645">
                  <a:extLst>
                    <a:ext uri="{9D8B030D-6E8A-4147-A177-3AD203B41FA5}">
                      <a16:colId xmlns:a16="http://schemas.microsoft.com/office/drawing/2014/main" val="2551637252"/>
                    </a:ext>
                  </a:extLst>
                </a:gridCol>
                <a:gridCol w="1640699">
                  <a:extLst>
                    <a:ext uri="{9D8B030D-6E8A-4147-A177-3AD203B41FA5}">
                      <a16:colId xmlns:a16="http://schemas.microsoft.com/office/drawing/2014/main" val="2568199095"/>
                    </a:ext>
                  </a:extLst>
                </a:gridCol>
                <a:gridCol w="2092111">
                  <a:extLst>
                    <a:ext uri="{9D8B030D-6E8A-4147-A177-3AD203B41FA5}">
                      <a16:colId xmlns:a16="http://schemas.microsoft.com/office/drawing/2014/main" val="3056891718"/>
                    </a:ext>
                  </a:extLst>
                </a:gridCol>
                <a:gridCol w="1729485">
                  <a:extLst>
                    <a:ext uri="{9D8B030D-6E8A-4147-A177-3AD203B41FA5}">
                      <a16:colId xmlns:a16="http://schemas.microsoft.com/office/drawing/2014/main" val="4227938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 (Cond1)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Q (Cond2)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 P </a:t>
                      </a:r>
                      <a:r>
                        <a:rPr lang="pt-BR" baseline="0" dirty="0"/>
                        <a:t> /\ Q (E)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 P \/</a:t>
                      </a:r>
                      <a:r>
                        <a:rPr lang="pt-BR" baseline="0" dirty="0"/>
                        <a:t> Q (OU)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141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13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013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301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982464"/>
                  </a:ext>
                </a:extLst>
              </a:tr>
            </a:tbl>
          </a:graphicData>
        </a:graphic>
      </p:graphicFrame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Condição Composta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67408" y="2211953"/>
            <a:ext cx="944339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Para declarar uma condições composta iremos usar a tabela verdade!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912770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Condição Composta na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67408" y="2211953"/>
            <a:ext cx="944339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Na programação o E é representada por “&amp;&amp;”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lvl="1" algn="just"/>
            <a:r>
              <a:rPr lang="pt-BR" sz="1800" dirty="0"/>
              <a:t>Valor pode ser 5, 6, 7, 8, 9 e 10</a:t>
            </a:r>
          </a:p>
          <a:p>
            <a:pPr lvl="1" algn="just"/>
            <a:endParaRPr lang="pt-BR" sz="2000" dirty="0"/>
          </a:p>
          <a:p>
            <a:pPr algn="just"/>
            <a:r>
              <a:rPr lang="pt-BR" sz="2000" dirty="0"/>
              <a:t>Na programação o OU é representada por “||”</a:t>
            </a:r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lvl="1" algn="just"/>
            <a:r>
              <a:rPr lang="pt-BR" sz="1800" dirty="0"/>
              <a:t>O valor pode ser 0, 3, 5, 6, 9, 10, 12, 15, 18...</a:t>
            </a:r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</p:txBody>
      </p:sp>
      <p:sp>
        <p:nvSpPr>
          <p:cNvPr id="5" name="Retângulo 4"/>
          <p:cNvSpPr/>
          <p:nvPr/>
        </p:nvSpPr>
        <p:spPr>
          <a:xfrm>
            <a:off x="3071664" y="2852937"/>
            <a:ext cx="518457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(valor &gt;=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valor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 valor está entre 5 e 10"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Retângulo 6"/>
          <p:cNvSpPr/>
          <p:nvPr/>
        </p:nvSpPr>
        <p:spPr>
          <a:xfrm>
            <a:off x="3071664" y="4869161"/>
            <a:ext cx="576064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(valor % 3 == 0 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||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valor % 5 == 0)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 valor é múltiplo de 3 ou 5"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4613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Condição Composta na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109728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Considerações da programação:</a:t>
            </a:r>
          </a:p>
          <a:p>
            <a:pPr lvl="1" algn="just"/>
            <a:r>
              <a:rPr lang="pt-BR" sz="2000" dirty="0"/>
              <a:t>NO &amp;&amp;, se a </a:t>
            </a:r>
            <a:r>
              <a:rPr lang="pt-BR" sz="2000" u="sng" dirty="0"/>
              <a:t>primeira condição for falsa</a:t>
            </a:r>
            <a:r>
              <a:rPr lang="pt-BR" sz="2000" dirty="0"/>
              <a:t>, o programa nem analisa a segunda.</a:t>
            </a:r>
          </a:p>
          <a:p>
            <a:pPr lvl="1" algn="just"/>
            <a:endParaRPr lang="pt-BR" sz="2000" dirty="0"/>
          </a:p>
          <a:p>
            <a:pPr lvl="1" algn="just"/>
            <a:r>
              <a:rPr lang="pt-BR" sz="2000" dirty="0"/>
              <a:t>No ||, se a </a:t>
            </a:r>
            <a:r>
              <a:rPr lang="pt-BR" sz="2000" u="sng" dirty="0"/>
              <a:t>primeira condição for verdadeira</a:t>
            </a:r>
            <a:r>
              <a:rPr lang="pt-BR" sz="2000" dirty="0"/>
              <a:t>, o programa nem analisa as próximas.</a:t>
            </a:r>
          </a:p>
          <a:p>
            <a:pPr algn="just"/>
            <a:endParaRPr lang="pt-BR" sz="2000" dirty="0"/>
          </a:p>
          <a:p>
            <a:pPr algn="just"/>
            <a:r>
              <a:rPr lang="pt-BR" sz="1800" dirty="0"/>
              <a:t>Posso ter mais de 2 condições?</a:t>
            </a:r>
          </a:p>
          <a:p>
            <a:pPr algn="just"/>
            <a:r>
              <a:rPr lang="pt-BR" sz="1800" dirty="0"/>
              <a:t> Posso: </a:t>
            </a:r>
          </a:p>
        </p:txBody>
      </p:sp>
      <p:sp>
        <p:nvSpPr>
          <p:cNvPr id="6" name="Retângulo 5"/>
          <p:cNvSpPr/>
          <p:nvPr/>
        </p:nvSpPr>
        <p:spPr>
          <a:xfrm>
            <a:off x="2279576" y="4941168"/>
            <a:ext cx="748883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((valor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|| valor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&amp;&amp; valor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 valor é 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multiplo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 de 3 ou 5 e é par"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67619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Condição Composta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51384" y="2211953"/>
            <a:ext cx="1152128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 programa que deve </a:t>
            </a:r>
            <a:r>
              <a:rPr lang="pt-BR" sz="2000" u="sng" dirty="0"/>
              <a:t>receber o valor de um ano </a:t>
            </a:r>
            <a:r>
              <a:rPr lang="pt-BR" sz="2000" dirty="0"/>
              <a:t>e informar se  ano é </a:t>
            </a:r>
            <a:r>
              <a:rPr lang="pt-BR" sz="2000" u="sng" dirty="0"/>
              <a:t>bissexto ou não</a:t>
            </a:r>
            <a:r>
              <a:rPr lang="pt-BR" sz="2000" dirty="0"/>
              <a:t>, sabendo que apenas os anos com a condição abaixo são bissextos:</a:t>
            </a:r>
          </a:p>
          <a:p>
            <a:pPr lvl="1" algn="just"/>
            <a:r>
              <a:rPr lang="pt-BR" sz="2000" dirty="0"/>
              <a:t>O ano é bissexto se for múltiplo de 4 (2008, 2012, 2016, 2020...)</a:t>
            </a:r>
          </a:p>
          <a:p>
            <a:pPr lvl="1" algn="just"/>
            <a:r>
              <a:rPr lang="pt-BR" sz="2000" dirty="0"/>
              <a:t>Mas não é múltiplo de 100 (1500, 1900, 2100, 2200...)</a:t>
            </a:r>
          </a:p>
          <a:p>
            <a:pPr lvl="1" algn="just"/>
            <a:r>
              <a:rPr lang="pt-BR" sz="2000" dirty="0"/>
              <a:t>Ou é múltiplo de 400 (400, 800, 1600, 2000, 2400...) </a:t>
            </a:r>
            <a:r>
              <a:rPr lang="pt-BR" sz="1600" dirty="0"/>
              <a:t>	</a:t>
            </a:r>
          </a:p>
          <a:p>
            <a:pPr lvl="1" algn="just"/>
            <a:endParaRPr lang="pt-BR" sz="14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718" y="4506813"/>
            <a:ext cx="3238500" cy="67627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6155420-36AC-5667-B120-312F50477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599" y="4506812"/>
            <a:ext cx="3394720" cy="7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1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Condição Composta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11953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4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7AF9E4F-4B09-0AB4-5687-B4D98A0C89BD}"/>
              </a:ext>
            </a:extLst>
          </p:cNvPr>
          <p:cNvSpPr/>
          <p:nvPr/>
        </p:nvSpPr>
        <p:spPr>
          <a:xfrm>
            <a:off x="2279576" y="2708920"/>
            <a:ext cx="7848872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  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ano;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ano: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&amp;ano);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((ano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&amp;&amp; ano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0)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|| ano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ano Bissexto"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"Não é ano bissexto"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165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Condição Composta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2211953"/>
            <a:ext cx="11103024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 programa que verifique se a pessoa está ou não liberada do exercito respeitando as seguintes condições:</a:t>
            </a:r>
          </a:p>
          <a:p>
            <a:pPr lvl="1" algn="just"/>
            <a:r>
              <a:rPr lang="pt-BR" sz="2000" dirty="0"/>
              <a:t>Se o gênero da pessoa for feminino ou for menor de 18 anos, não precisa se alistar no exercito.</a:t>
            </a:r>
          </a:p>
          <a:p>
            <a:pPr lvl="1" algn="just"/>
            <a:endParaRPr lang="pt-BR" sz="2000" dirty="0"/>
          </a:p>
          <a:p>
            <a:pPr lvl="1" algn="just"/>
            <a:endParaRPr lang="pt-BR" sz="2000" dirty="0"/>
          </a:p>
          <a:p>
            <a:pPr lvl="1" algn="just"/>
            <a:endParaRPr lang="pt-BR" sz="2000" dirty="0"/>
          </a:p>
          <a:p>
            <a:pPr lvl="1" algn="just"/>
            <a:endParaRPr lang="pt-BR" sz="2000" dirty="0"/>
          </a:p>
          <a:p>
            <a:pPr algn="just"/>
            <a:r>
              <a:rPr lang="pt-BR" sz="2200" dirty="0"/>
              <a:t>*OBS: Para comparação de </a:t>
            </a:r>
            <a:r>
              <a:rPr lang="pt-BR" sz="2200" dirty="0" err="1"/>
              <a:t>String</a:t>
            </a:r>
            <a:r>
              <a:rPr lang="pt-BR" sz="2200" dirty="0"/>
              <a:t> use o método </a:t>
            </a:r>
            <a:r>
              <a:rPr lang="pt-BR" sz="2200" u="sng" dirty="0" err="1"/>
              <a:t>s</a:t>
            </a:r>
            <a:r>
              <a:rPr lang="pt-BR" sz="2000" u="sng" dirty="0" err="1"/>
              <a:t>trcmp</a:t>
            </a:r>
            <a:r>
              <a:rPr lang="pt-BR" sz="2000" u="sng" dirty="0"/>
              <a:t>(</a:t>
            </a:r>
            <a:r>
              <a:rPr lang="pt-BR" sz="2000" u="sng" dirty="0" err="1"/>
              <a:t>variavel</a:t>
            </a:r>
            <a:r>
              <a:rPr lang="pt-BR" sz="2000" u="sng" dirty="0"/>
              <a:t>, “</a:t>
            </a:r>
            <a:r>
              <a:rPr lang="pt-BR" sz="2000" u="sng" dirty="0" err="1"/>
              <a:t>valor_comparado</a:t>
            </a:r>
            <a:r>
              <a:rPr lang="pt-BR" sz="2000" u="sng" dirty="0"/>
              <a:t>”)</a:t>
            </a:r>
            <a:r>
              <a:rPr lang="pt-BR" sz="2000" dirty="0"/>
              <a:t>, que faz parte da biblioteca </a:t>
            </a:r>
            <a:r>
              <a:rPr lang="pt-BR" sz="2000" u="sng" dirty="0" err="1"/>
              <a:t>strings.h</a:t>
            </a:r>
            <a:r>
              <a:rPr lang="pt-BR" sz="2000" u="sng" dirty="0"/>
              <a:t>, </a:t>
            </a:r>
            <a:r>
              <a:rPr lang="pt-BR" sz="2000" dirty="0"/>
              <a:t>se o valor for igual a 0 é porque é a mesma palavra.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3573017"/>
            <a:ext cx="3860222" cy="1205111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452" y="3573017"/>
            <a:ext cx="4067349" cy="1205897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3359696" y="5733256"/>
            <a:ext cx="525658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strcmp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(exemplo,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mario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 texto informado é 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mario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27322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Condição Composta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11953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400" dirty="0"/>
          </a:p>
        </p:txBody>
      </p:sp>
      <p:sp>
        <p:nvSpPr>
          <p:cNvPr id="4" name="Retângulo 3"/>
          <p:cNvSpPr/>
          <p:nvPr/>
        </p:nvSpPr>
        <p:spPr>
          <a:xfrm>
            <a:off x="3359696" y="2060849"/>
            <a:ext cx="6984776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idade;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genero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"Seu gênero é masculino ou feminino?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genero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"Qual sua idade?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&amp;idade);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(idade &lt;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18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strcmp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genero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"feminino"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"Está liberado"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"Precisa se apresentar"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969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EF869A-BC27-4E57-86D3-1AC27BDE26EA}"/>
</file>

<file path=customXml/itemProps2.xml><?xml version="1.0" encoding="utf-8"?>
<ds:datastoreItem xmlns:ds="http://schemas.openxmlformats.org/officeDocument/2006/customXml" ds:itemID="{F43D2922-7569-4810-B226-E847E35B4B3D}"/>
</file>

<file path=customXml/itemProps3.xml><?xml version="1.0" encoding="utf-8"?>
<ds:datastoreItem xmlns:ds="http://schemas.openxmlformats.org/officeDocument/2006/customXml" ds:itemID="{1405B27F-CC19-4844-ABFA-A60F9AA45416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1701</TotalTime>
  <Words>1277</Words>
  <Application>Microsoft Office PowerPoint</Application>
  <PresentationFormat>Widescreen</PresentationFormat>
  <Paragraphs>191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Calibri</vt:lpstr>
      <vt:lpstr>Consolas</vt:lpstr>
      <vt:lpstr>Georgia</vt:lpstr>
      <vt:lpstr>Trebuchet MS</vt:lpstr>
      <vt:lpstr>Wingdings 2</vt:lpstr>
      <vt:lpstr>Urbano</vt:lpstr>
      <vt:lpstr>Laboratório de Programação I Estrutura de Decisão – Operador Ternário e Condições Compostas</vt:lpstr>
      <vt:lpstr>Estrutura de Decisão Operador Ternário</vt:lpstr>
      <vt:lpstr>Operador Ternário (:?)</vt:lpstr>
      <vt:lpstr>Operador Ternário (:?)</vt:lpstr>
      <vt:lpstr>Operador Ternário (:?)</vt:lpstr>
      <vt:lpstr>Operador Ternário (:?)</vt:lpstr>
      <vt:lpstr>Operador Ternário - Praticando</vt:lpstr>
      <vt:lpstr>Operador Ternário - Praticando</vt:lpstr>
      <vt:lpstr>Condições Compostas</vt:lpstr>
      <vt:lpstr>Condição Composta</vt:lpstr>
      <vt:lpstr>Condição Composta</vt:lpstr>
      <vt:lpstr>Condição Composta na Programação</vt:lpstr>
      <vt:lpstr>Condição Composta na Programação</vt:lpstr>
      <vt:lpstr>Condição Composta - Praticando</vt:lpstr>
      <vt:lpstr>Condição Composta - Praticando</vt:lpstr>
      <vt:lpstr>Condição Composta - Praticando</vt:lpstr>
      <vt:lpstr>Condição Composta - Praticando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217</cp:revision>
  <dcterms:created xsi:type="dcterms:W3CDTF">2017-03-10T13:05:03Z</dcterms:created>
  <dcterms:modified xsi:type="dcterms:W3CDTF">2024-12-05T13:11:53Z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