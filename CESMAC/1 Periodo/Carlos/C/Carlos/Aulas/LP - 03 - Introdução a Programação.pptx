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7"/>
  </p:notesMasterIdLst>
  <p:sldIdLst>
    <p:sldId id="256" r:id="rId2"/>
    <p:sldId id="265" r:id="rId3"/>
    <p:sldId id="257" r:id="rId4"/>
    <p:sldId id="324" r:id="rId5"/>
    <p:sldId id="301" r:id="rId6"/>
    <p:sldId id="304" r:id="rId7"/>
    <p:sldId id="303" r:id="rId8"/>
    <p:sldId id="302" r:id="rId9"/>
    <p:sldId id="305" r:id="rId10"/>
    <p:sldId id="268" r:id="rId11"/>
    <p:sldId id="300" r:id="rId12"/>
    <p:sldId id="279" r:id="rId13"/>
    <p:sldId id="281" r:id="rId14"/>
    <p:sldId id="282" r:id="rId15"/>
    <p:sldId id="283" r:id="rId16"/>
    <p:sldId id="325" r:id="rId17"/>
    <p:sldId id="272" r:id="rId18"/>
    <p:sldId id="307" r:id="rId19"/>
    <p:sldId id="309" r:id="rId20"/>
    <p:sldId id="308" r:id="rId21"/>
    <p:sldId id="310" r:id="rId22"/>
    <p:sldId id="311" r:id="rId23"/>
    <p:sldId id="312" r:id="rId24"/>
    <p:sldId id="313" r:id="rId25"/>
    <p:sldId id="314" r:id="rId26"/>
    <p:sldId id="315" r:id="rId27"/>
    <p:sldId id="317" r:id="rId28"/>
    <p:sldId id="316" r:id="rId29"/>
    <p:sldId id="318" r:id="rId30"/>
    <p:sldId id="319" r:id="rId31"/>
    <p:sldId id="322" r:id="rId32"/>
    <p:sldId id="323" r:id="rId33"/>
    <p:sldId id="306" r:id="rId34"/>
    <p:sldId id="320" r:id="rId35"/>
    <p:sldId id="321" r:id="rId3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2496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CD27BF-5A77-4FF9-8400-4B8E709EB083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6EFE9-8848-4E94-B2E4-46DCA18F97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7412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6EFE9-8848-4E94-B2E4-46DCA18F97A0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5798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6EFE9-8848-4E94-B2E4-46DCA18F97A0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55688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6EFE9-8848-4E94-B2E4-46DCA18F97A0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3571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6EFE9-8848-4E94-B2E4-46DCA18F97A0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5441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4" name="Retângulo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5" name="Retângulo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6" name="Retângulo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7" name="Retângulo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0" name="Retângulo de cantos arredondados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1" name="Retângulo de cantos arredondados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7" name="Retângulo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tângulo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tângulo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9" name="Retângulo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609600" y="2401888"/>
            <a:ext cx="112776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8940800" y="4206240"/>
            <a:ext cx="1280160" cy="45720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7213600" y="4205288"/>
            <a:ext cx="172720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1981201"/>
            <a:ext cx="103632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26" name="Espaço Reservado para Data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28" name="Espaço Reservado para Rodapé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137995" y="1101970"/>
            <a:ext cx="451104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042400" y="1143000"/>
            <a:ext cx="2540000" cy="5486400"/>
          </a:xfrm>
        </p:spPr>
        <p:txBody>
          <a:bodyPr vert="eaVert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1143000"/>
            <a:ext cx="8331200" cy="5486400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9" name="Retângulo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0" name="Retângulo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1" name="Retângulo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tângulo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3" name="Retângulo de cantos arredondados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4" name="Retângulo de cantos arredondados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5" name="Retângulo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6" name="Retângulo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7" name="Retângulo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8" name="Retângulo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9" name="Retângulo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40" name="Retângulo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pt-BR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nlinegdb.com/online_c_compiler" TargetMode="External"/><Relationship Id="rId2" Type="http://schemas.openxmlformats.org/officeDocument/2006/relationships/hyperlink" Target="http://rextester.com/l/c_online_compiler_gcc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11424" y="836713"/>
            <a:ext cx="10657184" cy="2763739"/>
          </a:xfrm>
        </p:spPr>
        <p:txBody>
          <a:bodyPr>
            <a:noAutofit/>
          </a:bodyPr>
          <a:lstStyle/>
          <a:p>
            <a:r>
              <a:rPr lang="pt-BR" sz="6000" dirty="0"/>
              <a:t>Laboratório de Programação I</a:t>
            </a:r>
            <a:r>
              <a:rPr lang="pt-BR" sz="5400" dirty="0"/>
              <a:t> </a:t>
            </a:r>
            <a:r>
              <a:rPr lang="pt-BR" dirty="0"/>
              <a:t>Introdução a Programação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207568" y="5301208"/>
            <a:ext cx="6400800" cy="1104528"/>
          </a:xfrm>
        </p:spPr>
        <p:txBody>
          <a:bodyPr/>
          <a:lstStyle/>
          <a:p>
            <a:pPr algn="l"/>
            <a:r>
              <a:rPr lang="pt-BR" dirty="0"/>
              <a:t>Professor: Carlos Alberto</a:t>
            </a:r>
          </a:p>
          <a:p>
            <a:pPr algn="l"/>
            <a:r>
              <a:rPr lang="pt-BR" dirty="0" err="1"/>
              <a:t>Email</a:t>
            </a:r>
            <a:r>
              <a:rPr lang="pt-BR" dirty="0"/>
              <a:t>: carloswgama@gmail.com</a:t>
            </a:r>
          </a:p>
        </p:txBody>
      </p:sp>
    </p:spTree>
    <p:extLst>
      <p:ext uri="{BB962C8B-B14F-4D97-AF65-F5344CB8AC3E}">
        <p14:creationId xmlns:p14="http://schemas.microsoft.com/office/powerpoint/2010/main" val="3054800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81200" y="1143000"/>
            <a:ext cx="8229600" cy="5022304"/>
          </a:xfrm>
        </p:spPr>
        <p:txBody>
          <a:bodyPr>
            <a:normAutofit/>
          </a:bodyPr>
          <a:lstStyle/>
          <a:p>
            <a:pPr algn="ctr"/>
            <a:r>
              <a:rPr lang="pt-BR" sz="6000" dirty="0"/>
              <a:t>Algoritmo</a:t>
            </a:r>
          </a:p>
        </p:txBody>
      </p:sp>
    </p:spTree>
    <p:extLst>
      <p:ext uri="{BB962C8B-B14F-4D97-AF65-F5344CB8AC3E}">
        <p14:creationId xmlns:p14="http://schemas.microsoft.com/office/powerpoint/2010/main" val="935046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Algoritmo?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Vamos relembrar: o que é4 um algoritmo? </a:t>
            </a:r>
          </a:p>
          <a:p>
            <a:pPr lvl="1" algn="just"/>
            <a:r>
              <a:rPr lang="pt-BR" sz="1800" dirty="0"/>
              <a:t>São os passos realizados para resolver um problema.</a:t>
            </a:r>
          </a:p>
          <a:p>
            <a:pPr lvl="1" algn="just"/>
            <a:endParaRPr lang="pt-BR" sz="1800" dirty="0"/>
          </a:p>
          <a:p>
            <a:pPr algn="just"/>
            <a:r>
              <a:rPr lang="pt-BR" sz="2000" dirty="0"/>
              <a:t>Em programação um algoritmo é o próprio script (o passo a passo) criado pelo programador define para o programa realizar.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Qual linguagem iremos trabalhar? </a:t>
            </a:r>
          </a:p>
          <a:p>
            <a:pPr lvl="1" algn="just"/>
            <a:r>
              <a:rPr lang="pt-BR" sz="1800" dirty="0"/>
              <a:t>C</a:t>
            </a:r>
          </a:p>
          <a:p>
            <a:pPr lvl="1" algn="just"/>
            <a:endParaRPr lang="pt-BR" sz="1800" dirty="0"/>
          </a:p>
          <a:p>
            <a:pPr algn="just"/>
            <a:r>
              <a:rPr lang="pt-BR" sz="2000" dirty="0"/>
              <a:t>Um algoritmo (solução) em programação também pode ser chamado </a:t>
            </a:r>
            <a:r>
              <a:rPr lang="pt-BR" sz="2000" u="sng" dirty="0"/>
              <a:t>script</a:t>
            </a:r>
            <a:r>
              <a:rPr lang="pt-BR" sz="2000" dirty="0"/>
              <a:t> ou </a:t>
            </a:r>
            <a:r>
              <a:rPr lang="pt-BR" sz="2000" u="sng" dirty="0"/>
              <a:t>código</a:t>
            </a:r>
            <a:r>
              <a:rPr lang="pt-BR" sz="2000" dirty="0"/>
              <a:t>. </a:t>
            </a:r>
          </a:p>
          <a:p>
            <a:pPr lvl="1" algn="just"/>
            <a:endParaRPr lang="pt-BR" sz="1800" dirty="0"/>
          </a:p>
          <a:p>
            <a:pPr lvl="1" algn="just"/>
            <a:endParaRPr lang="pt-BR" sz="1800" dirty="0"/>
          </a:p>
          <a:p>
            <a:pPr lvl="1" algn="just"/>
            <a:endParaRPr lang="pt-BR" sz="1800" dirty="0"/>
          </a:p>
          <a:p>
            <a:pPr algn="just"/>
            <a:endParaRPr lang="pt-BR" sz="2000" dirty="0"/>
          </a:p>
          <a:p>
            <a:pPr algn="just"/>
            <a:endParaRPr lang="pt-BR" sz="1800" dirty="0"/>
          </a:p>
          <a:p>
            <a:pPr lvl="1" algn="just"/>
            <a:endParaRPr lang="pt-BR" sz="1800" dirty="0"/>
          </a:p>
          <a:p>
            <a:pPr algn="just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60232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Por que C?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Por que C costuma ser a linguagem mais utilizada para o ensino de programação?</a:t>
            </a:r>
          </a:p>
          <a:p>
            <a:pPr algn="just"/>
            <a:endParaRPr lang="pt-BR" sz="2000" dirty="0"/>
          </a:p>
          <a:p>
            <a:pPr lvl="1" algn="just"/>
            <a:r>
              <a:rPr lang="pt-BR" sz="1800" dirty="0"/>
              <a:t>Porque C é uma linguagem básica e de fácil entendimento.</a:t>
            </a:r>
          </a:p>
          <a:p>
            <a:pPr lvl="1" algn="just"/>
            <a:endParaRPr lang="pt-BR" sz="1800" dirty="0"/>
          </a:p>
          <a:p>
            <a:pPr lvl="1" algn="just"/>
            <a:r>
              <a:rPr lang="pt-BR" sz="1800" dirty="0"/>
              <a:t>É a linguagem base de diversas outras como C++, Java, PHP... o que significa que aprendendo em C, facilmente consegue migrar para outras linguagens.</a:t>
            </a:r>
          </a:p>
          <a:p>
            <a:pPr lvl="1" algn="just"/>
            <a:endParaRPr lang="pt-BR" sz="1800" dirty="0"/>
          </a:p>
          <a:p>
            <a:pPr lvl="1" algn="just"/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711800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Linguagens Compiladas e Interpretadas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Para </a:t>
            </a:r>
            <a:r>
              <a:rPr lang="pt-BR" sz="2000" u="sng" dirty="0"/>
              <a:t>criar um script</a:t>
            </a:r>
            <a:r>
              <a:rPr lang="pt-BR" sz="2000" dirty="0"/>
              <a:t>, você pode usar qualquer </a:t>
            </a:r>
            <a:r>
              <a:rPr lang="pt-BR" sz="2000" u="sng" dirty="0"/>
              <a:t>editor de texto</a:t>
            </a:r>
            <a:r>
              <a:rPr lang="pt-BR" sz="2000" dirty="0"/>
              <a:t>, inclusive o bloco de notas (Embora haja editores mais indicados para programação).</a:t>
            </a:r>
          </a:p>
          <a:p>
            <a:pPr marL="109728" indent="0" algn="just">
              <a:buNone/>
            </a:pPr>
            <a:endParaRPr lang="pt-BR" sz="2000" dirty="0"/>
          </a:p>
          <a:p>
            <a:pPr algn="just"/>
            <a:r>
              <a:rPr lang="pt-BR" sz="2000" dirty="0"/>
              <a:t>Mas para executar seu código, vai precisar de um </a:t>
            </a:r>
            <a:r>
              <a:rPr lang="pt-BR" sz="2000" u="sng" dirty="0"/>
              <a:t>compilador</a:t>
            </a:r>
            <a:r>
              <a:rPr lang="pt-BR" sz="2000" dirty="0"/>
              <a:t> ou um </a:t>
            </a:r>
            <a:r>
              <a:rPr lang="pt-BR" sz="2000" u="sng" dirty="0"/>
              <a:t>interpretador</a:t>
            </a:r>
          </a:p>
          <a:p>
            <a:pPr algn="just"/>
            <a:endParaRPr lang="pt-BR" sz="2000" dirty="0"/>
          </a:p>
          <a:p>
            <a:pPr marL="109728" indent="0" algn="just">
              <a:buNone/>
            </a:pPr>
            <a:r>
              <a:rPr lang="pt-BR" sz="2000" dirty="0"/>
              <a:t> </a:t>
            </a:r>
          </a:p>
          <a:p>
            <a:pPr algn="just"/>
            <a:endParaRPr lang="pt-BR" sz="2000" dirty="0"/>
          </a:p>
          <a:p>
            <a:pPr lvl="1" algn="just"/>
            <a:endParaRPr lang="pt-BR" sz="1800" dirty="0"/>
          </a:p>
          <a:p>
            <a:pPr algn="just"/>
            <a:endParaRPr lang="pt-BR" sz="2000" dirty="0"/>
          </a:p>
          <a:p>
            <a:pPr algn="just"/>
            <a:endParaRPr lang="pt-BR" sz="1800" dirty="0"/>
          </a:p>
          <a:p>
            <a:pPr lvl="1" algn="just"/>
            <a:endParaRPr lang="pt-BR" sz="1800" dirty="0"/>
          </a:p>
          <a:p>
            <a:pPr algn="just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142075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eta para a Direita 15"/>
          <p:cNvSpPr/>
          <p:nvPr/>
        </p:nvSpPr>
        <p:spPr>
          <a:xfrm>
            <a:off x="6929190" y="4856747"/>
            <a:ext cx="1471067" cy="631228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As Linguagens Compiladas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Nas linguagens compiladas, para o programa ser </a:t>
            </a:r>
            <a:r>
              <a:rPr lang="pt-BR" sz="2000" u="sng" dirty="0"/>
              <a:t>criado</a:t>
            </a:r>
            <a:r>
              <a:rPr lang="pt-BR" sz="2000" dirty="0"/>
              <a:t>, será usado um compilador.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O compilador pega todos arquivos do seu projeto, </a:t>
            </a:r>
            <a:r>
              <a:rPr lang="pt-BR" sz="2000" u="sng" dirty="0"/>
              <a:t>analisa linha por linha</a:t>
            </a:r>
            <a:r>
              <a:rPr lang="pt-BR" sz="2000" dirty="0"/>
              <a:t> e se não tiver erro, ele </a:t>
            </a:r>
            <a:r>
              <a:rPr lang="pt-BR" sz="2000" u="sng" dirty="0"/>
              <a:t>gera um executável</a:t>
            </a:r>
            <a:r>
              <a:rPr lang="pt-BR" sz="2000" dirty="0"/>
              <a:t> em linguagem de maquina: </a:t>
            </a:r>
          </a:p>
          <a:p>
            <a:pPr algn="just"/>
            <a:endParaRPr lang="pt-BR" sz="2000" dirty="0"/>
          </a:p>
          <a:p>
            <a:pPr marL="109728" indent="0" algn="just">
              <a:buNone/>
            </a:pPr>
            <a:r>
              <a:rPr lang="pt-BR" sz="2000" dirty="0"/>
              <a:t> </a:t>
            </a:r>
          </a:p>
          <a:p>
            <a:pPr algn="just"/>
            <a:endParaRPr lang="pt-BR" sz="2000" dirty="0"/>
          </a:p>
          <a:p>
            <a:pPr lvl="1" algn="just"/>
            <a:endParaRPr lang="pt-BR" sz="1800" dirty="0"/>
          </a:p>
          <a:p>
            <a:pPr algn="just"/>
            <a:endParaRPr lang="pt-BR" sz="2000" dirty="0"/>
          </a:p>
          <a:p>
            <a:pPr algn="just"/>
            <a:endParaRPr lang="pt-BR" sz="1800" dirty="0"/>
          </a:p>
          <a:p>
            <a:pPr lvl="1" algn="just"/>
            <a:endParaRPr lang="pt-BR" sz="1800" dirty="0"/>
          </a:p>
          <a:p>
            <a:pPr algn="just"/>
            <a:endParaRPr lang="pt-BR" sz="2000" dirty="0"/>
          </a:p>
        </p:txBody>
      </p:sp>
      <p:sp>
        <p:nvSpPr>
          <p:cNvPr id="4" name="Retângulo 3"/>
          <p:cNvSpPr/>
          <p:nvPr/>
        </p:nvSpPr>
        <p:spPr>
          <a:xfrm>
            <a:off x="2855640" y="4655198"/>
            <a:ext cx="936104" cy="10573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Script2 </a:t>
            </a:r>
          </a:p>
        </p:txBody>
      </p:sp>
      <p:sp>
        <p:nvSpPr>
          <p:cNvPr id="5" name="Retângulo 4"/>
          <p:cNvSpPr/>
          <p:nvPr/>
        </p:nvSpPr>
        <p:spPr>
          <a:xfrm>
            <a:off x="3863752" y="5784510"/>
            <a:ext cx="936104" cy="10288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Script3</a:t>
            </a:r>
          </a:p>
        </p:txBody>
      </p:sp>
      <p:sp>
        <p:nvSpPr>
          <p:cNvPr id="6" name="Retângulo 5"/>
          <p:cNvSpPr/>
          <p:nvPr/>
        </p:nvSpPr>
        <p:spPr>
          <a:xfrm>
            <a:off x="3882805" y="4067190"/>
            <a:ext cx="936104" cy="9361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Script1</a:t>
            </a:r>
          </a:p>
        </p:txBody>
      </p:sp>
      <p:sp>
        <p:nvSpPr>
          <p:cNvPr id="7" name="Retângulo Arredondado 6"/>
          <p:cNvSpPr/>
          <p:nvPr/>
        </p:nvSpPr>
        <p:spPr>
          <a:xfrm>
            <a:off x="5459633" y="4718703"/>
            <a:ext cx="1723837" cy="93610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Compilador</a:t>
            </a:r>
          </a:p>
        </p:txBody>
      </p:sp>
      <p:sp>
        <p:nvSpPr>
          <p:cNvPr id="8" name="Retângulo 7"/>
          <p:cNvSpPr/>
          <p:nvPr/>
        </p:nvSpPr>
        <p:spPr>
          <a:xfrm>
            <a:off x="8400256" y="4401414"/>
            <a:ext cx="1800200" cy="154786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Executável</a:t>
            </a:r>
          </a:p>
          <a:p>
            <a:pPr algn="ctr"/>
            <a:r>
              <a:rPr lang="pt-BR" dirty="0"/>
              <a:t>.</a:t>
            </a:r>
            <a:r>
              <a:rPr lang="pt-BR" dirty="0" err="1"/>
              <a:t>exe</a:t>
            </a:r>
            <a:endParaRPr lang="pt-BR" dirty="0"/>
          </a:p>
          <a:p>
            <a:pPr algn="ctr"/>
            <a:r>
              <a:rPr lang="pt-BR" dirty="0"/>
              <a:t>.</a:t>
            </a:r>
            <a:r>
              <a:rPr lang="pt-BR" dirty="0" err="1"/>
              <a:t>jar</a:t>
            </a:r>
            <a:endParaRPr lang="pt-BR" dirty="0"/>
          </a:p>
          <a:p>
            <a:pPr algn="ctr"/>
            <a:r>
              <a:rPr lang="pt-BR" dirty="0"/>
              <a:t>.</a:t>
            </a:r>
            <a:r>
              <a:rPr lang="pt-BR" dirty="0" err="1"/>
              <a:t>war</a:t>
            </a:r>
            <a:endParaRPr lang="pt-BR" dirty="0"/>
          </a:p>
          <a:p>
            <a:pPr algn="ctr"/>
            <a:r>
              <a:rPr lang="pt-BR" dirty="0"/>
              <a:t>...</a:t>
            </a:r>
          </a:p>
        </p:txBody>
      </p:sp>
      <p:cxnSp>
        <p:nvCxnSpPr>
          <p:cNvPr id="10" name="Conector de Seta Reta 9"/>
          <p:cNvCxnSpPr>
            <a:stCxn id="6" idx="3"/>
            <a:endCxn id="7" idx="1"/>
          </p:cNvCxnSpPr>
          <p:nvPr/>
        </p:nvCxnSpPr>
        <p:spPr>
          <a:xfrm>
            <a:off x="4818910" y="4535243"/>
            <a:ext cx="640723" cy="6515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4" idx="3"/>
            <a:endCxn id="7" idx="1"/>
          </p:cNvCxnSpPr>
          <p:nvPr/>
        </p:nvCxnSpPr>
        <p:spPr>
          <a:xfrm>
            <a:off x="3791744" y="5183851"/>
            <a:ext cx="1667888" cy="290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5" idx="3"/>
            <a:endCxn id="7" idx="1"/>
          </p:cNvCxnSpPr>
          <p:nvPr/>
        </p:nvCxnSpPr>
        <p:spPr>
          <a:xfrm flipV="1">
            <a:off x="4799856" y="5186755"/>
            <a:ext cx="659776" cy="111218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1450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As </a:t>
            </a:r>
            <a:r>
              <a:rPr lang="pt-BR"/>
              <a:t>Linguagens Compiladas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9376" y="2209800"/>
            <a:ext cx="11103024" cy="4364736"/>
          </a:xfrm>
        </p:spPr>
        <p:txBody>
          <a:bodyPr>
            <a:normAutofit/>
          </a:bodyPr>
          <a:lstStyle/>
          <a:p>
            <a:pPr algn="just"/>
            <a:r>
              <a:rPr lang="pt-BR" sz="2400" dirty="0"/>
              <a:t>Vantagem:</a:t>
            </a:r>
          </a:p>
          <a:p>
            <a:pPr lvl="1" algn="just"/>
            <a:r>
              <a:rPr lang="pt-BR" sz="1900" dirty="0"/>
              <a:t>O compilador é capaz de </a:t>
            </a:r>
            <a:r>
              <a:rPr lang="pt-BR" sz="1900" u="sng" dirty="0"/>
              <a:t>descobrir um erro antes</a:t>
            </a:r>
            <a:r>
              <a:rPr lang="pt-BR" sz="1900" dirty="0"/>
              <a:t> de gerar o executável.</a:t>
            </a:r>
          </a:p>
          <a:p>
            <a:pPr lvl="1" algn="just"/>
            <a:endParaRPr lang="pt-BR" sz="1900" dirty="0"/>
          </a:p>
          <a:p>
            <a:pPr lvl="1" algn="just"/>
            <a:r>
              <a:rPr lang="pt-BR" sz="1900" dirty="0"/>
              <a:t>Podem ser </a:t>
            </a:r>
            <a:r>
              <a:rPr lang="pt-BR" sz="1900" u="sng" dirty="0"/>
              <a:t>um pouco mais rápidas</a:t>
            </a:r>
            <a:r>
              <a:rPr lang="pt-BR" sz="1900" dirty="0"/>
              <a:t> que a interpretada, pois uma vez que o script é compilado, não precisará mais transformá-lo em linguagem de maquina novamente.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Desvantagem:</a:t>
            </a:r>
          </a:p>
          <a:p>
            <a:pPr lvl="1" algn="just"/>
            <a:r>
              <a:rPr lang="pt-BR" sz="1900" dirty="0"/>
              <a:t>Caso deseje alterar uma vírgula em um script, será preciso compilar novamente todo o projeto.</a:t>
            </a:r>
          </a:p>
          <a:p>
            <a:pPr lvl="1" algn="just"/>
            <a:endParaRPr lang="pt-BR" sz="2000" dirty="0"/>
          </a:p>
          <a:p>
            <a:pPr algn="just"/>
            <a:r>
              <a:rPr lang="pt-BR" sz="2000" dirty="0"/>
              <a:t>Linguagens Compiladas: C, C++, C#, Java, </a:t>
            </a:r>
            <a:r>
              <a:rPr lang="pt-BR" sz="2000" dirty="0" err="1"/>
              <a:t>TypeScript</a:t>
            </a:r>
            <a:r>
              <a:rPr lang="pt-BR" sz="2000" dirty="0"/>
              <a:t>...</a:t>
            </a:r>
          </a:p>
          <a:p>
            <a:pPr marL="109728" indent="0" algn="just">
              <a:buNone/>
            </a:pPr>
            <a:endParaRPr lang="pt-BR" sz="1800" dirty="0"/>
          </a:p>
          <a:p>
            <a:pPr algn="just"/>
            <a:endParaRPr lang="pt-BR" sz="2000" dirty="0"/>
          </a:p>
          <a:p>
            <a:pPr algn="just"/>
            <a:endParaRPr lang="pt-BR" sz="1800" dirty="0"/>
          </a:p>
          <a:p>
            <a:pPr lvl="1" algn="just"/>
            <a:endParaRPr lang="pt-BR" sz="1800" dirty="0"/>
          </a:p>
          <a:p>
            <a:pPr algn="just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301190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eta para a Direita 16"/>
          <p:cNvSpPr/>
          <p:nvPr/>
        </p:nvSpPr>
        <p:spPr>
          <a:xfrm>
            <a:off x="4504475" y="5927304"/>
            <a:ext cx="3535742" cy="631228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Seta para a Direita 17"/>
          <p:cNvSpPr/>
          <p:nvPr/>
        </p:nvSpPr>
        <p:spPr>
          <a:xfrm>
            <a:off x="3503712" y="5090449"/>
            <a:ext cx="4536504" cy="631228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Nas linguagens interpretadas, para o programar ser </a:t>
            </a:r>
            <a:r>
              <a:rPr lang="pt-BR" sz="2000" u="sng" dirty="0"/>
              <a:t>executado</a:t>
            </a:r>
            <a:r>
              <a:rPr lang="pt-BR" sz="2000" dirty="0"/>
              <a:t>, será preciso de um interpretador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Um interpretador irá ler </a:t>
            </a:r>
            <a:r>
              <a:rPr lang="pt-BR" sz="2000" u="sng" dirty="0"/>
              <a:t>apenas um script por vez</a:t>
            </a:r>
            <a:r>
              <a:rPr lang="pt-BR" sz="2000" dirty="0"/>
              <a:t>, </a:t>
            </a:r>
            <a:r>
              <a:rPr lang="pt-BR" sz="2000" u="sng" dirty="0"/>
              <a:t>SEMPRE que for executado</a:t>
            </a:r>
            <a:r>
              <a:rPr lang="pt-BR" sz="2000" dirty="0"/>
              <a:t>. Por tanto, </a:t>
            </a:r>
            <a:r>
              <a:rPr lang="pt-BR" sz="2000" u="sng" dirty="0"/>
              <a:t>não cria um executável</a:t>
            </a:r>
            <a:r>
              <a:rPr lang="pt-BR" sz="2000" dirty="0"/>
              <a:t>.</a:t>
            </a:r>
          </a:p>
          <a:p>
            <a:pPr marL="109728" indent="0" algn="just">
              <a:buNone/>
            </a:pPr>
            <a:endParaRPr lang="pt-BR" sz="2000" dirty="0"/>
          </a:p>
        </p:txBody>
      </p:sp>
      <p:sp>
        <p:nvSpPr>
          <p:cNvPr id="16" name="Seta para a Direita 15"/>
          <p:cNvSpPr/>
          <p:nvPr/>
        </p:nvSpPr>
        <p:spPr>
          <a:xfrm>
            <a:off x="4504475" y="4219628"/>
            <a:ext cx="3535742" cy="631228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As Linguagens Interpretadas</a:t>
            </a:r>
          </a:p>
        </p:txBody>
      </p:sp>
      <p:sp>
        <p:nvSpPr>
          <p:cNvPr id="4" name="Retângulo 3"/>
          <p:cNvSpPr/>
          <p:nvPr/>
        </p:nvSpPr>
        <p:spPr>
          <a:xfrm>
            <a:off x="2351584" y="4727206"/>
            <a:ext cx="936104" cy="10573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Script2 </a:t>
            </a:r>
          </a:p>
        </p:txBody>
      </p:sp>
      <p:sp>
        <p:nvSpPr>
          <p:cNvPr id="5" name="Retângulo 4"/>
          <p:cNvSpPr/>
          <p:nvPr/>
        </p:nvSpPr>
        <p:spPr>
          <a:xfrm>
            <a:off x="3503712" y="5733256"/>
            <a:ext cx="936104" cy="10288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Script3</a:t>
            </a:r>
          </a:p>
        </p:txBody>
      </p:sp>
      <p:sp>
        <p:nvSpPr>
          <p:cNvPr id="6" name="Retângulo 5"/>
          <p:cNvSpPr/>
          <p:nvPr/>
        </p:nvSpPr>
        <p:spPr>
          <a:xfrm>
            <a:off x="3503712" y="4067190"/>
            <a:ext cx="936104" cy="9361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Script1</a:t>
            </a:r>
          </a:p>
        </p:txBody>
      </p:sp>
      <p:sp>
        <p:nvSpPr>
          <p:cNvPr id="7" name="Retângulo Arredondado 6"/>
          <p:cNvSpPr/>
          <p:nvPr/>
        </p:nvSpPr>
        <p:spPr>
          <a:xfrm>
            <a:off x="5128990" y="4067191"/>
            <a:ext cx="2054480" cy="254696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Interpretador</a:t>
            </a:r>
          </a:p>
        </p:txBody>
      </p:sp>
      <p:sp>
        <p:nvSpPr>
          <p:cNvPr id="8" name="Retângulo 7"/>
          <p:cNvSpPr/>
          <p:nvPr/>
        </p:nvSpPr>
        <p:spPr>
          <a:xfrm>
            <a:off x="8400256" y="4067191"/>
            <a:ext cx="1800200" cy="254696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Conteúdo Executado</a:t>
            </a:r>
          </a:p>
        </p:txBody>
      </p:sp>
    </p:spTree>
    <p:extLst>
      <p:ext uri="{BB962C8B-B14F-4D97-AF65-F5344CB8AC3E}">
        <p14:creationId xmlns:p14="http://schemas.microsoft.com/office/powerpoint/2010/main" val="800914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6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As Linguagens Interpretadas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9376" y="2209800"/>
            <a:ext cx="11161240" cy="4364736"/>
          </a:xfrm>
        </p:spPr>
        <p:txBody>
          <a:bodyPr>
            <a:normAutofit/>
          </a:bodyPr>
          <a:lstStyle/>
          <a:p>
            <a:pPr algn="just"/>
            <a:r>
              <a:rPr lang="pt-BR" sz="2400" dirty="0"/>
              <a:t>Vantagem:</a:t>
            </a:r>
          </a:p>
          <a:p>
            <a:pPr lvl="1" algn="just"/>
            <a:r>
              <a:rPr lang="pt-BR" sz="1900" dirty="0"/>
              <a:t>O </a:t>
            </a:r>
            <a:r>
              <a:rPr lang="pt-BR" sz="1900" u="sng" dirty="0"/>
              <a:t>desenvolvimento</a:t>
            </a:r>
            <a:r>
              <a:rPr lang="pt-BR" sz="1900" dirty="0"/>
              <a:t> costuma ser </a:t>
            </a:r>
            <a:r>
              <a:rPr lang="pt-BR" sz="1900" u="sng" dirty="0"/>
              <a:t>mais rápido e fácil</a:t>
            </a:r>
            <a:r>
              <a:rPr lang="pt-BR" sz="1900" dirty="0"/>
              <a:t>, uma vez que pode ser executado arquivos isolados. </a:t>
            </a:r>
          </a:p>
          <a:p>
            <a:pPr lvl="1" algn="just"/>
            <a:endParaRPr lang="pt-BR" sz="1900" dirty="0"/>
          </a:p>
          <a:p>
            <a:pPr lvl="1" algn="just"/>
            <a:r>
              <a:rPr lang="pt-BR" sz="1900" dirty="0"/>
              <a:t>O </a:t>
            </a:r>
            <a:r>
              <a:rPr lang="pt-BR" sz="1900" u="sng" dirty="0"/>
              <a:t>conteúdo executado</a:t>
            </a:r>
            <a:r>
              <a:rPr lang="pt-BR" sz="1900" dirty="0"/>
              <a:t> costuma ser </a:t>
            </a:r>
            <a:r>
              <a:rPr lang="pt-BR" sz="1900" u="sng" dirty="0"/>
              <a:t>mais leve</a:t>
            </a:r>
            <a:r>
              <a:rPr lang="pt-BR" sz="1900" dirty="0"/>
              <a:t>, uma vez que o usuário apenas acessa a parte solicitadas e não um programa inteiro.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Desvantagem:</a:t>
            </a:r>
          </a:p>
          <a:p>
            <a:pPr lvl="1" algn="just"/>
            <a:r>
              <a:rPr lang="pt-BR" sz="1900" dirty="0"/>
              <a:t>Alguns erros podem ser apenas descobertos durante a execução do código com erro.  (O que pode ser quando já tiver com o cliente).</a:t>
            </a:r>
          </a:p>
          <a:p>
            <a:pPr marL="109728" indent="0" algn="just">
              <a:buNone/>
            </a:pPr>
            <a:endParaRPr lang="pt-BR" sz="2000" dirty="0"/>
          </a:p>
          <a:p>
            <a:pPr algn="just"/>
            <a:r>
              <a:rPr lang="pt-BR" sz="2000" dirty="0"/>
              <a:t>Linguagens Compiladas: PHP, </a:t>
            </a:r>
            <a:r>
              <a:rPr lang="pt-BR" sz="2000" dirty="0" err="1"/>
              <a:t>JavaScript</a:t>
            </a:r>
            <a:r>
              <a:rPr lang="pt-BR" sz="2000" dirty="0"/>
              <a:t>, R, Ruby...</a:t>
            </a:r>
            <a:endParaRPr lang="pt-BR" sz="1800" dirty="0"/>
          </a:p>
          <a:p>
            <a:pPr algn="just"/>
            <a:endParaRPr lang="pt-BR" sz="2000" dirty="0"/>
          </a:p>
          <a:p>
            <a:pPr algn="just"/>
            <a:endParaRPr lang="pt-BR" sz="1800" dirty="0"/>
          </a:p>
          <a:p>
            <a:pPr lvl="1" algn="just"/>
            <a:endParaRPr lang="pt-BR" sz="1800" dirty="0"/>
          </a:p>
          <a:p>
            <a:pPr algn="just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808835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81200" y="1143000"/>
            <a:ext cx="8229600" cy="5022304"/>
          </a:xfrm>
        </p:spPr>
        <p:txBody>
          <a:bodyPr>
            <a:normAutofit/>
          </a:bodyPr>
          <a:lstStyle/>
          <a:p>
            <a:pPr algn="ctr"/>
            <a:r>
              <a:rPr lang="pt-BR" sz="6000" dirty="0"/>
              <a:t>Programando em C</a:t>
            </a:r>
          </a:p>
        </p:txBody>
      </p:sp>
    </p:spTree>
    <p:extLst>
      <p:ext uri="{BB962C8B-B14F-4D97-AF65-F5344CB8AC3E}">
        <p14:creationId xmlns:p14="http://schemas.microsoft.com/office/powerpoint/2010/main" val="1836173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Code</a:t>
            </a:r>
            <a:r>
              <a:rPr lang="pt-BR" dirty="0"/>
              <a:t>::</a:t>
            </a:r>
            <a:r>
              <a:rPr lang="pt-BR" dirty="0" err="1"/>
              <a:t>Blocks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Já vimos que para criar nosso código, podemos fazer isso com um simples bloco de notas ou editor de texto.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Porém C é uma linguagem </a:t>
            </a:r>
            <a:r>
              <a:rPr lang="pt-BR" sz="2000" u="sng" dirty="0"/>
              <a:t>compilada</a:t>
            </a:r>
            <a:r>
              <a:rPr lang="pt-BR" sz="2000" dirty="0"/>
              <a:t>, ou seja, ainda </a:t>
            </a:r>
            <a:r>
              <a:rPr lang="pt-BR" sz="2000" u="sng" dirty="0"/>
              <a:t>precisaríamos</a:t>
            </a:r>
            <a:r>
              <a:rPr lang="pt-BR" sz="2000" dirty="0"/>
              <a:t> de um </a:t>
            </a:r>
            <a:r>
              <a:rPr lang="pt-BR" sz="2000" u="sng" dirty="0"/>
              <a:t>compilador</a:t>
            </a:r>
            <a:r>
              <a:rPr lang="pt-BR" sz="2000" dirty="0"/>
              <a:t> para gerar o código executável!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Por isso, podemos usar IDE (</a:t>
            </a:r>
            <a:r>
              <a:rPr lang="pt-BR" sz="2000" i="1" dirty="0" err="1"/>
              <a:t>Integrated</a:t>
            </a:r>
            <a:r>
              <a:rPr lang="pt-BR" sz="2000" i="1" dirty="0"/>
              <a:t> </a:t>
            </a:r>
            <a:r>
              <a:rPr lang="pt-BR" sz="2000" i="1" dirty="0" err="1"/>
              <a:t>Development</a:t>
            </a:r>
            <a:r>
              <a:rPr lang="pt-BR" sz="2000" i="1" dirty="0"/>
              <a:t> </a:t>
            </a:r>
            <a:r>
              <a:rPr lang="pt-BR" sz="2000" i="1" dirty="0" err="1"/>
              <a:t>Environment</a:t>
            </a:r>
            <a:r>
              <a:rPr lang="pt-BR" sz="2000" dirty="0"/>
              <a:t>) como o </a:t>
            </a:r>
            <a:r>
              <a:rPr lang="pt-BR" sz="2000" dirty="0" err="1"/>
              <a:t>Code</a:t>
            </a:r>
            <a:r>
              <a:rPr lang="pt-BR" sz="2000" dirty="0"/>
              <a:t>::</a:t>
            </a:r>
            <a:r>
              <a:rPr lang="pt-BR" sz="2000" dirty="0" err="1"/>
              <a:t>Blocks</a:t>
            </a:r>
            <a:r>
              <a:rPr lang="pt-BR" sz="2000" dirty="0"/>
              <a:t>.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602036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Code</a:t>
            </a:r>
            <a:r>
              <a:rPr lang="pt-BR" dirty="0"/>
              <a:t>::</a:t>
            </a:r>
            <a:r>
              <a:rPr lang="pt-BR" dirty="0" err="1"/>
              <a:t>Blocks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Para instalar o </a:t>
            </a:r>
            <a:r>
              <a:rPr lang="pt-BR" sz="2000" dirty="0" err="1"/>
              <a:t>Code</a:t>
            </a:r>
            <a:r>
              <a:rPr lang="pt-BR" sz="2000" dirty="0"/>
              <a:t>::</a:t>
            </a:r>
            <a:r>
              <a:rPr lang="pt-BR" sz="2000" dirty="0" err="1"/>
              <a:t>Blocks</a:t>
            </a:r>
            <a:r>
              <a:rPr lang="pt-BR" sz="2000" dirty="0"/>
              <a:t>, basta ir no site do </a:t>
            </a:r>
            <a:r>
              <a:rPr lang="pt-BR" sz="2000" dirty="0" err="1"/>
              <a:t>Code</a:t>
            </a:r>
            <a:r>
              <a:rPr lang="pt-BR" sz="2000" dirty="0"/>
              <a:t>::</a:t>
            </a:r>
            <a:r>
              <a:rPr lang="pt-BR" sz="2000" dirty="0" err="1"/>
              <a:t>Blocks</a:t>
            </a:r>
            <a:r>
              <a:rPr lang="pt-BR" sz="2000" dirty="0"/>
              <a:t> na seção de Download \ </a:t>
            </a:r>
            <a:r>
              <a:rPr lang="pt-BR" sz="2000" dirty="0" err="1"/>
              <a:t>Binaries</a:t>
            </a:r>
            <a:endParaRPr lang="pt-BR" sz="2000" dirty="0"/>
          </a:p>
          <a:p>
            <a:pPr lvl="1" algn="just"/>
            <a:r>
              <a:rPr lang="pt-BR" sz="1400" dirty="0"/>
              <a:t>http://www.codeblocks.org/downloads/binaries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9696" y="3356993"/>
            <a:ext cx="6104198" cy="3302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1868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Code</a:t>
            </a:r>
            <a:r>
              <a:rPr lang="pt-BR" dirty="0"/>
              <a:t>::</a:t>
            </a:r>
            <a:r>
              <a:rPr lang="pt-BR" dirty="0" err="1"/>
              <a:t>Blocks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Quando for baixar, escolher a versão com </a:t>
            </a:r>
            <a:r>
              <a:rPr lang="pt-BR" sz="2000" dirty="0" err="1"/>
              <a:t>MingW</a:t>
            </a:r>
            <a:r>
              <a:rPr lang="pt-BR" sz="2000" dirty="0"/>
              <a:t>, que traz junto compilador GCC, que é usado para compilar os códigos desenvolvido em C.</a:t>
            </a:r>
            <a:endParaRPr lang="pt-BR" sz="1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553" y="3501009"/>
            <a:ext cx="8429625" cy="311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tângulo 5"/>
          <p:cNvSpPr/>
          <p:nvPr/>
        </p:nvSpPr>
        <p:spPr>
          <a:xfrm>
            <a:off x="2207568" y="5661248"/>
            <a:ext cx="7344816" cy="28803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2902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err="1"/>
              <a:t>Code</a:t>
            </a:r>
            <a:r>
              <a:rPr lang="pt-BR" dirty="0"/>
              <a:t>::</a:t>
            </a:r>
            <a:r>
              <a:rPr lang="pt-BR" dirty="0" err="1"/>
              <a:t>Blocks</a:t>
            </a:r>
            <a:br>
              <a:rPr lang="pt-BR" dirty="0"/>
            </a:br>
            <a:r>
              <a:rPr lang="pt-BR" dirty="0"/>
              <a:t>   Criando um Projeto em C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2249424"/>
            <a:ext cx="8435280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Após instalar o programa, para criar um projeto em C, basta ir em </a:t>
            </a:r>
            <a:endParaRPr lang="pt-BR" sz="1400" dirty="0"/>
          </a:p>
          <a:p>
            <a:pPr lvl="1" algn="just"/>
            <a:r>
              <a:rPr lang="pt-BR" sz="1800" dirty="0" err="1"/>
              <a:t>Fille</a:t>
            </a:r>
            <a:r>
              <a:rPr lang="pt-BR" sz="1800" dirty="0"/>
              <a:t> &gt;&gt; New &gt;&gt; Project </a:t>
            </a:r>
          </a:p>
          <a:p>
            <a:pPr lvl="1" algn="just"/>
            <a:endParaRPr lang="pt-BR" sz="1800" dirty="0"/>
          </a:p>
          <a:p>
            <a:pPr lvl="1" algn="just"/>
            <a:endParaRPr lang="pt-BR" sz="1800" dirty="0"/>
          </a:p>
          <a:p>
            <a:pPr lvl="1" algn="just"/>
            <a:endParaRPr lang="pt-BR" sz="1800" dirty="0"/>
          </a:p>
          <a:p>
            <a:pPr lvl="1" algn="just"/>
            <a:endParaRPr lang="pt-BR" sz="1800" dirty="0"/>
          </a:p>
          <a:p>
            <a:pPr lvl="1" algn="just"/>
            <a:endParaRPr lang="pt-BR" sz="1800" dirty="0"/>
          </a:p>
          <a:p>
            <a:pPr lvl="1" algn="just"/>
            <a:endParaRPr lang="pt-BR" sz="1800" dirty="0"/>
          </a:p>
          <a:p>
            <a:pPr lvl="1" algn="just"/>
            <a:r>
              <a:rPr lang="pt-BR" sz="1800" dirty="0"/>
              <a:t>Na nova tela escolher a opção Console </a:t>
            </a:r>
            <a:r>
              <a:rPr lang="pt-BR" sz="1800" dirty="0" err="1"/>
              <a:t>Application</a:t>
            </a:r>
            <a:r>
              <a:rPr lang="pt-BR" sz="1800" dirty="0"/>
              <a:t> e escolhe a linguagem C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472" y="3059852"/>
            <a:ext cx="5133975" cy="156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720" y="5157193"/>
            <a:ext cx="5600700" cy="181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77085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err="1"/>
              <a:t>Code</a:t>
            </a:r>
            <a:r>
              <a:rPr lang="pt-BR" dirty="0"/>
              <a:t>::</a:t>
            </a:r>
            <a:r>
              <a:rPr lang="pt-BR" dirty="0" err="1"/>
              <a:t>Blocks</a:t>
            </a:r>
            <a:br>
              <a:rPr lang="pt-BR" dirty="0"/>
            </a:br>
            <a:r>
              <a:rPr lang="pt-BR" dirty="0"/>
              <a:t>   Criando um Projeto em C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2249424"/>
            <a:ext cx="8435280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Com o projeto criado, basta buscar o arquivo </a:t>
            </a:r>
            <a:r>
              <a:rPr lang="pt-BR" sz="2000" dirty="0" err="1"/>
              <a:t>main.c</a:t>
            </a:r>
            <a:r>
              <a:rPr lang="pt-BR" sz="2000" dirty="0"/>
              <a:t>, para abrir o código onde será trabalho nossas estruturas!</a:t>
            </a:r>
            <a:endParaRPr lang="pt-BR" sz="1800" dirty="0"/>
          </a:p>
          <a:p>
            <a:pPr lvl="1" algn="just"/>
            <a:endParaRPr lang="pt-BR" sz="1800" dirty="0"/>
          </a:p>
          <a:p>
            <a:pPr lvl="1" algn="just"/>
            <a:endParaRPr lang="pt-BR" sz="1800" dirty="0"/>
          </a:p>
          <a:p>
            <a:pPr lvl="1" algn="just"/>
            <a:endParaRPr lang="pt-BR" sz="1800" dirty="0"/>
          </a:p>
          <a:p>
            <a:pPr lvl="1" algn="just"/>
            <a:endParaRPr lang="pt-BR" sz="1800" dirty="0"/>
          </a:p>
          <a:p>
            <a:pPr lvl="1" algn="just"/>
            <a:endParaRPr lang="pt-BR" sz="1800" dirty="0"/>
          </a:p>
          <a:p>
            <a:pPr lvl="1" algn="just"/>
            <a:endParaRPr lang="pt-BR" sz="1800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1621" y="3212976"/>
            <a:ext cx="5781675" cy="2628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728208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Compiladores </a:t>
            </a:r>
            <a:r>
              <a:rPr lang="pt-BR" dirty="0" err="1"/>
              <a:t>Onlines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 err="1"/>
              <a:t>RexTester</a:t>
            </a:r>
            <a:endParaRPr lang="pt-BR" sz="2000" dirty="0"/>
          </a:p>
          <a:p>
            <a:pPr lvl="1" algn="just"/>
            <a:r>
              <a:rPr lang="pt-BR" sz="1800" dirty="0">
                <a:hlinkClick r:id="rId2"/>
              </a:rPr>
              <a:t>http://rextester.com/l/c_online_compiler_gcc</a:t>
            </a:r>
            <a:endParaRPr lang="pt-BR" sz="1800" dirty="0"/>
          </a:p>
          <a:p>
            <a:pPr marL="411480" lvl="1" indent="0" algn="just">
              <a:buNone/>
            </a:pPr>
            <a:endParaRPr lang="pt-BR" sz="1800" dirty="0"/>
          </a:p>
          <a:p>
            <a:pPr marL="411480" lvl="1" indent="0" algn="just">
              <a:buNone/>
            </a:pPr>
            <a:endParaRPr lang="pt-BR" sz="1800" dirty="0"/>
          </a:p>
          <a:p>
            <a:pPr algn="just"/>
            <a:r>
              <a:rPr lang="pt-BR" sz="2000" dirty="0" err="1"/>
              <a:t>OnlineGDB</a:t>
            </a:r>
            <a:endParaRPr lang="pt-BR" sz="2000" dirty="0"/>
          </a:p>
          <a:p>
            <a:pPr lvl="1" algn="just"/>
            <a:r>
              <a:rPr lang="pt-BR" sz="1800" dirty="0">
                <a:hlinkClick r:id="rId3"/>
              </a:rPr>
              <a:t>https://www.onlinegdb.com/online_c_compiler</a:t>
            </a:r>
            <a:endParaRPr lang="pt-BR" sz="1800" dirty="0"/>
          </a:p>
          <a:p>
            <a:pPr lvl="1" algn="just"/>
            <a:endParaRPr lang="pt-BR" sz="1800" dirty="0"/>
          </a:p>
          <a:p>
            <a:pPr lvl="1" algn="just"/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6336062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do Código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A estrutura do código em C, apresenta inicialmente algumas bibliotecas importadas e um método </a:t>
            </a:r>
            <a:r>
              <a:rPr lang="pt-BR" sz="2000" dirty="0" err="1"/>
              <a:t>Main</a:t>
            </a:r>
            <a:r>
              <a:rPr lang="pt-BR" sz="2000" dirty="0"/>
              <a:t>, que é executado assim que o programa é chamado:</a:t>
            </a:r>
          </a:p>
          <a:p>
            <a:pPr algn="just"/>
            <a:endParaRPr lang="pt-BR" sz="2000" dirty="0"/>
          </a:p>
          <a:p>
            <a:pPr algn="just"/>
            <a:endParaRPr lang="pt-BR" sz="1800" dirty="0"/>
          </a:p>
          <a:p>
            <a:pPr lvl="1" algn="just"/>
            <a:endParaRPr lang="pt-BR" sz="16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544" y="3573016"/>
            <a:ext cx="4968552" cy="268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lchete direito 4"/>
          <p:cNvSpPr/>
          <p:nvPr/>
        </p:nvSpPr>
        <p:spPr>
          <a:xfrm>
            <a:off x="5231904" y="3501008"/>
            <a:ext cx="360040" cy="648073"/>
          </a:xfrm>
          <a:prstGeom prst="rightBracket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/>
          <p:cNvSpPr txBox="1"/>
          <p:nvPr/>
        </p:nvSpPr>
        <p:spPr>
          <a:xfrm>
            <a:off x="5807968" y="3640377"/>
            <a:ext cx="1303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Bibliotecas</a:t>
            </a:r>
          </a:p>
        </p:txBody>
      </p:sp>
      <p:sp>
        <p:nvSpPr>
          <p:cNvPr id="7" name="Colchete direito 6"/>
          <p:cNvSpPr/>
          <p:nvPr/>
        </p:nvSpPr>
        <p:spPr>
          <a:xfrm>
            <a:off x="6600056" y="4581128"/>
            <a:ext cx="360040" cy="936104"/>
          </a:xfrm>
          <a:prstGeom prst="rightBracket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/>
          <p:cNvSpPr txBox="1"/>
          <p:nvPr/>
        </p:nvSpPr>
        <p:spPr>
          <a:xfrm>
            <a:off x="7110694" y="4864514"/>
            <a:ext cx="2855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O código do seu programa</a:t>
            </a:r>
          </a:p>
        </p:txBody>
      </p:sp>
    </p:spTree>
    <p:extLst>
      <p:ext uri="{BB962C8B-B14F-4D97-AF65-F5344CB8AC3E}">
        <p14:creationId xmlns:p14="http://schemas.microsoft.com/office/powerpoint/2010/main" val="891476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do Código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E  o que é um método?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Também chamado de função é um código criado para realizar alguma atividade previamente definida.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Podendo ou não receber dados de entrada.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Após seu nome vem sempre o parêntese, com dados de entrada no método opcionalmente.</a:t>
            </a:r>
          </a:p>
          <a:p>
            <a:pPr algn="just"/>
            <a:endParaRPr lang="pt-BR" sz="2000" dirty="0"/>
          </a:p>
          <a:p>
            <a:pPr algn="just"/>
            <a:endParaRPr lang="pt-BR" sz="1800" dirty="0"/>
          </a:p>
          <a:p>
            <a:pPr lvl="1" algn="just"/>
            <a:endParaRPr lang="pt-BR" sz="1600" dirty="0"/>
          </a:p>
        </p:txBody>
      </p:sp>
      <p:pic>
        <p:nvPicPr>
          <p:cNvPr id="13" name="Imagem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7809" y="5589241"/>
            <a:ext cx="2867025" cy="7715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26193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/>
          <p:cNvSpPr/>
          <p:nvPr/>
        </p:nvSpPr>
        <p:spPr>
          <a:xfrm>
            <a:off x="1764576" y="3284984"/>
            <a:ext cx="5411544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main() { 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	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"Hello World \n"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	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do Código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A </a:t>
            </a:r>
            <a:r>
              <a:rPr lang="pt-BR" sz="2000" dirty="0" err="1"/>
              <a:t>int</a:t>
            </a:r>
            <a:r>
              <a:rPr lang="pt-BR" sz="2000" dirty="0"/>
              <a:t> </a:t>
            </a:r>
            <a:r>
              <a:rPr lang="pt-BR" sz="2000" dirty="0" err="1"/>
              <a:t>main</a:t>
            </a:r>
            <a:r>
              <a:rPr lang="pt-BR" sz="2000" dirty="0"/>
              <a:t>() do nosso código, define o que será executado quando o método </a:t>
            </a:r>
            <a:r>
              <a:rPr lang="pt-BR" sz="2000" dirty="0" err="1"/>
              <a:t>main</a:t>
            </a:r>
            <a:r>
              <a:rPr lang="pt-BR" sz="2000" dirty="0"/>
              <a:t>() for chamado para executar nosso código.  </a:t>
            </a:r>
            <a:endParaRPr lang="pt-BR" sz="1800" dirty="0"/>
          </a:p>
          <a:p>
            <a:pPr lvl="1" algn="just"/>
            <a:endParaRPr lang="pt-BR" sz="1600" dirty="0"/>
          </a:p>
        </p:txBody>
      </p:sp>
      <p:sp>
        <p:nvSpPr>
          <p:cNvPr id="6" name="CaixaDeTexto 5"/>
          <p:cNvSpPr txBox="1"/>
          <p:nvPr/>
        </p:nvSpPr>
        <p:spPr>
          <a:xfrm>
            <a:off x="6991509" y="3598351"/>
            <a:ext cx="32752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dirty="0"/>
              <a:t>Exibir um texto “</a:t>
            </a:r>
            <a:r>
              <a:rPr lang="pt-BR" dirty="0" err="1"/>
              <a:t>Hello</a:t>
            </a:r>
            <a:r>
              <a:rPr lang="pt-BR" dirty="0"/>
              <a:t> World”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6977658" y="4113076"/>
            <a:ext cx="285847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dirty="0"/>
              <a:t>Encerrar o método </a:t>
            </a:r>
            <a:r>
              <a:rPr lang="pt-BR" dirty="0" err="1"/>
              <a:t>main</a:t>
            </a:r>
            <a:r>
              <a:rPr lang="pt-BR" dirty="0"/>
              <a:t>()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6963527" y="3143894"/>
            <a:ext cx="263405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dirty="0"/>
              <a:t>Define início do método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6991509" y="4566323"/>
            <a:ext cx="259398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dirty="0"/>
              <a:t>Define o fim do método</a:t>
            </a:r>
          </a:p>
        </p:txBody>
      </p:sp>
      <p:sp>
        <p:nvSpPr>
          <p:cNvPr id="10" name="Retângulo 9"/>
          <p:cNvSpPr/>
          <p:nvPr/>
        </p:nvSpPr>
        <p:spPr>
          <a:xfrm>
            <a:off x="1847528" y="4424576"/>
            <a:ext cx="360040" cy="454457"/>
          </a:xfrm>
          <a:prstGeom prst="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/>
          <p:cNvSpPr/>
          <p:nvPr/>
        </p:nvSpPr>
        <p:spPr>
          <a:xfrm>
            <a:off x="3647728" y="3285998"/>
            <a:ext cx="360040" cy="454457"/>
          </a:xfrm>
          <a:prstGeom prst="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/>
          <p:cNvSpPr/>
          <p:nvPr/>
        </p:nvSpPr>
        <p:spPr>
          <a:xfrm>
            <a:off x="2639616" y="3740454"/>
            <a:ext cx="4338041" cy="372622"/>
          </a:xfrm>
          <a:prstGeom prst="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/>
          <p:cNvSpPr/>
          <p:nvPr/>
        </p:nvSpPr>
        <p:spPr>
          <a:xfrm>
            <a:off x="2639616" y="4136498"/>
            <a:ext cx="1678029" cy="372622"/>
          </a:xfrm>
          <a:prstGeom prst="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1101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do Código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Um código em programação, pode ser criado em uma única linha.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Por tanto para separar os passos do algoritmo, botamos o “;”</a:t>
            </a:r>
            <a:endParaRPr lang="pt-BR" sz="1600" dirty="0"/>
          </a:p>
        </p:txBody>
      </p:sp>
      <p:sp>
        <p:nvSpPr>
          <p:cNvPr id="5" name="Retângulo 4"/>
          <p:cNvSpPr/>
          <p:nvPr/>
        </p:nvSpPr>
        <p:spPr>
          <a:xfrm>
            <a:off x="2567608" y="4012713"/>
            <a:ext cx="655272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main() {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"Hello World \n"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</p:txBody>
      </p:sp>
      <p:sp>
        <p:nvSpPr>
          <p:cNvPr id="6" name="Retângulo 5"/>
          <p:cNvSpPr/>
          <p:nvPr/>
        </p:nvSpPr>
        <p:spPr>
          <a:xfrm>
            <a:off x="4065944" y="2732728"/>
            <a:ext cx="3830256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main() {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"Hello World \n"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Retângulo 7"/>
          <p:cNvSpPr/>
          <p:nvPr/>
        </p:nvSpPr>
        <p:spPr>
          <a:xfrm>
            <a:off x="7536160" y="2996953"/>
            <a:ext cx="216024" cy="360040"/>
          </a:xfrm>
          <a:prstGeom prst="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5519936" y="3356992"/>
            <a:ext cx="216024" cy="360040"/>
          </a:xfrm>
          <a:prstGeom prst="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7248128" y="4005064"/>
            <a:ext cx="216024" cy="360040"/>
          </a:xfrm>
          <a:prstGeom prst="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/>
          <p:cNvSpPr/>
          <p:nvPr/>
        </p:nvSpPr>
        <p:spPr>
          <a:xfrm>
            <a:off x="8472264" y="4005064"/>
            <a:ext cx="216024" cy="360040"/>
          </a:xfrm>
          <a:prstGeom prst="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8718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Executando o código: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Para executar um código, devemos clicar na opção </a:t>
            </a:r>
            <a:r>
              <a:rPr lang="pt-BR" sz="2000" u="sng" dirty="0"/>
              <a:t>BUILD AND RUN</a:t>
            </a:r>
            <a:r>
              <a:rPr lang="pt-BR" sz="2000" dirty="0"/>
              <a:t>, na barra de ferramentas do programa, onde nossos código será compilado e executado.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3" y="3717032"/>
            <a:ext cx="3984443" cy="1584176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5643" y="3717032"/>
            <a:ext cx="4128082" cy="2081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5437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Praticando!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400" dirty="0"/>
              <a:t>Sabendo que o método </a:t>
            </a:r>
            <a:r>
              <a:rPr lang="pt-BR" sz="2400" u="sng" dirty="0" err="1"/>
              <a:t>printf</a:t>
            </a:r>
            <a:r>
              <a:rPr lang="pt-BR" sz="2400" u="sng" dirty="0"/>
              <a:t>()</a:t>
            </a:r>
            <a:r>
              <a:rPr lang="pt-BR" sz="2400" dirty="0"/>
              <a:t>, é usado para exibir conteúdos e deve receber um texto entre aspas duplas!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Crie uma algoritmo que exiba o texto: </a:t>
            </a:r>
          </a:p>
          <a:p>
            <a:pPr lvl="1" algn="just"/>
            <a:r>
              <a:rPr lang="pt-BR" sz="2200" dirty="0"/>
              <a:t>“Olá, meu nome é SEUNOME”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onde SEUNOME será seu nome real.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30089201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Praticando!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400" dirty="0"/>
              <a:t>Código: </a:t>
            </a:r>
            <a:endParaRPr lang="pt-BR" sz="1800" dirty="0"/>
          </a:p>
        </p:txBody>
      </p:sp>
      <p:sp>
        <p:nvSpPr>
          <p:cNvPr id="4" name="Retângulo 3"/>
          <p:cNvSpPr/>
          <p:nvPr/>
        </p:nvSpPr>
        <p:spPr>
          <a:xfrm>
            <a:off x="3368824" y="2780929"/>
            <a:ext cx="5454352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"Olá, meu nome é Carlos"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18447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Acentuação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200" dirty="0"/>
              <a:t>Ao executar o código, o seguinte problema deve ter acontecido no seu programa:</a:t>
            </a:r>
          </a:p>
          <a:p>
            <a:pPr algn="just"/>
            <a:endParaRPr lang="pt-BR" sz="2200" dirty="0"/>
          </a:p>
          <a:p>
            <a:pPr algn="just"/>
            <a:endParaRPr lang="pt-BR" sz="2200" dirty="0"/>
          </a:p>
          <a:p>
            <a:pPr algn="just"/>
            <a:endParaRPr lang="pt-BR" sz="2200" dirty="0"/>
          </a:p>
          <a:p>
            <a:pPr algn="just"/>
            <a:r>
              <a:rPr lang="pt-BR" sz="2200" dirty="0"/>
              <a:t>Isso ocorre, porque o C não </a:t>
            </a:r>
            <a:r>
              <a:rPr lang="pt-BR" sz="2200" u="sng" dirty="0"/>
              <a:t>pega acentuação e caracteres especiais do Brasil</a:t>
            </a:r>
            <a:r>
              <a:rPr lang="pt-BR" sz="2200" dirty="0"/>
              <a:t>.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dirty="0"/>
              <a:t>Mas é possível usar o método que permita aceitar esses caracteres.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9736" y="3140968"/>
            <a:ext cx="4287246" cy="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156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setlocale</a:t>
            </a:r>
            <a:r>
              <a:rPr lang="pt-BR" dirty="0"/>
              <a:t>()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200" dirty="0"/>
              <a:t>O método abaixo, permitirá aceitar caracteres em português e localizar seu código para o estilo do usado no Brasil:</a:t>
            </a:r>
          </a:p>
        </p:txBody>
      </p:sp>
      <p:sp>
        <p:nvSpPr>
          <p:cNvPr id="6" name="Retângulo 5"/>
          <p:cNvSpPr/>
          <p:nvPr/>
        </p:nvSpPr>
        <p:spPr>
          <a:xfrm>
            <a:off x="3977472" y="3140968"/>
            <a:ext cx="423705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dirty="0" err="1">
                <a:solidFill>
                  <a:srgbClr val="A31515"/>
                </a:solidFill>
                <a:latin typeface="Consolas" panose="020B0609020204030204" pitchFamily="49" charset="0"/>
              </a:rPr>
              <a:t>Portuguese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1699222" y="4076762"/>
            <a:ext cx="4767162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/>
              <a:t>O que será localizado: </a:t>
            </a:r>
          </a:p>
          <a:p>
            <a:r>
              <a:rPr lang="pt-BR" dirty="0"/>
              <a:t>LC_CTYPE – Caracteres</a:t>
            </a:r>
          </a:p>
          <a:p>
            <a:r>
              <a:rPr lang="pt-BR" dirty="0"/>
              <a:t>LC_MONETARY – Formatação financeira</a:t>
            </a:r>
          </a:p>
          <a:p>
            <a:r>
              <a:rPr lang="pt-BR" dirty="0"/>
              <a:t>LC_NUMERIC – Numeração (casa decimal)</a:t>
            </a:r>
          </a:p>
          <a:p>
            <a:r>
              <a:rPr lang="pt-BR" dirty="0"/>
              <a:t>LC_ALL - Tudo </a:t>
            </a:r>
          </a:p>
          <a:p>
            <a:endParaRPr lang="pt-BR" dirty="0"/>
          </a:p>
        </p:txBody>
      </p:sp>
      <p:cxnSp>
        <p:nvCxnSpPr>
          <p:cNvPr id="9" name="Conector Angulado 8"/>
          <p:cNvCxnSpPr>
            <a:stCxn id="7" idx="0"/>
            <a:endCxn id="12" idx="2"/>
          </p:cNvCxnSpPr>
          <p:nvPr/>
        </p:nvCxnSpPr>
        <p:spPr>
          <a:xfrm rot="5400000" flipH="1" flipV="1">
            <a:off x="4591956" y="3040772"/>
            <a:ext cx="526838" cy="154514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Retângulo Arredondado 11"/>
          <p:cNvSpPr/>
          <p:nvPr/>
        </p:nvSpPr>
        <p:spPr>
          <a:xfrm>
            <a:off x="5159897" y="3101344"/>
            <a:ext cx="936103" cy="448580"/>
          </a:xfrm>
          <a:prstGeom prst="round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/>
          <p:cNvSpPr txBox="1"/>
          <p:nvPr/>
        </p:nvSpPr>
        <p:spPr>
          <a:xfrm>
            <a:off x="6772418" y="4072921"/>
            <a:ext cx="3744416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/>
              <a:t>Para onde será localizado.</a:t>
            </a:r>
          </a:p>
          <a:p>
            <a:endParaRPr lang="pt-BR" dirty="0"/>
          </a:p>
          <a:p>
            <a:r>
              <a:rPr lang="pt-BR" dirty="0"/>
              <a:t>Caso use “” sem informar o texto, o programa pegará o idioma padrão do computador</a:t>
            </a:r>
          </a:p>
        </p:txBody>
      </p:sp>
      <p:sp>
        <p:nvSpPr>
          <p:cNvPr id="16" name="Retângulo Arredondado 15"/>
          <p:cNvSpPr/>
          <p:nvPr/>
        </p:nvSpPr>
        <p:spPr>
          <a:xfrm>
            <a:off x="6240016" y="3124436"/>
            <a:ext cx="1728192" cy="448580"/>
          </a:xfrm>
          <a:prstGeom prst="round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8" name="Conector Angulado 17"/>
          <p:cNvCxnSpPr>
            <a:stCxn id="15" idx="0"/>
            <a:endCxn id="16" idx="2"/>
          </p:cNvCxnSpPr>
          <p:nvPr/>
        </p:nvCxnSpPr>
        <p:spPr>
          <a:xfrm rot="16200000" flipV="1">
            <a:off x="7624418" y="3052712"/>
            <a:ext cx="499905" cy="1540514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3585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15" grpId="0" animBg="1"/>
      <p:bldP spid="1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200" dirty="0"/>
              <a:t>Use o método </a:t>
            </a:r>
            <a:r>
              <a:rPr lang="pt-BR" sz="2200" dirty="0" err="1"/>
              <a:t>setlocale</a:t>
            </a:r>
            <a:r>
              <a:rPr lang="pt-BR" sz="2200" dirty="0"/>
              <a:t> no inicio do seu método </a:t>
            </a:r>
            <a:r>
              <a:rPr lang="pt-BR" sz="2200" dirty="0" err="1"/>
              <a:t>main</a:t>
            </a:r>
            <a:r>
              <a:rPr lang="pt-BR" sz="2200" dirty="0"/>
              <a:t>() para que seu programa aceite caracteres especiais.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dirty="0"/>
              <a:t>SABENDO QUE esse método faz parte da biblioteca </a:t>
            </a:r>
            <a:r>
              <a:rPr lang="pt-BR" sz="2200" u="sng" dirty="0" err="1"/>
              <a:t>locale.h</a:t>
            </a:r>
            <a:r>
              <a:rPr lang="pt-BR" sz="2200" dirty="0"/>
              <a:t>.</a:t>
            </a:r>
          </a:p>
          <a:p>
            <a:pPr lvl="1" algn="just"/>
            <a:r>
              <a:rPr lang="pt-BR" sz="2000" dirty="0"/>
              <a:t>Será preciso importa-la. </a:t>
            </a:r>
          </a:p>
        </p:txBody>
      </p:sp>
    </p:spTree>
    <p:extLst>
      <p:ext uri="{BB962C8B-B14F-4D97-AF65-F5344CB8AC3E}">
        <p14:creationId xmlns:p14="http://schemas.microsoft.com/office/powerpoint/2010/main" val="11331824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200" dirty="0"/>
              <a:t>Código:</a:t>
            </a:r>
            <a:endParaRPr lang="pt-BR" sz="2000" dirty="0"/>
          </a:p>
        </p:txBody>
      </p:sp>
      <p:sp>
        <p:nvSpPr>
          <p:cNvPr id="4" name="Retângulo 3"/>
          <p:cNvSpPr/>
          <p:nvPr/>
        </p:nvSpPr>
        <p:spPr>
          <a:xfrm>
            <a:off x="3296816" y="2852937"/>
            <a:ext cx="5598368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pt-BR" dirty="0" err="1">
                <a:solidFill>
                  <a:srgbClr val="A31515"/>
                </a:solidFill>
                <a:latin typeface="Consolas" panose="020B0609020204030204" pitchFamily="49" charset="0"/>
              </a:rPr>
              <a:t>stdio.h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pt-BR" dirty="0" err="1">
                <a:solidFill>
                  <a:srgbClr val="A31515"/>
                </a:solidFill>
                <a:latin typeface="Consolas" panose="020B0609020204030204" pitchFamily="49" charset="0"/>
              </a:rPr>
              <a:t>stdlib.h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b="1" u="sng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pt-BR" b="1" u="sng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pt-BR" b="1" u="sng" dirty="0" err="1">
                <a:solidFill>
                  <a:srgbClr val="A31515"/>
                </a:solidFill>
                <a:latin typeface="Consolas" panose="020B0609020204030204" pitchFamily="49" charset="0"/>
              </a:rPr>
              <a:t>locale.h</a:t>
            </a:r>
            <a:r>
              <a:rPr lang="pt-BR" b="1" u="sng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pt-BR" b="1" u="sng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"Olá, meu nome é Carlos"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82450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Quebra de Linha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200" dirty="0"/>
              <a:t>E se quisermos criar um algoritmo que exiba o texto abaixo, como podemos fazer isso?</a:t>
            </a:r>
          </a:p>
          <a:p>
            <a:pPr algn="just"/>
            <a:endParaRPr lang="pt-BR" sz="2200" dirty="0"/>
          </a:p>
          <a:p>
            <a:pPr algn="just"/>
            <a:endParaRPr lang="pt-BR" sz="2200" dirty="0"/>
          </a:p>
          <a:p>
            <a:pPr algn="just"/>
            <a:endParaRPr lang="pt-BR" sz="2200" dirty="0"/>
          </a:p>
          <a:p>
            <a:pPr algn="just"/>
            <a:endParaRPr lang="pt-BR" sz="2200" dirty="0"/>
          </a:p>
          <a:p>
            <a:pPr marL="109728" indent="0" algn="just">
              <a:buNone/>
            </a:pPr>
            <a:endParaRPr lang="pt-BR" sz="2200" dirty="0"/>
          </a:p>
          <a:p>
            <a:pPr algn="just"/>
            <a:r>
              <a:rPr lang="pt-BR" sz="2200" dirty="0"/>
              <a:t>Sempre que quiser por uma quebra de linha de um texto, adicione </a:t>
            </a:r>
            <a:r>
              <a:rPr lang="pt-BR" sz="2200" b="1" dirty="0"/>
              <a:t>\n</a:t>
            </a:r>
            <a:r>
              <a:rPr lang="pt-BR" sz="2200" dirty="0"/>
              <a:t> no texto.</a:t>
            </a:r>
            <a:endParaRPr lang="pt-BR" sz="2000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5881" y="3068960"/>
            <a:ext cx="1718559" cy="166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176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200" dirty="0"/>
              <a:t>Usando 1 ou 3 </a:t>
            </a:r>
            <a:r>
              <a:rPr lang="pt-BR" sz="2200" dirty="0" err="1"/>
              <a:t>printf</a:t>
            </a:r>
            <a:r>
              <a:rPr lang="pt-BR" sz="2200" dirty="0"/>
              <a:t>, crie um algoritmo que exiba o texto abaixo:</a:t>
            </a:r>
          </a:p>
          <a:p>
            <a:pPr algn="just"/>
            <a:endParaRPr lang="pt-BR" sz="2200" dirty="0"/>
          </a:p>
          <a:p>
            <a:pPr algn="just"/>
            <a:endParaRPr lang="pt-BR" sz="2200" dirty="0"/>
          </a:p>
          <a:p>
            <a:pPr algn="just"/>
            <a:endParaRPr lang="pt-BR" sz="2200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921" y="3212976"/>
            <a:ext cx="1718559" cy="166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8713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200" dirty="0"/>
              <a:t>Código:</a:t>
            </a:r>
            <a:endParaRPr lang="pt-BR" sz="2000" dirty="0"/>
          </a:p>
        </p:txBody>
      </p:sp>
      <p:sp>
        <p:nvSpPr>
          <p:cNvPr id="5" name="Retângulo 4"/>
          <p:cNvSpPr/>
          <p:nvPr/>
        </p:nvSpPr>
        <p:spPr>
          <a:xfrm>
            <a:off x="3143672" y="3068961"/>
            <a:ext cx="5184576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dirty="0" err="1">
                <a:solidFill>
                  <a:srgbClr val="A31515"/>
                </a:solidFill>
                <a:latin typeface="Consolas" panose="020B0609020204030204" pitchFamily="49" charset="0"/>
              </a:rPr>
              <a:t>Portuguese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"Opção 1\n"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"Opção 2\n"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"Opção 3\n"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26432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Comentários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200" dirty="0"/>
              <a:t>Um comentário em um Script é um linha de código que não é executada ou compilada.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dirty="0"/>
              <a:t>É usado pelo próprio programador para comentar algo para se lembrar depois ou documentar um algoritmo. 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110753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Comentários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200" dirty="0"/>
              <a:t>O comentário poderá ser em uma linha usando //:</a:t>
            </a:r>
          </a:p>
          <a:p>
            <a:pPr algn="just"/>
            <a:endParaRPr lang="pt-BR" sz="2200" dirty="0"/>
          </a:p>
          <a:p>
            <a:pPr algn="just"/>
            <a:endParaRPr lang="pt-BR" sz="2200" dirty="0"/>
          </a:p>
          <a:p>
            <a:pPr algn="just"/>
            <a:endParaRPr lang="pt-BR" sz="2200" dirty="0"/>
          </a:p>
          <a:p>
            <a:pPr marL="109728" indent="0" algn="just">
              <a:buNone/>
            </a:pPr>
            <a:endParaRPr lang="pt-BR" sz="2200" dirty="0"/>
          </a:p>
          <a:p>
            <a:pPr algn="just"/>
            <a:r>
              <a:rPr lang="pt-BR" sz="2200" dirty="0"/>
              <a:t>Ou em um Bloco com várias linhas usando /*  */:</a:t>
            </a:r>
            <a:endParaRPr lang="pt-BR" sz="2000" dirty="0"/>
          </a:p>
        </p:txBody>
      </p:sp>
      <p:sp>
        <p:nvSpPr>
          <p:cNvPr id="5" name="Retângulo 4"/>
          <p:cNvSpPr/>
          <p:nvPr/>
        </p:nvSpPr>
        <p:spPr>
          <a:xfrm>
            <a:off x="4079776" y="2780929"/>
            <a:ext cx="3582144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//Menu do aplicativo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"1 - Iniciar 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"2 - Carregar 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"3 - Sair"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6" name="Retângulo 5"/>
          <p:cNvSpPr/>
          <p:nvPr/>
        </p:nvSpPr>
        <p:spPr>
          <a:xfrm>
            <a:off x="3404828" y="4565354"/>
            <a:ext cx="5382344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/*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 Código criado por Carlos W. Gama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 Versão 1.0.0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*/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97815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Aonde fica meu Executável?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O seu executável ficará disponível na pasta, aonde você salvou o projeto:</a:t>
            </a:r>
          </a:p>
          <a:p>
            <a:pPr algn="just"/>
            <a:endParaRPr lang="pt-BR" sz="2000" dirty="0"/>
          </a:p>
        </p:txBody>
      </p:sp>
      <p:sp>
        <p:nvSpPr>
          <p:cNvPr id="4" name="Retângulo 3"/>
          <p:cNvSpPr/>
          <p:nvPr/>
        </p:nvSpPr>
        <p:spPr>
          <a:xfrm>
            <a:off x="2999656" y="3140968"/>
            <a:ext cx="5904656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000" dirty="0"/>
              <a:t>%PASTA_PROJETO%\bin\Debug\programa.exe</a:t>
            </a:r>
          </a:p>
        </p:txBody>
      </p:sp>
    </p:spTree>
    <p:extLst>
      <p:ext uri="{BB962C8B-B14F-4D97-AF65-F5344CB8AC3E}">
        <p14:creationId xmlns:p14="http://schemas.microsoft.com/office/powerpoint/2010/main" val="22199558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Meu programa fecha rápido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Ao abrir o programa sem ser pelo </a:t>
            </a:r>
            <a:r>
              <a:rPr lang="pt-BR" sz="2000" dirty="0" err="1"/>
              <a:t>Code</a:t>
            </a:r>
            <a:r>
              <a:rPr lang="pt-BR" sz="2000" dirty="0"/>
              <a:t>::</a:t>
            </a:r>
            <a:r>
              <a:rPr lang="pt-BR" sz="2000" dirty="0" err="1"/>
              <a:t>Block</a:t>
            </a:r>
            <a:r>
              <a:rPr lang="pt-BR" sz="2000" dirty="0"/>
              <a:t>, assim que ele executa o </a:t>
            </a:r>
            <a:r>
              <a:rPr lang="pt-BR" sz="2000" dirty="0" err="1"/>
              <a:t>return</a:t>
            </a:r>
            <a:r>
              <a:rPr lang="pt-BR" sz="2000" dirty="0"/>
              <a:t>, a janela será fechada.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Para evitar que ele rápido, pode usar o método abaixo antes do </a:t>
            </a:r>
            <a:r>
              <a:rPr lang="pt-BR" sz="2000" dirty="0" err="1"/>
              <a:t>return</a:t>
            </a:r>
            <a:r>
              <a:rPr lang="pt-BR" sz="2000" dirty="0"/>
              <a:t>: 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Esse método fica aguardando até o usuário clicar em alguma tecla.</a:t>
            </a:r>
          </a:p>
          <a:p>
            <a:pPr algn="just"/>
            <a:endParaRPr lang="pt-BR" sz="2000" dirty="0"/>
          </a:p>
        </p:txBody>
      </p:sp>
      <p:sp>
        <p:nvSpPr>
          <p:cNvPr id="5" name="Retângulo 4"/>
          <p:cNvSpPr/>
          <p:nvPr/>
        </p:nvSpPr>
        <p:spPr>
          <a:xfrm>
            <a:off x="5323994" y="3914322"/>
            <a:ext cx="1544012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pt-BR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getch</a:t>
            </a:r>
            <a:r>
              <a:rPr lang="pt-BR" sz="2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5922558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Meu programa fecha rápido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Exemplo:</a:t>
            </a:r>
          </a:p>
          <a:p>
            <a:pPr algn="just"/>
            <a:endParaRPr lang="pt-BR" sz="2000" dirty="0"/>
          </a:p>
        </p:txBody>
      </p:sp>
      <p:sp>
        <p:nvSpPr>
          <p:cNvPr id="4" name="Retângulo 3"/>
          <p:cNvSpPr/>
          <p:nvPr/>
        </p:nvSpPr>
        <p:spPr>
          <a:xfrm>
            <a:off x="3472272" y="2852936"/>
            <a:ext cx="5247456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dirty="0" err="1">
                <a:solidFill>
                  <a:srgbClr val="A31515"/>
                </a:solidFill>
                <a:latin typeface="Consolas" panose="020B0609020204030204" pitchFamily="49" charset="0"/>
              </a:rPr>
              <a:t>Portuguese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"Opção 1\n"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"Opção 2\n"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"Opção 3\n"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b="1" u="sng" dirty="0" err="1">
                <a:solidFill>
                  <a:srgbClr val="000000"/>
                </a:solidFill>
                <a:latin typeface="Consolas" panose="020B0609020204030204" pitchFamily="49" charset="0"/>
              </a:rPr>
              <a:t>getch</a:t>
            </a:r>
            <a:r>
              <a:rPr lang="pt-BR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5390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o">
  <a:themeElements>
    <a:clrScheme name="Urbano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o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Urbano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BB18BA9D9AB6240B5154E147FB65CD8" ma:contentTypeVersion="0" ma:contentTypeDescription="Crie um novo documento." ma:contentTypeScope="" ma:versionID="8d2370ab5a92c900c9496cf828b71e6c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74c6ccb71ee63fbc30cff3237551ec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3F53034-E07E-480E-924F-D5DD2AB23A3F}"/>
</file>

<file path=customXml/itemProps2.xml><?xml version="1.0" encoding="utf-8"?>
<ds:datastoreItem xmlns:ds="http://schemas.openxmlformats.org/officeDocument/2006/customXml" ds:itemID="{F058E2FD-09D2-4CCB-ACF0-0150D2FFCB2E}"/>
</file>

<file path=customXml/itemProps3.xml><?xml version="1.0" encoding="utf-8"?>
<ds:datastoreItem xmlns:ds="http://schemas.openxmlformats.org/officeDocument/2006/customXml" ds:itemID="{F3225972-19AE-47D3-851E-C7740D78CE71}"/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1328</TotalTime>
  <Words>1571</Words>
  <Application>Microsoft Office PowerPoint</Application>
  <PresentationFormat>Widescreen</PresentationFormat>
  <Paragraphs>286</Paragraphs>
  <Slides>35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41" baseType="lpstr">
      <vt:lpstr>Calibri</vt:lpstr>
      <vt:lpstr>Consolas</vt:lpstr>
      <vt:lpstr>Georgia</vt:lpstr>
      <vt:lpstr>Trebuchet MS</vt:lpstr>
      <vt:lpstr>Wingdings 2</vt:lpstr>
      <vt:lpstr>Urbano</vt:lpstr>
      <vt:lpstr>Laboratório de Programação I Introdução a Programação</vt:lpstr>
      <vt:lpstr>Algoritmo</vt:lpstr>
      <vt:lpstr>O que é Algoritmo?</vt:lpstr>
      <vt:lpstr>Por que C?</vt:lpstr>
      <vt:lpstr>Linguagens Compiladas e Interpretadas</vt:lpstr>
      <vt:lpstr>As Linguagens Compiladas</vt:lpstr>
      <vt:lpstr>As Linguagens Compiladas</vt:lpstr>
      <vt:lpstr>As Linguagens Interpretadas</vt:lpstr>
      <vt:lpstr>As Linguagens Interpretadas</vt:lpstr>
      <vt:lpstr>Programando em C</vt:lpstr>
      <vt:lpstr>Code::Blocks</vt:lpstr>
      <vt:lpstr>Code::Blocks</vt:lpstr>
      <vt:lpstr>Code::Blocks</vt:lpstr>
      <vt:lpstr>Code::Blocks    Criando um Projeto em C</vt:lpstr>
      <vt:lpstr>Code::Blocks    Criando um Projeto em C</vt:lpstr>
      <vt:lpstr>Compiladores Onlines</vt:lpstr>
      <vt:lpstr>Estrutura do Código</vt:lpstr>
      <vt:lpstr>Estrutura do Código</vt:lpstr>
      <vt:lpstr>Estrutura do Código</vt:lpstr>
      <vt:lpstr>Estrutura do Código</vt:lpstr>
      <vt:lpstr>Executando o código:</vt:lpstr>
      <vt:lpstr>Praticando!</vt:lpstr>
      <vt:lpstr>Praticando!</vt:lpstr>
      <vt:lpstr>Acentuação</vt:lpstr>
      <vt:lpstr>setlocale()</vt:lpstr>
      <vt:lpstr>Praticando</vt:lpstr>
      <vt:lpstr>Praticando</vt:lpstr>
      <vt:lpstr>Quebra de Linha</vt:lpstr>
      <vt:lpstr>Praticando</vt:lpstr>
      <vt:lpstr>Praticando</vt:lpstr>
      <vt:lpstr>Comentários</vt:lpstr>
      <vt:lpstr>Comentários</vt:lpstr>
      <vt:lpstr>Aonde fica meu Executável?</vt:lpstr>
      <vt:lpstr>Meu programa fecha rápido</vt:lpstr>
      <vt:lpstr>Meu programa fecha rápido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Padrões de Projeto Padrões Criacionais(Revisão)</dc:title>
  <dc:creator>Carlos W. Gama</dc:creator>
  <cp:lastModifiedBy>Carlos W. Gama</cp:lastModifiedBy>
  <cp:revision>169</cp:revision>
  <dcterms:created xsi:type="dcterms:W3CDTF">2017-03-10T13:05:03Z</dcterms:created>
  <dcterms:modified xsi:type="dcterms:W3CDTF">2024-12-05T12:46:19Z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0x0101009BB18BA9D9AB6240B5154E147FB65CD8</vt:lpwstr>
  </property>
</Properties>
</file>