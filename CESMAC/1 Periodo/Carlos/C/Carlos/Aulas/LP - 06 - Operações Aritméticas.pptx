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27" r:id="rId3"/>
    <p:sldId id="328" r:id="rId4"/>
    <p:sldId id="329" r:id="rId5"/>
    <p:sldId id="330" r:id="rId6"/>
    <p:sldId id="331" r:id="rId7"/>
    <p:sldId id="332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52" y="3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0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318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5587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441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174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912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849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225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86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010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149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8685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91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2266DD5-1C21-04F9-6AE8-377C818DFE99}"/>
              </a:ext>
            </a:extLst>
          </p:cNvPr>
          <p:cNvSpPr>
            <a:spLocks noGrp="1"/>
          </p:cNvSpPr>
          <p:nvPr/>
        </p:nvSpPr>
        <p:spPr>
          <a:xfrm>
            <a:off x="925216" y="665261"/>
            <a:ext cx="10657184" cy="2763739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 dirty="0"/>
              <a:t>Operações Aritméticas 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Operações Aritméticas</a:t>
            </a:r>
            <a:br>
              <a:rPr lang="pt-BR" sz="6000" dirty="0"/>
            </a:br>
            <a:r>
              <a:rPr lang="pt-BR" sz="6000" dirty="0"/>
              <a:t>(Matemática)</a:t>
            </a:r>
          </a:p>
        </p:txBody>
      </p:sp>
    </p:spTree>
    <p:extLst>
      <p:ext uri="{BB962C8B-B14F-4D97-AF65-F5344CB8AC3E}">
        <p14:creationId xmlns:p14="http://schemas.microsoft.com/office/powerpoint/2010/main" val="2394803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49424"/>
            <a:ext cx="878497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Em programação será bastante comum realizarmos operações matemáticas como Somar (+), Subtrair (-), Multiplicar (*) e Dividir (/). </a:t>
            </a:r>
          </a:p>
          <a:p>
            <a:pPr algn="just"/>
            <a:endParaRPr lang="pt-BR" sz="2000" dirty="0"/>
          </a:p>
          <a:p>
            <a:pPr algn="just"/>
            <a:r>
              <a:rPr lang="pt-BR" sz="1800" dirty="0"/>
              <a:t>A sintaxe utilizada para uma variável receber essa operação é: 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Exemplos: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2135560" y="3717032"/>
            <a:ext cx="76328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&lt;variável que recebe valor&gt;</a:t>
            </a:r>
            <a:r>
              <a:rPr lang="pt-BR" b="1" dirty="0"/>
              <a:t> = </a:t>
            </a:r>
            <a:r>
              <a:rPr lang="pt-BR" b="1" dirty="0">
                <a:solidFill>
                  <a:srgbClr val="7030A0"/>
                </a:solidFill>
              </a:rPr>
              <a:t>&lt;valor1&gt;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&lt;operação&gt;</a:t>
            </a:r>
            <a:r>
              <a:rPr lang="pt-BR" b="1" dirty="0"/>
              <a:t> </a:t>
            </a:r>
            <a:r>
              <a:rPr lang="pt-BR" dirty="0"/>
              <a:t> </a:t>
            </a:r>
            <a:r>
              <a:rPr lang="pt-BR" b="1" dirty="0">
                <a:solidFill>
                  <a:srgbClr val="7030A0"/>
                </a:solidFill>
              </a:rPr>
              <a:t>&lt;valor2&gt;</a:t>
            </a:r>
            <a:r>
              <a:rPr lang="pt-BR" dirty="0"/>
              <a:t>;</a:t>
            </a:r>
          </a:p>
        </p:txBody>
      </p:sp>
      <p:sp>
        <p:nvSpPr>
          <p:cNvPr id="6" name="Retângulo 5"/>
          <p:cNvSpPr/>
          <p:nvPr/>
        </p:nvSpPr>
        <p:spPr>
          <a:xfrm>
            <a:off x="4583832" y="4752615"/>
            <a:ext cx="23042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resultado</a:t>
            </a:r>
            <a:r>
              <a:rPr lang="pt-BR" b="1" dirty="0"/>
              <a:t> = </a:t>
            </a:r>
            <a:r>
              <a:rPr lang="pt-BR" b="1" dirty="0">
                <a:solidFill>
                  <a:srgbClr val="7030A0"/>
                </a:solidFill>
              </a:rPr>
              <a:t>1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+</a:t>
            </a:r>
            <a:r>
              <a:rPr lang="pt-BR" b="1" dirty="0"/>
              <a:t> </a:t>
            </a:r>
            <a:r>
              <a:rPr lang="pt-BR" dirty="0"/>
              <a:t> </a:t>
            </a:r>
            <a:r>
              <a:rPr lang="pt-BR" b="1" dirty="0">
                <a:solidFill>
                  <a:srgbClr val="7030A0"/>
                </a:solidFill>
              </a:rPr>
              <a:t>2</a:t>
            </a:r>
            <a:r>
              <a:rPr lang="pt-BR" dirty="0"/>
              <a:t>;</a:t>
            </a:r>
          </a:p>
        </p:txBody>
      </p:sp>
      <p:sp>
        <p:nvSpPr>
          <p:cNvPr id="7" name="Retângulo 6"/>
          <p:cNvSpPr/>
          <p:nvPr/>
        </p:nvSpPr>
        <p:spPr>
          <a:xfrm>
            <a:off x="3863752" y="5258269"/>
            <a:ext cx="37444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FFC000"/>
                </a:solidFill>
              </a:rPr>
              <a:t>int</a:t>
            </a:r>
            <a:r>
              <a:rPr lang="pt-BR" b="1" dirty="0">
                <a:solidFill>
                  <a:srgbClr val="FFC000"/>
                </a:solidFill>
              </a:rPr>
              <a:t> resultado</a:t>
            </a:r>
            <a:r>
              <a:rPr lang="pt-BR" b="1" dirty="0"/>
              <a:t> = </a:t>
            </a:r>
            <a:r>
              <a:rPr lang="pt-BR" b="1" dirty="0" err="1">
                <a:solidFill>
                  <a:srgbClr val="7030A0"/>
                </a:solidFill>
              </a:rPr>
              <a:t>variavelA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-</a:t>
            </a:r>
            <a:r>
              <a:rPr lang="pt-BR" b="1" dirty="0"/>
              <a:t> </a:t>
            </a:r>
            <a:r>
              <a:rPr lang="pt-BR" dirty="0"/>
              <a:t> </a:t>
            </a:r>
            <a:r>
              <a:rPr lang="pt-BR" b="1" dirty="0">
                <a:solidFill>
                  <a:srgbClr val="7030A0"/>
                </a:solidFill>
              </a:rPr>
              <a:t>10</a:t>
            </a:r>
            <a:r>
              <a:rPr lang="pt-BR" dirty="0"/>
              <a:t>;</a:t>
            </a:r>
          </a:p>
        </p:txBody>
      </p:sp>
      <p:sp>
        <p:nvSpPr>
          <p:cNvPr id="8" name="Retângulo 7"/>
          <p:cNvSpPr/>
          <p:nvPr/>
        </p:nvSpPr>
        <p:spPr>
          <a:xfrm>
            <a:off x="3575720" y="5763923"/>
            <a:ext cx="43204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resultado</a:t>
            </a:r>
            <a:r>
              <a:rPr lang="pt-BR" b="1" dirty="0"/>
              <a:t> = </a:t>
            </a:r>
            <a:r>
              <a:rPr lang="pt-BR" b="1" dirty="0" err="1">
                <a:solidFill>
                  <a:srgbClr val="7030A0"/>
                </a:solidFill>
              </a:rPr>
              <a:t>variavelA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*</a:t>
            </a:r>
            <a:r>
              <a:rPr lang="pt-BR" b="1" dirty="0"/>
              <a:t> </a:t>
            </a:r>
            <a:r>
              <a:rPr lang="pt-BR" dirty="0"/>
              <a:t> </a:t>
            </a:r>
            <a:r>
              <a:rPr lang="pt-BR" b="1" dirty="0" err="1">
                <a:solidFill>
                  <a:srgbClr val="7030A0"/>
                </a:solidFill>
              </a:rPr>
              <a:t>variabelB</a:t>
            </a:r>
            <a:r>
              <a:rPr lang="pt-BR" dirty="0"/>
              <a:t>;</a:t>
            </a:r>
          </a:p>
        </p:txBody>
      </p:sp>
      <p:sp>
        <p:nvSpPr>
          <p:cNvPr id="9" name="Retângulo 8"/>
          <p:cNvSpPr/>
          <p:nvPr/>
        </p:nvSpPr>
        <p:spPr>
          <a:xfrm>
            <a:off x="4115780" y="6293852"/>
            <a:ext cx="324036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resultado</a:t>
            </a:r>
            <a:r>
              <a:rPr lang="pt-BR" b="1" dirty="0"/>
              <a:t> = </a:t>
            </a:r>
            <a:r>
              <a:rPr lang="pt-BR" b="1" dirty="0">
                <a:solidFill>
                  <a:srgbClr val="7030A0"/>
                </a:solidFill>
              </a:rPr>
              <a:t>5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*</a:t>
            </a:r>
            <a:r>
              <a:rPr lang="pt-BR" b="1" dirty="0"/>
              <a:t> </a:t>
            </a:r>
            <a:r>
              <a:rPr lang="pt-BR" b="1" dirty="0">
                <a:solidFill>
                  <a:srgbClr val="7030A0"/>
                </a:solidFill>
              </a:rPr>
              <a:t>3</a:t>
            </a:r>
            <a:r>
              <a:rPr lang="pt-BR" dirty="0"/>
              <a:t> </a:t>
            </a:r>
            <a:r>
              <a:rPr lang="pt-BR" b="1" dirty="0">
                <a:solidFill>
                  <a:srgbClr val="FF0000"/>
                </a:solidFill>
              </a:rPr>
              <a:t>+ </a:t>
            </a:r>
            <a:r>
              <a:rPr lang="pt-BR" b="1" dirty="0">
                <a:solidFill>
                  <a:srgbClr val="7030A0"/>
                </a:solidFill>
              </a:rPr>
              <a:t>10 </a:t>
            </a:r>
            <a:r>
              <a:rPr lang="pt-BR" b="1" dirty="0">
                <a:solidFill>
                  <a:srgbClr val="FF0000"/>
                </a:solidFill>
              </a:rPr>
              <a:t>/</a:t>
            </a:r>
            <a:r>
              <a:rPr lang="pt-BR" b="1" dirty="0">
                <a:solidFill>
                  <a:srgbClr val="7030A0"/>
                </a:solidFill>
              </a:rPr>
              <a:t> 2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3686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49424"/>
            <a:ext cx="1110302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Na matemática quem ocorre primeiro? </a:t>
            </a:r>
            <a:r>
              <a:rPr lang="pt-BR" sz="1800" dirty="0"/>
              <a:t>Soma e Subtração ou Divisão e Multiplicação?</a:t>
            </a:r>
          </a:p>
          <a:p>
            <a:pPr lvl="1" algn="just"/>
            <a:r>
              <a:rPr lang="pt-BR" sz="1800" dirty="0"/>
              <a:t>Multiplicação e Divisão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Isso também ocorre na programação.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a gente queira que uma operação de soma ocorra antes de uma divisão, o que fazemos na matemática? </a:t>
            </a:r>
          </a:p>
          <a:p>
            <a:pPr lvl="1" algn="just"/>
            <a:r>
              <a:rPr lang="pt-BR" sz="1800" dirty="0"/>
              <a:t>Adicionamos parênteses são que será executado primeiro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Na programação também!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311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9376" y="2249424"/>
            <a:ext cx="1000911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No código abaixo, o que será exibido na tela?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1981200" y="2708921"/>
            <a:ext cx="577098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resultado;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resultado = a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961884" y="3355250"/>
            <a:ext cx="15905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Resultado: 25</a:t>
            </a:r>
          </a:p>
        </p:txBody>
      </p:sp>
      <p:sp>
        <p:nvSpPr>
          <p:cNvPr id="6" name="Retângulo 5"/>
          <p:cNvSpPr/>
          <p:nvPr/>
        </p:nvSpPr>
        <p:spPr>
          <a:xfrm>
            <a:off x="1991544" y="4782052"/>
            <a:ext cx="577098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resultado;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resultado = 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b="1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"Resultado: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resultado);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961885" y="5435932"/>
            <a:ext cx="16081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Resultado: 30</a:t>
            </a:r>
          </a:p>
        </p:txBody>
      </p:sp>
    </p:spTree>
    <p:extLst>
      <p:ext uri="{BB962C8B-B14F-4D97-AF65-F5344CB8AC3E}">
        <p14:creationId xmlns:p14="http://schemas.microsoft.com/office/powerpoint/2010/main" val="262683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24704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peça para o usuário digitar dois números, e logo em seguida exiba a divisão dos dois números: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a divisão de dois números ser um valor fracionado, o número dividido  também devem ser decimal (</a:t>
            </a:r>
            <a:r>
              <a:rPr lang="pt-BR" sz="2000" dirty="0" err="1"/>
              <a:t>float</a:t>
            </a:r>
            <a:r>
              <a:rPr lang="pt-BR" sz="2000" dirty="0"/>
              <a:t> ou </a:t>
            </a:r>
            <a:r>
              <a:rPr lang="pt-BR" sz="2000" dirty="0" err="1"/>
              <a:t>double</a:t>
            </a:r>
            <a:r>
              <a:rPr lang="pt-BR" sz="2000" dirty="0"/>
              <a:t>)*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063" y="3068960"/>
            <a:ext cx="73818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9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49424"/>
            <a:ext cx="878497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1623752" y="2655522"/>
            <a:ext cx="8936745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a, b, resultado;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numero: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outro numero: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resultado = a / b;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resultado da divisão de %.0f com %.0f é 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b,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							resultado);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674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com a própria variável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31904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Sempre que formos fazer uma operação em que o </a:t>
            </a:r>
            <a:r>
              <a:rPr lang="pt-BR" sz="2000" u="sng" dirty="0"/>
              <a:t>resultado será atribuído a uma variável dentro da própria operação</a:t>
            </a:r>
            <a:r>
              <a:rPr lang="pt-BR" sz="2000" dirty="0"/>
              <a:t>, podemos usar uma sintaxe alternativa.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Nesse caso possuímos duas sintaxes diferentes para mesma semântica. </a:t>
            </a:r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6" name="Retângulo 5"/>
          <p:cNvSpPr/>
          <p:nvPr/>
        </p:nvSpPr>
        <p:spPr>
          <a:xfrm>
            <a:off x="2597748" y="3356993"/>
            <a:ext cx="1656184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= a + b;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= a - b;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= a / b;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= a * b;</a:t>
            </a:r>
          </a:p>
        </p:txBody>
      </p:sp>
      <p:sp>
        <p:nvSpPr>
          <p:cNvPr id="7" name="Retângulo 6"/>
          <p:cNvSpPr/>
          <p:nvPr/>
        </p:nvSpPr>
        <p:spPr>
          <a:xfrm>
            <a:off x="7796044" y="3356992"/>
            <a:ext cx="1226747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+= b;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-= b;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/= b;</a:t>
            </a:r>
          </a:p>
          <a:p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a *= b;</a:t>
            </a:r>
          </a:p>
        </p:txBody>
      </p:sp>
      <p:sp>
        <p:nvSpPr>
          <p:cNvPr id="8" name="Seta para a Direita 7"/>
          <p:cNvSpPr/>
          <p:nvPr/>
        </p:nvSpPr>
        <p:spPr>
          <a:xfrm>
            <a:off x="4532758" y="3621583"/>
            <a:ext cx="3024336" cy="90614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Pode ser substituído por</a:t>
            </a:r>
          </a:p>
        </p:txBody>
      </p:sp>
    </p:spTree>
    <p:extLst>
      <p:ext uri="{BB962C8B-B14F-4D97-AF65-F5344CB8AC3E}">
        <p14:creationId xmlns:p14="http://schemas.microsoft.com/office/powerpoint/2010/main" val="370131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49424"/>
            <a:ext cx="1051316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Faça um algoritmo que deve somar o valor 3 itens usando apenas duas variáveis: total e </a:t>
            </a:r>
            <a:r>
              <a:rPr lang="pt-BR" sz="2000" dirty="0" err="1"/>
              <a:t>precoProduto</a:t>
            </a: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3A8B76-AECA-B715-11BC-0BE17590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918" y="3140968"/>
            <a:ext cx="7308132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6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Matemáticas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49424"/>
            <a:ext cx="878497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A161AF-B50A-3D53-A591-915C548C0E48}"/>
              </a:ext>
            </a:extLst>
          </p:cNvPr>
          <p:cNvSpPr txBox="1"/>
          <p:nvPr/>
        </p:nvSpPr>
        <p:spPr>
          <a:xfrm>
            <a:off x="3359696" y="283464"/>
            <a:ext cx="6097712" cy="646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setlocale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(LC_ALL,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Portuguese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total =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//ITEM 1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"Digite o preço do produto 1: 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"%f"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total +=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//ITEM 2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"Digite o preço do produto 2: 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"%f"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total +=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//ITEM 3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"Digite o preço do produto 3: 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"%f"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total +=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precoProduto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"Preço final: %.2f"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total);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860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Incrementando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49424"/>
            <a:ext cx="979308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Para incrementar o valor de uma variável em um, podemos usar as sintaxes: </a:t>
            </a:r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4007768" y="2852936"/>
            <a:ext cx="297068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 = inteiro +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Retângulo 4"/>
          <p:cNvSpPr/>
          <p:nvPr/>
        </p:nvSpPr>
        <p:spPr>
          <a:xfrm>
            <a:off x="4577634" y="3397642"/>
            <a:ext cx="18309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767590" y="4020582"/>
            <a:ext cx="14510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inteiro++;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386940" y="4032512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Adiciona +1 a variável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760654" y="4605724"/>
            <a:ext cx="14510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++inteiro;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429215" y="4621778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Também adiciona +1</a:t>
            </a:r>
          </a:p>
        </p:txBody>
      </p:sp>
    </p:spTree>
    <p:extLst>
      <p:ext uri="{BB962C8B-B14F-4D97-AF65-F5344CB8AC3E}">
        <p14:creationId xmlns:p14="http://schemas.microsoft.com/office/powerpoint/2010/main" val="291182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/>
      <p:bldP spid="12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Incrementando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49424"/>
            <a:ext cx="878497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que é exibido ao rodar:</a:t>
            </a:r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6" name="Retângulo 5"/>
          <p:cNvSpPr/>
          <p:nvPr/>
        </p:nvSpPr>
        <p:spPr>
          <a:xfrm>
            <a:off x="2927648" y="2934652"/>
            <a:ext cx="300608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inteiro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++inteiro;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inteiro);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384032" y="2852936"/>
            <a:ext cx="1440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Inteiro é 1</a:t>
            </a:r>
          </a:p>
          <a:p>
            <a:r>
              <a:rPr lang="pt-BR" dirty="0"/>
              <a:t>Inteiro é 2</a:t>
            </a:r>
          </a:p>
          <a:p>
            <a:r>
              <a:rPr lang="pt-BR" dirty="0"/>
              <a:t>Inteiro é 3</a:t>
            </a:r>
          </a:p>
          <a:p>
            <a:r>
              <a:rPr lang="pt-BR" dirty="0"/>
              <a:t>Inteiro é 4</a:t>
            </a:r>
          </a:p>
          <a:p>
            <a:r>
              <a:rPr lang="pt-BR" dirty="0"/>
              <a:t>Inteiro é 4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5231904" y="3068960"/>
            <a:ext cx="11521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4367808" y="3356992"/>
            <a:ext cx="20162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endCxn id="7" idx="1"/>
          </p:cNvCxnSpPr>
          <p:nvPr/>
        </p:nvCxnSpPr>
        <p:spPr>
          <a:xfrm flipV="1">
            <a:off x="4367808" y="3591600"/>
            <a:ext cx="2016224" cy="53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 flipV="1">
            <a:off x="4367808" y="3861048"/>
            <a:ext cx="2016224" cy="720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5933728" y="4149080"/>
            <a:ext cx="4503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02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Incrementando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49424"/>
            <a:ext cx="110892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 ao rodar o código abaixo? O que será exibido?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Isso ocorre porque o </a:t>
            </a:r>
            <a:r>
              <a:rPr lang="pt-BR" sz="2000" u="sng" dirty="0" err="1"/>
              <a:t>variavel</a:t>
            </a:r>
            <a:r>
              <a:rPr lang="pt-BR" sz="2000" u="sng" dirty="0"/>
              <a:t>++</a:t>
            </a:r>
            <a:r>
              <a:rPr lang="pt-BR" sz="2000" dirty="0"/>
              <a:t>, </a:t>
            </a:r>
            <a:r>
              <a:rPr lang="pt-BR" sz="2000" u="sng" dirty="0"/>
              <a:t>primeiro executa a linha</a:t>
            </a:r>
            <a:r>
              <a:rPr lang="pt-BR" sz="2000" dirty="0"/>
              <a:t> e </a:t>
            </a:r>
            <a:r>
              <a:rPr lang="pt-BR" sz="2000" u="sng" dirty="0"/>
              <a:t>depois</a:t>
            </a:r>
            <a:r>
              <a:rPr lang="pt-BR" sz="2000" dirty="0"/>
              <a:t> </a:t>
            </a:r>
            <a:r>
              <a:rPr lang="pt-BR" sz="2000" u="sng" dirty="0"/>
              <a:t>incrementa</a:t>
            </a:r>
            <a:r>
              <a:rPr lang="pt-BR" sz="2000" dirty="0"/>
              <a:t> o valor em +1;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Enquanto o </a:t>
            </a:r>
            <a:r>
              <a:rPr lang="pt-BR" sz="2000" u="sng" dirty="0"/>
              <a:t>++</a:t>
            </a:r>
            <a:r>
              <a:rPr lang="pt-BR" sz="2000" u="sng" dirty="0" err="1"/>
              <a:t>variavel</a:t>
            </a:r>
            <a:r>
              <a:rPr lang="pt-BR" sz="2000" dirty="0"/>
              <a:t>, </a:t>
            </a:r>
            <a:r>
              <a:rPr lang="pt-BR" sz="2000" u="sng" dirty="0"/>
              <a:t>primeiro incrementa o valor</a:t>
            </a:r>
            <a:r>
              <a:rPr lang="pt-BR" sz="2000" dirty="0"/>
              <a:t> e só </a:t>
            </a:r>
            <a:r>
              <a:rPr lang="pt-BR" sz="2000" u="sng" dirty="0"/>
              <a:t>depois executa a linha.</a:t>
            </a:r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2351584" y="3211652"/>
            <a:ext cx="351013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inteiro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inteiro++);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++inteiro);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inteiro);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3" y="2721726"/>
            <a:ext cx="851121" cy="16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9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Decremento Valor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Da mesma forma que temos o incremento que soma +1, também temos  o decremento que diminui -1.</a:t>
            </a:r>
            <a:endParaRPr lang="pt-BR" sz="1600" dirty="0"/>
          </a:p>
        </p:txBody>
      </p:sp>
      <p:sp>
        <p:nvSpPr>
          <p:cNvPr id="6" name="Retângulo 5"/>
          <p:cNvSpPr/>
          <p:nvPr/>
        </p:nvSpPr>
        <p:spPr>
          <a:xfrm>
            <a:off x="5307162" y="3212976"/>
            <a:ext cx="15776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</p:txBody>
      </p:sp>
      <p:sp>
        <p:nvSpPr>
          <p:cNvPr id="7" name="Retângulo 6"/>
          <p:cNvSpPr/>
          <p:nvPr/>
        </p:nvSpPr>
        <p:spPr>
          <a:xfrm>
            <a:off x="5297615" y="3789040"/>
            <a:ext cx="157767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2365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Decremento Valor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49424"/>
            <a:ext cx="878497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que é exibido ao rodar:</a:t>
            </a:r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2207568" y="2924944"/>
            <a:ext cx="331236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inteiro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inteiro--;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inteiro++;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++inteiro;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--inteiro;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++inteiro);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240017" y="2924944"/>
            <a:ext cx="4132863" cy="17543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Inteiro é 1</a:t>
            </a:r>
          </a:p>
          <a:p>
            <a:r>
              <a:rPr lang="pt-BR" dirty="0"/>
              <a:t>Inteiro é 0</a:t>
            </a:r>
          </a:p>
          <a:p>
            <a:r>
              <a:rPr lang="pt-BR" dirty="0"/>
              <a:t>Inteiro é 1</a:t>
            </a:r>
          </a:p>
          <a:p>
            <a:r>
              <a:rPr lang="pt-BR" dirty="0"/>
              <a:t>Inteiro é 2</a:t>
            </a:r>
          </a:p>
          <a:p>
            <a:r>
              <a:rPr lang="pt-BR" dirty="0"/>
              <a:t>Inteiro é 1</a:t>
            </a:r>
          </a:p>
          <a:p>
            <a:r>
              <a:rPr lang="pt-BR" dirty="0"/>
              <a:t>Primeiro inteiro vira 2 e depois o exibe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4367808" y="3140968"/>
            <a:ext cx="18722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V="1">
            <a:off x="3719736" y="3356992"/>
            <a:ext cx="2520280" cy="720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V="1">
            <a:off x="3719736" y="3645026"/>
            <a:ext cx="2520280" cy="572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>
            <a:off x="3575720" y="3975593"/>
            <a:ext cx="26642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>
            <a:off x="3719736" y="4191618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 flipV="1">
            <a:off x="5303912" y="4479650"/>
            <a:ext cx="936104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64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%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103024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% na programação é usado como </a:t>
            </a:r>
            <a:r>
              <a:rPr lang="pt-BR" sz="2000" dirty="0" err="1"/>
              <a:t>mod</a:t>
            </a:r>
            <a:r>
              <a:rPr lang="pt-BR" sz="2000" dirty="0"/>
              <a:t> (modulo).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operação com modulo (%), tem o papel de retornar o que resta de uma divisão </a:t>
            </a:r>
            <a:r>
              <a:rPr lang="pt-BR" sz="2000" u="sng" dirty="0"/>
              <a:t>com valores inteiros</a:t>
            </a:r>
            <a:r>
              <a:rPr lang="pt-BR" sz="2000" dirty="0"/>
              <a:t>; </a:t>
            </a:r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2135560" y="3912844"/>
            <a:ext cx="273630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b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resto = a % b;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resto);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384032" y="3912844"/>
            <a:ext cx="13388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10     3</a:t>
            </a:r>
          </a:p>
          <a:p>
            <a:r>
              <a:rPr lang="pt-BR" sz="3200" dirty="0"/>
              <a:t>  9     3</a:t>
            </a:r>
          </a:p>
          <a:p>
            <a:r>
              <a:rPr lang="pt-BR" sz="3200" dirty="0">
                <a:solidFill>
                  <a:srgbClr val="FF0000"/>
                </a:solidFill>
              </a:rPr>
              <a:t> (1)</a:t>
            </a:r>
          </a:p>
        </p:txBody>
      </p:sp>
      <p:cxnSp>
        <p:nvCxnSpPr>
          <p:cNvPr id="8" name="Conector reto 7"/>
          <p:cNvCxnSpPr/>
          <p:nvPr/>
        </p:nvCxnSpPr>
        <p:spPr>
          <a:xfrm>
            <a:off x="7176120" y="3890741"/>
            <a:ext cx="0" cy="6682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7176120" y="4559025"/>
            <a:ext cx="72008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6384032" y="4941168"/>
            <a:ext cx="7920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2969752" y="4964187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 =1</a:t>
            </a:r>
          </a:p>
        </p:txBody>
      </p:sp>
    </p:spTree>
    <p:extLst>
      <p:ext uri="{BB962C8B-B14F-4D97-AF65-F5344CB8AC3E}">
        <p14:creationId xmlns:p14="http://schemas.microsoft.com/office/powerpoint/2010/main" val="125684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%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11953"/>
            <a:ext cx="1124704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deve receber um valor e mostre quando sobra da divisão de um numero por 5!</a:t>
            </a:r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3140968"/>
            <a:ext cx="4245702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0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%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2211953"/>
            <a:ext cx="822960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3071664" y="2780928"/>
            <a:ext cx="516632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numero: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sobra = a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"Sobra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sobra);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452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FD4842-85E5-4B6C-93C7-3C1C80B2523A}"/>
</file>

<file path=customXml/itemProps2.xml><?xml version="1.0" encoding="utf-8"?>
<ds:datastoreItem xmlns:ds="http://schemas.openxmlformats.org/officeDocument/2006/customXml" ds:itemID="{AFBD5FF0-077E-41BC-A0D4-0B669765CEE9}"/>
</file>

<file path=customXml/itemProps3.xml><?xml version="1.0" encoding="utf-8"?>
<ds:datastoreItem xmlns:ds="http://schemas.openxmlformats.org/officeDocument/2006/customXml" ds:itemID="{AA301727-1B31-4632-922C-F4E7EAEC503B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1528</TotalTime>
  <Words>1052</Words>
  <Application>Microsoft Office PowerPoint</Application>
  <PresentationFormat>Widescreen</PresentationFormat>
  <Paragraphs>221</Paragraphs>
  <Slides>18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Calibri</vt:lpstr>
      <vt:lpstr>Consolas</vt:lpstr>
      <vt:lpstr>Georgia</vt:lpstr>
      <vt:lpstr>Trebuchet MS</vt:lpstr>
      <vt:lpstr>Wingdings 2</vt:lpstr>
      <vt:lpstr>Urbano</vt:lpstr>
      <vt:lpstr>Apresentação do PowerPoint</vt:lpstr>
      <vt:lpstr>Operações Aritméticas (Matemática)</vt:lpstr>
      <vt:lpstr>Operações Aritméticas</vt:lpstr>
      <vt:lpstr>Operações Aritméticas</vt:lpstr>
      <vt:lpstr>Operações Aritméticas</vt:lpstr>
      <vt:lpstr>Operações Aritméticas - Praticando</vt:lpstr>
      <vt:lpstr>Operações Aritméticas - Praticando</vt:lpstr>
      <vt:lpstr>Operações com a própria variável</vt:lpstr>
      <vt:lpstr>Operações Aritméticas - Praticando</vt:lpstr>
      <vt:lpstr>Operações Matemáticas - Praticando</vt:lpstr>
      <vt:lpstr>Incrementando Valor</vt:lpstr>
      <vt:lpstr>Incrementando Valor</vt:lpstr>
      <vt:lpstr>Incrementando Valor</vt:lpstr>
      <vt:lpstr>Decremento Valor</vt:lpstr>
      <vt:lpstr>Decremento Valor - Praticando</vt:lpstr>
      <vt:lpstr>Operação com %</vt:lpstr>
      <vt:lpstr>Operação com % - Praticando</vt:lpstr>
      <vt:lpstr>Operação com % - Praticando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181</cp:revision>
  <dcterms:created xsi:type="dcterms:W3CDTF">2017-03-10T13:05:03Z</dcterms:created>
  <dcterms:modified xsi:type="dcterms:W3CDTF">2025-02-24T10:45:02Z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