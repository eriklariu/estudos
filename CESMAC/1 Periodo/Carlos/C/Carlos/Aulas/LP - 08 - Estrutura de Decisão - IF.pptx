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6"/>
  </p:notesMasterIdLst>
  <p:sldIdLst>
    <p:sldId id="256" r:id="rId2"/>
    <p:sldId id="345" r:id="rId3"/>
    <p:sldId id="346" r:id="rId4"/>
    <p:sldId id="265" r:id="rId5"/>
    <p:sldId id="273" r:id="rId6"/>
    <p:sldId id="347" r:id="rId7"/>
    <p:sldId id="348" r:id="rId8"/>
    <p:sldId id="349" r:id="rId9"/>
    <p:sldId id="350" r:id="rId10"/>
    <p:sldId id="351" r:id="rId11"/>
    <p:sldId id="352" r:id="rId12"/>
    <p:sldId id="353" r:id="rId13"/>
    <p:sldId id="354" r:id="rId14"/>
    <p:sldId id="355" r:id="rId15"/>
    <p:sldId id="356" r:id="rId16"/>
    <p:sldId id="357" r:id="rId17"/>
    <p:sldId id="358" r:id="rId18"/>
    <p:sldId id="359" r:id="rId19"/>
    <p:sldId id="360" r:id="rId20"/>
    <p:sldId id="361" r:id="rId21"/>
    <p:sldId id="362" r:id="rId22"/>
    <p:sldId id="363" r:id="rId23"/>
    <p:sldId id="364" r:id="rId24"/>
    <p:sldId id="365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249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D27BF-5A77-4FF9-8400-4B8E709EB083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EFE9-8848-4E94-B2E4-46DCA18F97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41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4" name="Retângulo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5" name="Retângulo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6" name="Retângulo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Retângulo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0" name="Retângulo de cantos arredondados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1" name="Retângulo de cantos arredondados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tângulo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tângulo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tângulo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Retângulo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26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Retângulo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0" name="Retângulo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1" name="Retângulo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tângulo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5" name="Retângulo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8" name="Retângulo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9" name="Retângulo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0" name="Retângulo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207568" y="5301208"/>
            <a:ext cx="6400800" cy="1104528"/>
          </a:xfrm>
        </p:spPr>
        <p:txBody>
          <a:bodyPr/>
          <a:lstStyle/>
          <a:p>
            <a:pPr algn="l"/>
            <a:r>
              <a:rPr lang="pt-BR" dirty="0"/>
              <a:t>Professor: Carlos Alberto</a:t>
            </a:r>
          </a:p>
          <a:p>
            <a:pPr algn="l"/>
            <a:r>
              <a:rPr lang="pt-BR" dirty="0" err="1"/>
              <a:t>Email</a:t>
            </a:r>
            <a:r>
              <a:rPr lang="pt-BR" dirty="0"/>
              <a:t>: carloswgama@gmail.com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5FE4B81-4B00-132A-0E7A-0190FB7D0A20}"/>
              </a:ext>
            </a:extLst>
          </p:cNvPr>
          <p:cNvSpPr>
            <a:spLocks noGrp="1"/>
          </p:cNvSpPr>
          <p:nvPr/>
        </p:nvSpPr>
        <p:spPr>
          <a:xfrm>
            <a:off x="925216" y="665261"/>
            <a:ext cx="10657184" cy="2763739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6000" dirty="0"/>
              <a:t>Laboratório de Programação I</a:t>
            </a:r>
            <a:r>
              <a:rPr lang="pt-BR" sz="5400" dirty="0"/>
              <a:t> </a:t>
            </a:r>
            <a:r>
              <a:rPr lang="pt-BR" dirty="0"/>
              <a:t>Estrutura de Decisão - IF</a:t>
            </a:r>
          </a:p>
        </p:txBody>
      </p:sp>
    </p:spTree>
    <p:extLst>
      <p:ext uri="{BB962C8B-B14F-4D97-AF65-F5344CB8AC3E}">
        <p14:creationId xmlns:p14="http://schemas.microsoft.com/office/powerpoint/2010/main" val="305480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Nas aulas anteriores aprendemos como criar variável, recuperar dados digitados pelo usuário e fazer operações matemáticas.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Mas como eu faria para criar um simples jogos que mostrasse quantos acertos o usuário fez?</a:t>
            </a:r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627" y="4077072"/>
            <a:ext cx="3876675" cy="24003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0361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Para esse tipo de situação, vamos precisar trabalhar com o que chamamos de </a:t>
            </a:r>
            <a:r>
              <a:rPr lang="pt-BR" sz="2000" b="1" u="sng" dirty="0"/>
              <a:t>Estrutura de Decisão</a:t>
            </a:r>
            <a:endParaRPr lang="pt-BR" sz="1800" b="1" u="sng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436852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1143000"/>
            <a:ext cx="8229600" cy="5022304"/>
          </a:xfrm>
        </p:spPr>
        <p:txBody>
          <a:bodyPr>
            <a:normAutofit/>
          </a:bodyPr>
          <a:lstStyle/>
          <a:p>
            <a:pPr algn="ctr"/>
            <a:r>
              <a:rPr lang="pt-BR" sz="6000" dirty="0"/>
              <a:t>Estrutura de Decisão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935046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uma estrutura de decisão?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211953"/>
            <a:ext cx="11175032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Na programação, uma Estrutura de Decisão é um trecho do seu código que </a:t>
            </a:r>
            <a:r>
              <a:rPr lang="pt-BR" sz="2000" u="sng" dirty="0"/>
              <a:t>permite escolher o que será ou não executado</a:t>
            </a:r>
            <a:r>
              <a:rPr lang="pt-BR" sz="2000" dirty="0"/>
              <a:t>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Na programação possuímos três Estruturas de Decisão:</a:t>
            </a:r>
          </a:p>
          <a:p>
            <a:pPr lvl="1" algn="just"/>
            <a:r>
              <a:rPr lang="pt-BR" sz="1800" dirty="0"/>
              <a:t>IF</a:t>
            </a:r>
          </a:p>
          <a:p>
            <a:pPr lvl="1" algn="just"/>
            <a:r>
              <a:rPr lang="pt-BR" sz="1800" dirty="0"/>
              <a:t>Operador Ternário</a:t>
            </a:r>
          </a:p>
          <a:p>
            <a:pPr lvl="1" algn="just"/>
            <a:r>
              <a:rPr lang="pt-BR" sz="1800" dirty="0"/>
              <a:t>Switch </a:t>
            </a:r>
          </a:p>
        </p:txBody>
      </p:sp>
    </p:spTree>
    <p:extLst>
      <p:ext uri="{BB962C8B-B14F-4D97-AF65-F5344CB8AC3E}">
        <p14:creationId xmlns:p14="http://schemas.microsoft.com/office/powerpoint/2010/main" val="1950300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1143000"/>
            <a:ext cx="8229600" cy="5022304"/>
          </a:xfrm>
        </p:spPr>
        <p:txBody>
          <a:bodyPr>
            <a:normAutofit/>
          </a:bodyPr>
          <a:lstStyle/>
          <a:p>
            <a:pPr algn="ctr"/>
            <a:r>
              <a:rPr lang="pt-BR" sz="6000" dirty="0"/>
              <a:t>Estrutura de Decisão</a:t>
            </a:r>
            <a:br>
              <a:rPr lang="pt-BR" sz="6000" dirty="0"/>
            </a:br>
            <a:r>
              <a:rPr lang="pt-BR" sz="6000" dirty="0"/>
              <a:t>IF</a:t>
            </a:r>
          </a:p>
        </p:txBody>
      </p:sp>
    </p:spTree>
    <p:extLst>
      <p:ext uri="{BB962C8B-B14F-4D97-AF65-F5344CB8AC3E}">
        <p14:creationId xmlns:p14="http://schemas.microsoft.com/office/powerpoint/2010/main" val="3672546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IF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211953"/>
            <a:ext cx="11319048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O IF é a Estrutura de Decisão mais utilizada na programação.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Sua sintaxe é definida por: </a:t>
            </a:r>
            <a:endParaRPr lang="pt-BR" sz="1800" dirty="0"/>
          </a:p>
        </p:txBody>
      </p:sp>
      <p:sp>
        <p:nvSpPr>
          <p:cNvPr id="4" name="Retângulo 3"/>
          <p:cNvSpPr/>
          <p:nvPr/>
        </p:nvSpPr>
        <p:spPr>
          <a:xfrm>
            <a:off x="1996786" y="4374509"/>
            <a:ext cx="4950276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(CONDICAO) {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	// Se a condição for verdade 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	// tudo que tiver dentro do </a:t>
            </a:r>
            <a:r>
              <a:rPr lang="pt-BR" dirty="0" err="1">
                <a:solidFill>
                  <a:srgbClr val="008000"/>
                </a:solidFill>
                <a:latin typeface="Consolas" panose="020B0609020204030204" pitchFamily="49" charset="0"/>
              </a:rPr>
              <a:t>if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	// será executado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4439817" y="3501009"/>
            <a:ext cx="5187639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Condição que retorna apenas um valor booleano:</a:t>
            </a:r>
          </a:p>
          <a:p>
            <a:r>
              <a:rPr lang="pt-BR" dirty="0"/>
              <a:t>Verdadeiro (</a:t>
            </a:r>
            <a:r>
              <a:rPr lang="pt-BR" dirty="0" err="1"/>
              <a:t>true</a:t>
            </a:r>
            <a:r>
              <a:rPr lang="pt-BR" dirty="0"/>
              <a:t>) ou falso (false)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7464152" y="4374510"/>
            <a:ext cx="3024336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dirty="0"/>
              <a:t>Define o inicio e o fim dos códigos que serão executados, caso a condição seja verdade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4452762" y="6173923"/>
            <a:ext cx="328647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Códigos que serão executados.</a:t>
            </a:r>
          </a:p>
        </p:txBody>
      </p:sp>
      <p:sp>
        <p:nvSpPr>
          <p:cNvPr id="8" name="Retângulo Arredondado 7"/>
          <p:cNvSpPr/>
          <p:nvPr/>
        </p:nvSpPr>
        <p:spPr>
          <a:xfrm>
            <a:off x="2423592" y="4374510"/>
            <a:ext cx="1368152" cy="350635"/>
          </a:xfrm>
          <a:prstGeom prst="round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Arredondado 8"/>
          <p:cNvSpPr/>
          <p:nvPr/>
        </p:nvSpPr>
        <p:spPr>
          <a:xfrm>
            <a:off x="3791744" y="4365104"/>
            <a:ext cx="288032" cy="360040"/>
          </a:xfrm>
          <a:prstGeom prst="round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Arredondado 9"/>
          <p:cNvSpPr/>
          <p:nvPr/>
        </p:nvSpPr>
        <p:spPr>
          <a:xfrm>
            <a:off x="2045336" y="5472820"/>
            <a:ext cx="288032" cy="360040"/>
          </a:xfrm>
          <a:prstGeom prst="round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Arredondado 10"/>
          <p:cNvSpPr/>
          <p:nvPr/>
        </p:nvSpPr>
        <p:spPr>
          <a:xfrm>
            <a:off x="2986622" y="4706167"/>
            <a:ext cx="3960440" cy="868671"/>
          </a:xfrm>
          <a:prstGeom prst="round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Angulado 12"/>
          <p:cNvCxnSpPr>
            <a:stCxn id="8" idx="0"/>
            <a:endCxn id="5" idx="1"/>
          </p:cNvCxnSpPr>
          <p:nvPr/>
        </p:nvCxnSpPr>
        <p:spPr>
          <a:xfrm rot="5400000" flipH="1" flipV="1">
            <a:off x="3498576" y="3433268"/>
            <a:ext cx="550335" cy="133214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ector Angulado 14"/>
          <p:cNvCxnSpPr>
            <a:stCxn id="9" idx="3"/>
            <a:endCxn id="6" idx="1"/>
          </p:cNvCxnSpPr>
          <p:nvPr/>
        </p:nvCxnSpPr>
        <p:spPr>
          <a:xfrm>
            <a:off x="4079776" y="4545124"/>
            <a:ext cx="3384376" cy="429550"/>
          </a:xfrm>
          <a:prstGeom prst="bentConnector3">
            <a:avLst>
              <a:gd name="adj1" fmla="val 8747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Conector Angulado 17"/>
          <p:cNvCxnSpPr>
            <a:stCxn id="10" idx="3"/>
            <a:endCxn id="6" idx="1"/>
          </p:cNvCxnSpPr>
          <p:nvPr/>
        </p:nvCxnSpPr>
        <p:spPr>
          <a:xfrm flipV="1">
            <a:off x="2333368" y="4974674"/>
            <a:ext cx="5130784" cy="678166"/>
          </a:xfrm>
          <a:prstGeom prst="bentConnector3">
            <a:avLst>
              <a:gd name="adj1" fmla="val 91968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Conector Angulado 20"/>
          <p:cNvCxnSpPr>
            <a:stCxn id="11" idx="1"/>
            <a:endCxn id="7" idx="1"/>
          </p:cNvCxnSpPr>
          <p:nvPr/>
        </p:nvCxnSpPr>
        <p:spPr>
          <a:xfrm rot="10800000" flipH="1" flipV="1">
            <a:off x="2986622" y="5140502"/>
            <a:ext cx="1466139" cy="1218087"/>
          </a:xfrm>
          <a:prstGeom prst="bentConnector3">
            <a:avLst>
              <a:gd name="adj1" fmla="val -15592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301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IF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63352" y="2211953"/>
            <a:ext cx="11737304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A maior parte das condições são realizadas </a:t>
            </a:r>
            <a:r>
              <a:rPr lang="pt-BR" sz="2000" u="sng" dirty="0"/>
              <a:t>comparando 2 valores</a:t>
            </a:r>
            <a:r>
              <a:rPr lang="pt-BR" sz="2000" dirty="0"/>
              <a:t>, onde podemos fazer comparações do tipo:</a:t>
            </a:r>
            <a:endParaRPr lang="pt-BR" sz="1800" dirty="0"/>
          </a:p>
        </p:txBody>
      </p:sp>
      <p:sp>
        <p:nvSpPr>
          <p:cNvPr id="12" name="Retângulo 11"/>
          <p:cNvSpPr/>
          <p:nvPr/>
        </p:nvSpPr>
        <p:spPr>
          <a:xfrm>
            <a:off x="1991584" y="2996953"/>
            <a:ext cx="273626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a = 5, b = 10;</a:t>
            </a:r>
            <a:endParaRPr lang="pt-BR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//Maior 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(a </a:t>
            </a:r>
            <a:r>
              <a:rPr lang="pt-BR">
                <a:solidFill>
                  <a:srgbClr val="000000"/>
                </a:solidFill>
                <a:latin typeface="Consolas" panose="020B0609020204030204" pitchFamily="49" charset="0"/>
              </a:rPr>
              <a:t>&gt; b) </a:t>
            </a:r>
            <a:r>
              <a:rPr lang="pt-BR" dirty="0">
                <a:solidFill>
                  <a:srgbClr val="00B050"/>
                </a:solidFill>
                <a:latin typeface="Consolas" panose="020B0609020204030204" pitchFamily="49" charset="0"/>
              </a:rPr>
              <a:t>//false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//Maior ou Igual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(a &gt;= b) </a:t>
            </a:r>
            <a:r>
              <a:rPr lang="pt-BR" dirty="0">
                <a:solidFill>
                  <a:srgbClr val="00B050"/>
                </a:solidFill>
                <a:latin typeface="Consolas" panose="020B0609020204030204" pitchFamily="49" charset="0"/>
              </a:rPr>
              <a:t>//false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//Menor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(a &lt; b) </a:t>
            </a:r>
            <a:r>
              <a:rPr lang="pt-BR" dirty="0">
                <a:solidFill>
                  <a:srgbClr val="00B050"/>
                </a:solidFill>
                <a:latin typeface="Consolas" panose="020B0609020204030204" pitchFamily="49" charset="0"/>
              </a:rPr>
              <a:t>//</a:t>
            </a:r>
            <a:r>
              <a:rPr lang="pt-BR" dirty="0" err="1">
                <a:solidFill>
                  <a:srgbClr val="00B050"/>
                </a:solidFill>
                <a:latin typeface="Consolas" panose="020B0609020204030204" pitchFamily="49" charset="0"/>
              </a:rPr>
              <a:t>true</a:t>
            </a:r>
            <a:endParaRPr lang="pt-BR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//Menor ou igual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(a &lt;= b) </a:t>
            </a:r>
            <a:r>
              <a:rPr lang="pt-BR" dirty="0">
                <a:solidFill>
                  <a:srgbClr val="00B050"/>
                </a:solidFill>
                <a:latin typeface="Consolas" panose="020B0609020204030204" pitchFamily="49" charset="0"/>
              </a:rPr>
              <a:t>//</a:t>
            </a:r>
            <a:r>
              <a:rPr lang="pt-BR" dirty="0" err="1">
                <a:solidFill>
                  <a:srgbClr val="00B050"/>
                </a:solidFill>
                <a:latin typeface="Consolas" panose="020B0609020204030204" pitchFamily="49" charset="0"/>
              </a:rPr>
              <a:t>true</a:t>
            </a:r>
            <a:endParaRPr lang="pt-BR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//Igual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(a == b) </a:t>
            </a:r>
            <a:r>
              <a:rPr lang="pt-BR" dirty="0">
                <a:solidFill>
                  <a:srgbClr val="00B050"/>
                </a:solidFill>
                <a:latin typeface="Consolas" panose="020B0609020204030204" pitchFamily="49" charset="0"/>
              </a:rPr>
              <a:t>//false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//Diferente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(a != b) </a:t>
            </a:r>
            <a:r>
              <a:rPr lang="pt-BR" dirty="0">
                <a:solidFill>
                  <a:srgbClr val="00B050"/>
                </a:solidFill>
                <a:latin typeface="Consolas" panose="020B0609020204030204" pitchFamily="49" charset="0"/>
              </a:rPr>
              <a:t>//</a:t>
            </a:r>
            <a:r>
              <a:rPr lang="pt-BR" dirty="0" err="1">
                <a:solidFill>
                  <a:srgbClr val="00B050"/>
                </a:solidFill>
                <a:latin typeface="Consolas" panose="020B0609020204030204" pitchFamily="49" charset="0"/>
              </a:rPr>
              <a:t>true</a:t>
            </a:r>
            <a:endParaRPr lang="pt-BR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4943872" y="3212976"/>
            <a:ext cx="5184576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dirty="0"/>
              <a:t>OBS: Para comparar se uma variável é igual a outra, usamos  “==“.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O </a:t>
            </a:r>
            <a:r>
              <a:rPr lang="pt-BR" dirty="0" err="1"/>
              <a:t>Simbolo</a:t>
            </a:r>
            <a:r>
              <a:rPr lang="pt-BR" dirty="0"/>
              <a:t> de =, serve apenas para atribuir valor, então ao usar a = b, na realidade estamos dizendo que a vai receber o valor de b</a:t>
            </a:r>
          </a:p>
        </p:txBody>
      </p:sp>
    </p:spTree>
    <p:extLst>
      <p:ext uri="{BB962C8B-B14F-4D97-AF65-F5344CB8AC3E}">
        <p14:creationId xmlns:p14="http://schemas.microsoft.com/office/powerpoint/2010/main" val="65922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IF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211953"/>
            <a:ext cx="11103024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Diante dessa informação, crie o programa que diga quantos acertos o usuário fez ao final das perguntas:</a:t>
            </a:r>
            <a:endParaRPr lang="pt-BR" sz="18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585" y="3174359"/>
            <a:ext cx="3876675" cy="24003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65810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IF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2211953"/>
            <a:ext cx="8229600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  <a:endParaRPr lang="pt-BR" sz="1800" dirty="0"/>
          </a:p>
        </p:txBody>
      </p:sp>
      <p:sp>
        <p:nvSpPr>
          <p:cNvPr id="4" name="Retângulo 3"/>
          <p:cNvSpPr/>
          <p:nvPr/>
        </p:nvSpPr>
        <p:spPr>
          <a:xfrm>
            <a:off x="1847528" y="73070"/>
            <a:ext cx="7848872" cy="67403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acertos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resposta;</a:t>
            </a:r>
          </a:p>
          <a:p>
            <a:r>
              <a:rPr lang="pt-BR" sz="1600" dirty="0">
                <a:solidFill>
                  <a:srgbClr val="008000"/>
                </a:solidFill>
                <a:latin typeface="Consolas" panose="020B0609020204030204" pitchFamily="49" charset="0"/>
              </a:rPr>
              <a:t>  //Pergunta 1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"Quanto é 56 - 17? 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&amp;resposta);</a:t>
            </a: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(resposta ==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39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acertos++;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>
                <a:solidFill>
                  <a:srgbClr val="008000"/>
                </a:solidFill>
                <a:latin typeface="Consolas" panose="020B0609020204030204" pitchFamily="49" charset="0"/>
              </a:rPr>
              <a:t>//Pergunta 2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"Quanto é 34 * 12? 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&amp;resposta);</a:t>
            </a: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(resposta ==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408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acertos++;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>
                <a:solidFill>
                  <a:srgbClr val="008000"/>
                </a:solidFill>
                <a:latin typeface="Consolas" panose="020B0609020204030204" pitchFamily="49" charset="0"/>
              </a:rPr>
              <a:t>//Pergunta 3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"Quanto é 123 + 48? 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&amp;resposta);</a:t>
            </a: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(resposta ==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171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acertos++;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"Você acertou %d questões"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acertos);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58704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IF com único comando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211953"/>
            <a:ext cx="10814992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Quando só existir um único comando dentro do IF, o uso de { } é opcional.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Ou seja: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Mas se existir </a:t>
            </a:r>
            <a:r>
              <a:rPr lang="pt-BR" sz="2000" u="sng" dirty="0"/>
              <a:t>mais de um comando</a:t>
            </a:r>
            <a:r>
              <a:rPr lang="pt-BR" sz="2000" dirty="0"/>
              <a:t> a ser executado caso a condição seja verdade, </a:t>
            </a:r>
            <a:r>
              <a:rPr lang="pt-BR" sz="2000" u="sng" dirty="0"/>
              <a:t>obrigatoriamente</a:t>
            </a:r>
            <a:r>
              <a:rPr lang="pt-BR" sz="2000" dirty="0"/>
              <a:t> temos que </a:t>
            </a:r>
            <a:r>
              <a:rPr lang="pt-BR" sz="2000" u="sng" dirty="0"/>
              <a:t>usar chaves</a:t>
            </a:r>
            <a:r>
              <a:rPr lang="pt-BR" sz="2000" dirty="0"/>
              <a:t>.</a:t>
            </a:r>
            <a:endParaRPr lang="pt-BR" sz="1800" dirty="0"/>
          </a:p>
        </p:txBody>
      </p:sp>
      <p:sp>
        <p:nvSpPr>
          <p:cNvPr id="5" name="Retângulo 4"/>
          <p:cNvSpPr/>
          <p:nvPr/>
        </p:nvSpPr>
        <p:spPr>
          <a:xfrm>
            <a:off x="2354294" y="3140968"/>
            <a:ext cx="2818656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(resposta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39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acertos++;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Retângulo 7"/>
          <p:cNvSpPr/>
          <p:nvPr/>
        </p:nvSpPr>
        <p:spPr>
          <a:xfrm>
            <a:off x="7669832" y="3284985"/>
            <a:ext cx="281865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(resposta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39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acertos++;</a:t>
            </a:r>
          </a:p>
        </p:txBody>
      </p:sp>
      <p:sp>
        <p:nvSpPr>
          <p:cNvPr id="6" name="Seta para a Direita 5"/>
          <p:cNvSpPr/>
          <p:nvPr/>
        </p:nvSpPr>
        <p:spPr>
          <a:xfrm>
            <a:off x="5264091" y="3271685"/>
            <a:ext cx="2304256" cy="65963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Pode ser feito</a:t>
            </a:r>
          </a:p>
        </p:txBody>
      </p:sp>
      <p:sp>
        <p:nvSpPr>
          <p:cNvPr id="7" name="Retângulo 6"/>
          <p:cNvSpPr/>
          <p:nvPr/>
        </p:nvSpPr>
        <p:spPr>
          <a:xfrm>
            <a:off x="3810000" y="5336737"/>
            <a:ext cx="3798168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(resposta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39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acertos++;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"Acertou!\n"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96705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IF com operações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211953"/>
            <a:ext cx="11463064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Também é possível realizar operações matemáticas e logo em seguida uma comparação:</a:t>
            </a:r>
            <a:endParaRPr lang="pt-BR" sz="1800" dirty="0"/>
          </a:p>
        </p:txBody>
      </p:sp>
      <p:sp>
        <p:nvSpPr>
          <p:cNvPr id="4" name="Retângulo 3"/>
          <p:cNvSpPr/>
          <p:nvPr/>
        </p:nvSpPr>
        <p:spPr>
          <a:xfrm>
            <a:off x="3575720" y="2996952"/>
            <a:ext cx="432048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b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(a + b &gt;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"É maior que 5"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28583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IF com %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211953"/>
            <a:ext cx="11175032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Como sabemos que um número ele é múltiplo de outro na matemática?</a:t>
            </a:r>
          </a:p>
          <a:p>
            <a:pPr lvl="1" algn="just"/>
            <a:r>
              <a:rPr lang="pt-BR" sz="2000" dirty="0"/>
              <a:t>Se na divisão do numero pelo outro, sobrar zero!</a:t>
            </a:r>
          </a:p>
          <a:p>
            <a:pPr lvl="1" algn="just"/>
            <a:endParaRPr lang="pt-BR" sz="1600" dirty="0"/>
          </a:p>
          <a:p>
            <a:pPr algn="just"/>
            <a:r>
              <a:rPr lang="pt-BR" sz="2000" dirty="0"/>
              <a:t>Ou seja, se queremos saber se um número é múltiplo de 5, basta fazer: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algn="just"/>
            <a:r>
              <a:rPr lang="pt-BR" sz="2000" dirty="0"/>
              <a:t>E para saber se um número é par?</a:t>
            </a:r>
          </a:p>
          <a:p>
            <a:pPr lvl="1" algn="just"/>
            <a:r>
              <a:rPr lang="pt-BR" sz="1800" dirty="0"/>
              <a:t>Se a sua divisão por 2, resta 0.</a:t>
            </a:r>
          </a:p>
        </p:txBody>
      </p:sp>
      <p:sp>
        <p:nvSpPr>
          <p:cNvPr id="4" name="Retângulo 3"/>
          <p:cNvSpPr/>
          <p:nvPr/>
        </p:nvSpPr>
        <p:spPr>
          <a:xfrm>
            <a:off x="3503712" y="3645024"/>
            <a:ext cx="5184576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15;</a:t>
            </a: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(a %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"É múltiplo de 5"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74421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IF com %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9376" y="2211953"/>
            <a:ext cx="9731424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Crie um programa que deve receber um valor. </a:t>
            </a:r>
          </a:p>
          <a:p>
            <a:pPr algn="just"/>
            <a:r>
              <a:rPr lang="pt-BR" sz="2000" dirty="0"/>
              <a:t>Se o valor for par, retorna a mensagem que “É par”</a:t>
            </a:r>
          </a:p>
          <a:p>
            <a:pPr algn="just"/>
            <a:r>
              <a:rPr lang="pt-BR" sz="2000" dirty="0"/>
              <a:t>Se for impar, retorna a mensagem “É impar” </a:t>
            </a:r>
            <a:endParaRPr lang="pt-BR" sz="18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4293096"/>
            <a:ext cx="3414104" cy="1224136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976" y="4293096"/>
            <a:ext cx="3360810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917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IF com %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2211953"/>
            <a:ext cx="8229600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  <a:endParaRPr lang="pt-BR" sz="1800" dirty="0"/>
          </a:p>
        </p:txBody>
      </p:sp>
      <p:sp>
        <p:nvSpPr>
          <p:cNvPr id="4" name="Retângulo 3"/>
          <p:cNvSpPr/>
          <p:nvPr/>
        </p:nvSpPr>
        <p:spPr>
          <a:xfrm>
            <a:off x="3395700" y="2780928"/>
            <a:ext cx="5400600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um numero: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&amp;n);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(n %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"É par"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(n %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"É impar"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12481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IF e ELSE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211953"/>
            <a:ext cx="11319048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Quando o IF tem uma condição verdadeira ele é capaz de definir um ação que deseja realizar.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Porém, o IF também pode definir uma ação quando a condição for falsa, através das estrutura abaixo:</a:t>
            </a:r>
            <a:endParaRPr lang="pt-BR" sz="1800" dirty="0"/>
          </a:p>
        </p:txBody>
      </p:sp>
      <p:sp>
        <p:nvSpPr>
          <p:cNvPr id="5" name="Retângulo 4"/>
          <p:cNvSpPr/>
          <p:nvPr/>
        </p:nvSpPr>
        <p:spPr>
          <a:xfrm>
            <a:off x="3470329" y="4149081"/>
            <a:ext cx="5251342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(CONDICAO) {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	// Executa esse bloco 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	// Se a condição for VERDADEIRA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 Executa esse bloco 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	//Se a condição for FALSA 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95922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IF com ELSE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2211953"/>
            <a:ext cx="8229600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Como ficaria o código do exercício anterior usando o ELSE</a:t>
            </a:r>
            <a:endParaRPr lang="pt-BR" sz="18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4293096"/>
            <a:ext cx="3414104" cy="1224136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976" y="4293096"/>
            <a:ext cx="3360810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0899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IF com ELSE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2211953"/>
            <a:ext cx="8229600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  <a:endParaRPr lang="pt-BR" sz="1800" dirty="0"/>
          </a:p>
        </p:txBody>
      </p:sp>
      <p:sp>
        <p:nvSpPr>
          <p:cNvPr id="4" name="Retângulo 3"/>
          <p:cNvSpPr/>
          <p:nvPr/>
        </p:nvSpPr>
        <p:spPr>
          <a:xfrm>
            <a:off x="3071664" y="2943348"/>
            <a:ext cx="5616624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um numero: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&amp;n);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(n %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"É par"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"É impar"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02497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IF ELSE IF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67408" y="2211953"/>
            <a:ext cx="11089232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E quando temos um programa que ele quer verificar várias condições?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Exemplo: Um programa que checar se um valor é 10; ou maior que 10; ou menor que 10?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Nesse caso podemos fazer 3:</a:t>
            </a:r>
          </a:p>
        </p:txBody>
      </p:sp>
      <p:sp>
        <p:nvSpPr>
          <p:cNvPr id="4" name="Retângulo 3"/>
          <p:cNvSpPr/>
          <p:nvPr/>
        </p:nvSpPr>
        <p:spPr>
          <a:xfrm>
            <a:off x="3647728" y="4122946"/>
            <a:ext cx="45720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(n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"É 10"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(n &gt;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"É maior que 10"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(n &lt;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"É menor que 10"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8872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IF ELSE IF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211953"/>
            <a:ext cx="9601200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Porém se o </a:t>
            </a:r>
            <a:r>
              <a:rPr lang="pt-BR" sz="2000" u="sng" dirty="0"/>
              <a:t>primeiro IF for verdade</a:t>
            </a:r>
            <a:r>
              <a:rPr lang="pt-BR" sz="2000" dirty="0"/>
              <a:t> é </a:t>
            </a:r>
            <a:r>
              <a:rPr lang="pt-BR" sz="2000" u="sng" dirty="0"/>
              <a:t>desnecessário</a:t>
            </a:r>
            <a:r>
              <a:rPr lang="pt-BR" sz="2000" dirty="0"/>
              <a:t> </a:t>
            </a:r>
            <a:r>
              <a:rPr lang="pt-BR" sz="2000" u="sng" dirty="0"/>
              <a:t>checar o resto</a:t>
            </a:r>
            <a:r>
              <a:rPr lang="pt-BR" sz="2000" dirty="0"/>
              <a:t>, logo podemos trabalhar com </a:t>
            </a:r>
            <a:r>
              <a:rPr lang="pt-BR" sz="2000" u="sng" dirty="0"/>
              <a:t>ELSE</a:t>
            </a:r>
            <a:r>
              <a:rPr lang="pt-BR" sz="2000" dirty="0"/>
              <a:t>, para evitar fazer checagem desnecessária.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Criando uma estrutura de IF aninhado:</a:t>
            </a:r>
          </a:p>
        </p:txBody>
      </p:sp>
      <p:sp>
        <p:nvSpPr>
          <p:cNvPr id="5" name="Retângulo 4"/>
          <p:cNvSpPr/>
          <p:nvPr/>
        </p:nvSpPr>
        <p:spPr>
          <a:xfrm>
            <a:off x="2423593" y="3933056"/>
            <a:ext cx="5448273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(n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"É 10"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(n &gt;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"É maior que 10"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"É menor que 10"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82301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IF ELSE IF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2211953"/>
            <a:ext cx="8229600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Porém se nosso código tiver várias condições, o alinhamento vai ficar difícil visualizar, uma vez que cada elemento aninhado fica com uma </a:t>
            </a:r>
            <a:r>
              <a:rPr lang="pt-BR" sz="2000" dirty="0" err="1"/>
              <a:t>identação</a:t>
            </a:r>
            <a:r>
              <a:rPr lang="pt-BR" sz="2000" dirty="0"/>
              <a:t> maior.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094384" y="1717953"/>
            <a:ext cx="8003232" cy="48013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condicao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//Código para condição 1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(condica2)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   //</a:t>
            </a:r>
            <a:r>
              <a:rPr lang="pt-BR" dirty="0" err="1">
                <a:solidFill>
                  <a:srgbClr val="008000"/>
                </a:solidFill>
                <a:latin typeface="Consolas" panose="020B0609020204030204" pitchFamily="49" charset="0"/>
              </a:rPr>
              <a:t>codigo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para condição 2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(condicao3) 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      //</a:t>
            </a:r>
            <a:r>
              <a:rPr lang="pt-BR" dirty="0" err="1">
                <a:solidFill>
                  <a:srgbClr val="008000"/>
                </a:solidFill>
                <a:latin typeface="Consolas" panose="020B0609020204030204" pitchFamily="49" charset="0"/>
              </a:rPr>
              <a:t>codigo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para condição 3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   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(condicao4) 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         //</a:t>
            </a:r>
            <a:r>
              <a:rPr lang="pt-BR" dirty="0" err="1">
                <a:solidFill>
                  <a:srgbClr val="008000"/>
                </a:solidFill>
                <a:latin typeface="Consolas" panose="020B0609020204030204" pitchFamily="49" charset="0"/>
              </a:rPr>
              <a:t>codigo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para condição 4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   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pt-BR" dirty="0" err="1">
                <a:solidFill>
                  <a:srgbClr val="008000"/>
                </a:solidFill>
                <a:latin typeface="Consolas" panose="020B0609020204030204" pitchFamily="49" charset="0"/>
              </a:rPr>
              <a:t>codigo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para nenhuma das condições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     }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64639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IF ELSE IF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2211953"/>
            <a:ext cx="8229600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Então para organizar melhor, o código anterior também pode ser feito com um “ELSE IF”:</a:t>
            </a:r>
          </a:p>
        </p:txBody>
      </p:sp>
      <p:sp>
        <p:nvSpPr>
          <p:cNvPr id="5" name="Retângulo 4"/>
          <p:cNvSpPr/>
          <p:nvPr/>
        </p:nvSpPr>
        <p:spPr>
          <a:xfrm>
            <a:off x="2094384" y="1717953"/>
            <a:ext cx="8003232" cy="48013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condicao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//Código para condição 1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(condica2)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   //</a:t>
            </a:r>
            <a:r>
              <a:rPr lang="pt-BR" dirty="0" err="1">
                <a:solidFill>
                  <a:srgbClr val="008000"/>
                </a:solidFill>
                <a:latin typeface="Consolas" panose="020B0609020204030204" pitchFamily="49" charset="0"/>
              </a:rPr>
              <a:t>codigo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para condição 2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(condicao3) 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      //</a:t>
            </a:r>
            <a:r>
              <a:rPr lang="pt-BR" dirty="0" err="1">
                <a:solidFill>
                  <a:srgbClr val="008000"/>
                </a:solidFill>
                <a:latin typeface="Consolas" panose="020B0609020204030204" pitchFamily="49" charset="0"/>
              </a:rPr>
              <a:t>codigo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para condição 3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   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(condicao4) 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         //</a:t>
            </a:r>
            <a:r>
              <a:rPr lang="pt-BR" dirty="0" err="1">
                <a:solidFill>
                  <a:srgbClr val="008000"/>
                </a:solidFill>
                <a:latin typeface="Consolas" panose="020B0609020204030204" pitchFamily="49" charset="0"/>
              </a:rPr>
              <a:t>codigo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para condição 4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   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pt-BR" dirty="0" err="1">
                <a:solidFill>
                  <a:srgbClr val="008000"/>
                </a:solidFill>
                <a:latin typeface="Consolas" panose="020B0609020204030204" pitchFamily="49" charset="0"/>
              </a:rPr>
              <a:t>codigo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para nenhuma das condições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     }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Retângulo 5"/>
          <p:cNvSpPr/>
          <p:nvPr/>
        </p:nvSpPr>
        <p:spPr>
          <a:xfrm>
            <a:off x="3409392" y="3351492"/>
            <a:ext cx="5566928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condicao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	//Código para condição 1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(condica2)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	//</a:t>
            </a:r>
            <a:r>
              <a:rPr lang="pt-BR" dirty="0" err="1">
                <a:solidFill>
                  <a:srgbClr val="008000"/>
                </a:solidFill>
                <a:latin typeface="Consolas" panose="020B0609020204030204" pitchFamily="49" charset="0"/>
              </a:rPr>
              <a:t>codigo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para condição 2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(condicao3) 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	//</a:t>
            </a:r>
            <a:r>
              <a:rPr lang="pt-BR" dirty="0" err="1">
                <a:solidFill>
                  <a:srgbClr val="008000"/>
                </a:solidFill>
                <a:latin typeface="Consolas" panose="020B0609020204030204" pitchFamily="49" charset="0"/>
              </a:rPr>
              <a:t>codigo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para condição 3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(condicao4) 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	//</a:t>
            </a:r>
            <a:r>
              <a:rPr lang="pt-BR" dirty="0" err="1">
                <a:solidFill>
                  <a:srgbClr val="008000"/>
                </a:solidFill>
                <a:latin typeface="Consolas" panose="020B0609020204030204" pitchFamily="49" charset="0"/>
              </a:rPr>
              <a:t>codigo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para condição 4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	//</a:t>
            </a:r>
            <a:r>
              <a:rPr lang="pt-BR" dirty="0" err="1">
                <a:solidFill>
                  <a:srgbClr val="008000"/>
                </a:solidFill>
                <a:latin typeface="Consolas" panose="020B0609020204030204" pitchFamily="49" charset="0"/>
              </a:rPr>
              <a:t>codigo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para nenhuma das condições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431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IF ELSE IF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211953"/>
            <a:ext cx="11175032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Crie um programa que deve receber 2 notas</a:t>
            </a:r>
          </a:p>
          <a:p>
            <a:pPr algn="just"/>
            <a:r>
              <a:rPr lang="pt-BR" sz="2000" dirty="0"/>
              <a:t>Calcular a medias das notas</a:t>
            </a:r>
          </a:p>
          <a:p>
            <a:pPr algn="just"/>
            <a:r>
              <a:rPr lang="pt-BR" sz="2000" dirty="0"/>
              <a:t>Se a média for maior ou igual que 7 exibe a mensagem “Aprovado”</a:t>
            </a:r>
          </a:p>
          <a:p>
            <a:pPr algn="just"/>
            <a:r>
              <a:rPr lang="pt-BR" sz="2000" dirty="0"/>
              <a:t>Se a média não for maior ou igual que 7, mas for maior ou igual que 4 exibe: “Recuperação”</a:t>
            </a:r>
          </a:p>
          <a:p>
            <a:pPr algn="just"/>
            <a:r>
              <a:rPr lang="pt-BR" sz="2000" dirty="0"/>
              <a:t>Se não for nenhuma das condições, exibe: “Reprovado”</a:t>
            </a:r>
          </a:p>
          <a:p>
            <a:pPr lvl="1" algn="just"/>
            <a:endParaRPr lang="pt-BR" sz="18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832" y="4221088"/>
            <a:ext cx="2667000" cy="174307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521" y="4250146"/>
            <a:ext cx="2600325" cy="1743075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0476" y="4250146"/>
            <a:ext cx="2600325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5165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IF ELSE IF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2211953"/>
            <a:ext cx="8229600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  <a:p>
            <a:pPr lvl="1" algn="just"/>
            <a:endParaRPr lang="pt-BR" sz="1800" dirty="0"/>
          </a:p>
        </p:txBody>
      </p:sp>
      <p:sp>
        <p:nvSpPr>
          <p:cNvPr id="5" name="Retângulo 4"/>
          <p:cNvSpPr/>
          <p:nvPr/>
        </p:nvSpPr>
        <p:spPr>
          <a:xfrm>
            <a:off x="4223792" y="1470999"/>
            <a:ext cx="4651920" cy="53553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nota1, nota2, media;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a nota 1: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"%f"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&amp;nota1);</a:t>
            </a:r>
          </a:p>
          <a:p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a nota 2: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"%f"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&amp;nota2); </a:t>
            </a:r>
          </a:p>
          <a:p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media = (nota1 + nota2)/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(media &gt;=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7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"Aprovado"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(media &gt;=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"Recuperação"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"Reprovado"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40788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B18BA9D9AB6240B5154E147FB65CD8" ma:contentTypeVersion="0" ma:contentTypeDescription="Crie um novo documento." ma:contentTypeScope="" ma:versionID="8d2370ab5a92c900c9496cf828b71e6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74c6ccb71ee63fbc30cff3237551ec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22FEE92-69F4-4F14-93B8-5883B68C8B3C}"/>
</file>

<file path=customXml/itemProps2.xml><?xml version="1.0" encoding="utf-8"?>
<ds:datastoreItem xmlns:ds="http://schemas.openxmlformats.org/officeDocument/2006/customXml" ds:itemID="{781FD22B-CEB0-4E9D-8719-FC749AF6CB04}"/>
</file>

<file path=customXml/itemProps3.xml><?xml version="1.0" encoding="utf-8"?>
<ds:datastoreItem xmlns:ds="http://schemas.openxmlformats.org/officeDocument/2006/customXml" ds:itemID="{FFC75867-13C6-4E43-9B98-0EFA63D1BAB1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1588</TotalTime>
  <Words>1576</Words>
  <Application>Microsoft Office PowerPoint</Application>
  <PresentationFormat>Widescreen</PresentationFormat>
  <Paragraphs>251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0" baseType="lpstr">
      <vt:lpstr>Calibri</vt:lpstr>
      <vt:lpstr>Consolas</vt:lpstr>
      <vt:lpstr>Georgia</vt:lpstr>
      <vt:lpstr>Trebuchet MS</vt:lpstr>
      <vt:lpstr>Wingdings 2</vt:lpstr>
      <vt:lpstr>Urbano</vt:lpstr>
      <vt:lpstr>Apresentação do PowerPoint</vt:lpstr>
      <vt:lpstr>Problema</vt:lpstr>
      <vt:lpstr>Solução</vt:lpstr>
      <vt:lpstr>Estrutura de Decisão </vt:lpstr>
      <vt:lpstr>O que é uma estrutura de decisão?</vt:lpstr>
      <vt:lpstr>Estrutura de Decisão IF</vt:lpstr>
      <vt:lpstr>IF</vt:lpstr>
      <vt:lpstr>IF</vt:lpstr>
      <vt:lpstr>IF - Praticando</vt:lpstr>
      <vt:lpstr>IF - Praticando</vt:lpstr>
      <vt:lpstr>IF com único comando</vt:lpstr>
      <vt:lpstr>IF com operações</vt:lpstr>
      <vt:lpstr>IF com %</vt:lpstr>
      <vt:lpstr>IF com % - Praticando</vt:lpstr>
      <vt:lpstr>IF com % - Praticando</vt:lpstr>
      <vt:lpstr>IF e ELSE</vt:lpstr>
      <vt:lpstr>IF com ELSE - Praticando</vt:lpstr>
      <vt:lpstr>IF com ELSE - Praticando</vt:lpstr>
      <vt:lpstr>IF ELSE IF</vt:lpstr>
      <vt:lpstr>IF ELSE IF</vt:lpstr>
      <vt:lpstr>IF ELSE IF</vt:lpstr>
      <vt:lpstr>IF ELSE IF</vt:lpstr>
      <vt:lpstr>IF ELSE IF - Praticando</vt:lpstr>
      <vt:lpstr>IF ELSE IF - Praticando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Padrões de Projeto Padrões Criacionais(Revisão)</dc:title>
  <dc:creator>Carlos W. Gama</dc:creator>
  <cp:lastModifiedBy>Carlos W. Gama</cp:lastModifiedBy>
  <cp:revision>199</cp:revision>
  <dcterms:created xsi:type="dcterms:W3CDTF">2017-03-10T13:05:03Z</dcterms:created>
  <dcterms:modified xsi:type="dcterms:W3CDTF">2024-12-05T13:07:09Z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0x0101009BB18BA9D9AB6240B5154E147FB65CD8</vt:lpwstr>
  </property>
</Properties>
</file>