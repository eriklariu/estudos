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318" r:id="rId3"/>
    <p:sldId id="303" r:id="rId4"/>
    <p:sldId id="319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E79F861-B55B-0213-5003-17C010C529CD}"/>
              </a:ext>
            </a:extLst>
          </p:cNvPr>
          <p:cNvSpPr>
            <a:spLocks noGrp="1"/>
          </p:cNvSpPr>
          <p:nvPr/>
        </p:nvSpPr>
        <p:spPr>
          <a:xfrm>
            <a:off x="925216" y="665261"/>
            <a:ext cx="10657184" cy="2763739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/>
              <a:t>Laboratório de Programação I</a:t>
            </a:r>
            <a:r>
              <a:rPr lang="pt-BR" sz="5400" dirty="0"/>
              <a:t> </a:t>
            </a:r>
            <a:r>
              <a:rPr lang="pt-BR"/>
              <a:t>Variáveis – Praticando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exiba um texto MENU e as opções Home e Sair, como no exemplo abaixo:</a:t>
            </a: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3284984"/>
            <a:ext cx="718675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56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2783632" y="2852936"/>
            <a:ext cx="590465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"-----------------------------\n"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"-            MENU           -\n"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"-----------------------------\n"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"1 - Home\n"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"2 - Sair\n"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522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é uma variável?</a:t>
            </a:r>
          </a:p>
          <a:p>
            <a:pPr lvl="1" algn="just"/>
            <a:r>
              <a:rPr lang="pt-BR" sz="1800" dirty="0"/>
              <a:t>É um elemento do código que pode mudar de valor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Qual a sintaxe para declarar uma variável?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423592" y="3789040"/>
            <a:ext cx="73448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C000"/>
                </a:solidFill>
              </a:rPr>
              <a:t>&lt;tipo da </a:t>
            </a:r>
            <a:r>
              <a:rPr lang="pt-BR" b="1" dirty="0" err="1">
                <a:solidFill>
                  <a:srgbClr val="FFC000"/>
                </a:solidFill>
              </a:rPr>
              <a:t>variavel</a:t>
            </a:r>
            <a:r>
              <a:rPr lang="pt-BR" b="1" dirty="0">
                <a:solidFill>
                  <a:srgbClr val="FFC000"/>
                </a:solidFill>
              </a:rPr>
              <a:t>&gt;</a:t>
            </a:r>
            <a:r>
              <a:rPr lang="pt-BR" b="1" dirty="0"/>
              <a:t> </a:t>
            </a:r>
            <a:r>
              <a:rPr lang="pt-BR" b="1" dirty="0">
                <a:solidFill>
                  <a:srgbClr val="FF0000"/>
                </a:solidFill>
              </a:rPr>
              <a:t>&lt;nome da </a:t>
            </a:r>
            <a:r>
              <a:rPr lang="pt-BR" b="1" dirty="0" err="1">
                <a:solidFill>
                  <a:srgbClr val="FF0000"/>
                </a:solidFill>
              </a:rPr>
              <a:t>variavel</a:t>
            </a:r>
            <a:r>
              <a:rPr lang="pt-BR" b="1" dirty="0">
                <a:solidFill>
                  <a:srgbClr val="FF0000"/>
                </a:solidFill>
              </a:rPr>
              <a:t>&gt;</a:t>
            </a:r>
            <a:r>
              <a:rPr lang="pt-BR" b="1" dirty="0"/>
              <a:t> </a:t>
            </a:r>
            <a:r>
              <a:rPr lang="pt-BR" dirty="0"/>
              <a:t>= </a:t>
            </a:r>
            <a:r>
              <a:rPr lang="pt-BR" b="1" dirty="0">
                <a:solidFill>
                  <a:srgbClr val="7030A0"/>
                </a:solidFill>
              </a:rPr>
              <a:t>&lt;valor aplicado&gt;</a:t>
            </a:r>
            <a:r>
              <a:rPr lang="pt-BR" dirty="0"/>
              <a:t>;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4227314"/>
            <a:ext cx="48965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C000"/>
                </a:solidFill>
              </a:rPr>
              <a:t>&lt;tipo da </a:t>
            </a:r>
            <a:r>
              <a:rPr lang="pt-BR" b="1" dirty="0" err="1">
                <a:solidFill>
                  <a:srgbClr val="FFC000"/>
                </a:solidFill>
              </a:rPr>
              <a:t>variavel</a:t>
            </a:r>
            <a:r>
              <a:rPr lang="pt-BR" b="1" dirty="0">
                <a:solidFill>
                  <a:srgbClr val="FFC000"/>
                </a:solidFill>
              </a:rPr>
              <a:t>&gt;</a:t>
            </a:r>
            <a:r>
              <a:rPr lang="pt-BR" b="1" dirty="0"/>
              <a:t> </a:t>
            </a:r>
            <a:r>
              <a:rPr lang="pt-BR" b="1" dirty="0">
                <a:solidFill>
                  <a:srgbClr val="FF0000"/>
                </a:solidFill>
              </a:rPr>
              <a:t>&lt;nome da </a:t>
            </a:r>
            <a:r>
              <a:rPr lang="pt-BR" b="1" dirty="0" err="1">
                <a:solidFill>
                  <a:srgbClr val="FF0000"/>
                </a:solidFill>
              </a:rPr>
              <a:t>variavel</a:t>
            </a:r>
            <a:r>
              <a:rPr lang="pt-BR" b="1" dirty="0">
                <a:solidFill>
                  <a:srgbClr val="FF0000"/>
                </a:solidFill>
              </a:rPr>
              <a:t>&gt;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7620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Quais são os tipos de variáveis que temos em C e quais letras usamos para exibir ou recuperá-los? </a:t>
            </a: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67056"/>
              </p:ext>
            </p:extLst>
          </p:nvPr>
        </p:nvGraphicFramePr>
        <p:xfrm>
          <a:off x="2063552" y="3299460"/>
          <a:ext cx="814724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812">
                  <a:extLst>
                    <a:ext uri="{9D8B030D-6E8A-4147-A177-3AD203B41FA5}">
                      <a16:colId xmlns:a16="http://schemas.microsoft.com/office/drawing/2014/main" val="2710652740"/>
                    </a:ext>
                  </a:extLst>
                </a:gridCol>
                <a:gridCol w="1203548">
                  <a:extLst>
                    <a:ext uri="{9D8B030D-6E8A-4147-A177-3AD203B41FA5}">
                      <a16:colId xmlns:a16="http://schemas.microsoft.com/office/drawing/2014/main" val="212208804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417924565"/>
                    </a:ext>
                  </a:extLst>
                </a:gridCol>
                <a:gridCol w="2602632">
                  <a:extLst>
                    <a:ext uri="{9D8B030D-6E8A-4147-A177-3AD203B41FA5}">
                      <a16:colId xmlns:a16="http://schemas.microsoft.com/office/drawing/2014/main" val="285156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Letra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02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 ou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Valores inteiros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int</a:t>
                      </a:r>
                      <a:r>
                        <a:rPr lang="pt-BR" dirty="0"/>
                        <a:t> var</a:t>
                      </a:r>
                      <a:r>
                        <a:rPr lang="pt-BR" baseline="0" dirty="0"/>
                        <a:t> = 10;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559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double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Valores fracionados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double</a:t>
                      </a:r>
                      <a:r>
                        <a:rPr lang="pt-BR" dirty="0"/>
                        <a:t> var = 10.5;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330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float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Valores fracionados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float</a:t>
                      </a:r>
                      <a:r>
                        <a:rPr lang="pt-BR" dirty="0"/>
                        <a:t> var = 10.5;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523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Único</a:t>
                      </a:r>
                      <a:r>
                        <a:rPr lang="pt-BR" baseline="0" dirty="0"/>
                        <a:t> caractere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char var</a:t>
                      </a:r>
                      <a:r>
                        <a:rPr lang="pt-BR" baseline="0" dirty="0"/>
                        <a:t> = ‘c’;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425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char[] ou char*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Vários caracteres</a:t>
                      </a:r>
                      <a:r>
                        <a:rPr lang="pt-BR" baseline="0" dirty="0"/>
                        <a:t> (</a:t>
                      </a:r>
                      <a:r>
                        <a:rPr lang="pt-BR" baseline="0" dirty="0" err="1"/>
                        <a:t>String</a:t>
                      </a:r>
                      <a:r>
                        <a:rPr lang="pt-BR" baseline="0" dirty="0"/>
                        <a:t>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char var[10] = “texto”;</a:t>
                      </a:r>
                    </a:p>
                    <a:p>
                      <a:r>
                        <a:rPr lang="pt-BR" dirty="0"/>
                        <a:t>char</a:t>
                      </a:r>
                      <a:r>
                        <a:rPr lang="pt-BR" baseline="0" dirty="0"/>
                        <a:t>* var = “texto”;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012083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401893"/>
              </p:ext>
            </p:extLst>
          </p:nvPr>
        </p:nvGraphicFramePr>
        <p:xfrm>
          <a:off x="2071444" y="3299460"/>
          <a:ext cx="814724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812">
                  <a:extLst>
                    <a:ext uri="{9D8B030D-6E8A-4147-A177-3AD203B41FA5}">
                      <a16:colId xmlns:a16="http://schemas.microsoft.com/office/drawing/2014/main" val="2710652740"/>
                    </a:ext>
                  </a:extLst>
                </a:gridCol>
                <a:gridCol w="1203548">
                  <a:extLst>
                    <a:ext uri="{9D8B030D-6E8A-4147-A177-3AD203B41FA5}">
                      <a16:colId xmlns:a16="http://schemas.microsoft.com/office/drawing/2014/main" val="212208804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417924565"/>
                    </a:ext>
                  </a:extLst>
                </a:gridCol>
                <a:gridCol w="2602632">
                  <a:extLst>
                    <a:ext uri="{9D8B030D-6E8A-4147-A177-3AD203B41FA5}">
                      <a16:colId xmlns:a16="http://schemas.microsoft.com/office/drawing/2014/main" val="285156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Letra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02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559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330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523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425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012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04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as variáveis:</a:t>
            </a:r>
          </a:p>
          <a:p>
            <a:pPr lvl="1" algn="just"/>
            <a:r>
              <a:rPr lang="pt-BR" sz="1800" dirty="0"/>
              <a:t>Nome</a:t>
            </a:r>
          </a:p>
          <a:p>
            <a:pPr lvl="1" algn="just"/>
            <a:r>
              <a:rPr lang="pt-BR" sz="1800" dirty="0"/>
              <a:t>Idade</a:t>
            </a:r>
          </a:p>
          <a:p>
            <a:pPr lvl="1" algn="just"/>
            <a:r>
              <a:rPr lang="pt-BR" sz="1800" dirty="0"/>
              <a:t>Gênero (m ou f)</a:t>
            </a:r>
          </a:p>
          <a:p>
            <a:pPr lvl="1" algn="just"/>
            <a:r>
              <a:rPr lang="pt-BR" sz="1800" dirty="0"/>
              <a:t>Altura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E por fim, exiba os textos com o seu perfil: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4653137"/>
            <a:ext cx="3550890" cy="17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6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6" name="Retângulo 5"/>
          <p:cNvSpPr/>
          <p:nvPr/>
        </p:nvSpPr>
        <p:spPr>
          <a:xfrm>
            <a:off x="3431704" y="2708921"/>
            <a:ext cx="4608512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idade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genero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'm'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altura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1.7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"Nome: %s\n"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"Idade: 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idade);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"Sexo: %c\n"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genero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"Altura: %f\n"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altura);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102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Caso, queira que a altura apenas exiba dois valores na casa decimal, como devemos realizar esse ajuste?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3356992"/>
            <a:ext cx="3384376" cy="220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3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6" name="Retângulo 5"/>
          <p:cNvSpPr/>
          <p:nvPr/>
        </p:nvSpPr>
        <p:spPr>
          <a:xfrm>
            <a:off x="3431704" y="2708921"/>
            <a:ext cx="4896544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idade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genero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'm'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altura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1.7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"Nome: %s\n"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"Idade: 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idade);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"Sexo: %c\n"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genero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"Altura: %</a:t>
            </a:r>
            <a:r>
              <a:rPr lang="pt-BR" b="1" u="sng" dirty="0">
                <a:solidFill>
                  <a:srgbClr val="A31515"/>
                </a:solidFill>
                <a:latin typeface="Consolas" panose="020B0609020204030204" pitchFamily="49" charset="0"/>
              </a:rPr>
              <a:t>.2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f\n"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altura);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190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Caso eu queria trocar a palavra sexo por gênero e que ele aceite acentuação, como ficará nosso código?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3212977"/>
            <a:ext cx="3312368" cy="219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42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3863752" y="2050222"/>
            <a:ext cx="4968552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B050"/>
                </a:solidFill>
                <a:latin typeface="Consolas" panose="020B0609020204030204" pitchFamily="49" charset="0"/>
              </a:rPr>
              <a:t>#include &lt;</a:t>
            </a:r>
            <a:r>
              <a:rPr lang="pt-BR" dirty="0" err="1">
                <a:solidFill>
                  <a:srgbClr val="00B050"/>
                </a:solidFill>
                <a:latin typeface="Consolas" panose="020B0609020204030204" pitchFamily="49" charset="0"/>
              </a:rPr>
              <a:t>stdio.h</a:t>
            </a:r>
            <a:r>
              <a:rPr lang="pt-BR" dirty="0">
                <a:solidFill>
                  <a:srgbClr val="00B05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pt-BR" dirty="0">
                <a:solidFill>
                  <a:srgbClr val="00B050"/>
                </a:solidFill>
                <a:latin typeface="Consolas" panose="020B0609020204030204" pitchFamily="49" charset="0"/>
              </a:rPr>
              <a:t>#include &lt;</a:t>
            </a:r>
            <a:r>
              <a:rPr lang="pt-BR" dirty="0" err="1">
                <a:solidFill>
                  <a:srgbClr val="00B050"/>
                </a:solidFill>
                <a:latin typeface="Consolas" panose="020B0609020204030204" pitchFamily="49" charset="0"/>
              </a:rPr>
              <a:t>stdlib.h</a:t>
            </a:r>
            <a:r>
              <a:rPr lang="pt-BR" dirty="0">
                <a:solidFill>
                  <a:srgbClr val="00B05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pt-BR" b="1" u="sng" dirty="0">
                <a:solidFill>
                  <a:srgbClr val="00B050"/>
                </a:solidFill>
                <a:latin typeface="Consolas" panose="020B0609020204030204" pitchFamily="49" charset="0"/>
              </a:rPr>
              <a:t>#include &lt;</a:t>
            </a:r>
            <a:r>
              <a:rPr lang="pt-BR" b="1" u="sng" dirty="0" err="1">
                <a:solidFill>
                  <a:srgbClr val="00B050"/>
                </a:solidFill>
                <a:latin typeface="Consolas" panose="020B0609020204030204" pitchFamily="49" charset="0"/>
              </a:rPr>
              <a:t>locale.h</a:t>
            </a:r>
            <a:r>
              <a:rPr lang="pt-BR" b="1" u="sng" dirty="0">
                <a:solidFill>
                  <a:srgbClr val="00B050"/>
                </a:solidFill>
                <a:latin typeface="Consolas" panose="020B0609020204030204" pitchFamily="49" charset="0"/>
              </a:rPr>
              <a:t>&gt;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b="1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idade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genero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'm'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altura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1.7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"Nome: %s\n"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"Idade: 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idade);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b="1" dirty="0">
                <a:solidFill>
                  <a:srgbClr val="A31515"/>
                </a:solidFill>
                <a:latin typeface="Consolas" panose="020B0609020204030204" pitchFamily="49" charset="0"/>
              </a:rPr>
              <a:t>Gênero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: %c\n"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genero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"Altura: %.2f\n"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altura);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128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Ao usar o </a:t>
            </a:r>
            <a:r>
              <a:rPr lang="pt-BR" sz="2000" dirty="0" err="1"/>
              <a:t>setlocale</a:t>
            </a:r>
            <a:r>
              <a:rPr lang="pt-BR" sz="2000" dirty="0"/>
              <a:t>(LC_ALL, “”), não é apenas os acentos que são trazido para o padrão do Brasil, mas sim também a </a:t>
            </a:r>
            <a:r>
              <a:rPr lang="pt-BR" sz="2000" u="sng" dirty="0"/>
              <a:t>virgula</a:t>
            </a:r>
            <a:r>
              <a:rPr lang="pt-BR" sz="2000" dirty="0"/>
              <a:t> para casas </a:t>
            </a:r>
            <a:r>
              <a:rPr lang="pt-BR" sz="2000" u="sng" dirty="0"/>
              <a:t>decimais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No padrão americano usamos “.”, enquanto no Brasil usamos “,”. 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4416092"/>
            <a:ext cx="3312368" cy="219806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576" y="4410050"/>
            <a:ext cx="3384376" cy="2204110"/>
          </a:xfrm>
          <a:prstGeom prst="rect">
            <a:avLst/>
          </a:prstGeom>
        </p:spPr>
      </p:pic>
      <p:sp>
        <p:nvSpPr>
          <p:cNvPr id="6" name="Retângulo Arredondado 5"/>
          <p:cNvSpPr/>
          <p:nvPr/>
        </p:nvSpPr>
        <p:spPr>
          <a:xfrm>
            <a:off x="4367808" y="6093296"/>
            <a:ext cx="432048" cy="36004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Arredondado 6"/>
          <p:cNvSpPr/>
          <p:nvPr/>
        </p:nvSpPr>
        <p:spPr>
          <a:xfrm>
            <a:off x="8688288" y="6214496"/>
            <a:ext cx="432048" cy="36004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Angulado 8"/>
          <p:cNvCxnSpPr>
            <a:stCxn id="6" idx="3"/>
            <a:endCxn id="7" idx="1"/>
          </p:cNvCxnSpPr>
          <p:nvPr/>
        </p:nvCxnSpPr>
        <p:spPr>
          <a:xfrm>
            <a:off x="4799856" y="6273316"/>
            <a:ext cx="3888432" cy="121200"/>
          </a:xfrm>
          <a:prstGeom prst="bentConnector3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49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06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pegue a informação a altura do cliente e a exiba na tela:  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48" y="4951521"/>
            <a:ext cx="4911866" cy="937379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00" y="3501009"/>
            <a:ext cx="4886870" cy="112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522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06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r>
              <a:rPr lang="pt-BR" sz="2000" dirty="0"/>
              <a:t>*OBS: Se usar o </a:t>
            </a:r>
            <a:r>
              <a:rPr lang="pt-BR" sz="2000" dirty="0" err="1"/>
              <a:t>setlocale</a:t>
            </a:r>
            <a:r>
              <a:rPr lang="pt-BR" sz="2000" dirty="0"/>
              <a:t> ao informar a altura usarmos com “,”. Se não usarmos o </a:t>
            </a:r>
            <a:r>
              <a:rPr lang="pt-BR" sz="2000" dirty="0" err="1"/>
              <a:t>setlocale</a:t>
            </a:r>
            <a:r>
              <a:rPr lang="pt-BR" sz="2000" dirty="0"/>
              <a:t> devemos informar com “.”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3179676" y="2780928"/>
            <a:ext cx="583264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altura;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sua altura: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altura);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"%.2f altura registrada"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altura);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5971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07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busque o nome e a idade de uma pessoa e as exiba na tela: 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3284984"/>
            <a:ext cx="6375854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10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07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r>
              <a:rPr lang="pt-BR" sz="2000" dirty="0"/>
              <a:t>*OBS: Como char nome[100] não é um único caractere e sim uma </a:t>
            </a:r>
            <a:r>
              <a:rPr lang="pt-BR" sz="2000" dirty="0" err="1"/>
              <a:t>string</a:t>
            </a:r>
            <a:r>
              <a:rPr lang="pt-BR" sz="2000" dirty="0"/>
              <a:t>, não usamos o &amp;.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3647728" y="1988841"/>
            <a:ext cx="5454352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idade;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nome: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uma idade: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&amp;idade);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 tem %d anos"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nome, idade);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66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08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está errado no código abaixo? Qual é a forma correta de fazer?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3575720" y="2996952"/>
            <a:ext cx="5040560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ultimo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seu ultimo nome: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ultimo nome);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ultimo nome);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992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08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Não podemos ter variável com espaço ou caractere especial. Nesse caso podemos usar algum padrão como o </a:t>
            </a:r>
            <a:r>
              <a:rPr lang="pt-BR" sz="2000" dirty="0" err="1"/>
              <a:t>camelCase</a:t>
            </a:r>
            <a:r>
              <a:rPr lang="pt-BR" sz="2000" dirty="0"/>
              <a:t>: 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3575720" y="2996952"/>
            <a:ext cx="5040560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ultimoNome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seu ultimo nome: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ultimoNome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ultimoNome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24123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0" ma:contentTypeDescription="Crie um novo documento." ma:contentTypeScope="" ma:versionID="8d2370ab5a92c900c9496cf828b71e6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8CBCBA-0F40-4856-A229-BE977E5D8795}"/>
</file>

<file path=customXml/itemProps2.xml><?xml version="1.0" encoding="utf-8"?>
<ds:datastoreItem xmlns:ds="http://schemas.openxmlformats.org/officeDocument/2006/customXml" ds:itemID="{D9369077-5793-46E9-BAD3-B8AD26044068}"/>
</file>

<file path=customXml/itemProps3.xml><?xml version="1.0" encoding="utf-8"?>
<ds:datastoreItem xmlns:ds="http://schemas.openxmlformats.org/officeDocument/2006/customXml" ds:itemID="{240CA608-8CB6-4739-BFE7-2B3D03EBEC26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1320</TotalTime>
  <Words>991</Words>
  <Application>Microsoft Office PowerPoint</Application>
  <PresentationFormat>Widescreen</PresentationFormat>
  <Paragraphs>192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Calibri</vt:lpstr>
      <vt:lpstr>Consolas</vt:lpstr>
      <vt:lpstr>Georgia</vt:lpstr>
      <vt:lpstr>Trebuchet MS</vt:lpstr>
      <vt:lpstr>Wingdings 2</vt:lpstr>
      <vt:lpstr>Urbano</vt:lpstr>
      <vt:lpstr>Apresentação do PowerPoint</vt:lpstr>
      <vt:lpstr>Questão 01</vt:lpstr>
      <vt:lpstr>Questão 01</vt:lpstr>
      <vt:lpstr>Relembrando</vt:lpstr>
      <vt:lpstr>Questão 02</vt:lpstr>
      <vt:lpstr>Questão 03</vt:lpstr>
      <vt:lpstr>Questão 03</vt:lpstr>
      <vt:lpstr>Questão 04</vt:lpstr>
      <vt:lpstr>Questão 04</vt:lpstr>
      <vt:lpstr>Questão 05</vt:lpstr>
      <vt:lpstr>Questão 05</vt:lpstr>
      <vt:lpstr>Extra</vt:lpstr>
      <vt:lpstr>Questão 06</vt:lpstr>
      <vt:lpstr>Questão 06</vt:lpstr>
      <vt:lpstr>Questão 07</vt:lpstr>
      <vt:lpstr>Questão 07</vt:lpstr>
      <vt:lpstr>Questão 08</vt:lpstr>
      <vt:lpstr>Questão 08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167</cp:revision>
  <dcterms:created xsi:type="dcterms:W3CDTF">2017-03-10T13:05:03Z</dcterms:created>
  <dcterms:modified xsi:type="dcterms:W3CDTF">2024-12-05T12:51:01Z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