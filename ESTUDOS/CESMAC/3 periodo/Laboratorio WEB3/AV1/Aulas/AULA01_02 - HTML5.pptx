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5143500" type="screen16x9"/>
  <p:notesSz cx="6858000" cy="9144000"/>
  <p:embeddedFontLst>
    <p:embeddedFont>
      <p:font typeface="Lato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2B0AD-FCB9-4EBA-B4B1-E35F05857B29}" v="6" dt="2026-03-13T18:13:21.067"/>
    <p1510:client id="{4C26D68A-F21E-4E98-B55A-761CAC54C483}" v="3" dt="2026-03-13T18:13:34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US WANDERLEY FONTES" userId="S::2025103356@academico.cesmac.edu.br::1094e089-42ff-4d91-8fb2-bcbce1941213" providerId="AD" clId="Web-{4C26D68A-F21E-4E98-B55A-761CAC54C483}"/>
    <pc:docChg chg="modSld">
      <pc:chgData name="JULIUS WANDERLEY FONTES" userId="S::2025103356@academico.cesmac.edu.br::1094e089-42ff-4d91-8fb2-bcbce1941213" providerId="AD" clId="Web-{4C26D68A-F21E-4E98-B55A-761CAC54C483}" dt="2026-03-13T18:13:34.087" v="1"/>
      <pc:docMkLst>
        <pc:docMk/>
      </pc:docMkLst>
      <pc:sldChg chg="delSp modSp">
        <pc:chgData name="JULIUS WANDERLEY FONTES" userId="S::2025103356@academico.cesmac.edu.br::1094e089-42ff-4d91-8fb2-bcbce1941213" providerId="AD" clId="Web-{4C26D68A-F21E-4E98-B55A-761CAC54C483}" dt="2026-03-13T18:13:34.087" v="1"/>
        <pc:sldMkLst>
          <pc:docMk/>
          <pc:sldMk cId="0" sldId="257"/>
        </pc:sldMkLst>
        <pc:spChg chg="del mod">
          <ac:chgData name="JULIUS WANDERLEY FONTES" userId="S::2025103356@academico.cesmac.edu.br::1094e089-42ff-4d91-8fb2-bcbce1941213" providerId="AD" clId="Web-{4C26D68A-F21E-4E98-B55A-761CAC54C483}" dt="2026-03-13T18:13:34.087" v="1"/>
          <ac:spMkLst>
            <pc:docMk/>
            <pc:sldMk cId="0" sldId="257"/>
            <ac:spMk id="84" creationId="{00000000-0000-0000-0000-000000000000}"/>
          </ac:spMkLst>
        </pc:spChg>
      </pc:sldChg>
    </pc:docChg>
  </pc:docChgLst>
  <pc:docChgLst>
    <pc:chgData name="JULIUS WANDERLEY FONTES" userId="S::2025103356@academico.cesmac.edu.br::1094e089-42ff-4d91-8fb2-bcbce1941213" providerId="AD" clId="Web-{4002B0AD-FCB9-4EBA-B4B1-E35F05857B29}"/>
    <pc:docChg chg="modSld">
      <pc:chgData name="JULIUS WANDERLEY FONTES" userId="S::2025103356@academico.cesmac.edu.br::1094e089-42ff-4d91-8fb2-bcbce1941213" providerId="AD" clId="Web-{4002B0AD-FCB9-4EBA-B4B1-E35F05857B29}" dt="2026-03-13T18:13:18.176" v="4" actId="20577"/>
      <pc:docMkLst>
        <pc:docMk/>
      </pc:docMkLst>
      <pc:sldChg chg="modSp">
        <pc:chgData name="JULIUS WANDERLEY FONTES" userId="S::2025103356@academico.cesmac.edu.br::1094e089-42ff-4d91-8fb2-bcbce1941213" providerId="AD" clId="Web-{4002B0AD-FCB9-4EBA-B4B1-E35F05857B29}" dt="2026-03-13T18:13:18.176" v="4" actId="20577"/>
        <pc:sldMkLst>
          <pc:docMk/>
          <pc:sldMk cId="0" sldId="257"/>
        </pc:sldMkLst>
        <pc:spChg chg="mod">
          <ac:chgData name="JULIUS WANDERLEY FONTES" userId="S::2025103356@academico.cesmac.edu.br::1094e089-42ff-4d91-8fb2-bcbce1941213" providerId="AD" clId="Web-{4002B0AD-FCB9-4EBA-B4B1-E35F05857B29}" dt="2026-03-13T18:13:18.176" v="4" actId="20577"/>
          <ac:spMkLst>
            <pc:docMk/>
            <pc:sldMk cId="0" sldId="257"/>
            <ac:spMk id="84" creationId="{00000000-0000-0000-0000-000000000000}"/>
          </ac:spMkLst>
        </pc:spChg>
      </pc:sldChg>
    </pc:docChg>
  </pc:docChgLst>
  <pc:docChgLst>
    <pc:chgData clId="Web-{4C26D68A-F21E-4E98-B55A-761CAC54C483}"/>
    <pc:docChg chg="modSld">
      <pc:chgData name="" userId="" providerId="" clId="Web-{4C26D68A-F21E-4E98-B55A-761CAC54C483}" dt="2026-03-13T18:13:33.541" v="0" actId="20577"/>
      <pc:docMkLst>
        <pc:docMk/>
      </pc:docMkLst>
      <pc:sldChg chg="modSp">
        <pc:chgData name="" userId="" providerId="" clId="Web-{4C26D68A-F21E-4E98-B55A-761CAC54C483}" dt="2026-03-13T18:13:33.541" v="0" actId="20577"/>
        <pc:sldMkLst>
          <pc:docMk/>
          <pc:sldMk cId="0" sldId="257"/>
        </pc:sldMkLst>
        <pc:spChg chg="mod">
          <ac:chgData name="" userId="" providerId="" clId="Web-{4C26D68A-F21E-4E98-B55A-761CAC54C483}" dt="2026-03-13T18:13:33.541" v="0" actId="20577"/>
          <ac:spMkLst>
            <pc:docMk/>
            <pc:sldMk cId="0" sldId="257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400352ebd8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400352ebd8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00352ebd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400352ebd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00352ebd8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400352ebd8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b252745d80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b252745d80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00352ebd8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00352ebd8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400352ebd8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400352ebd8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d54a6cac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5d54a6cac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d54a6cacf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d54a6cacf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d54a6cacf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d54a6cacf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d54a6cacf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d54a6cacf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d54a6cacf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5d54a6cacf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846795c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846795c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5d54a6cacf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5d54a6cacf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5d54a6cacf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5d54a6cacf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400352ebd8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400352ebd8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00352ebd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400352ebd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bg>
      <p:bgPr>
        <a:solidFill>
          <a:srgbClr val="0C343D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" name="Google Shape;54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1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12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12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ctrTitle"/>
          </p:nvPr>
        </p:nvSpPr>
        <p:spPr>
          <a:xfrm>
            <a:off x="2390275" y="630225"/>
            <a:ext cx="6312900" cy="8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6818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Laboratório de Programação III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Prof. Wagner Palmeira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E-mail: wagner.araujo@cesmac.edu.br</a:t>
            </a:r>
            <a:endParaRPr/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025" y="1574450"/>
            <a:ext cx="1382800" cy="13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277675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HTML 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HTML 4 vs HTML 5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2523000" y="1279775"/>
            <a:ext cx="61989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Compatibilidade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Semântica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Arquivos multimídia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ETC.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Tags (Layout)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3668700" y="4774200"/>
            <a:ext cx="441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Fonte: https://www.devmedia.com.br/comandos-e-tags-html5/23618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2523000" y="1279775"/>
            <a:ext cx="6198900" cy="28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7025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&lt;article&gt;: Define um artigo;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&lt;aside&gt;: Define o conteúdo além do conteúdo da página;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&lt;figcaption&gt;: Define o caption de uma imagem;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&lt;figure&gt;: Define um grupo de média e seus captions;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&lt;footer&gt;: Define o rodapé de uma página;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&lt;header&gt;: Define o cabeçalho de uma página;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&lt;nav&gt;: Define os links de navegação;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&lt;section&gt;: Define uma área ou seção;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&lt;main&gt;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Tags (Layout)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3668700" y="4774200"/>
            <a:ext cx="441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Fonte: https://www.devmedia.com.br/comandos-e-tags-html5/23618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2523000" y="1279775"/>
            <a:ext cx="6198900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7025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&lt;strong&gt;;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70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1550"/>
              <a:buFont typeface="Times New Roman"/>
              <a:buAutoNum type="arabicPeriod"/>
            </a:pPr>
            <a:r>
              <a:rPr lang="pt-BR" sz="15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 …</a:t>
            </a:r>
            <a:endParaRPr sz="1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600">
              <a:solidFill>
                <a:srgbClr val="0F111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Tags (Media)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3668700" y="4774200"/>
            <a:ext cx="441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Fonte: https://www.devmedia.com.br/comandos-e-tags-html5/23618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523000" y="1279775"/>
            <a:ext cx="6198900" cy="13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77825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F1111"/>
              </a:buClr>
              <a:buSzPts val="2350"/>
              <a:buFont typeface="Times New Roman"/>
              <a:buAutoNum type="arabicPeriod"/>
            </a:pPr>
            <a:r>
              <a:rPr lang="pt-BR" sz="23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&lt;audio&gt;: Define o conteúdo de som;</a:t>
            </a:r>
            <a:endParaRPr sz="23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7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50"/>
              <a:buFont typeface="Times New Roman"/>
              <a:buAutoNum type="arabicPeriod"/>
            </a:pPr>
            <a:r>
              <a:rPr lang="pt-BR" sz="23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&lt;source&gt;: Define recursos de mídia;</a:t>
            </a:r>
            <a:endParaRPr sz="23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7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50"/>
              <a:buFont typeface="Times New Roman"/>
              <a:buAutoNum type="arabicPeriod"/>
            </a:pPr>
            <a:r>
              <a:rPr lang="pt-BR" sz="2350">
                <a:solidFill>
                  <a:srgbClr val="0F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&lt;video&gt;: Define um vídeo;</a:t>
            </a:r>
            <a:endParaRPr sz="2550">
              <a:solidFill>
                <a:srgbClr val="0F11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HTML 4 vs HTML 5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2523000" y="1279775"/>
            <a:ext cx="619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1864825" y="4804800"/>
            <a:ext cx="808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Imagem: https://www.hostinger.com.br/tutoriais/wp-content/uploads/sites/12/2017/04/differences-between-html-and-html5.png</a:t>
            </a:r>
            <a:endParaRPr sz="1000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100" y="1203575"/>
            <a:ext cx="5418310" cy="3410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-41950" y="124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500"/>
              <a:t>Antes no html 5</a:t>
            </a:r>
            <a:endParaRPr sz="2500"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075" y="664150"/>
            <a:ext cx="6410902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2300" y="3588825"/>
            <a:ext cx="6076626" cy="15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1358200" y="650400"/>
            <a:ext cx="6486900" cy="612300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1396475" y="1329525"/>
            <a:ext cx="6411000" cy="2186700"/>
          </a:xfrm>
          <a:prstGeom prst="rect">
            <a:avLst/>
          </a:prstGeom>
          <a:noFill/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1377350" y="3577250"/>
            <a:ext cx="6411000" cy="151920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344325" y="755625"/>
            <a:ext cx="115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980000"/>
                </a:solidFill>
              </a:rPr>
              <a:t>div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344325" y="1983088"/>
            <a:ext cx="115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C4587"/>
                </a:solidFill>
              </a:rPr>
              <a:t>div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44325" y="4148288"/>
            <a:ext cx="115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FFD966"/>
                </a:solidFill>
              </a:rPr>
              <a:t>div</a:t>
            </a:r>
            <a:endParaRPr b="1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1593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00"/>
              <a:t>Tags Estruturais</a:t>
            </a:r>
            <a:endParaRPr sz="2200"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075" y="664150"/>
            <a:ext cx="6410902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2300" y="3588825"/>
            <a:ext cx="6076626" cy="15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>
            <a:off x="1358200" y="650400"/>
            <a:ext cx="6486900" cy="612300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1396475" y="1329525"/>
            <a:ext cx="6411000" cy="2186700"/>
          </a:xfrm>
          <a:prstGeom prst="rect">
            <a:avLst/>
          </a:prstGeom>
          <a:noFill/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1377350" y="3577250"/>
            <a:ext cx="6411000" cy="151920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344325" y="755625"/>
            <a:ext cx="115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980000"/>
                </a:solidFill>
              </a:rPr>
              <a:t>HEADER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344325" y="1983088"/>
            <a:ext cx="115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C4587"/>
                </a:solidFill>
              </a:rPr>
              <a:t>MAIN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344325" y="4148288"/>
            <a:ext cx="115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FFD966"/>
                </a:solidFill>
              </a:rPr>
              <a:t>FOOTER</a:t>
            </a:r>
            <a:endParaRPr b="1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pt-BR"/>
              <a:t>Tags Estruturais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478250" y="1339075"/>
            <a:ext cx="82737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b="1"/>
              <a:t>&lt;header&gt;&lt;/header&gt;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b="1"/>
              <a:t>&lt;nav&gt;&lt;/nav&gt;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b="1"/>
              <a:t>&lt;main&gt;&lt;/main&gt;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b="1"/>
              <a:t>&lt;aside&gt;&lt;/aside&gt;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b="1"/>
              <a:t>&lt;artice&gt;&lt;/article&gt;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b="1"/>
              <a:t>&lt;footer&gt;&lt;/footer&gt;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Algumas Tags [MEDIA]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478250" y="1339075"/>
            <a:ext cx="8273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 b="1"/>
              <a:t>&lt;audio&gt;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b="1"/>
              <a:t>&lt;source&gt;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b="1"/>
              <a:t>&lt;video&gt;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Algumas Tags [MEDIA]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478250" y="1339075"/>
            <a:ext cx="82737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B1B1B"/>
                </a:solidFill>
              </a:rPr>
              <a:t>&lt;video controls&gt;</a:t>
            </a:r>
            <a:endParaRPr sz="1700">
              <a:solidFill>
                <a:srgbClr val="1B1B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B1B1B"/>
                </a:solidFill>
              </a:rPr>
              <a:t>  &lt;source src="foo.ogg" type="video/ogg"&gt; &lt;!-- Escolhido pelo Firefox --&gt;</a:t>
            </a:r>
            <a:endParaRPr sz="1700">
              <a:solidFill>
                <a:srgbClr val="1B1B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B1B1B"/>
                </a:solidFill>
              </a:rPr>
              <a:t>  &lt;source src="foo.mov" type="video/quicktime"&gt; &lt;!-- Escolhido pelo Safari --&gt;</a:t>
            </a:r>
            <a:endParaRPr sz="1700">
              <a:solidFill>
                <a:srgbClr val="1B1B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rgbClr val="1B1B1B"/>
                </a:solidFill>
              </a:rPr>
              <a:t>&lt;/video&gt;</a:t>
            </a:r>
            <a:endParaRPr sz="1700">
              <a:solidFill>
                <a:srgbClr val="1B1B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</p:txBody>
      </p:sp>
      <p:sp>
        <p:nvSpPr>
          <p:cNvPr id="164" name="Google Shape;164;p25"/>
          <p:cNvSpPr txBox="1"/>
          <p:nvPr/>
        </p:nvSpPr>
        <p:spPr>
          <a:xfrm>
            <a:off x="583450" y="3357250"/>
            <a:ext cx="776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https://developer.mozilla.org/pt-BR/docs/Web/HTML/Element/Source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uso:</a:t>
            </a:r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&lt;!DOCTYPE html&gt;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&lt;html&gt;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&lt;body&gt;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&lt;h1&gt;The video element&lt;/h1&gt;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&lt;video width="320" height="240" controls&gt;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  &lt;source src="movie.mp4" type="video/mp4"&gt;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  &lt;source src="movie.ogg" type="video/ogg"&gt;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  Your browser does not support the video tag.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&lt;/video&gt;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&lt;/body&gt;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t-BR"/>
              <a:t>&lt;/html&gt;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&lt;strong&gt; ou &lt;b&gt;?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7"/>
          <p:cNvSpPr txBox="1"/>
          <p:nvPr/>
        </p:nvSpPr>
        <p:spPr>
          <a:xfrm>
            <a:off x="478250" y="1339075"/>
            <a:ext cx="827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&lt;strong&gt; ou &lt;b&gt;?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478250" y="1339075"/>
            <a:ext cx="827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83" name="Google Shape;183;p28"/>
          <p:cNvSpPr txBox="1"/>
          <p:nvPr/>
        </p:nvSpPr>
        <p:spPr>
          <a:xfrm>
            <a:off x="449550" y="1386900"/>
            <a:ext cx="8273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Quando digo &lt;strong&gt; estou indicando forte importância daquela parte que foi “marcada”.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&lt;b&gt; Estou, em suma, apenas colocando em negrito! -&gt; APRESENTACIONAL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085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 - HTML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>
            <a:spLocks noGrp="1"/>
          </p:cNvSpPr>
          <p:nvPr>
            <p:ph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Próximos Passos</a:t>
            </a:r>
            <a:endParaRPr sz="4466"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50" y="2309750"/>
            <a:ext cx="2419351" cy="241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>
            <a:spLocks noGrp="1"/>
          </p:cNvSpPr>
          <p:nvPr>
            <p:ph type="body" idx="1"/>
          </p:nvPr>
        </p:nvSpPr>
        <p:spPr>
          <a:xfrm>
            <a:off x="2840250" y="3288225"/>
            <a:ext cx="34635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Keep Calm!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Tabelas</a:t>
            </a:r>
            <a:endParaRPr/>
          </a:p>
        </p:txBody>
      </p:sp>
      <p:sp>
        <p:nvSpPr>
          <p:cNvPr id="196" name="Google Shape;196;p30"/>
          <p:cNvSpPr txBox="1"/>
          <p:nvPr/>
        </p:nvSpPr>
        <p:spPr>
          <a:xfrm>
            <a:off x="2327975" y="4804800"/>
            <a:ext cx="780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Imagem: https://cdn.awsli.com.br/1000x1000/761/761999/produto/148205958e1d1728ace.jpg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4A943A8DC3354A8151C28915423A53" ma:contentTypeVersion="3" ma:contentTypeDescription="Crie um novo documento." ma:contentTypeScope="" ma:versionID="deaff6b0d53f7540f32c03e938d129ef">
  <xsd:schema xmlns:xsd="http://www.w3.org/2001/XMLSchema" xmlns:xs="http://www.w3.org/2001/XMLSchema" xmlns:p="http://schemas.microsoft.com/office/2006/metadata/properties" xmlns:ns2="08c770d9-b31e-4150-8755-0eafc9fd6ed4" targetNamespace="http://schemas.microsoft.com/office/2006/metadata/properties" ma:root="true" ma:fieldsID="7b0e1c22dd208094875042358508f15c" ns2:_="">
    <xsd:import namespace="08c770d9-b31e-4150-8755-0eafc9fd6e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770d9-b31e-4150-8755-0eafc9fd6e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43A69F-1171-4562-9611-1DF59AFE472B}">
  <ds:schemaRefs>
    <ds:schemaRef ds:uri="08c770d9-b31e-4150-8755-0eafc9fd6e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9785BBC-083A-4B18-A291-F0EA5E9ADEC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B89621D-E5B7-496D-84A1-0A31423A02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Swiss</vt:lpstr>
      <vt:lpstr>Laboratório de Programação III</vt:lpstr>
      <vt:lpstr>HTML 5</vt:lpstr>
      <vt:lpstr>HTML 4 vs HTML 5</vt:lpstr>
      <vt:lpstr>Tags (Layout)</vt:lpstr>
      <vt:lpstr>Tags (Layout)</vt:lpstr>
      <vt:lpstr>Tags (Media)</vt:lpstr>
      <vt:lpstr>HTML 4 vs HTML 5</vt:lpstr>
      <vt:lpstr>Antes no html 5</vt:lpstr>
      <vt:lpstr>Tags Estruturais</vt:lpstr>
      <vt:lpstr>Tags Estruturais </vt:lpstr>
      <vt:lpstr>Algumas Tags [MEDIA] </vt:lpstr>
      <vt:lpstr>Algumas Tags [MEDIA] </vt:lpstr>
      <vt:lpstr>Exemplo de uso:</vt:lpstr>
      <vt:lpstr>&lt;strong&gt; ou &lt;b&gt;? </vt:lpstr>
      <vt:lpstr>&lt;strong&gt; ou &lt;b&gt;? </vt:lpstr>
      <vt:lpstr>CODE! Form - HTML</vt:lpstr>
      <vt:lpstr>Próximos Passos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2026-03-13T18:14:17Z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0x010100634A943A8DC3354A8151C28915423A53</vt:lpwstr>
  </property>
</Properties>
</file>