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Raleway-boldItalic.fntdata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1" Type="http://schemas.openxmlformats.org/officeDocument/2006/relationships/slide" Target="slides/slide16.xml"/><Relationship Id="rId3" Type="http://schemas.openxmlformats.org/officeDocument/2006/relationships/presProps" Target="presProps.xml"/><Relationship Id="rId25" Type="http://schemas.openxmlformats.org/officeDocument/2006/relationships/font" Target="fonts/Raleway-italic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customXml" Target="../customXml/item3.xml"/><Relationship Id="rId20" Type="http://schemas.openxmlformats.org/officeDocument/2006/relationships/slide" Target="slides/slide15.xml"/><Relationship Id="rId2" Type="http://schemas.openxmlformats.org/officeDocument/2006/relationships/viewProps" Target="viewProps.xml"/><Relationship Id="rId29" Type="http://schemas.openxmlformats.org/officeDocument/2006/relationships/font" Target="fonts/Lato-italic.fntdata"/><Relationship Id="rId16" Type="http://schemas.openxmlformats.org/officeDocument/2006/relationships/slide" Target="slides/slide11.xml"/><Relationship Id="rId24" Type="http://schemas.openxmlformats.org/officeDocument/2006/relationships/font" Target="fonts/Raleway-bold.fntdata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32" Type="http://schemas.openxmlformats.org/officeDocument/2006/relationships/customXml" Target="../customXml/item2.xml"/><Relationship Id="rId23" Type="http://schemas.openxmlformats.org/officeDocument/2006/relationships/font" Target="fonts/Raleway-regular.fntdata"/><Relationship Id="rId28" Type="http://schemas.openxmlformats.org/officeDocument/2006/relationships/font" Target="fonts/Lato-bold.fntdata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customXml" Target="../customXml/item1.xml"/><Relationship Id="rId22" Type="http://schemas.openxmlformats.org/officeDocument/2006/relationships/slide" Target="slides/slide1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schemas.openxmlformats.org/officeDocument/2006/relationships/font" Target="fonts/Lato-regular.fntdata"/><Relationship Id="rId30" Type="http://schemas.openxmlformats.org/officeDocument/2006/relationships/font" Target="fonts/Lato-boldItalic.fntdata"/><Relationship Id="rId14" Type="http://schemas.openxmlformats.org/officeDocument/2006/relationships/slide" Target="slides/slide9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55bcdb3c3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55bcdb3c3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55bcdb3c3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55bcdb3c3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55aa08553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55aa08553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55aa08553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55aa08553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46378f6af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46378f6af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36b2fdea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36b2fdea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36b2fdeaa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d36b2fdeaa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d36b2fdeaa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d36b2fdea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d36b2fdeaa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d36b2fdeaa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860d69c3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860d69c3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d36b2fdeaa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d36b2fdeaa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4860d69c3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4860d69c3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d36b2fdeaa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d36b2fdeaa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d36b2fdeaa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d36b2fdeaa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55aa08553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55aa08553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0B5394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1155CC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3600"/>
              <a:buNone/>
              <a:defRPr sz="3600">
                <a:solidFill>
                  <a:srgbClr val="07376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9600"/>
              <a:buFont typeface="Lato"/>
              <a:buNone/>
              <a:defRPr sz="9600">
                <a:solidFill>
                  <a:srgbClr val="1C4587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460500" y="1619250"/>
            <a:ext cx="8399700" cy="19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CSS3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/>
              <a:t>Manipulação de Elementos</a:t>
            </a:r>
            <a:endParaRPr sz="2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555777" y="3238450"/>
            <a:ext cx="81660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Wagner Palmeira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/>
              <a:t>Email: wagner.araujo@cesmac.edu.br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4294967295" type="title"/>
          </p:nvPr>
        </p:nvSpPr>
        <p:spPr>
          <a:xfrm>
            <a:off x="535775" y="712150"/>
            <a:ext cx="5197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accent1"/>
                </a:solidFill>
              </a:rPr>
              <a:t>Sumário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79" name="Google Shape;79;p14"/>
          <p:cNvSpPr txBox="1"/>
          <p:nvPr>
            <p:ph idx="4294967295" type="title"/>
          </p:nvPr>
        </p:nvSpPr>
        <p:spPr>
          <a:xfrm>
            <a:off x="535775" y="1480150"/>
            <a:ext cx="8069100" cy="30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>
                <a:latin typeface="Lato"/>
                <a:ea typeface="Lato"/>
                <a:cs typeface="Lato"/>
                <a:sym typeface="Lato"/>
              </a:rPr>
              <a:t>CSS Pseudo-elements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>
                <a:latin typeface="Lato"/>
                <a:ea typeface="Lato"/>
                <a:cs typeface="Lato"/>
                <a:sym typeface="Lato"/>
              </a:rPr>
              <a:t>CSS Position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>
                <a:latin typeface="Lato"/>
                <a:ea typeface="Lato"/>
                <a:cs typeface="Lato"/>
                <a:sym typeface="Lato"/>
              </a:rPr>
              <a:t>Attr Selectors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>
                <a:latin typeface="Lato"/>
                <a:ea typeface="Lato"/>
                <a:cs typeface="Lato"/>
                <a:sym typeface="Lato"/>
              </a:rPr>
              <a:t>Criação de variáveis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idx="4294967295" type="title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400">
                <a:solidFill>
                  <a:schemeClr val="accent1"/>
                </a:solidFill>
              </a:rPr>
              <a:t>CSS PSEUDO-ELEMENTS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85" name="Google Shape;85;p15"/>
          <p:cNvSpPr txBox="1"/>
          <p:nvPr>
            <p:ph idx="4294967295" type="title"/>
          </p:nvPr>
        </p:nvSpPr>
        <p:spPr>
          <a:xfrm>
            <a:off x="535775" y="1480150"/>
            <a:ext cx="8252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Customizar partes de elementos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2209075" y="2571750"/>
            <a:ext cx="44883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50">
                <a:solidFill>
                  <a:srgbClr val="A52A2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selector::pseudo-element </a:t>
            </a:r>
            <a:r>
              <a:rPr b="1" lang="pt-BR" sz="2150">
                <a:solidFill>
                  <a:schemeClr val="dk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2150">
              <a:solidFill>
                <a:schemeClr val="dk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property</a:t>
            </a:r>
            <a:r>
              <a:rPr b="1" lang="pt-BR" sz="2150">
                <a:solidFill>
                  <a:schemeClr val="dk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pt-BR" sz="21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value</a:t>
            </a:r>
            <a:r>
              <a:rPr b="1" lang="pt-BR" sz="2150">
                <a:solidFill>
                  <a:schemeClr val="dk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2150">
              <a:solidFill>
                <a:schemeClr val="dk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50">
                <a:solidFill>
                  <a:schemeClr val="dk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idx="4294967295" type="title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400">
                <a:solidFill>
                  <a:schemeClr val="accent1"/>
                </a:solidFill>
              </a:rPr>
              <a:t>CSS PSEUDO-ELEMENTS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92" name="Google Shape;92;p16"/>
          <p:cNvSpPr txBox="1"/>
          <p:nvPr>
            <p:ph idx="4294967295" type="title"/>
          </p:nvPr>
        </p:nvSpPr>
        <p:spPr>
          <a:xfrm>
            <a:off x="535775" y="1480150"/>
            <a:ext cx="8252100" cy="5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Customizar partes de elementos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2209075" y="2571750"/>
            <a:ext cx="4488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pt-BR" sz="1850">
                <a:solidFill>
                  <a:srgbClr val="A52A2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p::first-line </a:t>
            </a:r>
            <a:r>
              <a:rPr b="1" lang="pt-BR" sz="1850">
                <a:solidFill>
                  <a:schemeClr val="dk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 sz="1850">
              <a:solidFill>
                <a:schemeClr val="dk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pt-BR" sz="18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color</a:t>
            </a:r>
            <a:r>
              <a:rPr b="1" lang="pt-BR" sz="1850">
                <a:solidFill>
                  <a:schemeClr val="dk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pt-BR" sz="18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#ff0000</a:t>
            </a:r>
            <a:r>
              <a:rPr b="1" lang="pt-BR" sz="1850">
                <a:solidFill>
                  <a:schemeClr val="dk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850">
              <a:solidFill>
                <a:schemeClr val="dk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pt-BR" sz="18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font-variant</a:t>
            </a:r>
            <a:r>
              <a:rPr b="1" lang="pt-BR" sz="1850">
                <a:solidFill>
                  <a:schemeClr val="dk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pt-BR" sz="18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small-caps</a:t>
            </a:r>
            <a:r>
              <a:rPr b="1" lang="pt-BR" sz="1850">
                <a:solidFill>
                  <a:schemeClr val="dk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850">
              <a:solidFill>
                <a:schemeClr val="dk2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50">
                <a:solidFill>
                  <a:schemeClr val="dk2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2850">
              <a:solidFill>
                <a:srgbClr val="A52A2A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idx="4294967295" type="title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400">
                <a:solidFill>
                  <a:schemeClr val="accent1"/>
                </a:solidFill>
              </a:rPr>
              <a:t>CSS PSEUDO-ELEMENTS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99" name="Google Shape;99;p17"/>
          <p:cNvSpPr txBox="1"/>
          <p:nvPr>
            <p:ph idx="4294967295" type="title"/>
          </p:nvPr>
        </p:nvSpPr>
        <p:spPr>
          <a:xfrm>
            <a:off x="535775" y="1480150"/>
            <a:ext cx="8252100" cy="32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::first-line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::first-letter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::before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::after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Lista completa: https://www.w3schools.com/css/css_pseudo_classes.asp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idx="4294967295" type="title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400">
                <a:solidFill>
                  <a:schemeClr val="accent1"/>
                </a:solidFill>
              </a:rPr>
              <a:t>CSS PSEUDO-CLASSES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05" name="Google Shape;105;p18"/>
          <p:cNvSpPr txBox="1"/>
          <p:nvPr>
            <p:ph idx="4294967295" type="title"/>
          </p:nvPr>
        </p:nvSpPr>
        <p:spPr>
          <a:xfrm>
            <a:off x="535775" y="1480150"/>
            <a:ext cx="8252100" cy="32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:hover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:disabled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Etc</a:t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pt-BR" sz="1800">
                <a:latin typeface="Lato"/>
                <a:ea typeface="Lato"/>
                <a:cs typeface="Lato"/>
                <a:sym typeface="Lato"/>
              </a:rPr>
              <a:t>Lista completa: https://www.w3schools.com/css/css_pseudo_classes.asp</a:t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idx="4294967295" type="title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accent1"/>
                </a:solidFill>
              </a:rPr>
              <a:t>Utilização de variáveis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11" name="Google Shape;111;p19"/>
          <p:cNvSpPr txBox="1"/>
          <p:nvPr>
            <p:ph idx="4294967295" type="title"/>
          </p:nvPr>
        </p:nvSpPr>
        <p:spPr>
          <a:xfrm>
            <a:off x="2364575" y="1556350"/>
            <a:ext cx="5197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 sz="1650">
                <a:solidFill>
                  <a:srgbClr val="A52A2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:root </a:t>
            </a:r>
            <a:r>
              <a:rPr lang="pt-BR" sz="16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6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 sz="16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--blue</a:t>
            </a:r>
            <a:r>
              <a:rPr lang="pt-BR" sz="16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pt-BR" sz="16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#1e90ff</a:t>
            </a:r>
            <a:r>
              <a:rPr lang="pt-BR" sz="16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 sz="16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--white</a:t>
            </a:r>
            <a:r>
              <a:rPr lang="pt-BR" sz="16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pt-BR" sz="16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#ffffff</a:t>
            </a:r>
            <a:r>
              <a:rPr lang="pt-BR" sz="16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t-BR" sz="16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650">
                <a:solidFill>
                  <a:srgbClr val="A52A2A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body </a:t>
            </a:r>
            <a:r>
              <a:rPr lang="pt-BR" sz="16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pt-BR" sz="16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background-color</a:t>
            </a:r>
            <a:r>
              <a:rPr lang="pt-BR" sz="16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pt-BR" sz="1650">
                <a:solidFill>
                  <a:srgbClr val="0000CD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var(--blue)</a:t>
            </a:r>
            <a:r>
              <a:rPr lang="pt-BR" sz="16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r>
              <a:rPr lang="pt-BR" sz="1650">
                <a:solidFill>
                  <a:srgbClr val="FF0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6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283100" y="712150"/>
            <a:ext cx="71817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5"/>
                </a:solidFill>
              </a:rPr>
              <a:t>CODE!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idx="4294967295" type="title"/>
          </p:nvPr>
        </p:nvSpPr>
        <p:spPr>
          <a:xfrm>
            <a:off x="535775" y="712150"/>
            <a:ext cx="72561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400">
                <a:solidFill>
                  <a:schemeClr val="accent1"/>
                </a:solidFill>
              </a:rPr>
              <a:t>CSS POSITION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22" name="Google Shape;122;p21"/>
          <p:cNvSpPr txBox="1"/>
          <p:nvPr>
            <p:ph idx="4294967295" type="title"/>
          </p:nvPr>
        </p:nvSpPr>
        <p:spPr>
          <a:xfrm>
            <a:off x="535775" y="1175350"/>
            <a:ext cx="8252100" cy="21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>
                <a:latin typeface="Lato"/>
                <a:ea typeface="Lato"/>
                <a:cs typeface="Lato"/>
                <a:sym typeface="Lato"/>
              </a:rPr>
              <a:t>Tipo de Posicionamento e Local!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1475" y="1583648"/>
            <a:ext cx="5075351" cy="33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/>
        </p:nvSpPr>
        <p:spPr>
          <a:xfrm>
            <a:off x="170650" y="4802225"/>
            <a:ext cx="77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Imagem: https://www.csssolid.com/images/csspositions/css-position-all.png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idx="4294967295" type="title"/>
          </p:nvPr>
        </p:nvSpPr>
        <p:spPr>
          <a:xfrm>
            <a:off x="535775" y="712150"/>
            <a:ext cx="72561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400">
                <a:solidFill>
                  <a:schemeClr val="accent1"/>
                </a:solidFill>
              </a:rPr>
              <a:t>position: static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30" name="Google Shape;130;p22"/>
          <p:cNvSpPr txBox="1"/>
          <p:nvPr>
            <p:ph idx="4294967295" type="title"/>
          </p:nvPr>
        </p:nvSpPr>
        <p:spPr>
          <a:xfrm>
            <a:off x="535775" y="1175350"/>
            <a:ext cx="8252100" cy="3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>
                <a:latin typeface="Lato"/>
                <a:ea typeface="Lato"/>
                <a:cs typeface="Lato"/>
                <a:sym typeface="Lato"/>
              </a:rPr>
              <a:t>Default;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>
                <a:latin typeface="Lato"/>
                <a:ea typeface="Lato"/>
                <a:cs typeface="Lato"/>
                <a:sym typeface="Lato"/>
              </a:rPr>
              <a:t>Não é afetado por TOP; BOTTOM; LEFT; RIGHT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pt-BR" sz="11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“An element with </a:t>
            </a:r>
            <a:r>
              <a:rPr b="0" lang="pt-BR" sz="1200">
                <a:solidFill>
                  <a:srgbClr val="DC143C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position: static;</a:t>
            </a:r>
            <a:r>
              <a:rPr b="0" lang="pt-BR" sz="11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is not positioned in any special way; it is always positioned according to the normal flow of the page:”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170650" y="4802225"/>
            <a:ext cx="77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Fonte: https://www.w3schools.com/css/css_positioning.asp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idx="4294967295" type="title"/>
          </p:nvPr>
        </p:nvSpPr>
        <p:spPr>
          <a:xfrm>
            <a:off x="535775" y="712150"/>
            <a:ext cx="72561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400">
                <a:solidFill>
                  <a:schemeClr val="accent1"/>
                </a:solidFill>
              </a:rPr>
              <a:t>position: relative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37" name="Google Shape;137;p23"/>
          <p:cNvSpPr txBox="1"/>
          <p:nvPr>
            <p:ph idx="4294967295" type="title"/>
          </p:nvPr>
        </p:nvSpPr>
        <p:spPr>
          <a:xfrm>
            <a:off x="535775" y="1175350"/>
            <a:ext cx="8252100" cy="3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>
                <a:latin typeface="Lato"/>
                <a:ea typeface="Lato"/>
                <a:cs typeface="Lato"/>
                <a:sym typeface="Lato"/>
              </a:rPr>
              <a:t>Relativa aos elementos;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>
                <a:latin typeface="Lato"/>
                <a:ea typeface="Lato"/>
                <a:cs typeface="Lato"/>
                <a:sym typeface="Lato"/>
              </a:rPr>
              <a:t>Afetado por TOP; BOTTOM; LEFT; RIGHT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0" lang="pt-BR" sz="1150"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“Other content will not be adjusted to fit into any gap left by the element.”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170650" y="4802225"/>
            <a:ext cx="77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Fonte: https://www.w3schools.com/css/css_positioning.asp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/>
        </p:nvSpPr>
        <p:spPr>
          <a:xfrm>
            <a:off x="1167300" y="4007325"/>
            <a:ext cx="680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https://www.alura.com.br/artigos/entenda-a-propriedade-position-css</a:t>
            </a:r>
            <a:endParaRPr/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1411375"/>
            <a:ext cx="5715000" cy="21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idx="4294967295" type="title"/>
          </p:nvPr>
        </p:nvSpPr>
        <p:spPr>
          <a:xfrm>
            <a:off x="535775" y="712150"/>
            <a:ext cx="72561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400">
                <a:solidFill>
                  <a:schemeClr val="accent1"/>
                </a:solidFill>
              </a:rPr>
              <a:t>position: fixed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50" name="Google Shape;150;p25"/>
          <p:cNvSpPr txBox="1"/>
          <p:nvPr>
            <p:ph idx="4294967295" type="title"/>
          </p:nvPr>
        </p:nvSpPr>
        <p:spPr>
          <a:xfrm>
            <a:off x="535775" y="1175350"/>
            <a:ext cx="8252100" cy="3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>
                <a:latin typeface="Lato"/>
                <a:ea typeface="Lato"/>
                <a:cs typeface="Lato"/>
                <a:sym typeface="Lato"/>
              </a:rPr>
              <a:t>Relativa ao viewport;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>
                <a:latin typeface="Lato"/>
                <a:ea typeface="Lato"/>
                <a:cs typeface="Lato"/>
                <a:sym typeface="Lato"/>
              </a:rPr>
              <a:t>Afetado por TOP; BOTTOM; LEFT; RIGHT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170650" y="4802225"/>
            <a:ext cx="77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Fonte: https://www.w3schools.com/css/css_positioning.asp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idx="4294967295" type="title"/>
          </p:nvPr>
        </p:nvSpPr>
        <p:spPr>
          <a:xfrm>
            <a:off x="535775" y="712150"/>
            <a:ext cx="72561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400">
                <a:solidFill>
                  <a:schemeClr val="accent1"/>
                </a:solidFill>
              </a:rPr>
              <a:t>position: absolute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57" name="Google Shape;157;p26"/>
          <p:cNvSpPr txBox="1"/>
          <p:nvPr>
            <p:ph idx="4294967295" type="title"/>
          </p:nvPr>
        </p:nvSpPr>
        <p:spPr>
          <a:xfrm>
            <a:off x="535775" y="1175350"/>
            <a:ext cx="8252100" cy="3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>
                <a:latin typeface="Lato"/>
                <a:ea typeface="Lato"/>
                <a:cs typeface="Lato"/>
                <a:sym typeface="Lato"/>
              </a:rPr>
              <a:t>Relativa ao elemento pai;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>
                <a:latin typeface="Lato"/>
                <a:ea typeface="Lato"/>
                <a:cs typeface="Lato"/>
                <a:sym typeface="Lato"/>
              </a:rPr>
              <a:t>Afetado por TOP; BOTTOM; LEFT; RIGHT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800">
                <a:latin typeface="Lato"/>
                <a:ea typeface="Lato"/>
                <a:cs typeface="Lato"/>
                <a:sym typeface="Lato"/>
              </a:rPr>
              <a:t>“Um elemento com a posição: absolute; é posicionado em relação ao ancestral mais próximo que tenha uma posição definida (em vez de ser posicionado em relação à janela de visualização, como o fixed).”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170650" y="4802225"/>
            <a:ext cx="77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Fonte: https://www.w3schools.com/css/css_positioning.asp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idx="4294967295" type="title"/>
          </p:nvPr>
        </p:nvSpPr>
        <p:spPr>
          <a:xfrm>
            <a:off x="535775" y="712150"/>
            <a:ext cx="72561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400">
                <a:solidFill>
                  <a:schemeClr val="accent1"/>
                </a:solidFill>
              </a:rPr>
              <a:t>position: sticky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64" name="Google Shape;164;p27"/>
          <p:cNvSpPr txBox="1"/>
          <p:nvPr>
            <p:ph idx="4294967295" type="title"/>
          </p:nvPr>
        </p:nvSpPr>
        <p:spPr>
          <a:xfrm>
            <a:off x="535775" y="1175350"/>
            <a:ext cx="8252100" cy="35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>
                <a:latin typeface="Lato"/>
                <a:ea typeface="Lato"/>
                <a:cs typeface="Lato"/>
                <a:sym typeface="Lato"/>
              </a:rPr>
              <a:t>Relativa ao scroll do usuário;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eriod"/>
            </a:pPr>
            <a:r>
              <a:rPr lang="pt-BR" sz="1800">
                <a:latin typeface="Lato"/>
                <a:ea typeface="Lato"/>
                <a:cs typeface="Lato"/>
                <a:sym typeface="Lato"/>
              </a:rPr>
              <a:t>“Cola” na tela ao alcançar determinado local.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27"/>
          <p:cNvSpPr txBox="1"/>
          <p:nvPr/>
        </p:nvSpPr>
        <p:spPr>
          <a:xfrm>
            <a:off x="170650" y="4802225"/>
            <a:ext cx="77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Fonte: https://www.w3schools.com/css/css_positioning.asp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283100" y="712150"/>
            <a:ext cx="71817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5"/>
                </a:solidFill>
              </a:rPr>
              <a:t>CODE!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idx="4294967295" type="title"/>
          </p:nvPr>
        </p:nvSpPr>
        <p:spPr>
          <a:xfrm>
            <a:off x="535775" y="712150"/>
            <a:ext cx="8032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3600">
                <a:solidFill>
                  <a:schemeClr val="accent1"/>
                </a:solidFill>
              </a:rPr>
              <a:t>Próxima Aula</a:t>
            </a:r>
            <a:endParaRPr sz="2400">
              <a:solidFill>
                <a:schemeClr val="accent1"/>
              </a:solidFill>
            </a:endParaRPr>
          </a:p>
        </p:txBody>
      </p:sp>
      <p:sp>
        <p:nvSpPr>
          <p:cNvPr id="176" name="Google Shape;176;p29"/>
          <p:cNvSpPr txBox="1"/>
          <p:nvPr>
            <p:ph idx="4294967295" type="title"/>
          </p:nvPr>
        </p:nvSpPr>
        <p:spPr>
          <a:xfrm>
            <a:off x="597225" y="1556350"/>
            <a:ext cx="8032200" cy="30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1B1B1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2300">
                <a:solidFill>
                  <a:srgbClr val="1B1B1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CSS FLEXBOX</a:t>
            </a:r>
            <a:endParaRPr sz="2300">
              <a:solidFill>
                <a:srgbClr val="1B1B1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4A943A8DC3354A8151C28915423A53" ma:contentTypeVersion="0" ma:contentTypeDescription="Create a new document." ma:contentTypeScope="" ma:versionID="7b528da18907ea92f3253388612a6f9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8b6f26e0866668d9836acec43b37ef0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0F1121C-2C80-40F1-8FBF-94CB936CDADC}"/>
</file>

<file path=customXml/itemProps2.xml><?xml version="1.0" encoding="utf-8"?>
<ds:datastoreItem xmlns:ds="http://schemas.openxmlformats.org/officeDocument/2006/customXml" ds:itemID="{F75C5648-FD8B-4CBC-BF73-11C453768DBC}"/>
</file>

<file path=customXml/itemProps3.xml><?xml version="1.0" encoding="utf-8"?>
<ds:datastoreItem xmlns:ds="http://schemas.openxmlformats.org/officeDocument/2006/customXml" ds:itemID="{40014A0F-2A12-43C4-A3ED-825404795A97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0x010100634A943A8DC3354A8151C28915423A53</vt:lpwstr>
  </property>
</Properties>
</file>