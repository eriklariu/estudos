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4"/>
  </p:sldMasterIdLst>
  <p:notesMasterIdLst>
    <p:notesMasterId r:id="rId22"/>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Lst>
  <p:sldSz cx="9144000" cy="5143500" type="screen16x9"/>
  <p:notesSz cx="6858000" cy="9144000"/>
  <p:embeddedFontLst>
    <p:embeddedFont>
      <p:font typeface="Lato" panose="020F0502020204030203" pitchFamily="34" charset="0"/>
      <p:regular r:id="rId23"/>
      <p:bold r:id="rId24"/>
      <p:italic r:id="rId25"/>
      <p:boldItalic r:id="rId26"/>
    </p:embeddedFont>
    <p:embeddedFont>
      <p:font typeface="Raleway" pitchFamily="2" charset="0"/>
      <p:regular r:id="rId27"/>
      <p:bold r:id="rId28"/>
      <p:italic r:id="rId29"/>
      <p:boldItalic r:id="rId30"/>
    </p:embeddedFont>
    <p:embeddedFont>
      <p:font typeface="Roboto" panose="02000000000000000000" pitchFamily="2" charset="0"/>
      <p:regular r:id="rId31"/>
      <p:bold r:id="rId32"/>
      <p:italic r:id="rId33"/>
      <p:boldItalic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EE5A556-F39C-8DC2-2551-DA1BA87192F2}" v="2" dt="2026-02-26T00:57:03.33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00" d="100"/>
          <a:sy n="100" d="100"/>
        </p:scale>
        <p:origin x="0" y="0"/>
      </p:cViewPr>
      <p:guideLst>
        <p:guide orient="horz" pos="1620"/>
        <p:guide pos="288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4.fntdata"/><Relationship Id="rId39" Type="http://schemas.microsoft.com/office/2016/11/relationships/changesInfo" Target="changesInfos/changesInfo1.xml"/><Relationship Id="rId21" Type="http://schemas.openxmlformats.org/officeDocument/2006/relationships/slide" Target="slides/slide17.xml"/><Relationship Id="rId34" Type="http://schemas.openxmlformats.org/officeDocument/2006/relationships/font" Target="fonts/font12.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3.fntdata"/><Relationship Id="rId33" Type="http://schemas.openxmlformats.org/officeDocument/2006/relationships/font" Target="fonts/font11.fntdata"/><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font" Target="fonts/font7.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2.fntdata"/><Relationship Id="rId32" Type="http://schemas.openxmlformats.org/officeDocument/2006/relationships/font" Target="fonts/font10.fntdata"/><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9.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AO GUILHERME SIQUEIRA DA SILVA CAVALCANTE" userId="S::2025102400@academico.cesmac.edu.br::8ee68af4-3162-4e73-ad20-37efa4fa8fc0" providerId="AD" clId="Web-{9EE5A556-F39C-8DC2-2551-DA1BA87192F2}"/>
    <pc:docChg chg="modSld">
      <pc:chgData name="JOAO GUILHERME SIQUEIRA DA SILVA CAVALCANTE" userId="S::2025102400@academico.cesmac.edu.br::8ee68af4-3162-4e73-ad20-37efa4fa8fc0" providerId="AD" clId="Web-{9EE5A556-F39C-8DC2-2551-DA1BA87192F2}" dt="2026-02-26T00:57:03.335" v="1" actId="20577"/>
      <pc:docMkLst>
        <pc:docMk/>
      </pc:docMkLst>
      <pc:sldChg chg="modSp">
        <pc:chgData name="JOAO GUILHERME SIQUEIRA DA SILVA CAVALCANTE" userId="S::2025102400@academico.cesmac.edu.br::8ee68af4-3162-4e73-ad20-37efa4fa8fc0" providerId="AD" clId="Web-{9EE5A556-F39C-8DC2-2551-DA1BA87192F2}" dt="2026-02-26T00:57:03.335" v="1" actId="20577"/>
        <pc:sldMkLst>
          <pc:docMk/>
          <pc:sldMk cId="0" sldId="262"/>
        </pc:sldMkLst>
        <pc:spChg chg="mod">
          <ac:chgData name="JOAO GUILHERME SIQUEIRA DA SILVA CAVALCANTE" userId="S::2025102400@academico.cesmac.edu.br::8ee68af4-3162-4e73-ad20-37efa4fa8fc0" providerId="AD" clId="Web-{9EE5A556-F39C-8DC2-2551-DA1BA87192F2}" dt="2026-02-26T00:57:03.335" v="1" actId="20577"/>
          <ac:spMkLst>
            <pc:docMk/>
            <pc:sldMk cId="0" sldId="262"/>
            <ac:spMk id="97"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g212831b5c9b_0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212831b5c9b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212831b5c9b_0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212831b5c9b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212831b5c9b_0_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212831b5c9b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212831b5c9b_0_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212831b5c9b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212831b5c9b_0_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212831b5c9b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212831b5c9b_0_5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212831b5c9b_0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212831b5c9b_0_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212831b5c9b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212831b5c9b_0_3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 name="Google Shape;109;g212831b5c9b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2160ef88dfc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 name="Google Shape;116;g2160ef88df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g2160ef88dfc_0_7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 name="Google Shape;122;g2160ef88dfc_0_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g2160ef88dfc_0_14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 name="Google Shape;128;g2160ef88dfc_0_1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25d56fcc788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 name="Google Shape;135;g25d56fcc78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g25d56fcc788_0_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 name="Google Shape;142;g25d56fcc788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25d56fcc788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25d56fcc788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212831b5c9b_0_125: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212831b5c9b_0_1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21274e58caf_0_3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0" name="Google Shape;160;g21274e58caf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Ponto principal 1">
  <p:cSld name="MAIN_POINT_1">
    <p:bg>
      <p:bgPr>
        <a:solidFill>
          <a:srgbClr val="0C343D"/>
        </a:solidFill>
        <a:effectLst/>
      </p:bgPr>
    </p:bg>
    <p:spTree>
      <p:nvGrpSpPr>
        <p:cNvPr id="1" name="Shape 50"/>
        <p:cNvGrpSpPr/>
        <p:nvPr/>
      </p:nvGrpSpPr>
      <p:grpSpPr>
        <a:xfrm>
          <a:off x="0" y="0"/>
          <a:ext cx="0" cy="0"/>
          <a:chOff x="0" y="0"/>
          <a:chExt cx="0" cy="0"/>
        </a:xfrm>
      </p:grpSpPr>
      <p:cxnSp>
        <p:nvCxnSpPr>
          <p:cNvPr id="51" name="Google Shape;51;p13"/>
          <p:cNvCxnSpPr/>
          <p:nvPr/>
        </p:nvCxnSpPr>
        <p:spPr>
          <a:xfrm>
            <a:off x="425198" y="415650"/>
            <a:ext cx="183300" cy="0"/>
          </a:xfrm>
          <a:prstGeom prst="straightConnector1">
            <a:avLst/>
          </a:prstGeom>
          <a:noFill/>
          <a:ln w="19050" cap="flat" cmpd="sng">
            <a:solidFill>
              <a:schemeClr val="lt1"/>
            </a:solidFill>
            <a:prstDash val="solid"/>
            <a:round/>
            <a:headEnd type="none" w="sm" len="sm"/>
            <a:tailEnd type="none" w="sm" len="sm"/>
          </a:ln>
        </p:spPr>
      </p:cxnSp>
      <p:sp>
        <p:nvSpPr>
          <p:cNvPr id="52" name="Google Shape;52;p13"/>
          <p:cNvSpPr txBox="1">
            <a:spLocks noGrp="1"/>
          </p:cNvSpPr>
          <p:nvPr>
            <p:ph type="title"/>
          </p:nvPr>
        </p:nvSpPr>
        <p:spPr>
          <a:xfrm>
            <a:off x="283103" y="712141"/>
            <a:ext cx="6244200" cy="3835500"/>
          </a:xfrm>
          <a:prstGeom prst="rect">
            <a:avLst/>
          </a:prstGeom>
        </p:spPr>
        <p:txBody>
          <a:bodyPr spcFirstLastPara="1" wrap="square" lIns="91425" tIns="91425" rIns="91425" bIns="91425" anchor="ctr" anchorCtr="0">
            <a:normAutofit/>
          </a:bodyPr>
          <a:lstStyle>
            <a:lvl1pPr lvl="0" rtl="0">
              <a:spcBef>
                <a:spcPts val="0"/>
              </a:spcBef>
              <a:spcAft>
                <a:spcPts val="0"/>
              </a:spcAft>
              <a:buClr>
                <a:schemeClr val="lt1"/>
              </a:buClr>
              <a:buSzPts val="4800"/>
              <a:buNone/>
              <a:defRPr sz="4800">
                <a:solidFill>
                  <a:schemeClr val="lt1"/>
                </a:solidFill>
              </a:defRPr>
            </a:lvl1pPr>
            <a:lvl2pPr lvl="1" rtl="0">
              <a:spcBef>
                <a:spcPts val="0"/>
              </a:spcBef>
              <a:spcAft>
                <a:spcPts val="0"/>
              </a:spcAft>
              <a:buClr>
                <a:schemeClr val="lt1"/>
              </a:buClr>
              <a:buSzPts val="4800"/>
              <a:buNone/>
              <a:defRPr sz="4800">
                <a:solidFill>
                  <a:schemeClr val="lt1"/>
                </a:solidFill>
              </a:defRPr>
            </a:lvl2pPr>
            <a:lvl3pPr lvl="2" rtl="0">
              <a:spcBef>
                <a:spcPts val="0"/>
              </a:spcBef>
              <a:spcAft>
                <a:spcPts val="0"/>
              </a:spcAft>
              <a:buClr>
                <a:schemeClr val="lt1"/>
              </a:buClr>
              <a:buSzPts val="4800"/>
              <a:buNone/>
              <a:defRPr sz="4800">
                <a:solidFill>
                  <a:schemeClr val="lt1"/>
                </a:solidFill>
              </a:defRPr>
            </a:lvl3pPr>
            <a:lvl4pPr lvl="3" rtl="0">
              <a:spcBef>
                <a:spcPts val="0"/>
              </a:spcBef>
              <a:spcAft>
                <a:spcPts val="0"/>
              </a:spcAft>
              <a:buClr>
                <a:schemeClr val="lt1"/>
              </a:buClr>
              <a:buSzPts val="4800"/>
              <a:buNone/>
              <a:defRPr sz="4800">
                <a:solidFill>
                  <a:schemeClr val="lt1"/>
                </a:solidFill>
              </a:defRPr>
            </a:lvl4pPr>
            <a:lvl5pPr lvl="4" rtl="0">
              <a:spcBef>
                <a:spcPts val="0"/>
              </a:spcBef>
              <a:spcAft>
                <a:spcPts val="0"/>
              </a:spcAft>
              <a:buClr>
                <a:schemeClr val="lt1"/>
              </a:buClr>
              <a:buSzPts val="4800"/>
              <a:buNone/>
              <a:defRPr sz="4800">
                <a:solidFill>
                  <a:schemeClr val="lt1"/>
                </a:solidFill>
              </a:defRPr>
            </a:lvl5pPr>
            <a:lvl6pPr lvl="5" rtl="0">
              <a:spcBef>
                <a:spcPts val="0"/>
              </a:spcBef>
              <a:spcAft>
                <a:spcPts val="0"/>
              </a:spcAft>
              <a:buClr>
                <a:schemeClr val="lt1"/>
              </a:buClr>
              <a:buSzPts val="4800"/>
              <a:buNone/>
              <a:defRPr sz="4800">
                <a:solidFill>
                  <a:schemeClr val="lt1"/>
                </a:solidFill>
              </a:defRPr>
            </a:lvl6pPr>
            <a:lvl7pPr lvl="6" rtl="0">
              <a:spcBef>
                <a:spcPts val="0"/>
              </a:spcBef>
              <a:spcAft>
                <a:spcPts val="0"/>
              </a:spcAft>
              <a:buClr>
                <a:schemeClr val="lt1"/>
              </a:buClr>
              <a:buSzPts val="4800"/>
              <a:buNone/>
              <a:defRPr sz="4800">
                <a:solidFill>
                  <a:schemeClr val="lt1"/>
                </a:solidFill>
              </a:defRPr>
            </a:lvl7pPr>
            <a:lvl8pPr lvl="7" rtl="0">
              <a:spcBef>
                <a:spcPts val="0"/>
              </a:spcBef>
              <a:spcAft>
                <a:spcPts val="0"/>
              </a:spcAft>
              <a:buClr>
                <a:schemeClr val="lt1"/>
              </a:buClr>
              <a:buSzPts val="4800"/>
              <a:buNone/>
              <a:defRPr sz="4800">
                <a:solidFill>
                  <a:schemeClr val="lt1"/>
                </a:solidFill>
              </a:defRPr>
            </a:lvl8pPr>
            <a:lvl9pPr lvl="8" rtl="0">
              <a:spcBef>
                <a:spcPts val="0"/>
              </a:spcBef>
              <a:spcAft>
                <a:spcPts val="0"/>
              </a:spcAft>
              <a:buClr>
                <a:schemeClr val="lt1"/>
              </a:buClr>
              <a:buSzPts val="4800"/>
              <a:buNone/>
              <a:defRPr sz="4800">
                <a:solidFill>
                  <a:schemeClr val="lt1"/>
                </a:solidFill>
              </a:defRPr>
            </a:lvl9pPr>
          </a:lstStyle>
          <a:p>
            <a:endParaRPr/>
          </a:p>
        </p:txBody>
      </p:sp>
      <p:sp>
        <p:nvSpPr>
          <p:cNvPr id="53" name="Google Shape;53;p13"/>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rm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r" rtl="0">
              <a:spcBef>
                <a:spcPts val="0"/>
              </a:spcBef>
              <a:spcAft>
                <a:spcPts val="0"/>
              </a:spcAft>
              <a:buNone/>
            </a:pPr>
            <a:fld id="{00000000-1234-1234-1234-123412341234}" type="slidenum">
              <a:rPr lang="pt-BR"/>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pt-BR"/>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hyperlink" Target="https://developer.mozilla.org/pt-BR/docs/Web/HTML/Element/input" TargetMode="External"/><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hyperlink" Target="https://developer.mozilla.org/pt-BR/docs/Web/HTML/Element/input" TargetMode="External"/><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p14"/>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pt-BR"/>
              <a:t>Formulários HTML</a:t>
            </a:r>
            <a:endParaRPr/>
          </a:p>
        </p:txBody>
      </p:sp>
      <p:sp>
        <p:nvSpPr>
          <p:cNvPr id="59" name="Google Shape;59;p14"/>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pt-BR"/>
              <a:t>2026.1</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15"/>
          <p:cNvSpPr txBox="1"/>
          <p:nvPr/>
        </p:nvSpPr>
        <p:spPr>
          <a:xfrm>
            <a:off x="497375" y="1319950"/>
            <a:ext cx="77094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pt-BR" sz="1200">
                <a:solidFill>
                  <a:srgbClr val="1B1B1B"/>
                </a:solidFill>
                <a:highlight>
                  <a:srgbClr val="FFFFFF"/>
                </a:highlight>
                <a:latin typeface="Roboto"/>
                <a:ea typeface="Roboto"/>
                <a:cs typeface="Roboto"/>
                <a:sym typeface="Roboto"/>
              </a:rPr>
              <a:t>“Formulários HTML são </a:t>
            </a:r>
            <a:r>
              <a:rPr lang="pt-BR" sz="1200" b="1">
                <a:solidFill>
                  <a:srgbClr val="1B1B1B"/>
                </a:solidFill>
                <a:highlight>
                  <a:srgbClr val="FFFFFF"/>
                </a:highlight>
                <a:latin typeface="Roboto"/>
                <a:ea typeface="Roboto"/>
                <a:cs typeface="Roboto"/>
                <a:sym typeface="Roboto"/>
              </a:rPr>
              <a:t>um dos principais pontos de interação entre um usuário e um web site ou aplicativo</a:t>
            </a:r>
            <a:r>
              <a:rPr lang="pt-BR" sz="1200">
                <a:solidFill>
                  <a:srgbClr val="1B1B1B"/>
                </a:solidFill>
                <a:highlight>
                  <a:srgbClr val="FFFFFF"/>
                </a:highlight>
                <a:latin typeface="Roboto"/>
                <a:ea typeface="Roboto"/>
                <a:cs typeface="Roboto"/>
                <a:sym typeface="Roboto"/>
              </a:rPr>
              <a:t>. Eles </a:t>
            </a:r>
            <a:r>
              <a:rPr lang="pt-BR" sz="1200" b="1">
                <a:solidFill>
                  <a:srgbClr val="1B1B1B"/>
                </a:solidFill>
                <a:highlight>
                  <a:srgbClr val="FFFFFF"/>
                </a:highlight>
                <a:latin typeface="Roboto"/>
                <a:ea typeface="Roboto"/>
                <a:cs typeface="Roboto"/>
                <a:sym typeface="Roboto"/>
              </a:rPr>
              <a:t>permitem que os usuários enviem dados para o web site</a:t>
            </a:r>
            <a:r>
              <a:rPr lang="pt-BR" sz="1200">
                <a:solidFill>
                  <a:srgbClr val="1B1B1B"/>
                </a:solidFill>
                <a:highlight>
                  <a:srgbClr val="FFFFFF"/>
                </a:highlight>
                <a:latin typeface="Roboto"/>
                <a:ea typeface="Roboto"/>
                <a:cs typeface="Roboto"/>
                <a:sym typeface="Roboto"/>
              </a:rPr>
              <a:t>.” (Mozilla, 2023)</a:t>
            </a:r>
            <a:endParaRPr/>
          </a:p>
        </p:txBody>
      </p:sp>
      <p:sp>
        <p:nvSpPr>
          <p:cNvPr id="65" name="Google Shape;65;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pt-BR"/>
              <a:t>O que são formulários?</a:t>
            </a:r>
            <a:endParaRPr/>
          </a:p>
        </p:txBody>
      </p:sp>
      <p:pic>
        <p:nvPicPr>
          <p:cNvPr id="66" name="Google Shape;66;p15"/>
          <p:cNvPicPr preferRelativeResize="0"/>
          <p:nvPr/>
        </p:nvPicPr>
        <p:blipFill>
          <a:blip r:embed="rId3">
            <a:alphaModFix/>
          </a:blip>
          <a:stretch>
            <a:fillRect/>
          </a:stretch>
        </p:blipFill>
        <p:spPr>
          <a:xfrm>
            <a:off x="3227750" y="2026450"/>
            <a:ext cx="2248659" cy="2964650"/>
          </a:xfrm>
          <a:prstGeom prst="rect">
            <a:avLst/>
          </a:prstGeom>
          <a:noFill/>
          <a:ln>
            <a:noFill/>
          </a:ln>
        </p:spPr>
      </p:pic>
      <p:sp>
        <p:nvSpPr>
          <p:cNvPr id="67" name="Google Shape;67;p15"/>
          <p:cNvSpPr txBox="1"/>
          <p:nvPr/>
        </p:nvSpPr>
        <p:spPr>
          <a:xfrm>
            <a:off x="1460675" y="4774200"/>
            <a:ext cx="5782800" cy="369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pt-BR" sz="1200"/>
              <a:t>https://www.homehost.com.br/blog/tutoriais/formulario-html/</a:t>
            </a:r>
            <a:endParaRPr sz="12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6"/>
          <p:cNvSpPr txBox="1"/>
          <p:nvPr/>
        </p:nvSpPr>
        <p:spPr>
          <a:xfrm>
            <a:off x="497375" y="1319950"/>
            <a:ext cx="7709400" cy="12315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pt-BR" sz="1700">
                <a:solidFill>
                  <a:srgbClr val="1B1B1B"/>
                </a:solidFill>
                <a:highlight>
                  <a:srgbClr val="FFFFFF"/>
                </a:highlight>
                <a:latin typeface="Roboto"/>
                <a:ea typeface="Roboto"/>
                <a:cs typeface="Roboto"/>
                <a:sym typeface="Roboto"/>
              </a:rPr>
              <a:t>“De um ponto de vista da experiência do usuário (UX), é importante lembrar que </a:t>
            </a:r>
            <a:r>
              <a:rPr lang="pt-BR" sz="1700" b="1">
                <a:solidFill>
                  <a:srgbClr val="1B1B1B"/>
                </a:solidFill>
                <a:highlight>
                  <a:srgbClr val="FFFFFF"/>
                </a:highlight>
                <a:latin typeface="Roboto"/>
                <a:ea typeface="Roboto"/>
                <a:cs typeface="Roboto"/>
                <a:sym typeface="Roboto"/>
              </a:rPr>
              <a:t>quanto maior o seu formulário, maior o risco de perder os usuários</a:t>
            </a:r>
            <a:r>
              <a:rPr lang="pt-BR" sz="1700">
                <a:solidFill>
                  <a:srgbClr val="1B1B1B"/>
                </a:solidFill>
                <a:highlight>
                  <a:srgbClr val="FFFFFF"/>
                </a:highlight>
                <a:latin typeface="Roboto"/>
                <a:ea typeface="Roboto"/>
                <a:cs typeface="Roboto"/>
                <a:sym typeface="Roboto"/>
              </a:rPr>
              <a:t>. Mantenha o formuário simples e mantenha o foco: peça apenas o que é absolutamente necessário.” (Mozilla, 2023)</a:t>
            </a:r>
            <a:endParaRPr sz="1900"/>
          </a:p>
        </p:txBody>
      </p:sp>
      <p:sp>
        <p:nvSpPr>
          <p:cNvPr id="73" name="Google Shape;73;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pt-BR"/>
              <a:t>UX</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7"/>
          <p:cNvSpPr txBox="1"/>
          <p:nvPr/>
        </p:nvSpPr>
        <p:spPr>
          <a:xfrm>
            <a:off x="497375" y="1319950"/>
            <a:ext cx="7709400" cy="1231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pt-BR" sz="1700">
                <a:solidFill>
                  <a:srgbClr val="1B1B1B"/>
                </a:solidFill>
                <a:highlight>
                  <a:srgbClr val="FFFFFF"/>
                </a:highlight>
                <a:latin typeface="Roboto"/>
                <a:ea typeface="Roboto"/>
                <a:cs typeface="Roboto"/>
                <a:sym typeface="Roboto"/>
              </a:rPr>
              <a:t>&lt;form action="/pagina-processa-dados-do-form" method="post"&gt;</a:t>
            </a:r>
            <a:endParaRPr sz="1700">
              <a:solidFill>
                <a:srgbClr val="1B1B1B"/>
              </a:solidFill>
              <a:highlight>
                <a:srgbClr val="FFFFFF"/>
              </a:highlight>
              <a:latin typeface="Roboto"/>
              <a:ea typeface="Roboto"/>
              <a:cs typeface="Roboto"/>
              <a:sym typeface="Roboto"/>
            </a:endParaRPr>
          </a:p>
          <a:p>
            <a:pPr marL="0" lvl="0" indent="0" algn="l" rtl="0">
              <a:spcBef>
                <a:spcPts val="0"/>
              </a:spcBef>
              <a:spcAft>
                <a:spcPts val="0"/>
              </a:spcAft>
              <a:buClr>
                <a:schemeClr val="dk1"/>
              </a:buClr>
              <a:buSzPts val="1100"/>
              <a:buFont typeface="Arial"/>
              <a:buNone/>
            </a:pPr>
            <a:endParaRPr sz="1700">
              <a:solidFill>
                <a:srgbClr val="1B1B1B"/>
              </a:solidFill>
              <a:highlight>
                <a:srgbClr val="FFFFFF"/>
              </a:highlight>
              <a:latin typeface="Roboto"/>
              <a:ea typeface="Roboto"/>
              <a:cs typeface="Roboto"/>
              <a:sym typeface="Roboto"/>
            </a:endParaRPr>
          </a:p>
          <a:p>
            <a:pPr marL="0" lvl="0" indent="0" algn="l" rtl="0">
              <a:spcBef>
                <a:spcPts val="0"/>
              </a:spcBef>
              <a:spcAft>
                <a:spcPts val="0"/>
              </a:spcAft>
              <a:buClr>
                <a:schemeClr val="dk1"/>
              </a:buClr>
              <a:buSzPts val="1100"/>
              <a:buFont typeface="Arial"/>
              <a:buNone/>
            </a:pPr>
            <a:r>
              <a:rPr lang="pt-BR" sz="1700">
                <a:solidFill>
                  <a:srgbClr val="1B1B1B"/>
                </a:solidFill>
                <a:highlight>
                  <a:srgbClr val="FFFFFF"/>
                </a:highlight>
                <a:latin typeface="Roboto"/>
                <a:ea typeface="Roboto"/>
                <a:cs typeface="Roboto"/>
                <a:sym typeface="Roboto"/>
              </a:rPr>
              <a:t>&lt;/form&gt;</a:t>
            </a:r>
            <a:endParaRPr sz="1700">
              <a:solidFill>
                <a:srgbClr val="1B1B1B"/>
              </a:solidFill>
              <a:highlight>
                <a:srgbClr val="FFFFFF"/>
              </a:highlight>
              <a:latin typeface="Roboto"/>
              <a:ea typeface="Roboto"/>
              <a:cs typeface="Roboto"/>
              <a:sym typeface="Roboto"/>
            </a:endParaRPr>
          </a:p>
          <a:p>
            <a:pPr marL="0" lvl="0" indent="0" algn="l" rtl="0">
              <a:spcBef>
                <a:spcPts val="0"/>
              </a:spcBef>
              <a:spcAft>
                <a:spcPts val="0"/>
              </a:spcAft>
              <a:buNone/>
            </a:pPr>
            <a:endParaRPr sz="1700">
              <a:solidFill>
                <a:srgbClr val="1B1B1B"/>
              </a:solidFill>
              <a:highlight>
                <a:srgbClr val="FFFFFF"/>
              </a:highlight>
              <a:latin typeface="Roboto"/>
              <a:ea typeface="Roboto"/>
              <a:cs typeface="Roboto"/>
              <a:sym typeface="Roboto"/>
            </a:endParaRPr>
          </a:p>
        </p:txBody>
      </p:sp>
      <p:sp>
        <p:nvSpPr>
          <p:cNvPr id="79" name="Google Shape;79;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pt-BR"/>
              <a:t>Formulário</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8"/>
          <p:cNvSpPr txBox="1"/>
          <p:nvPr/>
        </p:nvSpPr>
        <p:spPr>
          <a:xfrm>
            <a:off x="497375" y="1319950"/>
            <a:ext cx="7709400" cy="1914900"/>
          </a:xfrm>
          <a:prstGeom prst="rect">
            <a:avLst/>
          </a:prstGeom>
          <a:noFill/>
          <a:ln>
            <a:noFill/>
          </a:ln>
        </p:spPr>
        <p:txBody>
          <a:bodyPr spcFirstLastPara="1" wrap="square" lIns="91425" tIns="91425" rIns="91425" bIns="91425" anchor="t" anchorCtr="0">
            <a:spAutoFit/>
          </a:bodyPr>
          <a:lstStyle/>
          <a:p>
            <a:pPr marL="457200" lvl="0" indent="-304800" algn="l" rtl="0">
              <a:lnSpc>
                <a:spcPct val="115000"/>
              </a:lnSpc>
              <a:spcBef>
                <a:spcPts val="1200"/>
              </a:spcBef>
              <a:spcAft>
                <a:spcPts val="0"/>
              </a:spcAft>
              <a:buClr>
                <a:srgbClr val="1B1B1B"/>
              </a:buClr>
              <a:buSzPts val="1200"/>
              <a:buFont typeface="Roboto"/>
              <a:buChar char="●"/>
            </a:pPr>
            <a:r>
              <a:rPr lang="pt-BR" sz="1200">
                <a:solidFill>
                  <a:srgbClr val="1B1B1B"/>
                </a:solidFill>
                <a:highlight>
                  <a:srgbClr val="FFFFFF"/>
                </a:highlight>
                <a:latin typeface="Roboto"/>
                <a:ea typeface="Roboto"/>
                <a:cs typeface="Roboto"/>
                <a:sym typeface="Roboto"/>
              </a:rPr>
              <a:t>O atributo </a:t>
            </a:r>
            <a:r>
              <a:rPr lang="pt-BR" sz="1200" b="1" i="1">
                <a:solidFill>
                  <a:srgbClr val="1B1B1B"/>
                </a:solidFill>
                <a:highlight>
                  <a:srgbClr val="FFFFFF"/>
                </a:highlight>
                <a:latin typeface="Roboto"/>
                <a:ea typeface="Roboto"/>
                <a:cs typeface="Roboto"/>
                <a:sym typeface="Roboto"/>
              </a:rPr>
              <a:t>action</a:t>
            </a:r>
            <a:r>
              <a:rPr lang="pt-BR" sz="1200">
                <a:solidFill>
                  <a:srgbClr val="1B1B1B"/>
                </a:solidFill>
                <a:highlight>
                  <a:srgbClr val="FFFFFF"/>
                </a:highlight>
                <a:latin typeface="Roboto"/>
                <a:ea typeface="Roboto"/>
                <a:cs typeface="Roboto"/>
                <a:sym typeface="Roboto"/>
              </a:rPr>
              <a:t> define o </a:t>
            </a:r>
            <a:r>
              <a:rPr lang="pt-BR" sz="1200" b="1">
                <a:solidFill>
                  <a:srgbClr val="1B1B1B"/>
                </a:solidFill>
                <a:highlight>
                  <a:srgbClr val="FFFFFF"/>
                </a:highlight>
                <a:latin typeface="Roboto"/>
                <a:ea typeface="Roboto"/>
                <a:cs typeface="Roboto"/>
                <a:sym typeface="Roboto"/>
              </a:rPr>
              <a:t>local (uma URL) em que os dados recolhidos do formulário devem ser enviados.</a:t>
            </a:r>
            <a:endParaRPr sz="1200" b="1">
              <a:solidFill>
                <a:srgbClr val="1B1B1B"/>
              </a:solidFill>
              <a:highlight>
                <a:srgbClr val="FFFFFF"/>
              </a:highlight>
              <a:latin typeface="Roboto"/>
              <a:ea typeface="Roboto"/>
              <a:cs typeface="Roboto"/>
              <a:sym typeface="Roboto"/>
            </a:endParaRPr>
          </a:p>
          <a:p>
            <a:pPr marL="457200" lvl="0" indent="-304800" algn="l" rtl="0">
              <a:lnSpc>
                <a:spcPct val="115000"/>
              </a:lnSpc>
              <a:spcBef>
                <a:spcPts val="0"/>
              </a:spcBef>
              <a:spcAft>
                <a:spcPts val="0"/>
              </a:spcAft>
              <a:buClr>
                <a:srgbClr val="1B1B1B"/>
              </a:buClr>
              <a:buSzPts val="1200"/>
              <a:buFont typeface="Roboto"/>
              <a:buChar char="●"/>
            </a:pPr>
            <a:r>
              <a:rPr lang="pt-BR" sz="1200">
                <a:solidFill>
                  <a:srgbClr val="1B1B1B"/>
                </a:solidFill>
                <a:highlight>
                  <a:srgbClr val="FFFFFF"/>
                </a:highlight>
                <a:latin typeface="Roboto"/>
                <a:ea typeface="Roboto"/>
                <a:cs typeface="Roboto"/>
                <a:sym typeface="Roboto"/>
              </a:rPr>
              <a:t>O atributo </a:t>
            </a:r>
            <a:r>
              <a:rPr lang="pt-BR" sz="1200" b="1" i="1">
                <a:solidFill>
                  <a:srgbClr val="1B1B1B"/>
                </a:solidFill>
                <a:highlight>
                  <a:srgbClr val="FFFFFF"/>
                </a:highlight>
                <a:latin typeface="Roboto"/>
                <a:ea typeface="Roboto"/>
                <a:cs typeface="Roboto"/>
                <a:sym typeface="Roboto"/>
              </a:rPr>
              <a:t>method</a:t>
            </a:r>
            <a:r>
              <a:rPr lang="pt-BR" sz="1200">
                <a:solidFill>
                  <a:srgbClr val="1B1B1B"/>
                </a:solidFill>
                <a:highlight>
                  <a:srgbClr val="FFFFFF"/>
                </a:highlight>
                <a:latin typeface="Roboto"/>
                <a:ea typeface="Roboto"/>
                <a:cs typeface="Roboto"/>
                <a:sym typeface="Roboto"/>
              </a:rPr>
              <a:t> define qual o método</a:t>
            </a:r>
            <a:r>
              <a:rPr lang="pt-BR" sz="1200" b="1">
                <a:solidFill>
                  <a:srgbClr val="1B1B1B"/>
                </a:solidFill>
                <a:highlight>
                  <a:srgbClr val="FFFFFF"/>
                </a:highlight>
                <a:latin typeface="Roboto"/>
                <a:ea typeface="Roboto"/>
                <a:cs typeface="Roboto"/>
                <a:sym typeface="Roboto"/>
              </a:rPr>
              <a:t> HTTP para enviar os dados (ele pode ser "GET" ou "POST")</a:t>
            </a:r>
            <a:endParaRPr sz="1200" b="1">
              <a:solidFill>
                <a:srgbClr val="1B1B1B"/>
              </a:solidFill>
              <a:highlight>
                <a:srgbClr val="FFFFFF"/>
              </a:highlight>
              <a:latin typeface="Roboto"/>
              <a:ea typeface="Roboto"/>
              <a:cs typeface="Roboto"/>
              <a:sym typeface="Roboto"/>
            </a:endParaRPr>
          </a:p>
          <a:p>
            <a:pPr marL="0" lvl="0" indent="0" algn="l" rtl="0">
              <a:spcBef>
                <a:spcPts val="2400"/>
              </a:spcBef>
              <a:spcAft>
                <a:spcPts val="0"/>
              </a:spcAft>
              <a:buNone/>
            </a:pPr>
            <a:endParaRPr sz="1700">
              <a:solidFill>
                <a:srgbClr val="1B1B1B"/>
              </a:solidFill>
              <a:highlight>
                <a:srgbClr val="FFFFFF"/>
              </a:highlight>
              <a:latin typeface="Roboto"/>
              <a:ea typeface="Roboto"/>
              <a:cs typeface="Roboto"/>
              <a:sym typeface="Roboto"/>
            </a:endParaRPr>
          </a:p>
          <a:p>
            <a:pPr marL="0" lvl="0" indent="0" algn="l" rtl="0">
              <a:spcBef>
                <a:spcPts val="0"/>
              </a:spcBef>
              <a:spcAft>
                <a:spcPts val="0"/>
              </a:spcAft>
              <a:buNone/>
            </a:pPr>
            <a:r>
              <a:rPr lang="pt-BR" sz="1700">
                <a:solidFill>
                  <a:srgbClr val="1B1B1B"/>
                </a:solidFill>
                <a:highlight>
                  <a:srgbClr val="FFFFFF"/>
                </a:highlight>
                <a:latin typeface="Roboto"/>
                <a:ea typeface="Roboto"/>
                <a:cs typeface="Roboto"/>
                <a:sym typeface="Roboto"/>
              </a:rPr>
              <a:t>(Mozilla, 2023)</a:t>
            </a:r>
            <a:endParaRPr sz="1700">
              <a:solidFill>
                <a:srgbClr val="1B1B1B"/>
              </a:solidFill>
              <a:highlight>
                <a:srgbClr val="FFFFFF"/>
              </a:highlight>
              <a:latin typeface="Roboto"/>
              <a:ea typeface="Roboto"/>
              <a:cs typeface="Roboto"/>
              <a:sym typeface="Roboto"/>
            </a:endParaRPr>
          </a:p>
          <a:p>
            <a:pPr marL="0" lvl="0" indent="0" algn="l" rtl="0">
              <a:spcBef>
                <a:spcPts val="0"/>
              </a:spcBef>
              <a:spcAft>
                <a:spcPts val="0"/>
              </a:spcAft>
              <a:buNone/>
            </a:pPr>
            <a:endParaRPr sz="1700">
              <a:solidFill>
                <a:srgbClr val="1B1B1B"/>
              </a:solidFill>
              <a:highlight>
                <a:srgbClr val="FFFFFF"/>
              </a:highlight>
              <a:latin typeface="Roboto"/>
              <a:ea typeface="Roboto"/>
              <a:cs typeface="Roboto"/>
              <a:sym typeface="Roboto"/>
            </a:endParaRPr>
          </a:p>
        </p:txBody>
      </p:sp>
      <p:sp>
        <p:nvSpPr>
          <p:cNvPr id="85" name="Google Shape;85;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pt-BR"/>
              <a:t>Formulário</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9"/>
          <p:cNvSpPr txBox="1"/>
          <p:nvPr/>
        </p:nvSpPr>
        <p:spPr>
          <a:xfrm>
            <a:off x="497375" y="1319950"/>
            <a:ext cx="7709400" cy="446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700">
              <a:solidFill>
                <a:srgbClr val="1B1B1B"/>
              </a:solidFill>
              <a:highlight>
                <a:srgbClr val="FFFFFF"/>
              </a:highlight>
              <a:latin typeface="Roboto"/>
              <a:ea typeface="Roboto"/>
              <a:cs typeface="Roboto"/>
              <a:sym typeface="Roboto"/>
            </a:endParaRPr>
          </a:p>
        </p:txBody>
      </p:sp>
      <p:sp>
        <p:nvSpPr>
          <p:cNvPr id="91" name="Google Shape;91;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pt-BR"/>
              <a:t>Elementos</a:t>
            </a:r>
            <a:endParaRPr/>
          </a:p>
        </p:txBody>
      </p:sp>
      <p:sp>
        <p:nvSpPr>
          <p:cNvPr id="92" name="Google Shape;92;p19"/>
          <p:cNvSpPr txBox="1"/>
          <p:nvPr/>
        </p:nvSpPr>
        <p:spPr>
          <a:xfrm>
            <a:off x="497375" y="1319950"/>
            <a:ext cx="7709400" cy="1477500"/>
          </a:xfrm>
          <a:prstGeom prst="rect">
            <a:avLst/>
          </a:prstGeom>
          <a:noFill/>
          <a:ln>
            <a:noFill/>
          </a:ln>
        </p:spPr>
        <p:txBody>
          <a:bodyPr spcFirstLastPara="1" wrap="square" lIns="91425" tIns="91425" rIns="91425" bIns="91425" anchor="t" anchorCtr="0">
            <a:spAutoFit/>
          </a:bodyPr>
          <a:lstStyle/>
          <a:p>
            <a:pPr marL="457200" lvl="0" indent="-304800" algn="l" rtl="0">
              <a:spcBef>
                <a:spcPts val="0"/>
              </a:spcBef>
              <a:spcAft>
                <a:spcPts val="0"/>
              </a:spcAft>
              <a:buClr>
                <a:srgbClr val="1B1B1B"/>
              </a:buClr>
              <a:buSzPts val="1200"/>
              <a:buFont typeface="Roboto"/>
              <a:buChar char="●"/>
            </a:pPr>
            <a:r>
              <a:rPr lang="pt-BR" sz="1200">
                <a:solidFill>
                  <a:srgbClr val="1B1B1B"/>
                </a:solidFill>
                <a:highlight>
                  <a:srgbClr val="FFFFFF"/>
                </a:highlight>
                <a:latin typeface="Roboto"/>
                <a:ea typeface="Roboto"/>
                <a:cs typeface="Roboto"/>
                <a:sym typeface="Roboto"/>
              </a:rPr>
              <a:t>Input: ?</a:t>
            </a:r>
            <a:endParaRPr sz="1200">
              <a:solidFill>
                <a:srgbClr val="1B1B1B"/>
              </a:solidFill>
              <a:highlight>
                <a:srgbClr val="FFFFFF"/>
              </a:highlight>
              <a:latin typeface="Roboto"/>
              <a:ea typeface="Roboto"/>
              <a:cs typeface="Roboto"/>
              <a:sym typeface="Roboto"/>
            </a:endParaRPr>
          </a:p>
          <a:p>
            <a:pPr marL="0" lvl="0" indent="0" algn="l" rtl="0">
              <a:spcBef>
                <a:spcPts val="0"/>
              </a:spcBef>
              <a:spcAft>
                <a:spcPts val="0"/>
              </a:spcAft>
              <a:buNone/>
            </a:pPr>
            <a:endParaRPr sz="1200">
              <a:solidFill>
                <a:srgbClr val="1B1B1B"/>
              </a:solidFill>
              <a:highlight>
                <a:srgbClr val="FFFFFF"/>
              </a:highlight>
              <a:latin typeface="Roboto"/>
              <a:ea typeface="Roboto"/>
              <a:cs typeface="Roboto"/>
              <a:sym typeface="Roboto"/>
            </a:endParaRPr>
          </a:p>
          <a:p>
            <a:pPr marL="0" lvl="0" indent="0" algn="l" rtl="0">
              <a:spcBef>
                <a:spcPts val="0"/>
              </a:spcBef>
              <a:spcAft>
                <a:spcPts val="0"/>
              </a:spcAft>
              <a:buNone/>
            </a:pPr>
            <a:endParaRPr sz="1200">
              <a:solidFill>
                <a:srgbClr val="1B1B1B"/>
              </a:solidFill>
              <a:highlight>
                <a:srgbClr val="FFFFFF"/>
              </a:highlight>
              <a:latin typeface="Roboto"/>
              <a:ea typeface="Roboto"/>
              <a:cs typeface="Roboto"/>
              <a:sym typeface="Roboto"/>
            </a:endParaRPr>
          </a:p>
          <a:p>
            <a:pPr marL="0" lvl="0" indent="0" algn="l" rtl="0">
              <a:spcBef>
                <a:spcPts val="0"/>
              </a:spcBef>
              <a:spcAft>
                <a:spcPts val="0"/>
              </a:spcAft>
              <a:buNone/>
            </a:pPr>
            <a:r>
              <a:rPr lang="pt-BR" sz="1200">
                <a:solidFill>
                  <a:srgbClr val="1B1B1B"/>
                </a:solidFill>
                <a:highlight>
                  <a:srgbClr val="FFFFFF"/>
                </a:highlight>
                <a:latin typeface="Roboto"/>
                <a:ea typeface="Roboto"/>
                <a:cs typeface="Roboto"/>
                <a:sym typeface="Roboto"/>
              </a:rPr>
              <a:t>types: Email; button; color; date; submit; url; week; file; text; reset; image ………..</a:t>
            </a:r>
            <a:endParaRPr sz="1200">
              <a:solidFill>
                <a:srgbClr val="1B1B1B"/>
              </a:solidFill>
              <a:highlight>
                <a:srgbClr val="FFFFFF"/>
              </a:highlight>
              <a:latin typeface="Roboto"/>
              <a:ea typeface="Roboto"/>
              <a:cs typeface="Roboto"/>
              <a:sym typeface="Roboto"/>
            </a:endParaRPr>
          </a:p>
          <a:p>
            <a:pPr marL="0" lvl="0" indent="0" algn="l" rtl="0">
              <a:spcBef>
                <a:spcPts val="0"/>
              </a:spcBef>
              <a:spcAft>
                <a:spcPts val="0"/>
              </a:spcAft>
              <a:buNone/>
            </a:pPr>
            <a:endParaRPr sz="1200">
              <a:solidFill>
                <a:srgbClr val="1B1B1B"/>
              </a:solidFill>
              <a:highlight>
                <a:srgbClr val="FFFFFF"/>
              </a:highlight>
              <a:latin typeface="Roboto"/>
              <a:ea typeface="Roboto"/>
              <a:cs typeface="Roboto"/>
              <a:sym typeface="Roboto"/>
            </a:endParaRPr>
          </a:p>
          <a:p>
            <a:pPr marL="0" lvl="0" indent="0" algn="l" rtl="0">
              <a:spcBef>
                <a:spcPts val="0"/>
              </a:spcBef>
              <a:spcAft>
                <a:spcPts val="0"/>
              </a:spcAft>
              <a:buNone/>
            </a:pPr>
            <a:endParaRPr sz="1200">
              <a:solidFill>
                <a:srgbClr val="1B1B1B"/>
              </a:solidFill>
              <a:highlight>
                <a:srgbClr val="FFFFFF"/>
              </a:highlight>
              <a:latin typeface="Roboto"/>
              <a:ea typeface="Roboto"/>
              <a:cs typeface="Roboto"/>
              <a:sym typeface="Roboto"/>
            </a:endParaRPr>
          </a:p>
          <a:p>
            <a:pPr marL="0" lvl="0" indent="0" algn="l" rtl="0">
              <a:spcBef>
                <a:spcPts val="0"/>
              </a:spcBef>
              <a:spcAft>
                <a:spcPts val="0"/>
              </a:spcAft>
              <a:buNone/>
            </a:pPr>
            <a:r>
              <a:rPr lang="pt-BR" sz="1200">
                <a:solidFill>
                  <a:srgbClr val="1B1B1B"/>
                </a:solidFill>
                <a:highlight>
                  <a:srgbClr val="FFFFFF"/>
                </a:highlight>
                <a:latin typeface="Roboto"/>
                <a:ea typeface="Roboto"/>
                <a:cs typeface="Roboto"/>
                <a:sym typeface="Roboto"/>
              </a:rPr>
              <a:t>Olhar mais em: https://www.w3schools.com/html/html_form_input_types.asp</a:t>
            </a:r>
            <a:endParaRPr sz="1200">
              <a:solidFill>
                <a:srgbClr val="1B1B1B"/>
              </a:solidFill>
              <a:highlight>
                <a:srgbClr val="FFFFFF"/>
              </a:highlight>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pt-BR" dirty="0"/>
              <a:t>&lt;input  </a:t>
            </a:r>
            <a:r>
              <a:rPr lang="pt-BR" dirty="0" err="1"/>
              <a:t>placeholder</a:t>
            </a:r>
            <a:r>
              <a:rPr lang="pt-BR" dirty="0"/>
              <a:t>=””&gt;</a:t>
            </a:r>
            <a:endParaRPr dirty="0"/>
          </a:p>
        </p:txBody>
      </p:sp>
      <p:pic>
        <p:nvPicPr>
          <p:cNvPr id="98" name="Google Shape;98;p20"/>
          <p:cNvPicPr preferRelativeResize="0"/>
          <p:nvPr/>
        </p:nvPicPr>
        <p:blipFill>
          <a:blip r:embed="rId3">
            <a:alphaModFix/>
          </a:blip>
          <a:stretch>
            <a:fillRect/>
          </a:stretch>
        </p:blipFill>
        <p:spPr>
          <a:xfrm>
            <a:off x="3138550" y="1211350"/>
            <a:ext cx="5344550" cy="2850424"/>
          </a:xfrm>
          <a:prstGeom prst="rect">
            <a:avLst/>
          </a:prstGeom>
          <a:noFill/>
          <a:ln>
            <a:noFill/>
          </a:ln>
        </p:spPr>
      </p:pic>
      <p:sp>
        <p:nvSpPr>
          <p:cNvPr id="99" name="Google Shape;99;p20"/>
          <p:cNvSpPr txBox="1"/>
          <p:nvPr/>
        </p:nvSpPr>
        <p:spPr>
          <a:xfrm>
            <a:off x="2657075" y="4241550"/>
            <a:ext cx="60648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pt-BR" sz="1000">
                <a:latin typeface="Lato"/>
                <a:ea typeface="Lato"/>
                <a:cs typeface="Lato"/>
                <a:sym typeface="Lato"/>
              </a:rPr>
              <a:t>Imagem: https://thiagonasc.com/assets/imgs/placeholder/placeholders-e-labels-demonstracao.jpg</a:t>
            </a:r>
            <a:endParaRPr sz="1000">
              <a:latin typeface="Lato"/>
              <a:ea typeface="Lato"/>
              <a:cs typeface="Lato"/>
              <a:sym typeface="Lato"/>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21"/>
          <p:cNvSpPr txBox="1"/>
          <p:nvPr/>
        </p:nvSpPr>
        <p:spPr>
          <a:xfrm>
            <a:off x="497375" y="1319950"/>
            <a:ext cx="7709400" cy="446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700">
              <a:solidFill>
                <a:srgbClr val="1B1B1B"/>
              </a:solidFill>
              <a:highlight>
                <a:srgbClr val="FFFFFF"/>
              </a:highlight>
              <a:latin typeface="Roboto"/>
              <a:ea typeface="Roboto"/>
              <a:cs typeface="Roboto"/>
              <a:sym typeface="Roboto"/>
            </a:endParaRPr>
          </a:p>
        </p:txBody>
      </p:sp>
      <p:sp>
        <p:nvSpPr>
          <p:cNvPr id="105" name="Google Shape;105;p2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pt-BR"/>
              <a:t>CODE!</a:t>
            </a:r>
            <a:endParaRPr/>
          </a:p>
        </p:txBody>
      </p:sp>
      <p:sp>
        <p:nvSpPr>
          <p:cNvPr id="106" name="Google Shape;106;p21"/>
          <p:cNvSpPr txBox="1"/>
          <p:nvPr/>
        </p:nvSpPr>
        <p:spPr>
          <a:xfrm>
            <a:off x="497375" y="1319950"/>
            <a:ext cx="77094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200">
              <a:solidFill>
                <a:srgbClr val="1B1B1B"/>
              </a:solidFill>
              <a:highlight>
                <a:srgbClr val="FFFFFF"/>
              </a:highlight>
              <a:latin typeface="Roboto"/>
              <a:ea typeface="Roboto"/>
              <a:cs typeface="Roboto"/>
              <a:sym typeface="Roboto"/>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22"/>
          <p:cNvSpPr txBox="1"/>
          <p:nvPr/>
        </p:nvSpPr>
        <p:spPr>
          <a:xfrm>
            <a:off x="497375" y="1319950"/>
            <a:ext cx="7709400" cy="446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700">
              <a:solidFill>
                <a:srgbClr val="1B1B1B"/>
              </a:solidFill>
              <a:highlight>
                <a:srgbClr val="FFFFFF"/>
              </a:highlight>
              <a:latin typeface="Roboto"/>
              <a:ea typeface="Roboto"/>
              <a:cs typeface="Roboto"/>
              <a:sym typeface="Roboto"/>
            </a:endParaRPr>
          </a:p>
        </p:txBody>
      </p:sp>
      <p:sp>
        <p:nvSpPr>
          <p:cNvPr id="112" name="Google Shape;112;p2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pt-BR"/>
              <a:t>Elementos</a:t>
            </a:r>
            <a:endParaRPr/>
          </a:p>
        </p:txBody>
      </p:sp>
      <p:sp>
        <p:nvSpPr>
          <p:cNvPr id="113" name="Google Shape;113;p22"/>
          <p:cNvSpPr txBox="1"/>
          <p:nvPr/>
        </p:nvSpPr>
        <p:spPr>
          <a:xfrm>
            <a:off x="497375" y="1319950"/>
            <a:ext cx="7709400" cy="1662300"/>
          </a:xfrm>
          <a:prstGeom prst="rect">
            <a:avLst/>
          </a:prstGeom>
          <a:noFill/>
          <a:ln>
            <a:noFill/>
          </a:ln>
        </p:spPr>
        <p:txBody>
          <a:bodyPr spcFirstLastPara="1" wrap="square" lIns="91425" tIns="91425" rIns="91425" bIns="91425" anchor="t" anchorCtr="0">
            <a:spAutoFit/>
          </a:bodyPr>
          <a:lstStyle/>
          <a:p>
            <a:pPr marL="457200" lvl="0" indent="-304800" algn="l" rtl="0">
              <a:spcBef>
                <a:spcPts val="0"/>
              </a:spcBef>
              <a:spcAft>
                <a:spcPts val="0"/>
              </a:spcAft>
              <a:buClr>
                <a:srgbClr val="1B1B1B"/>
              </a:buClr>
              <a:buSzPts val="1200"/>
              <a:buFont typeface="Roboto"/>
              <a:buChar char="●"/>
            </a:pPr>
            <a:r>
              <a:rPr lang="pt-BR" sz="1200">
                <a:solidFill>
                  <a:srgbClr val="1B1B1B"/>
                </a:solidFill>
                <a:highlight>
                  <a:srgbClr val="FFFFFF"/>
                </a:highlight>
                <a:latin typeface="Roboto"/>
                <a:ea typeface="Roboto"/>
                <a:cs typeface="Roboto"/>
                <a:sym typeface="Roboto"/>
              </a:rPr>
              <a:t>textarea</a:t>
            </a:r>
            <a:endParaRPr sz="1200">
              <a:solidFill>
                <a:srgbClr val="1B1B1B"/>
              </a:solidFill>
              <a:highlight>
                <a:srgbClr val="FFFFFF"/>
              </a:highlight>
              <a:latin typeface="Roboto"/>
              <a:ea typeface="Roboto"/>
              <a:cs typeface="Roboto"/>
              <a:sym typeface="Roboto"/>
            </a:endParaRPr>
          </a:p>
          <a:p>
            <a:pPr marL="0" lvl="0" indent="0" algn="l" rtl="0">
              <a:spcBef>
                <a:spcPts val="0"/>
              </a:spcBef>
              <a:spcAft>
                <a:spcPts val="0"/>
              </a:spcAft>
              <a:buNone/>
            </a:pPr>
            <a:endParaRPr sz="1200">
              <a:solidFill>
                <a:srgbClr val="1B1B1B"/>
              </a:solidFill>
              <a:highlight>
                <a:srgbClr val="FFFFFF"/>
              </a:highlight>
              <a:latin typeface="Roboto"/>
              <a:ea typeface="Roboto"/>
              <a:cs typeface="Roboto"/>
              <a:sym typeface="Roboto"/>
            </a:endParaRPr>
          </a:p>
          <a:p>
            <a:pPr marL="0" lvl="0" indent="0" algn="l" rtl="0">
              <a:spcBef>
                <a:spcPts val="0"/>
              </a:spcBef>
              <a:spcAft>
                <a:spcPts val="0"/>
              </a:spcAft>
              <a:buNone/>
            </a:pPr>
            <a:r>
              <a:rPr lang="pt-BR" sz="1200">
                <a:solidFill>
                  <a:srgbClr val="1B1B1B"/>
                </a:solidFill>
                <a:highlight>
                  <a:srgbClr val="FFFFFF"/>
                </a:highlight>
                <a:latin typeface="Roboto"/>
                <a:ea typeface="Roboto"/>
                <a:cs typeface="Roboto"/>
                <a:sym typeface="Roboto"/>
              </a:rPr>
              <a:t>“O elemento HTML </a:t>
            </a:r>
            <a:r>
              <a:rPr lang="pt-BR" sz="1100">
                <a:solidFill>
                  <a:srgbClr val="1B1B1B"/>
                </a:solidFill>
              </a:rPr>
              <a:t>&lt;textarea&gt;</a:t>
            </a:r>
            <a:r>
              <a:rPr lang="pt-BR" sz="1200">
                <a:solidFill>
                  <a:srgbClr val="1B1B1B"/>
                </a:solidFill>
                <a:highlight>
                  <a:srgbClr val="FFFFFF"/>
                </a:highlight>
                <a:latin typeface="Roboto"/>
                <a:ea typeface="Roboto"/>
                <a:cs typeface="Roboto"/>
                <a:sym typeface="Roboto"/>
              </a:rPr>
              <a:t> representa um controle de edição para uma caixa de texto, útil quando você quer permitir ao usuário informar um texto extenso em formato livre, como um comentário ou formulário de retorno.” (Mozilla; 2023)</a:t>
            </a:r>
            <a:endParaRPr sz="1200">
              <a:solidFill>
                <a:srgbClr val="1B1B1B"/>
              </a:solidFill>
              <a:highlight>
                <a:srgbClr val="FFFFFF"/>
              </a:highlight>
              <a:latin typeface="Roboto"/>
              <a:ea typeface="Roboto"/>
              <a:cs typeface="Roboto"/>
              <a:sym typeface="Roboto"/>
            </a:endParaRPr>
          </a:p>
          <a:p>
            <a:pPr marL="0" lvl="0" indent="0" algn="l" rtl="0">
              <a:spcBef>
                <a:spcPts val="0"/>
              </a:spcBef>
              <a:spcAft>
                <a:spcPts val="0"/>
              </a:spcAft>
              <a:buNone/>
            </a:pPr>
            <a:endParaRPr sz="1200">
              <a:solidFill>
                <a:srgbClr val="1B1B1B"/>
              </a:solidFill>
              <a:highlight>
                <a:srgbClr val="FFFFFF"/>
              </a:highlight>
              <a:latin typeface="Roboto"/>
              <a:ea typeface="Roboto"/>
              <a:cs typeface="Roboto"/>
              <a:sym typeface="Roboto"/>
            </a:endParaRPr>
          </a:p>
          <a:p>
            <a:pPr marL="0" lvl="0" indent="0" algn="l" rtl="0">
              <a:spcBef>
                <a:spcPts val="0"/>
              </a:spcBef>
              <a:spcAft>
                <a:spcPts val="0"/>
              </a:spcAft>
              <a:buNone/>
            </a:pPr>
            <a:endParaRPr sz="1200">
              <a:solidFill>
                <a:srgbClr val="1B1B1B"/>
              </a:solidFill>
              <a:highlight>
                <a:srgbClr val="FFFFFF"/>
              </a:highlight>
              <a:latin typeface="Roboto"/>
              <a:ea typeface="Roboto"/>
              <a:cs typeface="Roboto"/>
              <a:sym typeface="Roboto"/>
            </a:endParaRPr>
          </a:p>
          <a:p>
            <a:pPr marL="0" lvl="0" indent="0" algn="l" rtl="0">
              <a:spcBef>
                <a:spcPts val="0"/>
              </a:spcBef>
              <a:spcAft>
                <a:spcPts val="0"/>
              </a:spcAft>
              <a:buNone/>
            </a:pPr>
            <a:r>
              <a:rPr lang="pt-BR" sz="1200">
                <a:solidFill>
                  <a:srgbClr val="1B1B1B"/>
                </a:solidFill>
                <a:highlight>
                  <a:srgbClr val="FFFFFF"/>
                </a:highlight>
                <a:latin typeface="Roboto"/>
                <a:ea typeface="Roboto"/>
                <a:cs typeface="Roboto"/>
                <a:sym typeface="Roboto"/>
              </a:rPr>
              <a:t>Posso adicionar atributos rows e cols</a:t>
            </a:r>
            <a:endParaRPr sz="1200">
              <a:solidFill>
                <a:srgbClr val="1B1B1B"/>
              </a:solidFill>
              <a:highlight>
                <a:srgbClr val="FFFFFF"/>
              </a:highlight>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23"/>
          <p:cNvSpPr txBox="1">
            <a:spLocks noGrp="1"/>
          </p:cNvSpPr>
          <p:nvPr>
            <p:ph type="body" idx="1"/>
          </p:nvPr>
        </p:nvSpPr>
        <p:spPr>
          <a:xfrm>
            <a:off x="2400297" y="1602675"/>
            <a:ext cx="6321600" cy="3002400"/>
          </a:xfrm>
          <a:prstGeom prst="rect">
            <a:avLst/>
          </a:prstGeom>
        </p:spPr>
        <p:txBody>
          <a:bodyPr spcFirstLastPara="1" wrap="square" lIns="91425" tIns="91425" rIns="91425" bIns="91425" anchor="t" anchorCtr="0">
            <a:normAutofit/>
          </a:bodyPr>
          <a:lstStyle/>
          <a:p>
            <a:pPr marL="0" lvl="0" indent="0" algn="l" rtl="0">
              <a:lnSpc>
                <a:spcPct val="145833"/>
              </a:lnSpc>
              <a:spcBef>
                <a:spcPts val="0"/>
              </a:spcBef>
              <a:spcAft>
                <a:spcPts val="0"/>
              </a:spcAft>
              <a:buNone/>
            </a:pPr>
            <a:r>
              <a:rPr lang="pt-BR" sz="2000">
                <a:solidFill>
                  <a:srgbClr val="1B1B1B"/>
                </a:solidFill>
                <a:latin typeface="Arial"/>
                <a:ea typeface="Arial"/>
                <a:cs typeface="Arial"/>
                <a:sym typeface="Arial"/>
              </a:rPr>
              <a:t>&lt;label for=”nome””&gt;</a:t>
            </a:r>
            <a:endParaRPr sz="2000">
              <a:solidFill>
                <a:srgbClr val="1B1B1B"/>
              </a:solidFill>
              <a:latin typeface="Arial"/>
              <a:ea typeface="Arial"/>
              <a:cs typeface="Arial"/>
              <a:sym typeface="Arial"/>
            </a:endParaRPr>
          </a:p>
          <a:p>
            <a:pPr marL="0" lvl="0" indent="457200" algn="l" rtl="0">
              <a:lnSpc>
                <a:spcPct val="145833"/>
              </a:lnSpc>
              <a:spcBef>
                <a:spcPts val="0"/>
              </a:spcBef>
              <a:spcAft>
                <a:spcPts val="0"/>
              </a:spcAft>
              <a:buNone/>
            </a:pPr>
            <a:r>
              <a:rPr lang="pt-BR" sz="2000">
                <a:solidFill>
                  <a:srgbClr val="1B1B1B"/>
                </a:solidFill>
                <a:latin typeface="Arial"/>
                <a:ea typeface="Arial"/>
                <a:cs typeface="Arial"/>
                <a:sym typeface="Arial"/>
              </a:rPr>
              <a:t>Nome</a:t>
            </a:r>
            <a:endParaRPr sz="2000">
              <a:solidFill>
                <a:srgbClr val="1B1B1B"/>
              </a:solidFill>
              <a:latin typeface="Arial"/>
              <a:ea typeface="Arial"/>
              <a:cs typeface="Arial"/>
              <a:sym typeface="Arial"/>
            </a:endParaRPr>
          </a:p>
          <a:p>
            <a:pPr marL="0" lvl="0" indent="0" algn="l" rtl="0">
              <a:lnSpc>
                <a:spcPct val="145833"/>
              </a:lnSpc>
              <a:spcBef>
                <a:spcPts val="0"/>
              </a:spcBef>
              <a:spcAft>
                <a:spcPts val="0"/>
              </a:spcAft>
              <a:buNone/>
            </a:pPr>
            <a:r>
              <a:rPr lang="pt-BR" sz="2000">
                <a:solidFill>
                  <a:srgbClr val="1B1B1B"/>
                </a:solidFill>
                <a:latin typeface="Arial"/>
                <a:ea typeface="Arial"/>
                <a:cs typeface="Arial"/>
                <a:sym typeface="Arial"/>
              </a:rPr>
              <a:t>&lt;/label&gt;</a:t>
            </a:r>
            <a:endParaRPr sz="2000">
              <a:solidFill>
                <a:srgbClr val="1B1B1B"/>
              </a:solidFill>
              <a:latin typeface="Arial"/>
              <a:ea typeface="Arial"/>
              <a:cs typeface="Arial"/>
              <a:sym typeface="Arial"/>
            </a:endParaRPr>
          </a:p>
          <a:p>
            <a:pPr marL="0" lvl="0" indent="0" algn="l" rtl="0">
              <a:lnSpc>
                <a:spcPct val="145833"/>
              </a:lnSpc>
              <a:spcBef>
                <a:spcPts val="0"/>
              </a:spcBef>
              <a:spcAft>
                <a:spcPts val="0"/>
              </a:spcAft>
              <a:buClr>
                <a:schemeClr val="dk2"/>
              </a:buClr>
              <a:buSzPts val="1100"/>
              <a:buFont typeface="Arial"/>
              <a:buNone/>
            </a:pPr>
            <a:r>
              <a:rPr lang="pt-BR" sz="2000">
                <a:solidFill>
                  <a:srgbClr val="1B1B1B"/>
                </a:solidFill>
                <a:latin typeface="Arial"/>
                <a:ea typeface="Arial"/>
                <a:cs typeface="Arial"/>
                <a:sym typeface="Arial"/>
              </a:rPr>
              <a:t> &lt;input type="text" id="nome" &gt;</a:t>
            </a:r>
            <a:endParaRPr sz="2000">
              <a:solidFill>
                <a:srgbClr val="1B1B1B"/>
              </a:solidFill>
              <a:latin typeface="Arial"/>
              <a:ea typeface="Arial"/>
              <a:cs typeface="Arial"/>
              <a:sym typeface="Arial"/>
            </a:endParaRPr>
          </a:p>
          <a:p>
            <a:pPr marL="0" lvl="0" indent="0" algn="just" rtl="0">
              <a:spcBef>
                <a:spcPts val="0"/>
              </a:spcBef>
              <a:spcAft>
                <a:spcPts val="0"/>
              </a:spcAft>
              <a:buNone/>
            </a:pPr>
            <a:endParaRPr sz="2200" b="1">
              <a:solidFill>
                <a:srgbClr val="783F04"/>
              </a:solidFill>
              <a:highlight>
                <a:srgbClr val="FFFFFF"/>
              </a:highlight>
              <a:latin typeface="Roboto"/>
              <a:ea typeface="Roboto"/>
              <a:cs typeface="Roboto"/>
              <a:sym typeface="Roboto"/>
            </a:endParaRPr>
          </a:p>
          <a:p>
            <a:pPr marL="0" lvl="0" indent="0" algn="just" rtl="0">
              <a:spcBef>
                <a:spcPts val="1200"/>
              </a:spcBef>
              <a:spcAft>
                <a:spcPts val="1200"/>
              </a:spcAft>
              <a:buNone/>
            </a:pPr>
            <a:endParaRPr sz="2200" b="1">
              <a:solidFill>
                <a:srgbClr val="783F04"/>
              </a:solidFill>
              <a:highlight>
                <a:srgbClr val="FFFFFF"/>
              </a:highlight>
              <a:latin typeface="Roboto"/>
              <a:ea typeface="Roboto"/>
              <a:cs typeface="Roboto"/>
              <a:sym typeface="Roboto"/>
            </a:endParaRPr>
          </a:p>
        </p:txBody>
      </p:sp>
      <p:sp>
        <p:nvSpPr>
          <p:cNvPr id="119" name="Google Shape;119;p2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pt-BR"/>
              <a:t>&lt;label&gt;&lt;/label&gt; + &lt;input&gt;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2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pt-BR"/>
              <a:t>&lt;input type=””&gt;</a:t>
            </a:r>
            <a:endParaRPr/>
          </a:p>
        </p:txBody>
      </p:sp>
      <p:sp>
        <p:nvSpPr>
          <p:cNvPr id="125" name="Google Shape;125;p24"/>
          <p:cNvSpPr txBox="1">
            <a:spLocks noGrp="1"/>
          </p:cNvSpPr>
          <p:nvPr>
            <p:ph type="body" idx="1"/>
          </p:nvPr>
        </p:nvSpPr>
        <p:spPr>
          <a:xfrm>
            <a:off x="2400297" y="1602675"/>
            <a:ext cx="6321600" cy="3002400"/>
          </a:xfrm>
          <a:prstGeom prst="rect">
            <a:avLst/>
          </a:prstGeom>
        </p:spPr>
        <p:txBody>
          <a:bodyPr spcFirstLastPara="1" wrap="square" lIns="91425" tIns="91425" rIns="91425" bIns="91425" anchor="t" anchorCtr="0">
            <a:normAutofit fontScale="92500" lnSpcReduction="20000"/>
          </a:bodyPr>
          <a:lstStyle/>
          <a:p>
            <a:pPr marL="457200" lvl="0" indent="-310832" algn="just" rtl="0">
              <a:spcBef>
                <a:spcPts val="0"/>
              </a:spcBef>
              <a:spcAft>
                <a:spcPts val="0"/>
              </a:spcAft>
              <a:buClr>
                <a:srgbClr val="1B1B1B"/>
              </a:buClr>
              <a:buSzPct val="100000"/>
              <a:buFont typeface="Roboto"/>
              <a:buAutoNum type="arabicPeriod"/>
            </a:pPr>
            <a:r>
              <a:rPr lang="pt-BR" b="1">
                <a:solidFill>
                  <a:srgbClr val="1B1B1B"/>
                </a:solidFill>
                <a:highlight>
                  <a:srgbClr val="FFFFFF"/>
                </a:highlight>
                <a:latin typeface="Roboto"/>
                <a:ea typeface="Roboto"/>
                <a:cs typeface="Roboto"/>
                <a:sym typeface="Roboto"/>
              </a:rPr>
              <a:t>type</a:t>
            </a:r>
            <a:endParaRPr b="1">
              <a:solidFill>
                <a:srgbClr val="1B1B1B"/>
              </a:solidFill>
              <a:highlight>
                <a:srgbClr val="FFFFFF"/>
              </a:highlight>
              <a:latin typeface="Roboto"/>
              <a:ea typeface="Roboto"/>
              <a:cs typeface="Roboto"/>
              <a:sym typeface="Roboto"/>
            </a:endParaRPr>
          </a:p>
          <a:p>
            <a:pPr marL="0" lvl="0" indent="0" algn="just" rtl="0">
              <a:spcBef>
                <a:spcPts val="1200"/>
              </a:spcBef>
              <a:spcAft>
                <a:spcPts val="0"/>
              </a:spcAft>
              <a:buNone/>
            </a:pPr>
            <a:r>
              <a:rPr lang="pt-BR" b="1">
                <a:solidFill>
                  <a:srgbClr val="1B1B1B"/>
                </a:solidFill>
                <a:highlight>
                  <a:srgbClr val="FFFFFF"/>
                </a:highlight>
                <a:latin typeface="Roboto"/>
                <a:ea typeface="Roboto"/>
                <a:cs typeface="Roboto"/>
                <a:sym typeface="Roboto"/>
              </a:rPr>
              <a:t>	HTML</a:t>
            </a:r>
            <a:endParaRPr b="1">
              <a:solidFill>
                <a:srgbClr val="1B1B1B"/>
              </a:solidFill>
              <a:highlight>
                <a:srgbClr val="FFFFFF"/>
              </a:highlight>
              <a:latin typeface="Roboto"/>
              <a:ea typeface="Roboto"/>
              <a:cs typeface="Roboto"/>
              <a:sym typeface="Roboto"/>
            </a:endParaRPr>
          </a:p>
          <a:p>
            <a:pPr marL="0" lvl="0" indent="0" algn="just" rtl="0">
              <a:spcBef>
                <a:spcPts val="1200"/>
              </a:spcBef>
              <a:spcAft>
                <a:spcPts val="0"/>
              </a:spcAft>
              <a:buNone/>
            </a:pPr>
            <a:r>
              <a:rPr lang="pt-BR" b="1">
                <a:solidFill>
                  <a:srgbClr val="783F04"/>
                </a:solidFill>
                <a:highlight>
                  <a:srgbClr val="FFFFFF"/>
                </a:highlight>
                <a:latin typeface="Roboto"/>
                <a:ea typeface="Roboto"/>
                <a:cs typeface="Roboto"/>
                <a:sym typeface="Roboto"/>
              </a:rPr>
              <a:t>text | submit | checkbox | file | hidden | image | password | radio |                    reset </a:t>
            </a:r>
            <a:endParaRPr b="1">
              <a:solidFill>
                <a:srgbClr val="783F04"/>
              </a:solidFill>
              <a:highlight>
                <a:srgbClr val="FFFFFF"/>
              </a:highlight>
              <a:latin typeface="Roboto"/>
              <a:ea typeface="Roboto"/>
              <a:cs typeface="Roboto"/>
              <a:sym typeface="Roboto"/>
            </a:endParaRPr>
          </a:p>
          <a:p>
            <a:pPr marL="0" lvl="0" indent="0" algn="just" rtl="0">
              <a:spcBef>
                <a:spcPts val="1200"/>
              </a:spcBef>
              <a:spcAft>
                <a:spcPts val="0"/>
              </a:spcAft>
              <a:buNone/>
            </a:pPr>
            <a:r>
              <a:rPr lang="pt-BR" b="1">
                <a:solidFill>
                  <a:srgbClr val="0F1111"/>
                </a:solidFill>
                <a:highlight>
                  <a:srgbClr val="FFFFFF"/>
                </a:highlight>
                <a:latin typeface="Roboto"/>
                <a:ea typeface="Roboto"/>
                <a:cs typeface="Roboto"/>
                <a:sym typeface="Roboto"/>
              </a:rPr>
              <a:t>	HTML 5</a:t>
            </a:r>
            <a:endParaRPr b="1">
              <a:solidFill>
                <a:srgbClr val="0F1111"/>
              </a:solidFill>
              <a:highlight>
                <a:srgbClr val="FFFFFF"/>
              </a:highlight>
              <a:latin typeface="Roboto"/>
              <a:ea typeface="Roboto"/>
              <a:cs typeface="Roboto"/>
              <a:sym typeface="Roboto"/>
            </a:endParaRPr>
          </a:p>
          <a:p>
            <a:pPr marL="0" lvl="0" indent="0" algn="just" rtl="0">
              <a:spcBef>
                <a:spcPts val="1200"/>
              </a:spcBef>
              <a:spcAft>
                <a:spcPts val="0"/>
              </a:spcAft>
              <a:buNone/>
            </a:pPr>
            <a:r>
              <a:rPr lang="pt-BR" b="1">
                <a:solidFill>
                  <a:srgbClr val="783F04"/>
                </a:solidFill>
                <a:highlight>
                  <a:srgbClr val="FFFFFF"/>
                </a:highlight>
                <a:latin typeface="Roboto"/>
                <a:ea typeface="Roboto"/>
                <a:cs typeface="Roboto"/>
                <a:sym typeface="Roboto"/>
              </a:rPr>
              <a:t>color | date | datetime | datetime-local | month | number | range | search | tel | time | week</a:t>
            </a:r>
            <a:endParaRPr b="1">
              <a:solidFill>
                <a:srgbClr val="783F04"/>
              </a:solidFill>
              <a:highlight>
                <a:srgbClr val="FFFFFF"/>
              </a:highlight>
              <a:latin typeface="Roboto"/>
              <a:ea typeface="Roboto"/>
              <a:cs typeface="Roboto"/>
              <a:sym typeface="Roboto"/>
            </a:endParaRPr>
          </a:p>
          <a:p>
            <a:pPr marL="0" lvl="0" indent="0" algn="just" rtl="0">
              <a:spcBef>
                <a:spcPts val="1200"/>
              </a:spcBef>
              <a:spcAft>
                <a:spcPts val="0"/>
              </a:spcAft>
              <a:buNone/>
            </a:pPr>
            <a:endParaRPr b="1">
              <a:solidFill>
                <a:srgbClr val="783F04"/>
              </a:solidFill>
              <a:highlight>
                <a:srgbClr val="FFFFFF"/>
              </a:highlight>
              <a:latin typeface="Roboto"/>
              <a:ea typeface="Roboto"/>
              <a:cs typeface="Roboto"/>
              <a:sym typeface="Roboto"/>
            </a:endParaRPr>
          </a:p>
          <a:p>
            <a:pPr marL="0" lvl="0" indent="0" algn="just" rtl="0">
              <a:spcBef>
                <a:spcPts val="1200"/>
              </a:spcBef>
              <a:spcAft>
                <a:spcPts val="0"/>
              </a:spcAft>
              <a:buNone/>
            </a:pPr>
            <a:r>
              <a:rPr lang="pt-BR" b="1">
                <a:solidFill>
                  <a:srgbClr val="000000"/>
                </a:solidFill>
                <a:highlight>
                  <a:srgbClr val="FFFFFF"/>
                </a:highlight>
                <a:latin typeface="Roboto"/>
                <a:ea typeface="Roboto"/>
                <a:cs typeface="Roboto"/>
                <a:sym typeface="Roboto"/>
              </a:rPr>
              <a:t>Detalhes em : </a:t>
            </a:r>
            <a:r>
              <a:rPr lang="pt-BR" b="1" u="sng">
                <a:solidFill>
                  <a:schemeClr val="hlink"/>
                </a:solidFill>
                <a:highlight>
                  <a:srgbClr val="FFFFFF"/>
                </a:highlight>
                <a:latin typeface="Roboto"/>
                <a:ea typeface="Roboto"/>
                <a:cs typeface="Roboto"/>
                <a:sym typeface="Roboto"/>
                <a:hlinkClick r:id="rId3"/>
              </a:rPr>
              <a:t>https://developer.mozilla.org/pt-BR/docs/Web/HTML/Element/input</a:t>
            </a:r>
            <a:endParaRPr b="1">
              <a:solidFill>
                <a:srgbClr val="783F04"/>
              </a:solidFill>
              <a:highlight>
                <a:srgbClr val="FFFFFF"/>
              </a:highlight>
              <a:latin typeface="Roboto"/>
              <a:ea typeface="Roboto"/>
              <a:cs typeface="Roboto"/>
              <a:sym typeface="Roboto"/>
            </a:endParaRPr>
          </a:p>
          <a:p>
            <a:pPr marL="0" lvl="0" indent="0" algn="just" rtl="0">
              <a:spcBef>
                <a:spcPts val="1200"/>
              </a:spcBef>
              <a:spcAft>
                <a:spcPts val="1200"/>
              </a:spcAft>
              <a:buNone/>
            </a:pPr>
            <a:endParaRPr b="1">
              <a:solidFill>
                <a:srgbClr val="783F04"/>
              </a:solidFill>
              <a:highlight>
                <a:srgbClr val="FFFFFF"/>
              </a:highlight>
              <a:latin typeface="Roboto"/>
              <a:ea typeface="Roboto"/>
              <a:cs typeface="Roboto"/>
              <a:sym typeface="Roboto"/>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2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pt-BR"/>
              <a:t>&lt;inṕut  placeholder=””&gt;</a:t>
            </a:r>
            <a:endParaRPr/>
          </a:p>
        </p:txBody>
      </p:sp>
      <p:pic>
        <p:nvPicPr>
          <p:cNvPr id="131" name="Google Shape;131;p25"/>
          <p:cNvPicPr preferRelativeResize="0"/>
          <p:nvPr/>
        </p:nvPicPr>
        <p:blipFill>
          <a:blip r:embed="rId3">
            <a:alphaModFix/>
          </a:blip>
          <a:stretch>
            <a:fillRect/>
          </a:stretch>
        </p:blipFill>
        <p:spPr>
          <a:xfrm>
            <a:off x="3138550" y="1211350"/>
            <a:ext cx="5344550" cy="2850424"/>
          </a:xfrm>
          <a:prstGeom prst="rect">
            <a:avLst/>
          </a:prstGeom>
          <a:noFill/>
          <a:ln>
            <a:noFill/>
          </a:ln>
        </p:spPr>
      </p:pic>
      <p:sp>
        <p:nvSpPr>
          <p:cNvPr id="132" name="Google Shape;132;p25"/>
          <p:cNvSpPr txBox="1"/>
          <p:nvPr/>
        </p:nvSpPr>
        <p:spPr>
          <a:xfrm>
            <a:off x="2657075" y="4241550"/>
            <a:ext cx="6064800" cy="338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pt-BR" sz="1000">
                <a:latin typeface="Lato"/>
                <a:ea typeface="Lato"/>
                <a:cs typeface="Lato"/>
                <a:sym typeface="Lato"/>
              </a:rPr>
              <a:t>Imagem: https://thiagonasc.com/assets/imgs/placeholder/placeholders-e-labels-demonstracao.jpg</a:t>
            </a:r>
            <a:endParaRPr sz="1000">
              <a:latin typeface="Lato"/>
              <a:ea typeface="Lato"/>
              <a:cs typeface="Lato"/>
              <a:sym typeface="Lato"/>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2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pt-BR"/>
              <a:t>Identificadores HTML (ID; Class)</a:t>
            </a:r>
            <a:endParaRPr/>
          </a:p>
        </p:txBody>
      </p:sp>
      <p:sp>
        <p:nvSpPr>
          <p:cNvPr id="138" name="Google Shape;138;p26"/>
          <p:cNvSpPr txBox="1"/>
          <p:nvPr/>
        </p:nvSpPr>
        <p:spPr>
          <a:xfrm>
            <a:off x="1776500" y="4765650"/>
            <a:ext cx="7739700" cy="323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pt-BR" sz="900"/>
              <a:t>https://ds86ezgzhjiyh.cloudfront.net/images/2019/february/never-repeat-id-inside-your-html-markup-follow-standards-to-create-valid-markup.jpg</a:t>
            </a:r>
            <a:endParaRPr sz="900"/>
          </a:p>
        </p:txBody>
      </p:sp>
      <p:pic>
        <p:nvPicPr>
          <p:cNvPr id="139" name="Google Shape;139;p26"/>
          <p:cNvPicPr preferRelativeResize="0"/>
          <p:nvPr/>
        </p:nvPicPr>
        <p:blipFill>
          <a:blip r:embed="rId3">
            <a:alphaModFix/>
          </a:blip>
          <a:stretch>
            <a:fillRect/>
          </a:stretch>
        </p:blipFill>
        <p:spPr>
          <a:xfrm>
            <a:off x="152400" y="1363750"/>
            <a:ext cx="8839200" cy="282854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7"/>
          <p:cNvSpPr txBox="1">
            <a:spLocks noGrp="1"/>
          </p:cNvSpPr>
          <p:nvPr>
            <p:ph type="body" idx="1"/>
          </p:nvPr>
        </p:nvSpPr>
        <p:spPr>
          <a:xfrm>
            <a:off x="2400297" y="1602675"/>
            <a:ext cx="6321600" cy="3002400"/>
          </a:xfrm>
          <a:prstGeom prst="rect">
            <a:avLst/>
          </a:prstGeom>
        </p:spPr>
        <p:txBody>
          <a:bodyPr spcFirstLastPara="1" wrap="square" lIns="91425" tIns="91425" rIns="91425" bIns="91425" anchor="t" anchorCtr="0">
            <a:normAutofit/>
          </a:bodyPr>
          <a:lstStyle/>
          <a:p>
            <a:pPr marL="0" lvl="0" indent="0" algn="l" rtl="0">
              <a:lnSpc>
                <a:spcPct val="145833"/>
              </a:lnSpc>
              <a:spcBef>
                <a:spcPts val="0"/>
              </a:spcBef>
              <a:spcAft>
                <a:spcPts val="0"/>
              </a:spcAft>
              <a:buNone/>
            </a:pPr>
            <a:r>
              <a:rPr lang="pt-BR" sz="2000">
                <a:solidFill>
                  <a:srgbClr val="1B1B1B"/>
                </a:solidFill>
                <a:latin typeface="Arial"/>
                <a:ea typeface="Arial"/>
                <a:cs typeface="Arial"/>
                <a:sym typeface="Arial"/>
              </a:rPr>
              <a:t>&lt;label for=”nome””&gt;</a:t>
            </a:r>
            <a:endParaRPr sz="2000">
              <a:solidFill>
                <a:srgbClr val="1B1B1B"/>
              </a:solidFill>
              <a:latin typeface="Arial"/>
              <a:ea typeface="Arial"/>
              <a:cs typeface="Arial"/>
              <a:sym typeface="Arial"/>
            </a:endParaRPr>
          </a:p>
          <a:p>
            <a:pPr marL="0" lvl="0" indent="457200" algn="l" rtl="0">
              <a:lnSpc>
                <a:spcPct val="145833"/>
              </a:lnSpc>
              <a:spcBef>
                <a:spcPts val="0"/>
              </a:spcBef>
              <a:spcAft>
                <a:spcPts val="0"/>
              </a:spcAft>
              <a:buNone/>
            </a:pPr>
            <a:r>
              <a:rPr lang="pt-BR" sz="2000">
                <a:solidFill>
                  <a:srgbClr val="1B1B1B"/>
                </a:solidFill>
                <a:latin typeface="Arial"/>
                <a:ea typeface="Arial"/>
                <a:cs typeface="Arial"/>
                <a:sym typeface="Arial"/>
              </a:rPr>
              <a:t>Nome</a:t>
            </a:r>
            <a:endParaRPr sz="2000">
              <a:solidFill>
                <a:srgbClr val="1B1B1B"/>
              </a:solidFill>
              <a:latin typeface="Arial"/>
              <a:ea typeface="Arial"/>
              <a:cs typeface="Arial"/>
              <a:sym typeface="Arial"/>
            </a:endParaRPr>
          </a:p>
          <a:p>
            <a:pPr marL="0" lvl="0" indent="0" algn="l" rtl="0">
              <a:lnSpc>
                <a:spcPct val="145833"/>
              </a:lnSpc>
              <a:spcBef>
                <a:spcPts val="0"/>
              </a:spcBef>
              <a:spcAft>
                <a:spcPts val="0"/>
              </a:spcAft>
              <a:buNone/>
            </a:pPr>
            <a:r>
              <a:rPr lang="pt-BR" sz="2000">
                <a:solidFill>
                  <a:srgbClr val="1B1B1B"/>
                </a:solidFill>
                <a:latin typeface="Arial"/>
                <a:ea typeface="Arial"/>
                <a:cs typeface="Arial"/>
                <a:sym typeface="Arial"/>
              </a:rPr>
              <a:t>&lt;/label&gt;</a:t>
            </a:r>
            <a:endParaRPr sz="2000">
              <a:solidFill>
                <a:srgbClr val="1B1B1B"/>
              </a:solidFill>
              <a:latin typeface="Arial"/>
              <a:ea typeface="Arial"/>
              <a:cs typeface="Arial"/>
              <a:sym typeface="Arial"/>
            </a:endParaRPr>
          </a:p>
          <a:p>
            <a:pPr marL="0" lvl="0" indent="0" algn="l" rtl="0">
              <a:lnSpc>
                <a:spcPct val="145833"/>
              </a:lnSpc>
              <a:spcBef>
                <a:spcPts val="0"/>
              </a:spcBef>
              <a:spcAft>
                <a:spcPts val="0"/>
              </a:spcAft>
              <a:buClr>
                <a:schemeClr val="dk2"/>
              </a:buClr>
              <a:buSzPts val="1100"/>
              <a:buFont typeface="Arial"/>
              <a:buNone/>
            </a:pPr>
            <a:r>
              <a:rPr lang="pt-BR" sz="2000">
                <a:solidFill>
                  <a:srgbClr val="1B1B1B"/>
                </a:solidFill>
                <a:latin typeface="Arial"/>
                <a:ea typeface="Arial"/>
                <a:cs typeface="Arial"/>
                <a:sym typeface="Arial"/>
              </a:rPr>
              <a:t> &lt;input type="text" id="nome" /&gt;</a:t>
            </a:r>
            <a:endParaRPr sz="2000">
              <a:solidFill>
                <a:srgbClr val="1B1B1B"/>
              </a:solidFill>
              <a:latin typeface="Arial"/>
              <a:ea typeface="Arial"/>
              <a:cs typeface="Arial"/>
              <a:sym typeface="Arial"/>
            </a:endParaRPr>
          </a:p>
          <a:p>
            <a:pPr marL="0" lvl="0" indent="0" algn="just" rtl="0">
              <a:spcBef>
                <a:spcPts val="0"/>
              </a:spcBef>
              <a:spcAft>
                <a:spcPts val="0"/>
              </a:spcAft>
              <a:buNone/>
            </a:pPr>
            <a:endParaRPr sz="2200" b="1">
              <a:solidFill>
                <a:srgbClr val="783F04"/>
              </a:solidFill>
              <a:highlight>
                <a:srgbClr val="FFFFFF"/>
              </a:highlight>
              <a:latin typeface="Roboto"/>
              <a:ea typeface="Roboto"/>
              <a:cs typeface="Roboto"/>
              <a:sym typeface="Roboto"/>
            </a:endParaRPr>
          </a:p>
          <a:p>
            <a:pPr marL="0" lvl="0" indent="0" algn="just" rtl="0">
              <a:spcBef>
                <a:spcPts val="1200"/>
              </a:spcBef>
              <a:spcAft>
                <a:spcPts val="1200"/>
              </a:spcAft>
              <a:buNone/>
            </a:pPr>
            <a:endParaRPr sz="2200" b="1">
              <a:solidFill>
                <a:srgbClr val="783F04"/>
              </a:solidFill>
              <a:highlight>
                <a:srgbClr val="FFFFFF"/>
              </a:highlight>
              <a:latin typeface="Roboto"/>
              <a:ea typeface="Roboto"/>
              <a:cs typeface="Roboto"/>
              <a:sym typeface="Roboto"/>
            </a:endParaRPr>
          </a:p>
        </p:txBody>
      </p:sp>
      <p:sp>
        <p:nvSpPr>
          <p:cNvPr id="145" name="Google Shape;145;p2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pt-BR"/>
              <a:t>&lt;label&gt;&lt;/label&gt;</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pt-BR"/>
              <a:t>&lt;input type=””&gt;</a:t>
            </a:r>
            <a:endParaRPr/>
          </a:p>
        </p:txBody>
      </p:sp>
      <p:sp>
        <p:nvSpPr>
          <p:cNvPr id="151" name="Google Shape;151;p28"/>
          <p:cNvSpPr txBox="1">
            <a:spLocks noGrp="1"/>
          </p:cNvSpPr>
          <p:nvPr>
            <p:ph type="body" idx="1"/>
          </p:nvPr>
        </p:nvSpPr>
        <p:spPr>
          <a:xfrm>
            <a:off x="2400297" y="1602675"/>
            <a:ext cx="6321600" cy="3002400"/>
          </a:xfrm>
          <a:prstGeom prst="rect">
            <a:avLst/>
          </a:prstGeom>
        </p:spPr>
        <p:txBody>
          <a:bodyPr spcFirstLastPara="1" wrap="square" lIns="91425" tIns="91425" rIns="91425" bIns="91425" anchor="t" anchorCtr="0">
            <a:normAutofit fontScale="92500" lnSpcReduction="20000"/>
          </a:bodyPr>
          <a:lstStyle/>
          <a:p>
            <a:pPr marL="457200" lvl="0" indent="-310832" algn="just" rtl="0">
              <a:spcBef>
                <a:spcPts val="0"/>
              </a:spcBef>
              <a:spcAft>
                <a:spcPts val="0"/>
              </a:spcAft>
              <a:buClr>
                <a:srgbClr val="1B1B1B"/>
              </a:buClr>
              <a:buSzPct val="100000"/>
              <a:buFont typeface="Roboto"/>
              <a:buAutoNum type="arabicPeriod"/>
            </a:pPr>
            <a:r>
              <a:rPr lang="pt-BR" b="1">
                <a:solidFill>
                  <a:srgbClr val="1B1B1B"/>
                </a:solidFill>
                <a:highlight>
                  <a:srgbClr val="FFFFFF"/>
                </a:highlight>
                <a:latin typeface="Roboto"/>
                <a:ea typeface="Roboto"/>
                <a:cs typeface="Roboto"/>
                <a:sym typeface="Roboto"/>
              </a:rPr>
              <a:t>type</a:t>
            </a:r>
            <a:endParaRPr b="1">
              <a:solidFill>
                <a:srgbClr val="1B1B1B"/>
              </a:solidFill>
              <a:highlight>
                <a:srgbClr val="FFFFFF"/>
              </a:highlight>
              <a:latin typeface="Roboto"/>
              <a:ea typeface="Roboto"/>
              <a:cs typeface="Roboto"/>
              <a:sym typeface="Roboto"/>
            </a:endParaRPr>
          </a:p>
          <a:p>
            <a:pPr marL="0" lvl="0" indent="0" algn="just" rtl="0">
              <a:spcBef>
                <a:spcPts val="1200"/>
              </a:spcBef>
              <a:spcAft>
                <a:spcPts val="0"/>
              </a:spcAft>
              <a:buNone/>
            </a:pPr>
            <a:r>
              <a:rPr lang="pt-BR" b="1">
                <a:solidFill>
                  <a:srgbClr val="1B1B1B"/>
                </a:solidFill>
                <a:highlight>
                  <a:srgbClr val="FFFFFF"/>
                </a:highlight>
                <a:latin typeface="Roboto"/>
                <a:ea typeface="Roboto"/>
                <a:cs typeface="Roboto"/>
                <a:sym typeface="Roboto"/>
              </a:rPr>
              <a:t>	HTML</a:t>
            </a:r>
            <a:endParaRPr b="1">
              <a:solidFill>
                <a:srgbClr val="1B1B1B"/>
              </a:solidFill>
              <a:highlight>
                <a:srgbClr val="FFFFFF"/>
              </a:highlight>
              <a:latin typeface="Roboto"/>
              <a:ea typeface="Roboto"/>
              <a:cs typeface="Roboto"/>
              <a:sym typeface="Roboto"/>
            </a:endParaRPr>
          </a:p>
          <a:p>
            <a:pPr marL="0" lvl="0" indent="0" algn="just" rtl="0">
              <a:spcBef>
                <a:spcPts val="1200"/>
              </a:spcBef>
              <a:spcAft>
                <a:spcPts val="0"/>
              </a:spcAft>
              <a:buNone/>
            </a:pPr>
            <a:r>
              <a:rPr lang="pt-BR" b="1">
                <a:solidFill>
                  <a:srgbClr val="783F04"/>
                </a:solidFill>
                <a:highlight>
                  <a:srgbClr val="FFFFFF"/>
                </a:highlight>
                <a:latin typeface="Roboto"/>
                <a:ea typeface="Roboto"/>
                <a:cs typeface="Roboto"/>
                <a:sym typeface="Roboto"/>
              </a:rPr>
              <a:t>text | submit | checkbox | file | hidden | image | password | radio |                    reset </a:t>
            </a:r>
            <a:endParaRPr b="1">
              <a:solidFill>
                <a:srgbClr val="783F04"/>
              </a:solidFill>
              <a:highlight>
                <a:srgbClr val="FFFFFF"/>
              </a:highlight>
              <a:latin typeface="Roboto"/>
              <a:ea typeface="Roboto"/>
              <a:cs typeface="Roboto"/>
              <a:sym typeface="Roboto"/>
            </a:endParaRPr>
          </a:p>
          <a:p>
            <a:pPr marL="0" lvl="0" indent="0" algn="just" rtl="0">
              <a:spcBef>
                <a:spcPts val="1200"/>
              </a:spcBef>
              <a:spcAft>
                <a:spcPts val="0"/>
              </a:spcAft>
              <a:buNone/>
            </a:pPr>
            <a:r>
              <a:rPr lang="pt-BR" b="1">
                <a:solidFill>
                  <a:srgbClr val="0F1111"/>
                </a:solidFill>
                <a:highlight>
                  <a:srgbClr val="FFFFFF"/>
                </a:highlight>
                <a:latin typeface="Roboto"/>
                <a:ea typeface="Roboto"/>
                <a:cs typeface="Roboto"/>
                <a:sym typeface="Roboto"/>
              </a:rPr>
              <a:t>	HTML 5</a:t>
            </a:r>
            <a:endParaRPr b="1">
              <a:solidFill>
                <a:srgbClr val="0F1111"/>
              </a:solidFill>
              <a:highlight>
                <a:srgbClr val="FFFFFF"/>
              </a:highlight>
              <a:latin typeface="Roboto"/>
              <a:ea typeface="Roboto"/>
              <a:cs typeface="Roboto"/>
              <a:sym typeface="Roboto"/>
            </a:endParaRPr>
          </a:p>
          <a:p>
            <a:pPr marL="0" lvl="0" indent="0" algn="just" rtl="0">
              <a:spcBef>
                <a:spcPts val="1200"/>
              </a:spcBef>
              <a:spcAft>
                <a:spcPts val="0"/>
              </a:spcAft>
              <a:buNone/>
            </a:pPr>
            <a:r>
              <a:rPr lang="pt-BR" b="1">
                <a:solidFill>
                  <a:srgbClr val="783F04"/>
                </a:solidFill>
                <a:highlight>
                  <a:srgbClr val="FFFFFF"/>
                </a:highlight>
                <a:latin typeface="Roboto"/>
                <a:ea typeface="Roboto"/>
                <a:cs typeface="Roboto"/>
                <a:sym typeface="Roboto"/>
              </a:rPr>
              <a:t>color | date | datetime | datetime-local | month | number | range | search | tel | time | week</a:t>
            </a:r>
            <a:endParaRPr b="1">
              <a:solidFill>
                <a:srgbClr val="783F04"/>
              </a:solidFill>
              <a:highlight>
                <a:srgbClr val="FFFFFF"/>
              </a:highlight>
              <a:latin typeface="Roboto"/>
              <a:ea typeface="Roboto"/>
              <a:cs typeface="Roboto"/>
              <a:sym typeface="Roboto"/>
            </a:endParaRPr>
          </a:p>
          <a:p>
            <a:pPr marL="0" lvl="0" indent="0" algn="just" rtl="0">
              <a:spcBef>
                <a:spcPts val="1200"/>
              </a:spcBef>
              <a:spcAft>
                <a:spcPts val="0"/>
              </a:spcAft>
              <a:buNone/>
            </a:pPr>
            <a:endParaRPr b="1">
              <a:solidFill>
                <a:srgbClr val="783F04"/>
              </a:solidFill>
              <a:highlight>
                <a:srgbClr val="FFFFFF"/>
              </a:highlight>
              <a:latin typeface="Roboto"/>
              <a:ea typeface="Roboto"/>
              <a:cs typeface="Roboto"/>
              <a:sym typeface="Roboto"/>
            </a:endParaRPr>
          </a:p>
          <a:p>
            <a:pPr marL="0" lvl="0" indent="0" algn="just" rtl="0">
              <a:spcBef>
                <a:spcPts val="1200"/>
              </a:spcBef>
              <a:spcAft>
                <a:spcPts val="0"/>
              </a:spcAft>
              <a:buNone/>
            </a:pPr>
            <a:r>
              <a:rPr lang="pt-BR" b="1">
                <a:solidFill>
                  <a:srgbClr val="000000"/>
                </a:solidFill>
                <a:highlight>
                  <a:srgbClr val="FFFFFF"/>
                </a:highlight>
                <a:latin typeface="Roboto"/>
                <a:ea typeface="Roboto"/>
                <a:cs typeface="Roboto"/>
                <a:sym typeface="Roboto"/>
              </a:rPr>
              <a:t>Detalhes em : </a:t>
            </a:r>
            <a:r>
              <a:rPr lang="pt-BR" b="1" u="sng">
                <a:solidFill>
                  <a:schemeClr val="hlink"/>
                </a:solidFill>
                <a:highlight>
                  <a:srgbClr val="FFFFFF"/>
                </a:highlight>
                <a:latin typeface="Roboto"/>
                <a:ea typeface="Roboto"/>
                <a:cs typeface="Roboto"/>
                <a:sym typeface="Roboto"/>
                <a:hlinkClick r:id="rId3"/>
              </a:rPr>
              <a:t>https://developer.mozilla.org/pt-BR/docs/Web/HTML/Element/input</a:t>
            </a:r>
            <a:endParaRPr b="1">
              <a:solidFill>
                <a:srgbClr val="783F04"/>
              </a:solidFill>
              <a:highlight>
                <a:srgbClr val="FFFFFF"/>
              </a:highlight>
              <a:latin typeface="Roboto"/>
              <a:ea typeface="Roboto"/>
              <a:cs typeface="Roboto"/>
              <a:sym typeface="Roboto"/>
            </a:endParaRPr>
          </a:p>
          <a:p>
            <a:pPr marL="0" lvl="0" indent="0" algn="just" rtl="0">
              <a:spcBef>
                <a:spcPts val="1200"/>
              </a:spcBef>
              <a:spcAft>
                <a:spcPts val="1200"/>
              </a:spcAft>
              <a:buNone/>
            </a:pPr>
            <a:endParaRPr b="1">
              <a:solidFill>
                <a:srgbClr val="783F04"/>
              </a:solidFill>
              <a:highlight>
                <a:srgbClr val="FFFFFF"/>
              </a:highlight>
              <a:latin typeface="Roboto"/>
              <a:ea typeface="Roboto"/>
              <a:cs typeface="Roboto"/>
              <a:sym typeface="Roboto"/>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29"/>
          <p:cNvSpPr txBox="1">
            <a:spLocks noGrp="1"/>
          </p:cNvSpPr>
          <p:nvPr>
            <p:ph type="title"/>
          </p:nvPr>
        </p:nvSpPr>
        <p:spPr>
          <a:xfrm>
            <a:off x="283100" y="712150"/>
            <a:ext cx="8602200" cy="20913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pt-BR"/>
              <a:t>Trabalho de fixação!</a:t>
            </a:r>
            <a:endParaRPr/>
          </a:p>
          <a:p>
            <a:pPr marL="0" lvl="0" indent="0" algn="l" rtl="0">
              <a:spcBef>
                <a:spcPts val="0"/>
              </a:spcBef>
              <a:spcAft>
                <a:spcPts val="0"/>
              </a:spcAft>
              <a:buNone/>
            </a:pPr>
            <a:endParaRPr sz="4466"/>
          </a:p>
        </p:txBody>
      </p:sp>
      <p:sp>
        <p:nvSpPr>
          <p:cNvPr id="157" name="Google Shape;157;p29"/>
          <p:cNvSpPr txBox="1"/>
          <p:nvPr/>
        </p:nvSpPr>
        <p:spPr>
          <a:xfrm>
            <a:off x="329075" y="1706275"/>
            <a:ext cx="8556300" cy="3186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2"/>
              </a:buClr>
              <a:buSzPts val="1100"/>
              <a:buFont typeface="Arial"/>
              <a:buNone/>
            </a:pPr>
            <a:r>
              <a:rPr lang="pt-BR" sz="2166" b="1">
                <a:solidFill>
                  <a:schemeClr val="lt1"/>
                </a:solidFill>
                <a:latin typeface="Raleway"/>
                <a:ea typeface="Raleway"/>
                <a:cs typeface="Raleway"/>
                <a:sym typeface="Raleway"/>
              </a:rPr>
              <a:t>Email: wagner.araujo@cesmac.edu.br</a:t>
            </a:r>
            <a:endParaRPr sz="2166" b="1">
              <a:solidFill>
                <a:schemeClr val="lt1"/>
              </a:solidFill>
              <a:latin typeface="Raleway"/>
              <a:ea typeface="Raleway"/>
              <a:cs typeface="Raleway"/>
              <a:sym typeface="Raleway"/>
            </a:endParaRPr>
          </a:p>
          <a:p>
            <a:pPr marL="0" lvl="0" indent="0" algn="l" rtl="0">
              <a:spcBef>
                <a:spcPts val="0"/>
              </a:spcBef>
              <a:spcAft>
                <a:spcPts val="0"/>
              </a:spcAft>
              <a:buClr>
                <a:schemeClr val="dk2"/>
              </a:buClr>
              <a:buSzPts val="1100"/>
              <a:buFont typeface="Arial"/>
              <a:buNone/>
            </a:pPr>
            <a:r>
              <a:rPr lang="pt-BR" sz="2166" b="1">
                <a:solidFill>
                  <a:schemeClr val="lt1"/>
                </a:solidFill>
                <a:latin typeface="Raleway"/>
                <a:ea typeface="Raleway"/>
                <a:cs typeface="Raleway"/>
                <a:sym typeface="Raleway"/>
              </a:rPr>
              <a:t>Um cliente solicitou a criação de 2 páginas: </a:t>
            </a:r>
            <a:endParaRPr sz="2166" b="1">
              <a:solidFill>
                <a:schemeClr val="lt1"/>
              </a:solidFill>
              <a:latin typeface="Raleway"/>
              <a:ea typeface="Raleway"/>
              <a:cs typeface="Raleway"/>
              <a:sym typeface="Raleway"/>
            </a:endParaRPr>
          </a:p>
          <a:p>
            <a:pPr marL="457200" lvl="0" indent="-366183" algn="l" rtl="0">
              <a:spcBef>
                <a:spcPts val="0"/>
              </a:spcBef>
              <a:spcAft>
                <a:spcPts val="0"/>
              </a:spcAft>
              <a:buClr>
                <a:schemeClr val="lt1"/>
              </a:buClr>
              <a:buSzPts val="2167"/>
              <a:buFont typeface="Raleway"/>
              <a:buAutoNum type="arabicPeriod"/>
            </a:pPr>
            <a:r>
              <a:rPr lang="pt-BR" sz="2166" b="1">
                <a:solidFill>
                  <a:schemeClr val="lt1"/>
                </a:solidFill>
                <a:latin typeface="Raleway"/>
                <a:ea typeface="Raleway"/>
                <a:cs typeface="Raleway"/>
                <a:sym typeface="Raleway"/>
              </a:rPr>
              <a:t>Página responsável pela autenticação: deve ser solicitado o Email e a Senha (Dica: Form e Inputs);</a:t>
            </a:r>
            <a:endParaRPr sz="2166" b="1">
              <a:solidFill>
                <a:schemeClr val="lt1"/>
              </a:solidFill>
              <a:latin typeface="Raleway"/>
              <a:ea typeface="Raleway"/>
              <a:cs typeface="Raleway"/>
              <a:sym typeface="Raleway"/>
            </a:endParaRPr>
          </a:p>
          <a:p>
            <a:pPr marL="457200" lvl="0" indent="-366183" algn="l" rtl="0">
              <a:spcBef>
                <a:spcPts val="0"/>
              </a:spcBef>
              <a:spcAft>
                <a:spcPts val="0"/>
              </a:spcAft>
              <a:buClr>
                <a:schemeClr val="lt1"/>
              </a:buClr>
              <a:buSzPts val="2167"/>
              <a:buFont typeface="Raleway"/>
              <a:buAutoNum type="arabicPeriod"/>
            </a:pPr>
            <a:r>
              <a:rPr lang="pt-BR" sz="2166" b="1">
                <a:solidFill>
                  <a:schemeClr val="lt1"/>
                </a:solidFill>
                <a:latin typeface="Raleway"/>
                <a:ea typeface="Raleway"/>
                <a:cs typeface="Raleway"/>
                <a:sym typeface="Raleway"/>
              </a:rPr>
              <a:t>Deve ser possível navegar à página de “Novo Usuário” com os dados: “nome; e-mail; senha; confirmar senha”. É necessário também um botão para resetar o formulário.</a:t>
            </a:r>
            <a:endParaRPr sz="2166" b="1">
              <a:solidFill>
                <a:schemeClr val="lt1"/>
              </a:solidFill>
              <a:latin typeface="Raleway"/>
              <a:ea typeface="Raleway"/>
              <a:cs typeface="Raleway"/>
              <a:sym typeface="Raleway"/>
            </a:endParaRPr>
          </a:p>
          <a:p>
            <a:pPr marL="457200" lvl="0" indent="-366183" algn="l" rtl="0">
              <a:spcBef>
                <a:spcPts val="0"/>
              </a:spcBef>
              <a:spcAft>
                <a:spcPts val="0"/>
              </a:spcAft>
              <a:buClr>
                <a:schemeClr val="lt1"/>
              </a:buClr>
              <a:buSzPts val="2167"/>
              <a:buFont typeface="Raleway"/>
              <a:buAutoNum type="arabicPeriod"/>
            </a:pPr>
            <a:r>
              <a:rPr lang="pt-BR" sz="2166" b="1">
                <a:solidFill>
                  <a:schemeClr val="lt1"/>
                </a:solidFill>
                <a:latin typeface="Raleway"/>
                <a:ea typeface="Raleway"/>
                <a:cs typeface="Raleway"/>
                <a:sym typeface="Raleway"/>
              </a:rPr>
              <a:t> Adicionar Listagem de usuários em tabela (&lt;table&gt;) com: Nome e e-mail</a:t>
            </a:r>
            <a:endParaRPr sz="2166" b="1">
              <a:solidFill>
                <a:schemeClr val="lt1"/>
              </a:solidFill>
              <a:latin typeface="Raleway"/>
              <a:ea typeface="Raleway"/>
              <a:cs typeface="Raleway"/>
              <a:sym typeface="Raleway"/>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3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pt-BR"/>
              <a:t>Dúvidas?</a:t>
            </a:r>
            <a:endParaRPr/>
          </a:p>
        </p:txBody>
      </p:sp>
      <p:sp>
        <p:nvSpPr>
          <p:cNvPr id="163" name="Google Shape;163;p30"/>
          <p:cNvSpPr txBox="1">
            <a:spLocks noGrp="1"/>
          </p:cNvSpPr>
          <p:nvPr>
            <p:ph type="body" idx="1"/>
          </p:nvPr>
        </p:nvSpPr>
        <p:spPr>
          <a:xfrm>
            <a:off x="311700" y="1152475"/>
            <a:ext cx="7689300" cy="33360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o" ma:contentTypeID="0x010100634A943A8DC3354A8151C28915423A53" ma:contentTypeVersion="3" ma:contentTypeDescription="Crie um novo documento." ma:contentTypeScope="" ma:versionID="deaff6b0d53f7540f32c03e938d129ef">
  <xsd:schema xmlns:xsd="http://www.w3.org/2001/XMLSchema" xmlns:xs="http://www.w3.org/2001/XMLSchema" xmlns:p="http://schemas.microsoft.com/office/2006/metadata/properties" xmlns:ns2="08c770d9-b31e-4150-8755-0eafc9fd6ed4" targetNamespace="http://schemas.microsoft.com/office/2006/metadata/properties" ma:root="true" ma:fieldsID="7b0e1c22dd208094875042358508f15c" ns2:_="">
    <xsd:import namespace="08c770d9-b31e-4150-8755-0eafc9fd6ed4"/>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8c770d9-b31e-4150-8755-0eafc9fd6ed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25A6F46-A95E-4287-965C-F047EF29AF27}">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49279A86-0218-40B0-8DAA-A89F593FCFD7}">
  <ds:schemaRefs>
    <ds:schemaRef ds:uri="http://schemas.microsoft.com/sharepoint/v3/contenttype/forms"/>
  </ds:schemaRefs>
</ds:datastoreItem>
</file>

<file path=customXml/itemProps3.xml><?xml version="1.0" encoding="utf-8"?>
<ds:datastoreItem xmlns:ds="http://schemas.openxmlformats.org/officeDocument/2006/customXml" ds:itemID="{ACCC8AF8-C3F3-45CB-841D-B06DDAF0B415}"/>
</file>

<file path=docProps/app.xml><?xml version="1.0" encoding="utf-8"?>
<Properties xmlns="http://schemas.openxmlformats.org/officeDocument/2006/extended-properties" xmlns:vt="http://schemas.openxmlformats.org/officeDocument/2006/docPropsVTypes">
  <Application>Microsoft Office PowerPoint</Application>
  <PresentationFormat>Apresentação na tela (16:9)</PresentationFormat>
  <Slides>17</Slides>
  <Notes>17</Notes>
  <HiddenSlides>0</HiddenSlides>
  <ScaleCrop>false</ScaleCrop>
  <HeadingPairs>
    <vt:vector size="4" baseType="variant">
      <vt:variant>
        <vt:lpstr>Tema</vt:lpstr>
      </vt:variant>
      <vt:variant>
        <vt:i4>1</vt:i4>
      </vt:variant>
      <vt:variant>
        <vt:lpstr>Títulos de slides</vt:lpstr>
      </vt:variant>
      <vt:variant>
        <vt:i4>17</vt:i4>
      </vt:variant>
    </vt:vector>
  </HeadingPairs>
  <TitlesOfParts>
    <vt:vector size="18" baseType="lpstr">
      <vt:lpstr>Simple Light</vt:lpstr>
      <vt:lpstr>Formulários HTML</vt:lpstr>
      <vt:lpstr>O que são formulários?</vt:lpstr>
      <vt:lpstr>UX</vt:lpstr>
      <vt:lpstr>Formulário</vt:lpstr>
      <vt:lpstr>Formulário</vt:lpstr>
      <vt:lpstr>Elementos</vt:lpstr>
      <vt:lpstr>&lt;input  placeholder=””&gt;</vt:lpstr>
      <vt:lpstr>CODE!</vt:lpstr>
      <vt:lpstr>Elementos</vt:lpstr>
      <vt:lpstr>&lt;label&gt;&lt;/label&gt; + &lt;input&gt;</vt:lpstr>
      <vt:lpstr>&lt;input type=””&gt;</vt:lpstr>
      <vt:lpstr>&lt;inṕut  placeholder=””&gt;</vt:lpstr>
      <vt:lpstr>Identificadores HTML (ID; Class)</vt:lpstr>
      <vt:lpstr>&lt;label&gt;&lt;/label&gt;</vt:lpstr>
      <vt:lpstr>&lt;input type=””&gt;</vt:lpstr>
      <vt:lpstr>Trabalho de fixação! </vt:lpstr>
      <vt:lpstr>Dúvidas?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2</cp:revision>
  <dcterms:modified xsi:type="dcterms:W3CDTF">2026-02-26T00:57:12Z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0x010100634A943A8DC3354A8151C28915423A53</vt:lpwstr>
  </property>
</Properties>
</file>