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3500" type="screen16x9"/>
  <p:notesSz cx="6858000" cy="9144000"/>
  <p:embeddedFontLs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Raleway" pitchFamily="2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2363054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72363054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46378f6af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46378f6af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46378f6a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46378f6af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46378f6af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46378f6af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78f6af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46378f6af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78f6a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46378f6a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46378f6a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46378f6a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0a6e4b8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0a6e4b8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0a6e4b8a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0a6e4b8a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6378f6afd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46378f6afd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46378f6afd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46378f6afd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46378f6af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46378f6afd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251bb473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251bb473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6378f6af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46378f6af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6378f6afd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46378f6afd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46378f6afd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46378f6afd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378f6af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46378f6af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78f6afd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46378f6afd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6378f6afd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46378f6afd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46378f6af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46378f6af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B5394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1155CC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None/>
              <a:defRPr sz="3600">
                <a:solidFill>
                  <a:srgbClr val="07376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9600"/>
              <a:buFont typeface="Lato"/>
              <a:buNone/>
              <a:defRPr sz="9600">
                <a:solidFill>
                  <a:srgbClr val="1C4587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188600" y="1617500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CSS3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Introdução</a:t>
            </a:r>
            <a:endParaRPr sz="200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Wagner Palmeira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Email: wagner.araujo@cesmac.edu.br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O que é css?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4294967295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 b="0">
                <a:latin typeface="Lato"/>
                <a:ea typeface="Lato"/>
                <a:cs typeface="Lato"/>
                <a:sym typeface="Lato"/>
              </a:rPr>
              <a:t>Cascading Style Sheets (</a:t>
            </a:r>
            <a:r>
              <a:rPr lang="pt-BR" sz="1800">
                <a:latin typeface="Lato"/>
                <a:ea typeface="Lato"/>
                <a:cs typeface="Lato"/>
                <a:sym typeface="Lato"/>
              </a:rPr>
              <a:t>CSS</a:t>
            </a:r>
            <a:r>
              <a:rPr lang="pt-BR" sz="1800" b="0">
                <a:latin typeface="Lato"/>
                <a:ea typeface="Lato"/>
                <a:cs typeface="Lato"/>
                <a:sym typeface="Lato"/>
              </a:rPr>
              <a:t>)</a:t>
            </a:r>
            <a:endParaRPr sz="1800" b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 b="0">
                <a:latin typeface="Lato"/>
                <a:ea typeface="Lato"/>
                <a:cs typeface="Lato"/>
                <a:sym typeface="Lato"/>
              </a:rPr>
              <a:t>Formatação de informação;</a:t>
            </a:r>
            <a:endParaRPr sz="1800" b="0">
              <a:latin typeface="Lato"/>
              <a:ea typeface="Lato"/>
              <a:cs typeface="Lato"/>
              <a:sym typeface="La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lphaLcPeriod"/>
            </a:pPr>
            <a:r>
              <a:rPr lang="pt-BR" sz="1800" b="0">
                <a:latin typeface="Lato"/>
                <a:ea typeface="Lato"/>
                <a:cs typeface="Lato"/>
                <a:sym typeface="Lato"/>
              </a:rPr>
              <a:t>Ex: Imagens, Textos, Etc</a:t>
            </a:r>
            <a:endParaRPr sz="1800" b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 b="0">
                <a:latin typeface="Lato"/>
                <a:ea typeface="Lato"/>
                <a:cs typeface="Lato"/>
                <a:sym typeface="Lato"/>
              </a:rPr>
              <a:t>Definir como os elementos html devem ser exibidos;</a:t>
            </a:r>
            <a:endParaRPr sz="1800" b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b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 b="0">
                <a:latin typeface="Lato"/>
                <a:ea typeface="Lato"/>
                <a:cs typeface="Lato"/>
                <a:sym typeface="Lato"/>
              </a:rPr>
              <a:t>CSS2 e CSS3?!?!</a:t>
            </a:r>
            <a:endParaRPr sz="1800" b="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descr="Pedaço de fita adesiva prendendo uma nota ao slid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CSS2</a:t>
            </a:r>
            <a:endParaRPr sz="300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4294967295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pt-BR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 o CSS que nós conhecemos podemos formatar algumas características básicas</a:t>
            </a:r>
            <a:r>
              <a:rPr lang="pt-BR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cores, background, características de font, margins, paddings, posição e </a:t>
            </a:r>
            <a:r>
              <a:rPr lang="pt-BR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controlamos de uma maneira muito artesanal e simples a estrutura do site com a propriedade</a:t>
            </a:r>
            <a:r>
              <a:rPr lang="pt-BR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float.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923550" y="4743300"/>
            <a:ext cx="595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Fonte:https://www.w3c.br/pub/Cursos/CursoCSS3/css-web.pdf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descr="Pedaço de fita adesiva prendendo uma nota ao slid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CSS3</a:t>
            </a:r>
            <a:endParaRPr sz="300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4294967295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pt-BR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1) seletores (:nth-*)</a:t>
            </a:r>
            <a:endParaRPr sz="14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pt-BR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Box model: box-sizing</a:t>
            </a:r>
            <a:endParaRPr sz="14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pt-BR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Flexbox</a:t>
            </a:r>
            <a:endParaRPr sz="14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pt-BR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Grid</a:t>
            </a:r>
            <a:endParaRPr sz="14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pt-BR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Transitions &amp; Animations</a:t>
            </a:r>
            <a:endParaRPr sz="14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pt-BR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…</a:t>
            </a:r>
            <a:endParaRPr sz="14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pt-BR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…</a:t>
            </a:r>
            <a:endParaRPr sz="14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700"/>
              </a:spcBef>
              <a:spcAft>
                <a:spcPts val="700"/>
              </a:spcAft>
              <a:buNone/>
            </a:pPr>
            <a:endParaRPr sz="14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923550" y="4743300"/>
            <a:ext cx="595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Fonte:https://www.w3c.br/pub/Cursos/CursoCSS3/css-web.pdf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Tipos de Folha de Estilo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4294967295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 b="0">
                <a:latin typeface="Lato"/>
                <a:ea typeface="Lato"/>
                <a:cs typeface="Lato"/>
                <a:sym typeface="Lato"/>
              </a:rPr>
              <a:t>CSS INTERNO</a:t>
            </a:r>
            <a:endParaRPr sz="1800" b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b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 b="0">
                <a:latin typeface="Lato"/>
                <a:ea typeface="Lato"/>
                <a:cs typeface="Lato"/>
                <a:sym typeface="Lato"/>
              </a:rPr>
              <a:t>CSS EXTERNO</a:t>
            </a:r>
            <a:endParaRPr sz="1800" b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b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 b="0">
                <a:latin typeface="Lato"/>
                <a:ea typeface="Lato"/>
                <a:cs typeface="Lato"/>
                <a:sym typeface="Lato"/>
              </a:rPr>
              <a:t>CSS INLINE</a:t>
            </a:r>
            <a:endParaRPr sz="1800" b="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CSS INTERNO</a:t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025" y="1562850"/>
            <a:ext cx="6655862" cy="335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1156950" y="4864725"/>
            <a:ext cx="733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Lato"/>
                <a:ea typeface="Lato"/>
                <a:cs typeface="Lato"/>
                <a:sym typeface="Lato"/>
              </a:rPr>
              <a:t>https://www.hostinger.com.br/tutoriais/wp-content/uploads/sites/12/2018/03/como-adicionar-css-no-html-sem-tag.png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CSS INLINE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1184825" y="4640750"/>
            <a:ext cx="733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Lato"/>
                <a:ea typeface="Lato"/>
                <a:cs typeface="Lato"/>
                <a:sym typeface="Lato"/>
              </a:rPr>
              <a:t>https://www.codegrepper.com/codeimages/multiple-inline-css.png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2550"/>
            <a:ext cx="8839200" cy="2319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CSS EXTERNO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1184825" y="4640750"/>
            <a:ext cx="733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Lato"/>
                <a:ea typeface="Lato"/>
                <a:cs typeface="Lato"/>
                <a:sym typeface="Lato"/>
              </a:rPr>
              <a:t>https://www.hostinger.com.br/tutoriais/wp-content/uploads/sites/12/2018/03/como-incorporar-css.png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363" y="1716175"/>
            <a:ext cx="8181275" cy="26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Seletores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261500" y="1876175"/>
            <a:ext cx="6621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latin typeface="Lato"/>
                <a:ea typeface="Lato"/>
                <a:cs typeface="Lato"/>
                <a:sym typeface="Lato"/>
              </a:rPr>
              <a:t>O seletor representa uma estrutura. Essa estrutura é usada como uma </a:t>
            </a:r>
            <a:r>
              <a:rPr lang="pt-BR" sz="2700" b="1">
                <a:latin typeface="Lato"/>
                <a:ea typeface="Lato"/>
                <a:cs typeface="Lato"/>
                <a:sym typeface="Lato"/>
              </a:rPr>
              <a:t>condição</a:t>
            </a:r>
            <a:r>
              <a:rPr lang="pt-BR" sz="2700">
                <a:latin typeface="Lato"/>
                <a:ea typeface="Lato"/>
                <a:cs typeface="Lato"/>
                <a:sym typeface="Lato"/>
              </a:rPr>
              <a:t> para determinar quais </a:t>
            </a:r>
            <a:r>
              <a:rPr lang="pt-BR" sz="2700" b="1">
                <a:latin typeface="Lato"/>
                <a:ea typeface="Lato"/>
                <a:cs typeface="Lato"/>
                <a:sym typeface="Lato"/>
              </a:rPr>
              <a:t>elementos</a:t>
            </a:r>
            <a:r>
              <a:rPr lang="pt-BR" sz="2700">
                <a:latin typeface="Lato"/>
                <a:ea typeface="Lato"/>
                <a:cs typeface="Lato"/>
                <a:sym typeface="Lato"/>
              </a:rPr>
              <a:t> de um grupo de elementos serão </a:t>
            </a:r>
            <a:r>
              <a:rPr lang="pt-BR" sz="2700" b="1">
                <a:latin typeface="Lato"/>
                <a:ea typeface="Lato"/>
                <a:cs typeface="Lato"/>
                <a:sym typeface="Lato"/>
              </a:rPr>
              <a:t>formatados</a:t>
            </a:r>
            <a:r>
              <a:rPr lang="pt-BR" sz="2700">
                <a:latin typeface="Lato"/>
                <a:ea typeface="Lato"/>
                <a:cs typeface="Lato"/>
                <a:sym typeface="Lato"/>
              </a:rPr>
              <a:t>.</a:t>
            </a:r>
            <a:endParaRPr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878150" y="3861100"/>
            <a:ext cx="742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https://www.w3c.br/pub/Cursos/CursoCSS3/css-web.pdf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Seletores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878150" y="3861100"/>
            <a:ext cx="742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https://www.chiefofdesign.com.br/wp-content/uploads/2018/08/regra-css.jpg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150" y="1533675"/>
            <a:ext cx="3813336" cy="207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Seletores Agrupados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878150" y="3861100"/>
            <a:ext cx="7429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https://image.slidesharecdn.com/css-130918132238-phpapp02/85/css-mdulo-bsico-de-web-6-320.jpg?cb=1379510663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525" y="1632550"/>
            <a:ext cx="2768200" cy="207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Seletores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557550" y="1616925"/>
            <a:ext cx="7708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Lato"/>
              <a:buChar char="●"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Element Selector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Lato"/>
              <a:buChar char="○"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p {}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Lato"/>
              <a:buChar char="●"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id Selector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Lato"/>
              <a:buChar char="○"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#id {}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Lato"/>
              <a:buChar char="●"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class Selector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Lato"/>
              <a:buChar char="○"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.class {}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Lato"/>
              <a:buChar char="●"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Universal Selector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Lato"/>
              <a:buChar char="○"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* {}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Lato"/>
              <a:buChar char="●"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Group Selector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Lato"/>
              <a:buChar char="○"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p, h1 {}</a:t>
            </a:r>
            <a:endParaRPr sz="2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/>
        </p:nvSpPr>
        <p:spPr>
          <a:xfrm>
            <a:off x="1261500" y="1876175"/>
            <a:ext cx="6621000" cy="12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pt-BR" sz="21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“Uma propriedade CSS é uma característica (como a cor) cujo valor define o aspecto de como o navegador deve exibir o elemento</a:t>
            </a:r>
            <a:r>
              <a:rPr lang="pt-BR" sz="2000">
                <a:solidFill>
                  <a:schemeClr val="dk2"/>
                </a:solidFill>
              </a:rPr>
              <a:t>.”</a:t>
            </a:r>
            <a:endParaRPr sz="3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25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Propriedades CSS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878150" y="3861100"/>
            <a:ext cx="742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https://developer.mozilla.org/pt-BR/docs/Glossary/property/CSS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Propriedades CSS (exemplos)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557550" y="1616925"/>
            <a:ext cx="77082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Char char="●"/>
            </a:pPr>
            <a:r>
              <a:rPr lang="pt-BR" sz="2500">
                <a:latin typeface="Lato"/>
                <a:ea typeface="Lato"/>
                <a:cs typeface="Lato"/>
                <a:sym typeface="Lato"/>
              </a:rPr>
              <a:t>color -&gt; Cor</a:t>
            </a:r>
            <a:endParaRPr sz="2500">
              <a:latin typeface="Lato"/>
              <a:ea typeface="Lato"/>
              <a:cs typeface="Lato"/>
              <a:sym typeface="Lat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Char char="●"/>
            </a:pPr>
            <a:r>
              <a:rPr lang="pt-BR" sz="2500">
                <a:latin typeface="Lato"/>
                <a:ea typeface="Lato"/>
                <a:cs typeface="Lato"/>
                <a:sym typeface="Lato"/>
              </a:rPr>
              <a:t>background -&gt; Cor de fundo</a:t>
            </a:r>
            <a:endParaRPr sz="2500">
              <a:latin typeface="Lato"/>
              <a:ea typeface="Lato"/>
              <a:cs typeface="Lato"/>
              <a:sym typeface="Lat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Char char="●"/>
            </a:pPr>
            <a:r>
              <a:rPr lang="pt-BR" sz="2500">
                <a:latin typeface="Lato"/>
                <a:ea typeface="Lato"/>
                <a:cs typeface="Lato"/>
                <a:sym typeface="Lato"/>
              </a:rPr>
              <a:t>width: Largura</a:t>
            </a:r>
            <a:endParaRPr sz="2500">
              <a:latin typeface="Lato"/>
              <a:ea typeface="Lato"/>
              <a:cs typeface="Lato"/>
              <a:sym typeface="Lat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Char char="●"/>
            </a:pPr>
            <a:r>
              <a:rPr lang="pt-BR" sz="2500">
                <a:latin typeface="Lato"/>
                <a:ea typeface="Lato"/>
                <a:cs typeface="Lato"/>
                <a:sym typeface="Lato"/>
              </a:rPr>
              <a:t>height: Altura</a:t>
            </a:r>
            <a:endParaRPr sz="2500">
              <a:latin typeface="Lato"/>
              <a:ea typeface="Lato"/>
              <a:cs typeface="Lato"/>
              <a:sym typeface="Lat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Char char="●"/>
            </a:pPr>
            <a:r>
              <a:rPr lang="pt-BR" sz="2500">
                <a:latin typeface="Lato"/>
                <a:ea typeface="Lato"/>
                <a:cs typeface="Lato"/>
                <a:sym typeface="Lato"/>
              </a:rPr>
              <a:t>font-size: Tamanho da fonte</a:t>
            </a:r>
            <a:endParaRPr sz="2500"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>
            <a:spLocks noGrp="1"/>
          </p:cNvSpPr>
          <p:nvPr>
            <p:ph type="title"/>
          </p:nvPr>
        </p:nvSpPr>
        <p:spPr>
          <a:xfrm>
            <a:off x="283100" y="712150"/>
            <a:ext cx="7181700" cy="3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CODE!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Margin</a:t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800" y="1353775"/>
            <a:ext cx="4238400" cy="33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/>
        </p:nvSpPr>
        <p:spPr>
          <a:xfrm>
            <a:off x="766650" y="4627750"/>
            <a:ext cx="740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http://devfuria.com.br/html-css/margin/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Padding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766650" y="4627750"/>
            <a:ext cx="740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https://s1.o7planning.com/en/12491/images/50450487.png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525" y="1634725"/>
            <a:ext cx="489585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Border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766650" y="4627750"/>
            <a:ext cx="7401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Lato"/>
                <a:ea typeface="Lato"/>
                <a:cs typeface="Lato"/>
                <a:sym typeface="Lato"/>
              </a:rPr>
              <a:t>http://https://www.alura.com.br/artigos/assets/entendendo-como-funciona-box-model-e-o-box-sizing/box-model-no-devtools.png.com.br/html-css/margin/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863" y="1676525"/>
            <a:ext cx="4746083" cy="28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Border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96" name="Google Shape;196;p31"/>
          <p:cNvSpPr txBox="1"/>
          <p:nvPr/>
        </p:nvSpPr>
        <p:spPr>
          <a:xfrm>
            <a:off x="766650" y="4627750"/>
            <a:ext cx="7401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Lato"/>
                <a:ea typeface="Lato"/>
                <a:cs typeface="Lato"/>
                <a:sym typeface="Lato"/>
              </a:rPr>
              <a:t>https://eqsash.com/custom/files/images/articles/css-border.jpg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313" y="1480150"/>
            <a:ext cx="5255383" cy="28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>
            <a:spLocks noGrp="1"/>
          </p:cNvSpPr>
          <p:nvPr>
            <p:ph type="title"/>
          </p:nvPr>
        </p:nvSpPr>
        <p:spPr>
          <a:xfrm>
            <a:off x="283100" y="712150"/>
            <a:ext cx="7181700" cy="3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CODE!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Float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208" name="Google Shape;208;p33"/>
          <p:cNvSpPr txBox="1"/>
          <p:nvPr/>
        </p:nvSpPr>
        <p:spPr>
          <a:xfrm>
            <a:off x="766650" y="4627750"/>
            <a:ext cx="7401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https://i0.wp.com/css-tricks.com/wp-content/uploads/2021/03/web-layout.png?resize=540%2C240&amp;ssl=1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700" y="1758000"/>
            <a:ext cx="51435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>
            <a:spLocks noGrp="1"/>
          </p:cNvSpPr>
          <p:nvPr>
            <p:ph type="title"/>
          </p:nvPr>
        </p:nvSpPr>
        <p:spPr>
          <a:xfrm>
            <a:off x="283100" y="712150"/>
            <a:ext cx="7181700" cy="3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CODE!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4A943A8DC3354A8151C28915423A53" ma:contentTypeVersion="3" ma:contentTypeDescription="Crie um novo documento." ma:contentTypeScope="" ma:versionID="deaff6b0d53f7540f32c03e938d129ef">
  <xsd:schema xmlns:xsd="http://www.w3.org/2001/XMLSchema" xmlns:xs="http://www.w3.org/2001/XMLSchema" xmlns:p="http://schemas.microsoft.com/office/2006/metadata/properties" xmlns:ns2="08c770d9-b31e-4150-8755-0eafc9fd6ed4" targetNamespace="http://schemas.microsoft.com/office/2006/metadata/properties" ma:root="true" ma:fieldsID="7b0e1c22dd208094875042358508f15c" ns2:_="">
    <xsd:import namespace="08c770d9-b31e-4150-8755-0eafc9fd6e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c770d9-b31e-4150-8755-0eafc9fd6e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CC91E2-6615-4E08-9413-82C4429EEE5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2BADFF3-9D9F-4E5E-92B6-21117683EF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D4E4EA-91B5-478B-A71C-BD8B8E8DEDAE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22</Slides>
  <Notes>22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3" baseType="lpstr">
      <vt:lpstr>Swiss</vt:lpstr>
      <vt:lpstr>CSS3 Introdução</vt:lpstr>
      <vt:lpstr>O que é css?</vt:lpstr>
      <vt:lpstr>Apresentação do PowerPoint</vt:lpstr>
      <vt:lpstr>Apresentação do PowerPoint</vt:lpstr>
      <vt:lpstr>Tipos de Folha de Estilo</vt:lpstr>
      <vt:lpstr>CSS INTERNO</vt:lpstr>
      <vt:lpstr>CSS INLINE</vt:lpstr>
      <vt:lpstr>CSS EXTERNO</vt:lpstr>
      <vt:lpstr>Seletores</vt:lpstr>
      <vt:lpstr>Seletores</vt:lpstr>
      <vt:lpstr>Seletores Agrupados</vt:lpstr>
      <vt:lpstr>Seletores</vt:lpstr>
      <vt:lpstr>Propriedades CSS</vt:lpstr>
      <vt:lpstr>Propriedades CSS (exemplos)</vt:lpstr>
      <vt:lpstr> CODE!</vt:lpstr>
      <vt:lpstr>Margin</vt:lpstr>
      <vt:lpstr>Padding</vt:lpstr>
      <vt:lpstr>Border</vt:lpstr>
      <vt:lpstr>Border</vt:lpstr>
      <vt:lpstr> CODE!</vt:lpstr>
      <vt:lpstr>Float</vt:lpstr>
      <vt:lpstr> CODE!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2026-02-25T13:46:24Z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0x010100634A943A8DC3354A8151C28915423A53</vt:lpwstr>
  </property>
</Properties>
</file>