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Montserrat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font" Target="fonts/Raleway-regular.fntdata"/><Relationship Id="rId47" Type="http://schemas.openxmlformats.org/officeDocument/2006/relationships/font" Target="fonts/Lato-bold.fntdata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schemas.openxmlformats.org/officeDocument/2006/relationships/font" Target="fonts/Montserrat-regular.fntdata"/><Relationship Id="rId55" Type="http://schemas.openxmlformats.org/officeDocument/2006/relationships/customXml" Target="../customXml/item2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font" Target="fonts/Raleway-boldItalic.fntdata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53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5" Type="http://schemas.openxmlformats.org/officeDocument/2006/relationships/notesMaster" Target="notesMasters/notesMaster1.xml"/><Relationship Id="rId44" Type="http://schemas.openxmlformats.org/officeDocument/2006/relationships/font" Target="fonts/Raleway-italic.fntdata"/><Relationship Id="rId31" Type="http://schemas.openxmlformats.org/officeDocument/2006/relationships/slide" Target="slides/slide26.xml"/><Relationship Id="rId52" Type="http://schemas.openxmlformats.org/officeDocument/2006/relationships/font" Target="fonts/Montserrat-italic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3" Type="http://schemas.openxmlformats.org/officeDocument/2006/relationships/font" Target="fonts/Raleway-bold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4" Type="http://schemas.openxmlformats.org/officeDocument/2006/relationships/slide" Target="slides/slide9.xml"/><Relationship Id="rId56" Type="http://schemas.openxmlformats.org/officeDocument/2006/relationships/customXml" Target="../customXml/item3.xml"/><Relationship Id="rId8" Type="http://schemas.openxmlformats.org/officeDocument/2006/relationships/slide" Target="slides/slide3.xml"/><Relationship Id="rId51" Type="http://schemas.openxmlformats.org/officeDocument/2006/relationships/font" Target="fonts/Montserrat-bold.fntdata"/><Relationship Id="rId3" Type="http://schemas.openxmlformats.org/officeDocument/2006/relationships/presProps" Target="presProps.xml"/><Relationship Id="rId46" Type="http://schemas.openxmlformats.org/officeDocument/2006/relationships/font" Target="fonts/Lato-regular.fntdata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54" Type="http://schemas.openxmlformats.org/officeDocument/2006/relationships/customXml" Target="../customXml/item1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font" Target="fonts/Lato-boldItalic.fntdata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5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e35381de5_0_4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e35381de5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e35381de5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e35381d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e35381de5_0_4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3e35381de5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e35381de5_0_47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e35381de5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4e5085d19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4e5085d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35381de5_0_4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3e35381de5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e35381de5_0_4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3e35381de5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e35381de5_1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3e35381de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e35381de5_1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e35381de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e35381de5_1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3e35381de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3de5da5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3de5da5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30f656e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30f656e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00352ebd8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400352ebd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6f90357f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c6f9035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400352ebd8_0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400352ebd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5d54a6cacf_1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5d54a6cac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00352ebd8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400352ebd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252745d80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252745d8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5d61a52396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5d61a523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400352ebd8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400352ebd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b252745d80_1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b252745d8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400352ebd8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400352ebd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00352ebd8_0_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400352ebd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00352ebd8_0_1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400352ebd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400352ebd8_0_1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400352ebd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400352ebd8_0_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400352ebd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5d54a6cac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5d54a6cac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3e40582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63e40582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400352ebd8_0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400352ebd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400352ebd8_0_2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400352ebd8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nto principal 1">
  <p:cSld name="MAIN_POINT_1">
    <p:bg>
      <p:bgPr>
        <a:solidFill>
          <a:srgbClr val="0C343D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9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" name="Google Shape;54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0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2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2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ctrTitle"/>
          </p:nvPr>
        </p:nvSpPr>
        <p:spPr>
          <a:xfrm>
            <a:off x="2390275" y="630225"/>
            <a:ext cx="6312900" cy="8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6818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Laboratório de Programação III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Prof. Wagner Palmeira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E-mail: wagner.araujo@cesmac.edu.br</a:t>
            </a:r>
            <a:endParaRPr/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425" y="1748825"/>
            <a:ext cx="1382800" cy="13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6075" y="1700150"/>
            <a:ext cx="1049750" cy="14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3020" y="1748100"/>
            <a:ext cx="2198758" cy="13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 da Disciplina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2498625" y="1340725"/>
            <a:ext cx="62232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31F20"/>
                </a:solidFill>
              </a:rPr>
              <a:t>A disciplina de Laboratório de Programação III tem como objetivo apresentar aos alunos as tecnologias e conceitos fundamentais relacionados ao </a:t>
            </a:r>
            <a:r>
              <a:rPr b="1" lang="pt-BR" sz="1500">
                <a:solidFill>
                  <a:srgbClr val="231F20"/>
                </a:solidFill>
              </a:rPr>
              <a:t>desenvolvimento de aplicações para WEB</a:t>
            </a:r>
            <a:r>
              <a:rPr lang="pt-BR" sz="1500">
                <a:solidFill>
                  <a:srgbClr val="231F20"/>
                </a:solidFill>
              </a:rPr>
              <a:t>. No final do curso os alunos devem apresentar uma noção mais refinada das tecnologias abordadas, desenvolvendo uma visão crítica do papel de cada uma delas dentro do desenvolvimento de aplicações para a internet. Através dessa visão crítica serão capazes de, dado um conjunto de problemas, utilizar cada uma das tecnologias de forma mais eficaz para desenvolver uma solução</a:t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Ementa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2498625" y="1340725"/>
            <a:ext cx="6223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231F20"/>
                </a:solidFill>
              </a:rPr>
              <a:t>Serão</a:t>
            </a:r>
            <a:r>
              <a:rPr lang="pt-BR" sz="1700">
                <a:solidFill>
                  <a:srgbClr val="231F20"/>
                </a:solidFill>
              </a:rPr>
              <a:t> </a:t>
            </a:r>
            <a:r>
              <a:rPr lang="pt-BR" sz="1700">
                <a:solidFill>
                  <a:srgbClr val="231F20"/>
                </a:solidFill>
              </a:rPr>
              <a:t>abordados</a:t>
            </a:r>
            <a:r>
              <a:rPr lang="pt-BR" sz="1700">
                <a:solidFill>
                  <a:srgbClr val="231F20"/>
                </a:solidFill>
              </a:rPr>
              <a:t> os principais elementos de desenvolvimento web como o protocolo HTTP, HTML5, CSS3 e Javascript.</a:t>
            </a:r>
            <a:endParaRPr sz="1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1 </a:t>
            </a:r>
            <a:r>
              <a:rPr b="1" lang="pt-BR" sz="1800"/>
              <a:t>Protocolo HTTP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1.1 Conceito;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/>
              <a:t>1.2 Verbos de protocolo</a:t>
            </a:r>
            <a:endParaRPr sz="1600"/>
          </a:p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2 Linguagem de Marcação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2.1 Estrutura de um documento HTML 4 e HTML 5;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2.2 As TAGs;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2.3 Formulários HTML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9" name="Google Shape;99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Conteúdo Programático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3</a:t>
            </a:r>
            <a:r>
              <a:rPr b="1" lang="pt-BR" sz="1800"/>
              <a:t> Folhas de estilo com CSS3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3.1 Conceito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3.2 Tipos de folhas de estilo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3.3 Flexbox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600"/>
              <a:t>3.4 CSS Grid</a:t>
            </a:r>
            <a:endParaRPr b="1" sz="1600"/>
          </a:p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4 Linguagem Javascript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4.1 Sintaxe;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4.2 Tipos e declaração de variáveis;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4.3 Estruturas condicio</a:t>
            </a:r>
            <a:r>
              <a:rPr lang="pt-BR" sz="1600"/>
              <a:t>nais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4.4 Estruturas de Repetição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4.5 Integrando o Javascript com Páginas HTML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6" name="Google Shape;106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Conteúdo Programático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5 </a:t>
            </a:r>
            <a:r>
              <a:rPr b="1" lang="pt-BR" sz="1800"/>
              <a:t>Node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5.1 Introdução desenvolvimento web backend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5.2 Compreendendo contexts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/>
              <a:t>5.3 Integração com Database</a:t>
            </a:r>
            <a:endParaRPr sz="1600"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Conteúdo Programático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2400297" y="1602675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Aulas Teóricas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Aulas Práticas (Desenvolvimento em conjunto com a turma)</a:t>
            </a:r>
            <a:endParaRPr sz="1600"/>
          </a:p>
        </p:txBody>
      </p:sp>
      <p:sp>
        <p:nvSpPr>
          <p:cNvPr id="118" name="Google Shape;118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Ensino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2400297" y="1602675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Trabalhos em sala de aula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Participação do aluno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600"/>
              <a:t>Projeto</a:t>
            </a:r>
            <a:r>
              <a:rPr lang="pt-BR" sz="1600"/>
              <a:t>!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Avaliação</a:t>
            </a:r>
            <a:endParaRPr sz="16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Trabalhos em sala (0 - 2)</a:t>
            </a:r>
            <a:endParaRPr sz="16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Avaliação (0 - 8) -&gt; AV01; AV02</a:t>
            </a:r>
            <a:endParaRPr sz="16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/>
              <a:t>Projeto (0-10) -&gt; AV03</a:t>
            </a:r>
            <a:endParaRPr sz="1600"/>
          </a:p>
        </p:txBody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Avaliação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2400297" y="1602675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MORRISON, Michael. Use a cabeça!: Javascript. Rio de Janeiro: Alta Books, 2012. 606 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DAMIANI, Edgard B. Guia de consulta rápida Javascript. São Paulo: Novatec, 2001. 144 p. ISBN 857522007-1.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SOMERA, Guilherme. Treinamento prático em CSS: Cascading Style Sheets. São Paulo: Digerati, 2006. 158 p. ISBN 857702070-3.</a:t>
            </a:r>
            <a:endParaRPr/>
          </a:p>
        </p:txBody>
      </p:sp>
      <p:sp>
        <p:nvSpPr>
          <p:cNvPr id="130" name="Google Shape;130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Bibliografia (Básica)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2400297" y="1602675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CAMDEN, Raymond; MATTHEWS, Andy. jQuery Mobile Web Development Essentials. Olton, Birmingham, GBR: Packt Publishing , 2012.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DUCKETT, JOHN. HTML e CSS projete e construa Websites. Alta Books. 2016.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FREEMAN, ERIC. Use a cabeça! Programação em HTML 5. Alta Books. 2014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FREEMAN, ELISABETH. Use a cabeça! HTML e CSS. Alta Books. 2015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ZAKAS, Nicholas C. Principles of Object-Oriented JavaScript. San Francisco : No Starch Press , 2014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SOMERA, Guilherme. Treinamento prático em CSS: Cascading Style Sheets. São Paulo: Digerati, 2006. 158 p. ISBN 857702070-3.</a:t>
            </a:r>
            <a:endParaRPr/>
          </a:p>
        </p:txBody>
      </p:sp>
      <p:sp>
        <p:nvSpPr>
          <p:cNvPr id="136" name="Google Shape;136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Bibliografia (Complementar)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2400297" y="1602675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HTML Tutorial. Disponível em &lt;https://www.w3schools.com/html/&gt;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CSS Tutorial. Disponível em &lt;https://www.w3schools.com/css/&gt;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/>
              <a:t>JavaScript Tutorial. Disponível em &lt;https://www.w3schools.com/js/&gt;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Bibliografia (Suplementar)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Conselhos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…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www.kahoot.it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MongoDB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https://events.mongodb.com/mongodbptcertprogram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277675" y="19126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HTML</a:t>
            </a:r>
            <a:endParaRPr/>
          </a:p>
        </p:txBody>
      </p:sp>
      <p:sp>
        <p:nvSpPr>
          <p:cNvPr id="165" name="Google Shape;165;p2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que é html?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Web 1.0; 2.0; 3.0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Protocolos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HTML 4 x HTML 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HTML - É uma linguagem de programação?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2400250" y="4235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4150">
                <a:latin typeface="Georgia"/>
                <a:ea typeface="Georgia"/>
                <a:cs typeface="Georgia"/>
                <a:sym typeface="Georgia"/>
              </a:rPr>
              <a:t>Turing completeness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2400297" y="1602675"/>
            <a:ext cx="62292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"Isso significa que este sistema é capaz de </a:t>
            </a:r>
            <a:r>
              <a:rPr b="1" lang="pt-BR" sz="19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reconhecer ou decidir outros conjuntos de regras de manipulação de dados</a:t>
            </a:r>
            <a:r>
              <a:rPr lang="pt-BR" sz="19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A completude de Turing é usada como uma maneira de expressar o poder de um conjunto de regras de manipulação de dados. Praticamente todas as linguagens de programação atuais são Turing-completas."</a:t>
            </a:r>
            <a:endParaRPr sz="19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500"/>
              </a:spcBef>
              <a:spcAft>
                <a:spcPts val="500"/>
              </a:spcAft>
              <a:buNone/>
            </a:pPr>
            <a:r>
              <a:rPr lang="pt-BR" sz="9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Fonte: https://en.wikipedia.org/wiki/Turing_completeness</a:t>
            </a:r>
            <a:endParaRPr sz="9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2596125" y="4777850"/>
            <a:ext cx="64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600">
                <a:solidFill>
                  <a:srgbClr val="2326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Hyper Text </a:t>
            </a:r>
            <a:r>
              <a:rPr lang="pt-BR" sz="2600">
                <a:solidFill>
                  <a:srgbClr val="2326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Markup Language (HTML)</a:t>
            </a:r>
            <a:endParaRPr sz="2600"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275" y="1138225"/>
            <a:ext cx="4722926" cy="354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/>
        </p:nvSpPr>
        <p:spPr>
          <a:xfrm>
            <a:off x="2760750" y="4774200"/>
            <a:ext cx="666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Lato"/>
                <a:ea typeface="Lato"/>
                <a:cs typeface="Lato"/>
                <a:sym typeface="Lato"/>
              </a:rPr>
              <a:t>Imagem: http://galileo.phys.virginia.edu/compfac/courses/geek-hours/web-ssi.html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WEB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2400297" y="1602675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pt-BR" sz="1600"/>
              <a:t>Web 1.0 (1990);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/>
              <a:t>	</a:t>
            </a:r>
            <a:r>
              <a:rPr lang="pt-BR" sz="1600"/>
              <a:t>Estático</a:t>
            </a:r>
            <a:endParaRPr b="1" sz="1600"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pt-BR" sz="1600"/>
              <a:t>Web 2.0 (2000);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/>
              <a:t>	</a:t>
            </a:r>
            <a:r>
              <a:rPr lang="pt-BR" sz="1600"/>
              <a:t>Técnicas diferentes | Interatividade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	Ex: Redes sociais e blogs</a:t>
            </a:r>
            <a:endParaRPr sz="1600"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pt-BR" sz="1600"/>
              <a:t>Web 3.0;</a:t>
            </a:r>
            <a:endParaRPr b="1" sz="1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Web Semântica</a:t>
            </a:r>
            <a:r>
              <a:rPr b="1" lang="pt-BR" sz="1600"/>
              <a:t>	</a:t>
            </a:r>
            <a:endParaRPr b="1" sz="16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/>
              <a:t>Preferências | Personalização</a:t>
            </a:r>
            <a:endParaRPr sz="1600"/>
          </a:p>
        </p:txBody>
      </p:sp>
      <p:sp>
        <p:nvSpPr>
          <p:cNvPr id="191" name="Google Shape;191;p32"/>
          <p:cNvSpPr txBox="1"/>
          <p:nvPr/>
        </p:nvSpPr>
        <p:spPr>
          <a:xfrm>
            <a:off x="2596125" y="4777850"/>
            <a:ext cx="64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300"/>
              <a:t>Como os sites eram construídos? Web 1.0)</a:t>
            </a:r>
            <a:endParaRPr sz="2300"/>
          </a:p>
        </p:txBody>
      </p:sp>
      <p:sp>
        <p:nvSpPr>
          <p:cNvPr id="197" name="Google Shape;197;p33"/>
          <p:cNvSpPr txBox="1"/>
          <p:nvPr/>
        </p:nvSpPr>
        <p:spPr>
          <a:xfrm>
            <a:off x="2596125" y="4777850"/>
            <a:ext cx="64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8" name="Google Shape;1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6125" y="1208375"/>
            <a:ext cx="6125726" cy="32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3"/>
          <p:cNvSpPr txBox="1"/>
          <p:nvPr/>
        </p:nvSpPr>
        <p:spPr>
          <a:xfrm>
            <a:off x="2669250" y="4790025"/>
            <a:ext cx="702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Lato"/>
                <a:ea typeface="Lato"/>
                <a:cs typeface="Lato"/>
                <a:sym typeface="Lato"/>
              </a:rPr>
              <a:t>Imagem: https://pt.stackoverflow.com/questions/58551/%C3%89-correto-utilizar-uma-tabela-no-layout-da-p%C3%A1gina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300"/>
              <a:t>Tableless</a:t>
            </a:r>
            <a:endParaRPr sz="2300"/>
          </a:p>
        </p:txBody>
      </p:sp>
      <p:sp>
        <p:nvSpPr>
          <p:cNvPr id="205" name="Google Shape;205;p34"/>
          <p:cNvSpPr txBox="1"/>
          <p:nvPr/>
        </p:nvSpPr>
        <p:spPr>
          <a:xfrm>
            <a:off x="2596125" y="1439750"/>
            <a:ext cx="6359100" cy="31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0">
                <a:solidFill>
                  <a:srgbClr val="4D5156"/>
                </a:solidFill>
                <a:highlight>
                  <a:srgbClr val="FFFFFF"/>
                </a:highlight>
              </a:rPr>
              <a:t>“Tableless é uma forma de desenvolvimento de sites que não utiliza tabelas para disposição de conteúdo na página sugerido pela W3C”</a:t>
            </a:r>
            <a:endParaRPr b="1" sz="1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2596125" y="4777850"/>
            <a:ext cx="64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2455025" y="4692750"/>
            <a:ext cx="590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https://pt.wikipedia.org/wiki/Tableless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2400300" y="1602675"/>
            <a:ext cx="6321600" cy="5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pt-BR" sz="1900"/>
              <a:t>HTTP</a:t>
            </a:r>
            <a:r>
              <a:rPr lang="pt-BR" sz="1350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(Hypertext Transfer Protocol)</a:t>
            </a:r>
            <a:endParaRPr b="1" sz="19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b="1" sz="1900"/>
          </a:p>
        </p:txBody>
      </p:sp>
      <p:sp>
        <p:nvSpPr>
          <p:cNvPr id="214" name="Google Shape;214;p35"/>
          <p:cNvSpPr txBox="1"/>
          <p:nvPr/>
        </p:nvSpPr>
        <p:spPr>
          <a:xfrm>
            <a:off x="2596125" y="4777850"/>
            <a:ext cx="64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Lato"/>
                <a:ea typeface="Lato"/>
                <a:cs typeface="Lato"/>
                <a:sym typeface="Lato"/>
              </a:rPr>
              <a:t>https://www.techtarget.com/whatis/definition/HTTP-Hypertext-Transfer-Protocol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3600" y="2120775"/>
            <a:ext cx="6094999" cy="23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</a:t>
            </a:r>
            <a:endParaRPr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2400300" y="1602675"/>
            <a:ext cx="6321600" cy="5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pt-BR" sz="1900"/>
              <a:t>HTTP</a:t>
            </a:r>
            <a:r>
              <a:rPr lang="pt-BR" sz="1350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(Hypertext Transfer Protocol)</a:t>
            </a:r>
            <a:endParaRPr b="1" sz="19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b="1" sz="1900"/>
          </a:p>
        </p:txBody>
      </p:sp>
      <p:sp>
        <p:nvSpPr>
          <p:cNvPr id="222" name="Google Shape;222;p36"/>
          <p:cNvSpPr txBox="1"/>
          <p:nvPr/>
        </p:nvSpPr>
        <p:spPr>
          <a:xfrm>
            <a:off x="2596125" y="4777850"/>
            <a:ext cx="64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Lato"/>
                <a:ea typeface="Lato"/>
                <a:cs typeface="Lato"/>
                <a:sym typeface="Lato"/>
              </a:rPr>
              <a:t>https://www.hostinger.com.br/tutoriais/https-vs-http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3" name="Google Shape;2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7600" y="2200425"/>
            <a:ext cx="5368960" cy="235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</a:t>
            </a:r>
            <a:endParaRPr/>
          </a:p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2400300" y="1602675"/>
            <a:ext cx="6321600" cy="5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pt-BR" sz="1900"/>
              <a:t>Verbos </a:t>
            </a:r>
            <a:r>
              <a:rPr b="1" lang="pt-BR" sz="1900"/>
              <a:t>HTTP</a:t>
            </a:r>
            <a:r>
              <a:rPr lang="pt-BR" sz="1350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(Response)</a:t>
            </a:r>
            <a:endParaRPr b="1" sz="19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b="1" sz="1900"/>
          </a:p>
        </p:txBody>
      </p:sp>
      <p:sp>
        <p:nvSpPr>
          <p:cNvPr id="230" name="Google Shape;230;p37"/>
          <p:cNvSpPr txBox="1"/>
          <p:nvPr/>
        </p:nvSpPr>
        <p:spPr>
          <a:xfrm>
            <a:off x="2596125" y="4777850"/>
            <a:ext cx="64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Lato"/>
                <a:ea typeface="Lato"/>
                <a:cs typeface="Lato"/>
                <a:sym typeface="Lato"/>
              </a:rPr>
              <a:t>https://leandromtr.com/codigos-de-status-http/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1" name="Google Shape;23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2863" y="2028750"/>
            <a:ext cx="4116481" cy="23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490250" y="526350"/>
            <a:ext cx="6085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 prática!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2400250" y="1349150"/>
            <a:ext cx="63216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800"/>
              <a:t>O que são tags?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pt-BR" sz="1800"/>
              <a:t>Principais tags html</a:t>
            </a:r>
            <a:endParaRPr b="1" sz="1800"/>
          </a:p>
        </p:txBody>
      </p:sp>
      <p:sp>
        <p:nvSpPr>
          <p:cNvPr id="242" name="Google Shape;242;p3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Tags HTML</a:t>
            </a:r>
            <a:endParaRPr/>
          </a:p>
        </p:txBody>
      </p:sp>
      <p:pic>
        <p:nvPicPr>
          <p:cNvPr id="243" name="Google Shape;2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6575" y="2114825"/>
            <a:ext cx="5473400" cy="243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9"/>
          <p:cNvSpPr txBox="1"/>
          <p:nvPr/>
        </p:nvSpPr>
        <p:spPr>
          <a:xfrm>
            <a:off x="3668700" y="4774200"/>
            <a:ext cx="441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Lato"/>
                <a:ea typeface="Lato"/>
                <a:cs typeface="Lato"/>
                <a:sym typeface="Lato"/>
              </a:rPr>
              <a:t>Imagem: http://fabrica.ms.senac.br/2013/04/o-que-e-html/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2400250" y="1349150"/>
            <a:ext cx="63216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800"/>
              <a:t>“O head (en-US) de um documento HTML é a parte que não é exibida no navegador da Web quando a página é carregada.”</a:t>
            </a:r>
            <a:endParaRPr b="1" sz="1800"/>
          </a:p>
        </p:txBody>
      </p:sp>
      <p:sp>
        <p:nvSpPr>
          <p:cNvPr id="250" name="Google Shape;250;p4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&lt;HEAD&gt;</a:t>
            </a:r>
            <a:endParaRPr/>
          </a:p>
        </p:txBody>
      </p:sp>
      <p:sp>
        <p:nvSpPr>
          <p:cNvPr id="251" name="Google Shape;251;p40"/>
          <p:cNvSpPr txBox="1"/>
          <p:nvPr/>
        </p:nvSpPr>
        <p:spPr>
          <a:xfrm>
            <a:off x="2104900" y="4804800"/>
            <a:ext cx="68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https://developer.mozilla.org/pt-BR/docs/Learn/HTML/Introduction_to_HTML/The_head_metadata_in_HTML</a:t>
            </a:r>
            <a:endParaRPr sz="1000"/>
          </a:p>
        </p:txBody>
      </p:sp>
      <p:sp>
        <p:nvSpPr>
          <p:cNvPr id="252" name="Google Shape;252;p40"/>
          <p:cNvSpPr txBox="1"/>
          <p:nvPr/>
        </p:nvSpPr>
        <p:spPr>
          <a:xfrm>
            <a:off x="2391500" y="2551600"/>
            <a:ext cx="63216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&lt;title&gt;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&lt;link&gt;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&lt;meta charset=”utf-8”&gt;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2400250" y="1349150"/>
            <a:ext cx="63216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800"/>
              <a:t>HTML 4</a:t>
            </a:r>
            <a:endParaRPr b="1"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!DOCTYPE</a:t>
            </a:r>
            <a:r>
              <a:rPr lang="pt-BR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HTML PUBLIC "-//W3C//DTD HTML 4.01 Transitional//EN" "http://www.w3.org/TR/html4/loose.dtd"</a:t>
            </a:r>
            <a:r>
              <a:rPr lang="pt-BR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pt-BR" sz="1800"/>
              <a:t>HTML 5</a:t>
            </a:r>
            <a:endParaRPr b="1" sz="1800"/>
          </a:p>
          <a:p>
            <a:pPr indent="0" lvl="0" marL="457200" marR="1143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!DOCTYPE</a:t>
            </a:r>
            <a:r>
              <a:rPr lang="pt-BR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html</a:t>
            </a:r>
            <a:r>
              <a:rPr lang="pt-BR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/>
          </a:p>
        </p:txBody>
      </p:sp>
      <p:sp>
        <p:nvSpPr>
          <p:cNvPr id="258" name="Google Shape;258;p4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DOCTYPE</a:t>
            </a:r>
            <a:endParaRPr/>
          </a:p>
        </p:txBody>
      </p:sp>
      <p:sp>
        <p:nvSpPr>
          <p:cNvPr id="259" name="Google Shape;259;p41"/>
          <p:cNvSpPr txBox="1"/>
          <p:nvPr/>
        </p:nvSpPr>
        <p:spPr>
          <a:xfrm>
            <a:off x="3668700" y="4774200"/>
            <a:ext cx="441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Lato"/>
                <a:ea typeface="Lato"/>
                <a:cs typeface="Lato"/>
                <a:sym typeface="Lato"/>
              </a:rPr>
              <a:t>Imagem: http://fabrica.ms.senac.br/2013/04/o-que-e-html/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Tags básicas HTML (BODY)</a:t>
            </a:r>
            <a:endParaRPr/>
          </a:p>
        </p:txBody>
      </p:sp>
      <p:sp>
        <p:nvSpPr>
          <p:cNvPr id="265" name="Google Shape;265;p42"/>
          <p:cNvSpPr txBox="1"/>
          <p:nvPr/>
        </p:nvSpPr>
        <p:spPr>
          <a:xfrm>
            <a:off x="3668700" y="4774200"/>
            <a:ext cx="441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Lato"/>
                <a:ea typeface="Lato"/>
                <a:cs typeface="Lato"/>
                <a:sym typeface="Lato"/>
              </a:rPr>
              <a:t>Imagem: http://fabrica.ms.senac.br/2013/04/o-que-e-html/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2523000" y="1279775"/>
            <a:ext cx="6198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Títulos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&lt;h1&gt;</a:t>
            </a:r>
            <a:r>
              <a:rPr lang="pt-BR">
                <a:latin typeface="Lato"/>
                <a:ea typeface="Lato"/>
                <a:cs typeface="Lato"/>
                <a:sym typeface="Lato"/>
              </a:rPr>
              <a:t> até 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&lt;h6&gt;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Parágrafos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&lt;p&gt;&lt;/p&gt;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Quebra de linha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&lt;br&gt;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Comentário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&lt;!-- Olá Mundo!  →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Separador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Lato"/>
                <a:ea typeface="Lato"/>
                <a:cs typeface="Lato"/>
                <a:sym typeface="Lato"/>
              </a:rPr>
              <a:t>&lt;hr&gt;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Tags básicas HTML (BODY)</a:t>
            </a:r>
            <a:endParaRPr/>
          </a:p>
        </p:txBody>
      </p:sp>
      <p:sp>
        <p:nvSpPr>
          <p:cNvPr id="272" name="Google Shape;272;p43"/>
          <p:cNvSpPr txBox="1"/>
          <p:nvPr/>
        </p:nvSpPr>
        <p:spPr>
          <a:xfrm>
            <a:off x="3668700" y="4774200"/>
            <a:ext cx="441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Lato"/>
                <a:ea typeface="Lato"/>
                <a:cs typeface="Lato"/>
                <a:sym typeface="Lato"/>
              </a:rPr>
              <a:t>Imagem: http://fabrica.ms.senac.br/2013/04/o-que-e-html/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43"/>
          <p:cNvSpPr txBox="1"/>
          <p:nvPr/>
        </p:nvSpPr>
        <p:spPr>
          <a:xfrm>
            <a:off x="2523000" y="1279775"/>
            <a:ext cx="6198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Imagem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&lt;img …&gt;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Metadados -&gt; Inserido no &lt;head&gt;&lt;/head&gt;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&lt;meta&gt;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Pequenas informações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&lt;span&gt;&lt;/span&gt;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i="1" lang="pt-BR">
                <a:latin typeface="Lato"/>
                <a:ea typeface="Lato"/>
                <a:cs typeface="Lato"/>
                <a:sym typeface="Lato"/>
              </a:rPr>
              <a:t>Itálico</a:t>
            </a:r>
            <a:endParaRPr i="1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Lato"/>
                <a:ea typeface="Lato"/>
                <a:cs typeface="Lato"/>
                <a:sym typeface="Lato"/>
              </a:rPr>
              <a:t>&lt;i&gt;&lt;/i&gt;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Negrito 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(Sem semântica especial)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Lato"/>
                <a:ea typeface="Lato"/>
                <a:cs typeface="Lato"/>
                <a:sym typeface="Lato"/>
              </a:rPr>
              <a:t>&lt;b&gt;&lt;/b&gt;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Tags básicas HTML</a:t>
            </a:r>
            <a:endParaRPr/>
          </a:p>
        </p:txBody>
      </p:sp>
      <p:sp>
        <p:nvSpPr>
          <p:cNvPr id="279" name="Google Shape;279;p44"/>
          <p:cNvSpPr txBox="1"/>
          <p:nvPr/>
        </p:nvSpPr>
        <p:spPr>
          <a:xfrm>
            <a:off x="3668700" y="4774200"/>
            <a:ext cx="441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Lato"/>
                <a:ea typeface="Lato"/>
                <a:cs typeface="Lato"/>
                <a:sym typeface="Lato"/>
              </a:rPr>
              <a:t>Imagem: http://fabrica.ms.senac.br/2013/04/o-que-e-html/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" name="Google Shape;280;p44"/>
          <p:cNvSpPr txBox="1"/>
          <p:nvPr/>
        </p:nvSpPr>
        <p:spPr>
          <a:xfrm>
            <a:off x="2523000" y="1279775"/>
            <a:ext cx="6198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Lista </a:t>
            </a:r>
            <a:r>
              <a:rPr lang="pt-BR">
                <a:latin typeface="Lato"/>
                <a:ea typeface="Lato"/>
                <a:cs typeface="Lato"/>
                <a:sym typeface="Lato"/>
              </a:rPr>
              <a:t>ordenada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&lt;ol&gt;&lt;li&gt;&lt;/li&gt;&lt;/ol&gt;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Lista não ordenada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pt-BR">
                <a:latin typeface="Lato"/>
                <a:ea typeface="Lato"/>
                <a:cs typeface="Lato"/>
                <a:sym typeface="Lato"/>
              </a:rPr>
              <a:t>&lt;ul&gt;&lt;li&gt;&lt;/li&gt;&lt;/ul&gt;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AutoNum type="arabicPeriod"/>
            </a:pPr>
            <a:r>
              <a:rPr lang="pt-BR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Link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pt-BR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&lt;a&gt;&lt;/a&gt;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AutoNum type="arabicPeriod"/>
            </a:pPr>
            <a:r>
              <a:rPr lang="pt-BR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Título da página -&gt; Dentro da tag &lt;head&gt;&lt;/head&gt;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&lt;title&gt;&lt;/title&gt;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AutoNum type="arabicPeriod"/>
            </a:pPr>
            <a:r>
              <a:rPr lang="pt-BR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Genérico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&lt;div&gt;&lt;/div&gt;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 txBox="1"/>
          <p:nvPr>
            <p:ph type="title"/>
          </p:nvPr>
        </p:nvSpPr>
        <p:spPr>
          <a:xfrm>
            <a:off x="490250" y="526350"/>
            <a:ext cx="6085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HTML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-41950" y="12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500"/>
              <a:t>Antes no html 5</a:t>
            </a:r>
            <a:endParaRPr sz="2500"/>
          </a:p>
        </p:txBody>
      </p:sp>
      <p:pic>
        <p:nvPicPr>
          <p:cNvPr id="291" name="Google Shape;2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075" y="664150"/>
            <a:ext cx="6410902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2300" y="3588825"/>
            <a:ext cx="6076626" cy="15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6"/>
          <p:cNvSpPr/>
          <p:nvPr/>
        </p:nvSpPr>
        <p:spPr>
          <a:xfrm>
            <a:off x="1358200" y="650400"/>
            <a:ext cx="6486900" cy="6123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6"/>
          <p:cNvSpPr/>
          <p:nvPr/>
        </p:nvSpPr>
        <p:spPr>
          <a:xfrm>
            <a:off x="1396475" y="1329525"/>
            <a:ext cx="6411000" cy="2186700"/>
          </a:xfrm>
          <a:prstGeom prst="rect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6"/>
          <p:cNvSpPr/>
          <p:nvPr/>
        </p:nvSpPr>
        <p:spPr>
          <a:xfrm>
            <a:off x="1377350" y="3577250"/>
            <a:ext cx="6411000" cy="15192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6"/>
          <p:cNvSpPr txBox="1"/>
          <p:nvPr/>
        </p:nvSpPr>
        <p:spPr>
          <a:xfrm>
            <a:off x="344325" y="755625"/>
            <a:ext cx="11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980000"/>
                </a:solidFill>
              </a:rPr>
              <a:t>div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297" name="Google Shape;297;p46"/>
          <p:cNvSpPr txBox="1"/>
          <p:nvPr/>
        </p:nvSpPr>
        <p:spPr>
          <a:xfrm>
            <a:off x="344325" y="1983088"/>
            <a:ext cx="11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1C4587"/>
                </a:solidFill>
              </a:rPr>
              <a:t>div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298" name="Google Shape;298;p46"/>
          <p:cNvSpPr txBox="1"/>
          <p:nvPr/>
        </p:nvSpPr>
        <p:spPr>
          <a:xfrm>
            <a:off x="344325" y="4148288"/>
            <a:ext cx="11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D966"/>
                </a:solidFill>
              </a:rPr>
              <a:t>div</a:t>
            </a:r>
            <a:endParaRPr b="1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7601" y="152400"/>
            <a:ext cx="5113576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7"/>
          <p:cNvSpPr txBox="1"/>
          <p:nvPr/>
        </p:nvSpPr>
        <p:spPr>
          <a:xfrm>
            <a:off x="307725" y="1025775"/>
            <a:ext cx="4509000" cy="3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wagner.araujo@cesmac.edu.br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Trabalho de fixação #01! -&gt; Teams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Próximos Passos</a:t>
            </a:r>
            <a:endParaRPr sz="4466"/>
          </a:p>
        </p:txBody>
      </p:sp>
      <p:pic>
        <p:nvPicPr>
          <p:cNvPr id="315" name="Google Shape;3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50" y="2309750"/>
            <a:ext cx="2419351" cy="241935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9"/>
          <p:cNvSpPr txBox="1"/>
          <p:nvPr>
            <p:ph idx="1" type="body"/>
          </p:nvPr>
        </p:nvSpPr>
        <p:spPr>
          <a:xfrm>
            <a:off x="2840250" y="3288225"/>
            <a:ext cx="34635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Keep Calm!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HTML 5</a:t>
            </a:r>
            <a:endParaRPr/>
          </a:p>
        </p:txBody>
      </p:sp>
      <p:sp>
        <p:nvSpPr>
          <p:cNvPr id="317" name="Google Shape;317;p49"/>
          <p:cNvSpPr txBox="1"/>
          <p:nvPr/>
        </p:nvSpPr>
        <p:spPr>
          <a:xfrm>
            <a:off x="2327975" y="4804800"/>
            <a:ext cx="780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Imagem: https://cdn.awsli.com.br/1000x1000/761/761999/produto/148205958e1d1728ace.jpg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4A943A8DC3354A8151C28915423A53" ma:contentTypeVersion="0" ma:contentTypeDescription="Create a new document." ma:contentTypeScope="" ma:versionID="7b528da18907ea92f3253388612a6f9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b6f26e0866668d9836acec43b37ef0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2B6B05-DE92-4AFA-9536-CD62875BF7F6}"/>
</file>

<file path=customXml/itemProps2.xml><?xml version="1.0" encoding="utf-8"?>
<ds:datastoreItem xmlns:ds="http://schemas.openxmlformats.org/officeDocument/2006/customXml" ds:itemID="{3E3F694A-CA6B-4C3C-AFA1-2D6C43D71E90}"/>
</file>

<file path=customXml/itemProps3.xml><?xml version="1.0" encoding="utf-8"?>
<ds:datastoreItem xmlns:ds="http://schemas.openxmlformats.org/officeDocument/2006/customXml" ds:itemID="{D3A2BBCF-9E71-495E-ABF8-89420999D135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0x010100634A943A8DC3354A8151C28915423A53</vt:lpwstr>
  </property>
</Properties>
</file>