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3"/>
  </p:notesMasterIdLst>
  <p:sldIdLst>
    <p:sldId id="256" r:id="rId5"/>
    <p:sldId id="306" r:id="rId6"/>
    <p:sldId id="307" r:id="rId7"/>
    <p:sldId id="308" r:id="rId8"/>
    <p:sldId id="309" r:id="rId9"/>
    <p:sldId id="310" r:id="rId10"/>
    <p:sldId id="311" r:id="rId11"/>
    <p:sldId id="31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01C"/>
    <a:srgbClr val="0000FF"/>
    <a:srgbClr val="008000"/>
    <a:srgbClr val="E08644"/>
    <a:srgbClr val="27AAE1"/>
    <a:srgbClr val="FF831D"/>
    <a:srgbClr val="00A817"/>
    <a:srgbClr val="6B3C2D"/>
    <a:srgbClr val="231F20"/>
    <a:srgbClr val="744A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505E3EF-67EA-436B-97B2-0124C06EBD24}" styleName="Estilo Médio 4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52" autoAdjust="0"/>
    <p:restoredTop sz="92509" autoAdjust="0"/>
  </p:normalViewPr>
  <p:slideViewPr>
    <p:cSldViewPr snapToGrid="0" showGuides="1">
      <p:cViewPr varScale="1">
        <p:scale>
          <a:sx n="106" d="100"/>
          <a:sy n="106" d="100"/>
        </p:scale>
        <p:origin x="5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B7344-8758-4923-BF9D-B590D61918F1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EDD73-88FC-478A-9AB9-3EF3A97C1D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670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778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27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082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660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6583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466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1268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410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366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7978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0997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5F5F1-592D-4F5E-BEF8-26440F16569E}" type="datetimeFigureOut">
              <a:rPr lang="pt-BR" smtClean="0"/>
              <a:t>02/03/2026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89262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FADF5B1-E9DA-EEF5-C245-EE90098EC5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7" b="6865"/>
          <a:stretch/>
        </p:blipFill>
        <p:spPr bwMode="auto">
          <a:xfrm>
            <a:off x="-129540" y="0"/>
            <a:ext cx="123215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0920C71-0C6B-67A1-FA2E-EB93D6115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049486"/>
            <a:ext cx="11039670" cy="1767114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l"/>
            <a:r>
              <a:rPr lang="pt-BR" dirty="0">
                <a:latin typeface="Abadi" panose="020B0604020104020204" pitchFamily="34" charset="0"/>
              </a:rPr>
              <a:t>Estrutura de Dados Trabalho: </a:t>
            </a:r>
            <a:br>
              <a:rPr lang="pt-BR" dirty="0">
                <a:latin typeface="Abadi" panose="020B0604020104020204" pitchFamily="34" charset="0"/>
              </a:rPr>
            </a:br>
            <a:r>
              <a:rPr lang="pt-BR" dirty="0">
                <a:latin typeface="Abadi" panose="020B0604020104020204" pitchFamily="34" charset="0"/>
              </a:rPr>
              <a:t>Pilha e Fila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51ADBE-F611-60E0-63DF-674DC817D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5908675"/>
            <a:ext cx="7484705" cy="400795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 algn="l"/>
            <a:r>
              <a:rPr lang="pt-BR" dirty="0">
                <a:latin typeface="Abadi" panose="020B0604020104020204" pitchFamily="34" charset="0"/>
              </a:rPr>
              <a:t>Professor: Vinicius Cursino</a:t>
            </a:r>
          </a:p>
        </p:txBody>
      </p:sp>
    </p:spTree>
    <p:extLst>
      <p:ext uri="{BB962C8B-B14F-4D97-AF65-F5344CB8AC3E}">
        <p14:creationId xmlns:p14="http://schemas.microsoft.com/office/powerpoint/2010/main" val="202891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: Cantos Superiores Recortados 28">
            <a:extLst>
              <a:ext uri="{FF2B5EF4-FFF2-40B4-BE49-F238E27FC236}">
                <a16:creationId xmlns:a16="http://schemas.microsoft.com/office/drawing/2014/main" id="{0BC632AA-D863-B24F-9495-11B1F293125E}"/>
              </a:ext>
            </a:extLst>
          </p:cNvPr>
          <p:cNvSpPr/>
          <p:nvPr/>
        </p:nvSpPr>
        <p:spPr>
          <a:xfrm rot="16200000">
            <a:off x="2981894" y="-2818549"/>
            <a:ext cx="649458" cy="6613233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Como o trabalho deve ser entregue?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E170206-D837-1505-0E5B-694F4CA97BB9}"/>
              </a:ext>
            </a:extLst>
          </p:cNvPr>
          <p:cNvSpPr txBox="1"/>
          <p:nvPr/>
        </p:nvSpPr>
        <p:spPr>
          <a:xfrm>
            <a:off x="110512" y="922774"/>
            <a:ext cx="11776688" cy="3354765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400" b="1" dirty="0">
                <a:latin typeface="Abadi" panose="020B0604020104020204" pitchFamily="34" charset="0"/>
              </a:rPr>
              <a:t>Data: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O trabalho que vai ser descrito a seguir deve ser entregue até as 18:00 do dia 12/03/2026;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400" b="1" dirty="0">
                <a:latin typeface="Abadi" panose="020B0604020104020204" pitchFamily="34" charset="0"/>
              </a:rPr>
              <a:t>Formato: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Os arquivos devem ser enviados diretamente (nada de zip).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Deve ser enviado um arquivo .</a:t>
            </a:r>
            <a:r>
              <a:rPr lang="pt-BR" sz="2000" dirty="0" err="1">
                <a:latin typeface="Abadi" panose="020B0604020104020204" pitchFamily="34" charset="0"/>
              </a:rPr>
              <a:t>txt</a:t>
            </a:r>
            <a:r>
              <a:rPr lang="pt-BR" sz="2000" dirty="0">
                <a:latin typeface="Abadi" panose="020B0604020104020204" pitchFamily="34" charset="0"/>
              </a:rPr>
              <a:t> com o nome completo de ambos os integrantes da dupla.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400" b="1" dirty="0">
                <a:latin typeface="Abadi" panose="020B0604020104020204" pitchFamily="34" charset="0"/>
              </a:rPr>
              <a:t>Onde: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No </a:t>
            </a:r>
            <a:r>
              <a:rPr lang="pt-BR" sz="2000" dirty="0" err="1">
                <a:latin typeface="Abadi" panose="020B0604020104020204" pitchFamily="34" charset="0"/>
              </a:rPr>
              <a:t>teams</a:t>
            </a:r>
            <a:r>
              <a:rPr lang="pt-BR" sz="2000" dirty="0">
                <a:latin typeface="Abadi" panose="020B0604020104020204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99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CA41F-4701-08E5-2DAE-B7D13A268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: Cantos Superiores Recortados 28">
            <a:extLst>
              <a:ext uri="{FF2B5EF4-FFF2-40B4-BE49-F238E27FC236}">
                <a16:creationId xmlns:a16="http://schemas.microsoft.com/office/drawing/2014/main" id="{618BAFC7-7A58-F319-272D-1A40DF121CF4}"/>
              </a:ext>
            </a:extLst>
          </p:cNvPr>
          <p:cNvSpPr/>
          <p:nvPr/>
        </p:nvSpPr>
        <p:spPr>
          <a:xfrm rot="16200000">
            <a:off x="2289167" y="-2125822"/>
            <a:ext cx="649458" cy="5227779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Questão 1: Fila Sequencial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6E9FF3E-7348-CD92-923C-30B9F893E814}"/>
              </a:ext>
            </a:extLst>
          </p:cNvPr>
          <p:cNvSpPr txBox="1"/>
          <p:nvPr/>
        </p:nvSpPr>
        <p:spPr>
          <a:xfrm>
            <a:off x="114861" y="895924"/>
            <a:ext cx="653943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Descrição: </a:t>
            </a:r>
          </a:p>
          <a:p>
            <a:pPr algn="just"/>
            <a:r>
              <a:rPr lang="pt-BR" dirty="0"/>
              <a:t>Implemente uma </a:t>
            </a:r>
            <a:r>
              <a:rPr lang="pt-BR" b="1" dirty="0"/>
              <a:t>fila encadeada</a:t>
            </a:r>
            <a:r>
              <a:rPr lang="pt-BR" dirty="0"/>
              <a:t> utilizando uma estrutura de vetor (</a:t>
            </a:r>
            <a:r>
              <a:rPr lang="pt-BR" dirty="0" err="1"/>
              <a:t>array</a:t>
            </a:r>
            <a:r>
              <a:rPr lang="pt-BR" dirty="0"/>
              <a:t>), a fila deve iniciar apenas com 5 posições. Sua implementação deve conter as operações :</a:t>
            </a:r>
          </a:p>
          <a:p>
            <a:pPr algn="just"/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 err="1"/>
              <a:t>Enqueue</a:t>
            </a:r>
            <a:r>
              <a:rPr lang="pt-BR" b="1" dirty="0"/>
              <a:t> (inserção)</a:t>
            </a:r>
            <a:r>
              <a:rPr lang="pt-BR" dirty="0"/>
              <a:t>: adiciona um elemento ao final da fila, caso a fila já tenha ocupado todas as posições, não deve inserir e apenas avisar (printar) que a fila está cheia.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 err="1"/>
              <a:t>Dequeue</a:t>
            </a:r>
            <a:r>
              <a:rPr lang="pt-BR" b="1" dirty="0"/>
              <a:t> (remoção)</a:t>
            </a:r>
            <a:r>
              <a:rPr lang="pt-BR" dirty="0"/>
              <a:t>: remove o primeiro elemento da fila, caso não tenha valores deve avisar (printar) que a fila está vazia.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 err="1"/>
              <a:t>Expand</a:t>
            </a:r>
            <a:r>
              <a:rPr lang="pt-BR" b="1" dirty="0"/>
              <a:t> (Expandir)</a:t>
            </a:r>
            <a:r>
              <a:rPr lang="pt-BR" dirty="0"/>
              <a:t>: dobra o tamanho total da fila (caso esteja em 5 posições, deve aumentar a fila para 10).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algn="just"/>
            <a:r>
              <a:rPr lang="pt-BR" dirty="0"/>
              <a:t>Você deve implementar a solução em </a:t>
            </a:r>
            <a:r>
              <a:rPr lang="pt-BR" b="1" dirty="0"/>
              <a:t>Java</a:t>
            </a:r>
            <a:r>
              <a:rPr lang="pt-BR" dirty="0"/>
              <a:t>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 entrega deve incluir o código e um pequeno exemplo de uso, demonstrando todas as operações implementadas.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DE1F175-722C-BA8C-EE8B-2B7EEFA3F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1162" y="1106561"/>
            <a:ext cx="4372345" cy="46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884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D7819-83B5-DF28-B4A5-3889C2E36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: Cantos Superiores Recortados 28">
            <a:extLst>
              <a:ext uri="{FF2B5EF4-FFF2-40B4-BE49-F238E27FC236}">
                <a16:creationId xmlns:a16="http://schemas.microsoft.com/office/drawing/2014/main" id="{53D86FEF-69FC-60AC-27C9-5BCEF68F5BE4}"/>
              </a:ext>
            </a:extLst>
          </p:cNvPr>
          <p:cNvSpPr/>
          <p:nvPr/>
        </p:nvSpPr>
        <p:spPr>
          <a:xfrm rot="16200000">
            <a:off x="3528139" y="-3364793"/>
            <a:ext cx="649458" cy="7705721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Questão 2: Fila Encadeada com prioridade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90B09C9-DB06-8FC0-5A7E-5617D662A6E7}"/>
              </a:ext>
            </a:extLst>
          </p:cNvPr>
          <p:cNvSpPr txBox="1"/>
          <p:nvPr/>
        </p:nvSpPr>
        <p:spPr>
          <a:xfrm>
            <a:off x="142570" y="812797"/>
            <a:ext cx="710797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Descrição: </a:t>
            </a:r>
          </a:p>
          <a:p>
            <a:pPr algn="just"/>
            <a:r>
              <a:rPr lang="pt-BR" dirty="0"/>
              <a:t>Implemente uma </a:t>
            </a:r>
            <a:r>
              <a:rPr lang="pt-BR" b="1" dirty="0"/>
              <a:t>fila dinâmica</a:t>
            </a:r>
            <a:r>
              <a:rPr lang="pt-BR" dirty="0"/>
              <a:t> utilizando </a:t>
            </a:r>
            <a:r>
              <a:rPr lang="pt-BR" b="1" dirty="0"/>
              <a:t>lista encadeada</a:t>
            </a:r>
            <a:r>
              <a:rPr lang="pt-BR" dirty="0"/>
              <a:t>. Sua implementação deve conter as operações:</a:t>
            </a:r>
          </a:p>
          <a:p>
            <a:pPr algn="just"/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 err="1"/>
              <a:t>Enqueue</a:t>
            </a:r>
            <a:r>
              <a:rPr lang="pt-BR" b="1" dirty="0"/>
              <a:t> (inserção)</a:t>
            </a:r>
            <a:r>
              <a:rPr lang="pt-BR" dirty="0"/>
              <a:t>: adiciona um elemento ao final da fila.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 err="1"/>
              <a:t>Dequeue</a:t>
            </a:r>
            <a:r>
              <a:rPr lang="pt-BR" b="1" dirty="0"/>
              <a:t> (remoção)</a:t>
            </a:r>
            <a:r>
              <a:rPr lang="pt-BR" dirty="0"/>
              <a:t>: remove o primeiro elemento da fila.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/>
              <a:t>Count</a:t>
            </a:r>
            <a:r>
              <a:rPr lang="pt-BR" dirty="0"/>
              <a:t> (contar): retorna o total de elemento que constam na lista.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/>
              <a:t>Display</a:t>
            </a:r>
            <a:r>
              <a:rPr lang="pt-BR" dirty="0"/>
              <a:t> (exibir): exibi os valores da fila na ordem que estão gravados.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algn="just"/>
            <a:r>
              <a:rPr lang="pt-BR" dirty="0"/>
              <a:t>A fila deve ter a seguinte característica: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Cada item da fila deve possuir um valor de prioridade, que é um número inteiro de 1 a 10.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Ao inserir um item, é obrigatório informar sua prioridade.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Itens com prioridade maior (mais próximo de 10) devem ser inseridos antes dos itens com prioridade menor.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Se dois itens tiverem a mesma prioridade, o primeiro a ser inserido deve permanecer na frente.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algn="just"/>
            <a:r>
              <a:rPr lang="pt-BR" dirty="0"/>
              <a:t>Você deve implementar a solução em </a:t>
            </a:r>
            <a:r>
              <a:rPr lang="pt-BR" b="1" dirty="0"/>
              <a:t>Java</a:t>
            </a:r>
            <a:r>
              <a:rPr lang="pt-BR" dirty="0"/>
              <a:t>.</a:t>
            </a:r>
          </a:p>
          <a:p>
            <a:pPr algn="just"/>
            <a:r>
              <a:rPr lang="pt-BR" dirty="0"/>
              <a:t>A entrega deve incluir o código e um pequeno exemplo de uso, demonstrando todas as operações implementadas.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4EC3553D-5FA2-BFA0-AAC6-37823E6AE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927" y="1106561"/>
            <a:ext cx="4372345" cy="46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35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C5A21-8089-F28E-4CE8-B316DD9F6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: Cantos Superiores Recortados 28">
            <a:extLst>
              <a:ext uri="{FF2B5EF4-FFF2-40B4-BE49-F238E27FC236}">
                <a16:creationId xmlns:a16="http://schemas.microsoft.com/office/drawing/2014/main" id="{AC974181-BEA6-DF61-00E8-F74BB2FFBD64}"/>
              </a:ext>
            </a:extLst>
          </p:cNvPr>
          <p:cNvSpPr/>
          <p:nvPr/>
        </p:nvSpPr>
        <p:spPr>
          <a:xfrm rot="16200000">
            <a:off x="3014221" y="-2850874"/>
            <a:ext cx="649458" cy="6677883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Questão 2: Fila Encadeada Exemplo: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876E86C-8876-0D59-FF8C-E5AA784B3EB5}"/>
              </a:ext>
            </a:extLst>
          </p:cNvPr>
          <p:cNvSpPr txBox="1"/>
          <p:nvPr/>
        </p:nvSpPr>
        <p:spPr>
          <a:xfrm>
            <a:off x="7929142" y="102268"/>
            <a:ext cx="2246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Saída:</a:t>
            </a:r>
            <a:endParaRPr lang="pt-BR" dirty="0"/>
          </a:p>
        </p:txBody>
      </p:sp>
      <p:pic>
        <p:nvPicPr>
          <p:cNvPr id="3" name="Imagem 2" descr="Texto branco sobre fundo preto&#10;&#10;O conteúdo gerado por IA pode estar incorreto.">
            <a:extLst>
              <a:ext uri="{FF2B5EF4-FFF2-40B4-BE49-F238E27FC236}">
                <a16:creationId xmlns:a16="http://schemas.microsoft.com/office/drawing/2014/main" id="{26DDE894-09C8-1659-A890-25359774B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327" y="0"/>
            <a:ext cx="3500665" cy="7001330"/>
          </a:xfrm>
          <a:prstGeom prst="rect">
            <a:avLst/>
          </a:prstGeom>
        </p:spPr>
      </p:pic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888C196C-E6F4-139B-3200-23E12FDE1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345" y="1042986"/>
            <a:ext cx="6346479" cy="5520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080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CB837-4A95-112C-B409-C49BBFE60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: Cantos Superiores Recortados 28">
            <a:extLst>
              <a:ext uri="{FF2B5EF4-FFF2-40B4-BE49-F238E27FC236}">
                <a16:creationId xmlns:a16="http://schemas.microsoft.com/office/drawing/2014/main" id="{2DA05CED-EC6E-ABEE-F2DF-57C6D78B6046}"/>
              </a:ext>
            </a:extLst>
          </p:cNvPr>
          <p:cNvSpPr/>
          <p:nvPr/>
        </p:nvSpPr>
        <p:spPr>
          <a:xfrm rot="16200000">
            <a:off x="2622179" y="-2458830"/>
            <a:ext cx="649458" cy="589379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Questão 3: </a:t>
            </a:r>
            <a:r>
              <a:rPr lang="pt-BR" sz="3200" dirty="0"/>
              <a:t>Pilha Sequencial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96F35B3-3CE5-A39E-21B1-D12052794449}"/>
              </a:ext>
            </a:extLst>
          </p:cNvPr>
          <p:cNvSpPr txBox="1"/>
          <p:nvPr/>
        </p:nvSpPr>
        <p:spPr>
          <a:xfrm>
            <a:off x="142570" y="812797"/>
            <a:ext cx="717263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/>
              <a:t>Descrição: </a:t>
            </a:r>
          </a:p>
          <a:p>
            <a:pPr algn="just"/>
            <a:r>
              <a:rPr lang="pt-BR" dirty="0"/>
              <a:t>Implemente uma pilha utilizando uma estrutura de vetor (</a:t>
            </a:r>
            <a:r>
              <a:rPr lang="pt-BR" dirty="0" err="1"/>
              <a:t>array</a:t>
            </a:r>
            <a:r>
              <a:rPr lang="pt-BR" dirty="0"/>
              <a:t>) começando com 5 posições. Sua implementação deve conter as operações básicas:</a:t>
            </a:r>
          </a:p>
          <a:p>
            <a:pPr algn="just"/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 err="1"/>
              <a:t>Push</a:t>
            </a:r>
            <a:r>
              <a:rPr lang="pt-BR" b="1" dirty="0"/>
              <a:t> (inserção)</a:t>
            </a:r>
            <a:r>
              <a:rPr lang="pt-BR" dirty="0"/>
              <a:t>: adiciona um elemento ao topo da pilha.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/>
              <a:t>Pop (remoção)</a:t>
            </a:r>
            <a:r>
              <a:rPr lang="pt-BR" dirty="0"/>
              <a:t>: remove e retorna o elemento do topo da pilha.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 err="1"/>
              <a:t>Peek</a:t>
            </a:r>
            <a:r>
              <a:rPr lang="pt-BR" b="1" dirty="0"/>
              <a:t> (topo)</a:t>
            </a:r>
            <a:r>
              <a:rPr lang="pt-BR" dirty="0"/>
              <a:t>: retorna o elemento no topo da pilha sem removê-lo.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 err="1"/>
              <a:t>IsEmpty</a:t>
            </a:r>
            <a:r>
              <a:rPr lang="pt-BR" b="1" dirty="0"/>
              <a:t> (verificação)</a:t>
            </a:r>
            <a:r>
              <a:rPr lang="pt-BR" dirty="0"/>
              <a:t>: verifica se a pilha está vazia.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algn="just"/>
            <a:r>
              <a:rPr lang="pt-BR" dirty="0"/>
              <a:t>A pilha deve ter uma expansão automática, ao chegar no tamanho máximo de posições a fila deve se expandir para o dobro automaticamente.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algn="just"/>
            <a:r>
              <a:rPr lang="pt-BR" dirty="0"/>
              <a:t>Você pode implementar a solução em </a:t>
            </a:r>
            <a:r>
              <a:rPr lang="pt-BR" b="1" dirty="0"/>
              <a:t>Java, Python</a:t>
            </a:r>
            <a:r>
              <a:rPr lang="pt-BR" dirty="0"/>
              <a:t>.</a:t>
            </a:r>
          </a:p>
          <a:p>
            <a:pPr algn="just"/>
            <a:r>
              <a:rPr lang="pt-BR" dirty="0"/>
              <a:t>A entrega deve incluir o código e um pequeno exemplo de uso, demonstrando todas as operações implementadas.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2E1FCA9-8B32-1888-DCBE-B628BD938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191" y="1186557"/>
            <a:ext cx="4326203" cy="448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160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05AFB-B984-05A0-44DE-C13FFCA99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: Cantos Superiores Recortados 28">
            <a:extLst>
              <a:ext uri="{FF2B5EF4-FFF2-40B4-BE49-F238E27FC236}">
                <a16:creationId xmlns:a16="http://schemas.microsoft.com/office/drawing/2014/main" id="{B410E139-5A61-6EA5-79B8-927FF1F2305B}"/>
              </a:ext>
            </a:extLst>
          </p:cNvPr>
          <p:cNvSpPr/>
          <p:nvPr/>
        </p:nvSpPr>
        <p:spPr>
          <a:xfrm rot="16200000">
            <a:off x="3494803" y="-3331454"/>
            <a:ext cx="649458" cy="7639043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Questão 4: </a:t>
            </a:r>
            <a:r>
              <a:rPr lang="pt-BR" sz="3200" dirty="0">
                <a:latin typeface="Abadi" panose="020B0604020104020204" pitchFamily="34" charset="0"/>
              </a:rPr>
              <a:t>Pilha Encadeada Monotônica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34F7A12-EF5B-A6F3-8022-8E1A4E74E380}"/>
              </a:ext>
            </a:extLst>
          </p:cNvPr>
          <p:cNvSpPr txBox="1"/>
          <p:nvPr/>
        </p:nvSpPr>
        <p:spPr>
          <a:xfrm>
            <a:off x="142569" y="812797"/>
            <a:ext cx="567720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latin typeface="Abadi" panose="020B0604020104020204" pitchFamily="34" charset="0"/>
              </a:rPr>
              <a:t>Descrição:</a:t>
            </a:r>
          </a:p>
          <a:p>
            <a:pPr algn="just"/>
            <a:r>
              <a:rPr lang="pt-BR" dirty="0">
                <a:latin typeface="Abadi" panose="020B0604020104020204" pitchFamily="34" charset="0"/>
              </a:rPr>
              <a:t>Implemente uma pilha dinâmica usando lista encadeada. Cada elemento possui um valor e uma prioridade (inteiro 1–10).</a:t>
            </a:r>
          </a:p>
          <a:p>
            <a:pPr algn="just"/>
            <a:r>
              <a:rPr lang="pt-BR" dirty="0">
                <a:latin typeface="Abadi" panose="020B0604020104020204" pitchFamily="34" charset="0"/>
              </a:rPr>
              <a:t>A pilha deve obedecer ao invariante monotônico: só é permitido </a:t>
            </a:r>
            <a:r>
              <a:rPr lang="pt-BR" dirty="0" err="1">
                <a:latin typeface="Abadi" panose="020B0604020104020204" pitchFamily="34" charset="0"/>
              </a:rPr>
              <a:t>push</a:t>
            </a:r>
            <a:r>
              <a:rPr lang="pt-BR" dirty="0">
                <a:latin typeface="Abadi" panose="020B0604020104020204" pitchFamily="34" charset="0"/>
              </a:rPr>
              <a:t> se a prioridade do novo item for ≥ à prioridade do topo (ordem não decrescente do topo para a base). Caso a regra não seja atendida, rejeite a inserção e exiba uma mensagem.</a:t>
            </a:r>
          </a:p>
          <a:p>
            <a:pPr algn="just"/>
            <a:endParaRPr lang="pt-BR" dirty="0">
              <a:latin typeface="Abadi" panose="020B0604020104020204" pitchFamily="34" charset="0"/>
            </a:endParaRPr>
          </a:p>
          <a:p>
            <a:pPr algn="just"/>
            <a:r>
              <a:rPr lang="pt-BR" dirty="0">
                <a:latin typeface="Abadi" panose="020B0604020104020204" pitchFamily="34" charset="0"/>
              </a:rPr>
              <a:t>Operações obrigatórias: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>
                <a:latin typeface="Abadi" panose="020B0604020104020204" pitchFamily="34" charset="0"/>
              </a:rPr>
              <a:t>Push</a:t>
            </a:r>
            <a:r>
              <a:rPr lang="pt-BR" dirty="0">
                <a:latin typeface="Abadi" panose="020B0604020104020204" pitchFamily="34" charset="0"/>
              </a:rPr>
              <a:t>(valor, prioridade): insere no topo apenas se </a:t>
            </a:r>
            <a:r>
              <a:rPr lang="pt-BR" dirty="0" err="1">
                <a:latin typeface="Abadi" panose="020B0604020104020204" pitchFamily="34" charset="0"/>
              </a:rPr>
              <a:t>prioridade_nova</a:t>
            </a:r>
            <a:r>
              <a:rPr lang="pt-BR" dirty="0">
                <a:latin typeface="Abadi" panose="020B0604020104020204" pitchFamily="34" charset="0"/>
              </a:rPr>
              <a:t> ≥ </a:t>
            </a:r>
            <a:r>
              <a:rPr lang="pt-BR" dirty="0" err="1">
                <a:latin typeface="Abadi" panose="020B0604020104020204" pitchFamily="34" charset="0"/>
              </a:rPr>
              <a:t>prioridade_topo</a:t>
            </a:r>
            <a:r>
              <a:rPr lang="pt-BR" dirty="0">
                <a:latin typeface="Abadi" panose="020B0604020104020204" pitchFamily="34" charset="0"/>
              </a:rPr>
              <a:t> (ou se a pilha estiver vazia). Rejeite prioridades fora de 1–10.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Pop(): remove e retorna o topo.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>
                <a:latin typeface="Abadi" panose="020B0604020104020204" pitchFamily="34" charset="0"/>
              </a:rPr>
              <a:t>Peek</a:t>
            </a:r>
            <a:r>
              <a:rPr lang="pt-BR" dirty="0">
                <a:latin typeface="Abadi" panose="020B0604020104020204" pitchFamily="34" charset="0"/>
              </a:rPr>
              <a:t>(): retorna o topo sem remover.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 err="1">
                <a:latin typeface="Abadi" panose="020B0604020104020204" pitchFamily="34" charset="0"/>
              </a:rPr>
              <a:t>IsEmpty</a:t>
            </a:r>
            <a:r>
              <a:rPr lang="pt-BR" dirty="0">
                <a:latin typeface="Abadi" panose="020B0604020104020204" pitchFamily="34" charset="0"/>
              </a:rPr>
              <a:t>(): verifica se a pilha está vazia.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Count(): retorna a quantidade de elementos.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Display(): exibe os elementos do topo para a base no formato valor | prioridade.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B0CE4ED-9583-B393-FDAA-9A69F194E7AE}"/>
              </a:ext>
            </a:extLst>
          </p:cNvPr>
          <p:cNvSpPr txBox="1"/>
          <p:nvPr/>
        </p:nvSpPr>
        <p:spPr>
          <a:xfrm>
            <a:off x="6095999" y="812797"/>
            <a:ext cx="604488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pt-BR" sz="1800" dirty="0"/>
          </a:p>
          <a:p>
            <a:pPr algn="just"/>
            <a:r>
              <a:rPr lang="pt-BR" sz="1800" dirty="0">
                <a:latin typeface="Abadi" panose="020B0604020104020204" pitchFamily="34" charset="0"/>
              </a:rPr>
              <a:t>Comportamentos esperados (exemplos):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dirty="0">
                <a:latin typeface="Abadi" panose="020B0604020104020204" pitchFamily="34" charset="0"/>
              </a:rPr>
              <a:t>Pilha vazia → </a:t>
            </a:r>
            <a:r>
              <a:rPr lang="pt-BR" sz="1800" dirty="0" err="1">
                <a:latin typeface="Abadi" panose="020B0604020104020204" pitchFamily="34" charset="0"/>
              </a:rPr>
              <a:t>push</a:t>
            </a:r>
            <a:r>
              <a:rPr lang="pt-BR" sz="1800" dirty="0">
                <a:latin typeface="Abadi" panose="020B0604020104020204" pitchFamily="34" charset="0"/>
              </a:rPr>
              <a:t>(7) aceita.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dirty="0">
                <a:latin typeface="Abadi" panose="020B0604020104020204" pitchFamily="34" charset="0"/>
              </a:rPr>
              <a:t>Topo com prioridade 7 → </a:t>
            </a:r>
            <a:r>
              <a:rPr lang="pt-BR" sz="1800" dirty="0" err="1">
                <a:latin typeface="Abadi" panose="020B0604020104020204" pitchFamily="34" charset="0"/>
              </a:rPr>
              <a:t>push</a:t>
            </a:r>
            <a:r>
              <a:rPr lang="pt-BR" sz="1800" dirty="0">
                <a:latin typeface="Abadi" panose="020B0604020104020204" pitchFamily="34" charset="0"/>
              </a:rPr>
              <a:t>(8) aceita; </a:t>
            </a:r>
            <a:r>
              <a:rPr lang="pt-BR" sz="1800" dirty="0" err="1">
                <a:latin typeface="Abadi" panose="020B0604020104020204" pitchFamily="34" charset="0"/>
              </a:rPr>
              <a:t>push</a:t>
            </a:r>
            <a:r>
              <a:rPr lang="pt-BR" sz="1800" dirty="0">
                <a:latin typeface="Abadi" panose="020B0604020104020204" pitchFamily="34" charset="0"/>
              </a:rPr>
              <a:t>(5) rejeita (quebra a monotonia).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dirty="0">
                <a:latin typeface="Abadi" panose="020B0604020104020204" pitchFamily="34" charset="0"/>
              </a:rPr>
              <a:t>Empates são permitidos: prioridade igual ao topo aceita.</a:t>
            </a:r>
          </a:p>
          <a:p>
            <a:pPr algn="just"/>
            <a:endParaRPr lang="pt-BR" sz="1800" dirty="0">
              <a:latin typeface="Abadi" panose="020B0604020104020204" pitchFamily="34" charset="0"/>
            </a:endParaRPr>
          </a:p>
          <a:p>
            <a:pPr algn="just"/>
            <a:r>
              <a:rPr lang="pt-BR" sz="1800" dirty="0">
                <a:latin typeface="Abadi" panose="020B0604020104020204" pitchFamily="34" charset="0"/>
              </a:rPr>
              <a:t>Observações: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dirty="0">
                <a:latin typeface="Abadi" panose="020B0604020104020204" pitchFamily="34" charset="0"/>
              </a:rPr>
              <a:t>Não reordene elementos internos; apenas valide no </a:t>
            </a:r>
            <a:r>
              <a:rPr lang="pt-BR" sz="1800" dirty="0" err="1">
                <a:latin typeface="Abadi" panose="020B0604020104020204" pitchFamily="34" charset="0"/>
              </a:rPr>
              <a:t>push</a:t>
            </a:r>
            <a:r>
              <a:rPr lang="pt-BR" sz="1800" dirty="0">
                <a:latin typeface="Abadi" panose="020B0604020104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dirty="0">
                <a:latin typeface="Abadi" panose="020B0604020104020204" pitchFamily="34" charset="0"/>
              </a:rPr>
              <a:t>Trate mensagens claras para: pilha vazia (em Pop/</a:t>
            </a:r>
            <a:r>
              <a:rPr lang="pt-BR" sz="1800" dirty="0" err="1">
                <a:latin typeface="Abadi" panose="020B0604020104020204" pitchFamily="34" charset="0"/>
              </a:rPr>
              <a:t>Peek</a:t>
            </a:r>
            <a:r>
              <a:rPr lang="pt-BR" sz="1800" dirty="0">
                <a:latin typeface="Abadi" panose="020B0604020104020204" pitchFamily="34" charset="0"/>
              </a:rPr>
              <a:t>), prioridade inválida, e inserção rejeitada por invariante.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800" dirty="0">
                <a:latin typeface="Abadi" panose="020B0604020104020204" pitchFamily="34" charset="0"/>
              </a:rPr>
              <a:t>Estruture os nós com ponteiros (encadeamento simples é suficiente).</a:t>
            </a:r>
          </a:p>
          <a:p>
            <a:pPr algn="just"/>
            <a:endParaRPr lang="pt-BR" sz="1800" dirty="0">
              <a:latin typeface="Abadi" panose="020B0604020104020204" pitchFamily="34" charset="0"/>
            </a:endParaRPr>
          </a:p>
          <a:p>
            <a:pPr algn="just"/>
            <a:r>
              <a:rPr lang="pt-BR" dirty="0"/>
              <a:t>Você pode implementar a solução </a:t>
            </a:r>
            <a:r>
              <a:rPr lang="pt-BR"/>
              <a:t>em </a:t>
            </a:r>
            <a:r>
              <a:rPr lang="pt-BR" b="1"/>
              <a:t>Java</a:t>
            </a:r>
            <a:r>
              <a:rPr lang="pt-BR"/>
              <a:t>.</a:t>
            </a:r>
            <a:endParaRPr lang="pt-BR" dirty="0"/>
          </a:p>
          <a:p>
            <a:pPr algn="just"/>
            <a:r>
              <a:rPr lang="pt-BR" sz="1800" dirty="0">
                <a:latin typeface="Abadi" panose="020B0604020104020204" pitchFamily="34" charset="0"/>
              </a:rPr>
              <a:t>Entrega: código + exemplo de uso demonstrando todas as operações, incluindo casos de aceitação e de rejeição no </a:t>
            </a:r>
            <a:r>
              <a:rPr lang="pt-BR" sz="1800" dirty="0" err="1">
                <a:latin typeface="Abadi" panose="020B0604020104020204" pitchFamily="34" charset="0"/>
              </a:rPr>
              <a:t>push</a:t>
            </a:r>
            <a:endParaRPr lang="pt-BR" sz="18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375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E9923-95D2-61B0-52D3-1B7B1FF74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: Cantos Superiores Recortados 28">
            <a:extLst>
              <a:ext uri="{FF2B5EF4-FFF2-40B4-BE49-F238E27FC236}">
                <a16:creationId xmlns:a16="http://schemas.microsoft.com/office/drawing/2014/main" id="{DFC16E77-CF81-305C-5BD1-3AAE6DEEA627}"/>
              </a:ext>
            </a:extLst>
          </p:cNvPr>
          <p:cNvSpPr/>
          <p:nvPr/>
        </p:nvSpPr>
        <p:spPr>
          <a:xfrm rot="16200000">
            <a:off x="3351927" y="-3188579"/>
            <a:ext cx="649458" cy="7353294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Questão 4: Pilha Encadeada Monotônica: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82D6612-25D5-302C-F62A-0B87CED07472}"/>
              </a:ext>
            </a:extLst>
          </p:cNvPr>
          <p:cNvSpPr txBox="1"/>
          <p:nvPr/>
        </p:nvSpPr>
        <p:spPr>
          <a:xfrm>
            <a:off x="6971943" y="1378505"/>
            <a:ext cx="2246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Saída:</a:t>
            </a: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11DA42F-626C-3626-44F9-8B4272332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2627"/>
            <a:ext cx="6971943" cy="479907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3A11892-94E5-AEBF-089F-51B4B11C0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993" y="1747837"/>
            <a:ext cx="5353050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5542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Personalizada 2">
      <a:dk1>
        <a:srgbClr val="0C101C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8C67361DBE7D944AD858223D4CAF603" ma:contentTypeVersion="3" ma:contentTypeDescription="Crie um novo documento." ma:contentTypeScope="" ma:versionID="b2c010e37c8d437adfa72cc06fc89f10">
  <xsd:schema xmlns:xsd="http://www.w3.org/2001/XMLSchema" xmlns:xs="http://www.w3.org/2001/XMLSchema" xmlns:p="http://schemas.microsoft.com/office/2006/metadata/properties" xmlns:ns2="7b76103c-d6e0-4e2e-819a-fe104c886131" targetNamespace="http://schemas.microsoft.com/office/2006/metadata/properties" ma:root="true" ma:fieldsID="430cfa03dd1b8b020d8472fbc3b2d459" ns2:_="">
    <xsd:import namespace="7b76103c-d6e0-4e2e-819a-fe104c886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76103c-d6e0-4e2e-819a-fe104c8861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8B6141-EF11-41AB-88E9-AF38983C5B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F93E8C-1BE6-402D-9A31-05B01A013EE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62DE922-7B6A-44B6-8811-A82BB76E4799}"/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23807</TotalTime>
  <Words>840</Words>
  <Application>Microsoft Office PowerPoint</Application>
  <PresentationFormat>Widescreen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Abadi</vt:lpstr>
      <vt:lpstr>Arial</vt:lpstr>
      <vt:lpstr>Calibri</vt:lpstr>
      <vt:lpstr>Calibri Light</vt:lpstr>
      <vt:lpstr>Wingdings</vt:lpstr>
      <vt:lpstr>Tema do Office</vt:lpstr>
      <vt:lpstr>Estrutura de Dados Trabalho:  Pilha e Fila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Vinícius José Lopes Cursino</dc:creator>
  <cp:lastModifiedBy>Vinícius José Lopes Cursino</cp:lastModifiedBy>
  <cp:revision>293</cp:revision>
  <dcterms:created xsi:type="dcterms:W3CDTF">2024-11-05T22:56:10Z</dcterms:created>
  <dcterms:modified xsi:type="dcterms:W3CDTF">2026-03-02T23:21:43Z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0x01010068C67361DBE7D944AD858223D4CAF603</vt:lpwstr>
  </property>
</Properties>
</file>