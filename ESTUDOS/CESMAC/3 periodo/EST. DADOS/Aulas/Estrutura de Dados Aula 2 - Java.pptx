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4"/>
  </p:notesMasterIdLst>
  <p:sldIdLst>
    <p:sldId id="256" r:id="rId2"/>
    <p:sldId id="257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291" r:id="rId25"/>
    <p:sldId id="292" r:id="rId26"/>
    <p:sldId id="293" r:id="rId27"/>
    <p:sldId id="294" r:id="rId28"/>
    <p:sldId id="295" r:id="rId29"/>
    <p:sldId id="296" r:id="rId30"/>
    <p:sldId id="297" r:id="rId31"/>
    <p:sldId id="298" r:id="rId32"/>
    <p:sldId id="299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3D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3" autoAdjust="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81286D-C18D-4B4F-A349-CB31C3A6B146}" type="datetimeFigureOut">
              <a:rPr lang="pt-BR" smtClean="0"/>
              <a:t>29/01/2026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014D22-DF81-4142-82AF-1CBA07AB3E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4146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014D22-DF81-4142-82AF-1CBA07AB3EA1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3856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29/01/2026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7789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29/01/2026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5272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29/01/2026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0829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29/01/2026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6603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29/01/2026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6583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29/01/2026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7466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29/01/2026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1268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29/01/2026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410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29/01/2026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1366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29/01/2026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7978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29/01/2026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0997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5F5F1-592D-4F5E-BEF8-26440F16569E}" type="datetimeFigureOut">
              <a:rPr lang="pt-BR" smtClean="0"/>
              <a:t>29/01/2026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89262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jetbrains.com/idea/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FADF5B1-E9DA-EEF5-C245-EE90098EC5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7" b="6865"/>
          <a:stretch/>
        </p:blipFill>
        <p:spPr bwMode="auto">
          <a:xfrm>
            <a:off x="-129540" y="0"/>
            <a:ext cx="1232154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0920C71-0C6B-67A1-FA2E-EB93D61154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3429000"/>
            <a:ext cx="7190792" cy="2387600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pt-BR" dirty="0">
                <a:latin typeface="Abadi" panose="020B0604020104020204" pitchFamily="34" charset="0"/>
              </a:rPr>
              <a:t>Estrutura de Dados</a:t>
            </a:r>
            <a:br>
              <a:rPr lang="pt-BR" dirty="0">
                <a:latin typeface="Abadi" panose="020B0604020104020204" pitchFamily="34" charset="0"/>
              </a:rPr>
            </a:br>
            <a:r>
              <a:rPr lang="pt-BR" dirty="0">
                <a:latin typeface="Abadi" panose="020B0604020104020204" pitchFamily="34" charset="0"/>
              </a:rPr>
              <a:t>Aula 2: Java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D51ADBE-F611-60E0-63DF-674DC817D5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908675"/>
            <a:ext cx="7190792" cy="400795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 lnSpcReduction="10000"/>
          </a:bodyPr>
          <a:lstStyle/>
          <a:p>
            <a:pPr algn="l"/>
            <a:r>
              <a:rPr lang="pt-BR" dirty="0">
                <a:latin typeface="Abadi" panose="020B0604020104020204" pitchFamily="34" charset="0"/>
              </a:rPr>
              <a:t>Professor: Vinicius Cursino</a:t>
            </a:r>
          </a:p>
        </p:txBody>
      </p:sp>
    </p:spTree>
    <p:extLst>
      <p:ext uri="{BB962C8B-B14F-4D97-AF65-F5344CB8AC3E}">
        <p14:creationId xmlns:p14="http://schemas.microsoft.com/office/powerpoint/2010/main" val="202891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Oracle lança Java 20 com várias melhorias de desempenho e segurança -  Inforchannel">
            <a:extLst>
              <a:ext uri="{FF2B5EF4-FFF2-40B4-BE49-F238E27FC236}">
                <a16:creationId xmlns:a16="http://schemas.microsoft.com/office/drawing/2014/main" id="{9FCBEFC1-1B3D-2D8F-52C4-D72329471F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598" r="807"/>
          <a:stretch>
            <a:fillRect/>
          </a:stretch>
        </p:blipFill>
        <p:spPr bwMode="auto">
          <a:xfrm>
            <a:off x="7945887" y="4663110"/>
            <a:ext cx="2094758" cy="2229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Oracle lança Java 20 com várias melhorias de desempenho e segurança -  Inforchannel">
            <a:extLst>
              <a:ext uri="{FF2B5EF4-FFF2-40B4-BE49-F238E27FC236}">
                <a16:creationId xmlns:a16="http://schemas.microsoft.com/office/drawing/2014/main" id="{E362530A-462C-CE2D-3C79-0FBD94FDC5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53268"/>
          <a:stretch>
            <a:fillRect/>
          </a:stretch>
        </p:blipFill>
        <p:spPr bwMode="auto">
          <a:xfrm>
            <a:off x="7200887" y="1080149"/>
            <a:ext cx="3577701" cy="4285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CF876BB8-A4A9-B67A-2D6A-0D0B8083329F}"/>
              </a:ext>
            </a:extLst>
          </p:cNvPr>
          <p:cNvSpPr txBox="1"/>
          <p:nvPr/>
        </p:nvSpPr>
        <p:spPr>
          <a:xfrm>
            <a:off x="420212" y="1140781"/>
            <a:ext cx="8206665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>
                <a:latin typeface="Abadi" panose="020B0604020104020204" pitchFamily="34" charset="0"/>
              </a:rPr>
              <a:t>Java é uma linguagem de programação popular criada em 1995 pelo programador canadense James Gosling.</a:t>
            </a:r>
          </a:p>
          <a:p>
            <a:endParaRPr lang="pt-BR" sz="2000" dirty="0">
              <a:latin typeface="Abadi" panose="020B0604020104020204" pitchFamily="34" charset="0"/>
            </a:endParaRPr>
          </a:p>
          <a:p>
            <a:r>
              <a:rPr lang="pt-BR" sz="2000" dirty="0">
                <a:latin typeface="Abadi" panose="020B0604020104020204" pitchFamily="34" charset="0"/>
              </a:rPr>
              <a:t>Foi comprada pela Oracle em 2008;</a:t>
            </a:r>
          </a:p>
          <a:p>
            <a:endParaRPr lang="pt-BR" sz="2000" dirty="0">
              <a:latin typeface="Abadi" panose="020B0604020104020204" pitchFamily="34" charset="0"/>
            </a:endParaRPr>
          </a:p>
          <a:p>
            <a:r>
              <a:rPr lang="pt-BR" sz="2000" dirty="0">
                <a:latin typeface="Abadi" panose="020B0604020104020204" pitchFamily="34" charset="0"/>
              </a:rPr>
              <a:t>Mais de 3 bilhões de dispositivos executam Java.</a:t>
            </a:r>
          </a:p>
          <a:p>
            <a:endParaRPr lang="pt-BR" sz="2000" dirty="0">
              <a:latin typeface="Abadi" panose="020B0604020104020204" pitchFamily="34" charset="0"/>
            </a:endParaRPr>
          </a:p>
          <a:p>
            <a:r>
              <a:rPr lang="pt-BR" sz="2000" dirty="0">
                <a:latin typeface="Abadi" panose="020B0604020104020204" pitchFamily="34" charset="0"/>
              </a:rPr>
              <a:t>É usado para:</a:t>
            </a:r>
          </a:p>
          <a:p>
            <a:endParaRPr lang="pt-BR" sz="2000" dirty="0">
              <a:latin typeface="Abadi" panose="020B06040201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Aplicações móveis (especialmente aplicativos Android);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Aplicações desktop;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Aplicações web;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Servidores Web e Servidores de Aplicação;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Jogos;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Conexão de banco de dados;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E muito, muito mais!</a:t>
            </a:r>
          </a:p>
        </p:txBody>
      </p:sp>
      <p:sp>
        <p:nvSpPr>
          <p:cNvPr id="9" name="Retângulo: Cantos Superiores Recortados 8">
            <a:extLst>
              <a:ext uri="{FF2B5EF4-FFF2-40B4-BE49-F238E27FC236}">
                <a16:creationId xmlns:a16="http://schemas.microsoft.com/office/drawing/2014/main" id="{114F6945-8CA4-F3A8-D097-A453BE387D08}"/>
              </a:ext>
            </a:extLst>
          </p:cNvPr>
          <p:cNvSpPr/>
          <p:nvPr/>
        </p:nvSpPr>
        <p:spPr>
          <a:xfrm rot="16200000">
            <a:off x="1299890" y="-1136544"/>
            <a:ext cx="649458" cy="3249223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latin typeface="Abadi" panose="020B0604020104020204" pitchFamily="34" charset="0"/>
              </a:rPr>
              <a:t>O que é Java?</a:t>
            </a:r>
          </a:p>
        </p:txBody>
      </p:sp>
    </p:spTree>
    <p:extLst>
      <p:ext uri="{BB962C8B-B14F-4D97-AF65-F5344CB8AC3E}">
        <p14:creationId xmlns:p14="http://schemas.microsoft.com/office/powerpoint/2010/main" val="3918383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03B0A-47CC-0F5A-75D3-3C82821DB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: Cantos Superiores Recortados 8">
            <a:extLst>
              <a:ext uri="{FF2B5EF4-FFF2-40B4-BE49-F238E27FC236}">
                <a16:creationId xmlns:a16="http://schemas.microsoft.com/office/drawing/2014/main" id="{2555DFE8-2191-E7C2-7C84-D1E4E4EFE51D}"/>
              </a:ext>
            </a:extLst>
          </p:cNvPr>
          <p:cNvSpPr/>
          <p:nvPr/>
        </p:nvSpPr>
        <p:spPr>
          <a:xfrm rot="16200000">
            <a:off x="1552904" y="-1389558"/>
            <a:ext cx="649458" cy="3755249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latin typeface="Abadi" panose="020B0604020104020204" pitchFamily="34" charset="0"/>
              </a:rPr>
              <a:t>Por que usar Java?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E875126-8BDD-1445-87DF-152BBD05D458}"/>
              </a:ext>
            </a:extLst>
          </p:cNvPr>
          <p:cNvSpPr txBox="1"/>
          <p:nvPr/>
        </p:nvSpPr>
        <p:spPr>
          <a:xfrm>
            <a:off x="180515" y="838938"/>
            <a:ext cx="11351578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Java funciona em diferentes plataformas (Windows, Mac, Linux, </a:t>
            </a:r>
            <a:r>
              <a:rPr lang="pt-BR" sz="2000" dirty="0" err="1">
                <a:latin typeface="Abadi" panose="020B0604020104020204" pitchFamily="34" charset="0"/>
              </a:rPr>
              <a:t>Raspberry</a:t>
            </a:r>
            <a:r>
              <a:rPr lang="pt-BR" sz="2000" dirty="0">
                <a:latin typeface="Abadi" panose="020B0604020104020204" pitchFamily="34" charset="0"/>
              </a:rPr>
              <a:t> Pi, etc.);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latin typeface="Abadi" panose="020B06040201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É uma das linguagens de programação mais populares do mundo;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latin typeface="Abadi" panose="020B06040201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Tem uma grande demanda no mercado de trabalho atual;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latin typeface="Abadi" panose="020B06040201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É fácil de aprender e simples de usar;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latin typeface="Abadi" panose="020B06040201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É de código aberto e gratuito;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latin typeface="Abadi" panose="020B06040201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É seguro, rápido e poderoso;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latin typeface="Abadi" panose="020B06040201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Possui enorme suporte da comunidade (dezenas de milhões de desenvolvedores);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latin typeface="Abadi" panose="020B06040201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Java é uma linguagem orientada a objetos que fornece uma estrutura clara aos programas e permite a reutilização de código, reduzindo os custos de desenvolvimento;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latin typeface="Abadi" panose="020B06040201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Como Java é próximo de C++ e C#, torna mais fácil para os programadores mudarem para Java ou vice-versa;</a:t>
            </a:r>
          </a:p>
        </p:txBody>
      </p:sp>
    </p:spTree>
    <p:extLst>
      <p:ext uri="{BB962C8B-B14F-4D97-AF65-F5344CB8AC3E}">
        <p14:creationId xmlns:p14="http://schemas.microsoft.com/office/powerpoint/2010/main" val="3078012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17B59-E222-D39E-681C-5CFFF49BB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: Cantos Superiores Recortados 8">
            <a:extLst>
              <a:ext uri="{FF2B5EF4-FFF2-40B4-BE49-F238E27FC236}">
                <a16:creationId xmlns:a16="http://schemas.microsoft.com/office/drawing/2014/main" id="{FB82EB9C-5623-8F5F-F9EE-966F1C4C88F7}"/>
              </a:ext>
            </a:extLst>
          </p:cNvPr>
          <p:cNvSpPr/>
          <p:nvPr/>
        </p:nvSpPr>
        <p:spPr>
          <a:xfrm rot="16200000">
            <a:off x="2723275" y="-2559929"/>
            <a:ext cx="649458" cy="6095991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latin typeface="Abadi" panose="020B0604020104020204" pitchFamily="34" charset="0"/>
              </a:rPr>
              <a:t>Como baixar o Java atualmente?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332EE89-557F-151A-A8E4-0877DD13AE4F}"/>
              </a:ext>
            </a:extLst>
          </p:cNvPr>
          <p:cNvSpPr txBox="1"/>
          <p:nvPr/>
        </p:nvSpPr>
        <p:spPr>
          <a:xfrm>
            <a:off x="180514" y="838938"/>
            <a:ext cx="6424471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dirty="0">
                <a:latin typeface="Abadi" panose="020B0604020104020204" pitchFamily="34" charset="0"/>
              </a:rPr>
              <a:t>Atualmente, não é mais necessário instalar o Java separadamente para começar a programar. </a:t>
            </a: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r>
              <a:rPr lang="pt-BR" sz="2000" dirty="0">
                <a:latin typeface="Abadi" panose="020B0604020104020204" pitchFamily="34" charset="0"/>
              </a:rPr>
              <a:t>Ao baixar o </a:t>
            </a:r>
            <a:r>
              <a:rPr lang="pt-BR" sz="2000" dirty="0">
                <a:latin typeface="Abadi" panose="020B0604020104020204" pitchFamily="34" charset="0"/>
                <a:hlinkClick r:id="rId2"/>
              </a:rPr>
              <a:t>IntelliJ IDEA</a:t>
            </a:r>
            <a:r>
              <a:rPr lang="pt-BR" sz="2000" dirty="0">
                <a:latin typeface="Abadi" panose="020B0604020104020204" pitchFamily="34" charset="0"/>
              </a:rPr>
              <a:t>, a própria ferramenta oferece o download e a configuração automática do </a:t>
            </a:r>
            <a:r>
              <a:rPr lang="pt-BR" sz="2000" dirty="0" err="1">
                <a:latin typeface="Abadi" panose="020B0604020104020204" pitchFamily="34" charset="0"/>
              </a:rPr>
              <a:t>Java.Assim</a:t>
            </a:r>
            <a:r>
              <a:rPr lang="pt-BR" sz="2000" dirty="0">
                <a:latin typeface="Abadi" panose="020B0604020104020204" pitchFamily="34" charset="0"/>
              </a:rPr>
              <a:t>, todo o ambiente já fica pronto dentro do próprio software.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000" dirty="0">
              <a:latin typeface="Abadi" panose="020B0604020104020204" pitchFamily="34" charset="0"/>
            </a:endParaRPr>
          </a:p>
          <a:p>
            <a:pPr algn="just"/>
            <a:r>
              <a:rPr lang="pt-BR" sz="2000" dirty="0">
                <a:latin typeface="Abadi" panose="020B0604020104020204" pitchFamily="34" charset="0"/>
              </a:rPr>
              <a:t>Depois disso, basta criar o projeto e começar a programar diretamente pela IDE.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1A9D4AF-74ED-2BC0-3E4B-C1D00D75F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2671" y="559293"/>
            <a:ext cx="4465468" cy="446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B9D5EBE4-0786-1A9E-BE7E-B5880A2A068B}"/>
              </a:ext>
            </a:extLst>
          </p:cNvPr>
          <p:cNvSpPr txBox="1"/>
          <p:nvPr/>
        </p:nvSpPr>
        <p:spPr>
          <a:xfrm>
            <a:off x="186431" y="5371224"/>
            <a:ext cx="11819138" cy="132343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000" dirty="0">
                <a:latin typeface="Abadi" panose="020B0604020104020204" pitchFamily="34" charset="0"/>
              </a:rPr>
              <a:t>Quando ainda vale instalar Java “por fora”?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000" dirty="0">
                <a:latin typeface="Abadi" panose="020B0604020104020204" pitchFamily="34" charset="0"/>
              </a:rPr>
              <a:t>Se você usa Java no terminal com frequência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000" dirty="0">
                <a:latin typeface="Abadi" panose="020B0604020104020204" pitchFamily="34" charset="0"/>
              </a:rPr>
              <a:t>Se precisa do JDK para outras ferramentas (</a:t>
            </a:r>
            <a:r>
              <a:rPr lang="pt-BR" sz="2000" dirty="0" err="1">
                <a:latin typeface="Abadi" panose="020B0604020104020204" pitchFamily="34" charset="0"/>
              </a:rPr>
              <a:t>Maven</a:t>
            </a:r>
            <a:r>
              <a:rPr lang="pt-BR" sz="2000" dirty="0">
                <a:latin typeface="Abadi" panose="020B0604020104020204" pitchFamily="34" charset="0"/>
              </a:rPr>
              <a:t>, </a:t>
            </a:r>
            <a:r>
              <a:rPr lang="pt-BR" sz="2000" dirty="0" err="1">
                <a:latin typeface="Abadi" panose="020B0604020104020204" pitchFamily="34" charset="0"/>
              </a:rPr>
              <a:t>Gradle</a:t>
            </a:r>
            <a:r>
              <a:rPr lang="pt-BR" sz="2000" dirty="0">
                <a:latin typeface="Abadi" panose="020B0604020104020204" pitchFamily="34" charset="0"/>
              </a:rPr>
              <a:t>, Docker, CI, scripts, etc.)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000" dirty="0">
                <a:latin typeface="Abadi" panose="020B0604020104020204" pitchFamily="34" charset="0"/>
              </a:rPr>
              <a:t>Se quer controlar versões via </a:t>
            </a:r>
            <a:r>
              <a:rPr lang="pt-BR" dirty="0">
                <a:latin typeface="Abadi" panose="020B0604020104020204" pitchFamily="34" charset="0"/>
              </a:rPr>
              <a:t>JAVA_HOME</a:t>
            </a:r>
            <a:r>
              <a:rPr lang="pt-BR" sz="2000" dirty="0">
                <a:latin typeface="Abadi" panose="020B0604020104020204" pitchFamily="34" charset="0"/>
              </a:rPr>
              <a:t> no sistema</a:t>
            </a:r>
          </a:p>
        </p:txBody>
      </p:sp>
    </p:spTree>
    <p:extLst>
      <p:ext uri="{BB962C8B-B14F-4D97-AF65-F5344CB8AC3E}">
        <p14:creationId xmlns:p14="http://schemas.microsoft.com/office/powerpoint/2010/main" val="1213684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21DAFCE4-5C35-DC2B-A4D0-056DEC7B5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657" y="1078215"/>
            <a:ext cx="6608685" cy="5426249"/>
          </a:xfrm>
          <a:prstGeom prst="rect">
            <a:avLst/>
          </a:prstGeom>
        </p:spPr>
      </p:pic>
      <p:sp>
        <p:nvSpPr>
          <p:cNvPr id="4" name="Retângulo: Cantos Superiores Recortados 3">
            <a:extLst>
              <a:ext uri="{FF2B5EF4-FFF2-40B4-BE49-F238E27FC236}">
                <a16:creationId xmlns:a16="http://schemas.microsoft.com/office/drawing/2014/main" id="{B3E4C71F-06FB-0CFC-C5A6-4D75452A5755}"/>
              </a:ext>
            </a:extLst>
          </p:cNvPr>
          <p:cNvSpPr/>
          <p:nvPr/>
        </p:nvSpPr>
        <p:spPr>
          <a:xfrm rot="16200000">
            <a:off x="1344280" y="-1180932"/>
            <a:ext cx="649458" cy="3337998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latin typeface="Abadi" panose="020B0604020104020204" pitchFamily="34" charset="0"/>
              </a:rPr>
              <a:t>Como começar?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BB9E31A-B4C2-E949-5DBC-F8EB9037A0D4}"/>
              </a:ext>
            </a:extLst>
          </p:cNvPr>
          <p:cNvSpPr/>
          <p:nvPr/>
        </p:nvSpPr>
        <p:spPr>
          <a:xfrm>
            <a:off x="6409678" y="1526959"/>
            <a:ext cx="976543" cy="319596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3784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381EB-1AA6-965A-52C5-4FFC0425A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Superiores Recortados 3">
            <a:extLst>
              <a:ext uri="{FF2B5EF4-FFF2-40B4-BE49-F238E27FC236}">
                <a16:creationId xmlns:a16="http://schemas.microsoft.com/office/drawing/2014/main" id="{B92402EE-B515-146E-2E4B-D45475095ED7}"/>
              </a:ext>
            </a:extLst>
          </p:cNvPr>
          <p:cNvSpPr/>
          <p:nvPr/>
        </p:nvSpPr>
        <p:spPr>
          <a:xfrm rot="16200000">
            <a:off x="1330963" y="-1167616"/>
            <a:ext cx="649458" cy="3311365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latin typeface="Abadi" panose="020B0604020104020204" pitchFamily="34" charset="0"/>
              </a:rPr>
              <a:t>Como começar?</a:t>
            </a:r>
          </a:p>
        </p:txBody>
      </p:sp>
      <p:pic>
        <p:nvPicPr>
          <p:cNvPr id="6" name="Imagem 5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AED69649-7E48-4176-4459-3F0348A3C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2798" y="984429"/>
            <a:ext cx="6546404" cy="552933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50269730-C07A-88E2-ED5A-970BFF0C1291}"/>
              </a:ext>
            </a:extLst>
          </p:cNvPr>
          <p:cNvSpPr/>
          <p:nvPr/>
        </p:nvSpPr>
        <p:spPr>
          <a:xfrm>
            <a:off x="4918230" y="1482570"/>
            <a:ext cx="3213716" cy="319596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BFC4517-0DA5-B43B-CFF3-1C683D77C4A6}"/>
              </a:ext>
            </a:extLst>
          </p:cNvPr>
          <p:cNvSpPr/>
          <p:nvPr/>
        </p:nvSpPr>
        <p:spPr>
          <a:xfrm>
            <a:off x="4918229" y="3008794"/>
            <a:ext cx="4092605" cy="420206"/>
          </a:xfrm>
          <a:prstGeom prst="rect">
            <a:avLst/>
          </a:prstGeom>
          <a:noFill/>
          <a:ln w="571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6F5D334-05D5-F3BB-5A65-DB68ADF0C70C}"/>
              </a:ext>
            </a:extLst>
          </p:cNvPr>
          <p:cNvSpPr/>
          <p:nvPr/>
        </p:nvSpPr>
        <p:spPr>
          <a:xfrm>
            <a:off x="4918229" y="3464512"/>
            <a:ext cx="1597982" cy="255233"/>
          </a:xfrm>
          <a:prstGeom prst="rect">
            <a:avLst/>
          </a:prstGeom>
          <a:noFill/>
          <a:ln w="5715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0B5BAD6-96E4-78AE-EA9D-0F7531B231D5}"/>
              </a:ext>
            </a:extLst>
          </p:cNvPr>
          <p:cNvSpPr txBox="1"/>
          <p:nvPr/>
        </p:nvSpPr>
        <p:spPr>
          <a:xfrm>
            <a:off x="1682017" y="1442313"/>
            <a:ext cx="2281561" cy="40011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pt-BR" sz="2000" dirty="0">
                <a:latin typeface="Abadi" panose="020B0604020104020204" pitchFamily="34" charset="0"/>
              </a:rPr>
              <a:t>Nome do Projeto</a:t>
            </a:r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FFB88153-4E78-F025-9112-234676FC8255}"/>
              </a:ext>
            </a:extLst>
          </p:cNvPr>
          <p:cNvCxnSpPr>
            <a:stCxn id="9" idx="3"/>
            <a:endCxn id="5" idx="1"/>
          </p:cNvCxnSpPr>
          <p:nvPr/>
        </p:nvCxnSpPr>
        <p:spPr>
          <a:xfrm>
            <a:off x="3963578" y="1642368"/>
            <a:ext cx="954652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C4D3A29-433D-EC53-5E6E-BB0D514F2D48}"/>
              </a:ext>
            </a:extLst>
          </p:cNvPr>
          <p:cNvSpPr txBox="1"/>
          <p:nvPr/>
        </p:nvSpPr>
        <p:spPr>
          <a:xfrm>
            <a:off x="1588952" y="3008794"/>
            <a:ext cx="2281561" cy="40011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pt-BR" sz="2000" dirty="0">
                <a:latin typeface="Abadi" panose="020B0604020104020204" pitchFamily="34" charset="0"/>
              </a:rPr>
              <a:t>Versão do Java</a:t>
            </a: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D3D7AF8E-D04E-D3AD-11D2-44A243B81883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3870513" y="3208849"/>
            <a:ext cx="1047716" cy="0"/>
          </a:xfrm>
          <a:prstGeom prst="straightConnector1">
            <a:avLst/>
          </a:prstGeom>
          <a:ln w="2857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83B6905-6734-3CBD-E7DD-06D9D290C775}"/>
              </a:ext>
            </a:extLst>
          </p:cNvPr>
          <p:cNvSpPr txBox="1"/>
          <p:nvPr/>
        </p:nvSpPr>
        <p:spPr>
          <a:xfrm>
            <a:off x="4481004" y="4415478"/>
            <a:ext cx="2472431" cy="40011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pt-BR" sz="2000" dirty="0">
                <a:latin typeface="Abadi" panose="020B0604020104020204" pitchFamily="34" charset="0"/>
              </a:rPr>
              <a:t>Código de Exemplo</a:t>
            </a:r>
          </a:p>
        </p:txBody>
      </p: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39C62499-FBF9-3677-C4B9-A93467D567D7}"/>
              </a:ext>
            </a:extLst>
          </p:cNvPr>
          <p:cNvCxnSpPr>
            <a:cxnSpLocks/>
            <a:stCxn id="16" idx="0"/>
            <a:endCxn id="8" idx="2"/>
          </p:cNvCxnSpPr>
          <p:nvPr/>
        </p:nvCxnSpPr>
        <p:spPr>
          <a:xfrm flipV="1">
            <a:off x="5717220" y="3719745"/>
            <a:ext cx="0" cy="695733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1709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3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la de computador com fundo preto&#10;&#10;O conteúdo gerado por IA pode estar incorreto.">
            <a:extLst>
              <a:ext uri="{FF2B5EF4-FFF2-40B4-BE49-F238E27FC236}">
                <a16:creationId xmlns:a16="http://schemas.microsoft.com/office/drawing/2014/main" id="{8779437E-0652-C749-2EED-35FE96697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8400"/>
            <a:ext cx="12192000" cy="3802281"/>
          </a:xfrm>
          <a:prstGeom prst="rect">
            <a:avLst/>
          </a:prstGeom>
        </p:spPr>
      </p:pic>
      <p:sp>
        <p:nvSpPr>
          <p:cNvPr id="4" name="Retângulo: Cantos Superiores Recortados 3">
            <a:extLst>
              <a:ext uri="{FF2B5EF4-FFF2-40B4-BE49-F238E27FC236}">
                <a16:creationId xmlns:a16="http://schemas.microsoft.com/office/drawing/2014/main" id="{38410E82-2574-7647-D2A6-A10F0D9B1759}"/>
              </a:ext>
            </a:extLst>
          </p:cNvPr>
          <p:cNvSpPr/>
          <p:nvPr/>
        </p:nvSpPr>
        <p:spPr>
          <a:xfrm rot="16200000">
            <a:off x="1495200" y="-1331853"/>
            <a:ext cx="649458" cy="3639839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latin typeface="Abadi" panose="020B0604020104020204" pitchFamily="34" charset="0"/>
              </a:rPr>
              <a:t>Estrutura Básica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433FC3E-4742-C3C4-377B-F2819C50683F}"/>
              </a:ext>
            </a:extLst>
          </p:cNvPr>
          <p:cNvSpPr txBox="1"/>
          <p:nvPr/>
        </p:nvSpPr>
        <p:spPr>
          <a:xfrm>
            <a:off x="133165" y="5208480"/>
            <a:ext cx="11984854" cy="132343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O </a:t>
            </a:r>
            <a:r>
              <a:rPr lang="pt-BR" sz="2000" dirty="0" err="1">
                <a:latin typeface="Courier New" panose="02070309020205020404" pitchFamily="49" charset="0"/>
              </a:rPr>
              <a:t>public</a:t>
            </a:r>
            <a:r>
              <a:rPr lang="pt-BR" sz="2000" dirty="0">
                <a:latin typeface="Courier New" panose="02070309020205020404" pitchFamily="49" charset="0"/>
              </a:rPr>
              <a:t> </a:t>
            </a:r>
            <a:r>
              <a:rPr lang="pt-BR" sz="2000" dirty="0" err="1">
                <a:latin typeface="Courier New" panose="02070309020205020404" pitchFamily="49" charset="0"/>
              </a:rPr>
              <a:t>static</a:t>
            </a:r>
            <a:r>
              <a:rPr lang="pt-BR" sz="2000" dirty="0">
                <a:latin typeface="Courier New" panose="02070309020205020404" pitchFamily="49" charset="0"/>
              </a:rPr>
              <a:t> </a:t>
            </a:r>
            <a:r>
              <a:rPr lang="pt-BR" sz="2000" dirty="0" err="1">
                <a:latin typeface="Courier New" panose="02070309020205020404" pitchFamily="49" charset="0"/>
              </a:rPr>
              <a:t>void</a:t>
            </a:r>
            <a:r>
              <a:rPr lang="pt-BR" sz="2000" dirty="0">
                <a:latin typeface="Courier New" panose="02070309020205020404" pitchFamily="49" charset="0"/>
              </a:rPr>
              <a:t> </a:t>
            </a:r>
            <a:r>
              <a:rPr lang="pt-BR" sz="2000" dirty="0" err="1">
                <a:latin typeface="Courier New" panose="02070309020205020404" pitchFamily="49" charset="0"/>
              </a:rPr>
              <a:t>main</a:t>
            </a:r>
            <a:r>
              <a:rPr lang="pt-BR" sz="2000" dirty="0">
                <a:latin typeface="Courier New" panose="02070309020205020404" pitchFamily="49" charset="0"/>
              </a:rPr>
              <a:t>(</a:t>
            </a:r>
            <a:r>
              <a:rPr lang="pt-BR" sz="2000" dirty="0" err="1">
                <a:latin typeface="Courier New" panose="02070309020205020404" pitchFamily="49" charset="0"/>
              </a:rPr>
              <a:t>String</a:t>
            </a:r>
            <a:r>
              <a:rPr lang="pt-BR" sz="2000" dirty="0">
                <a:latin typeface="Courier New" panose="02070309020205020404" pitchFamily="49" charset="0"/>
              </a:rPr>
              <a:t>[] </a:t>
            </a:r>
            <a:r>
              <a:rPr lang="pt-BR" sz="2000" dirty="0" err="1">
                <a:latin typeface="Courier New" panose="02070309020205020404" pitchFamily="49" charset="0"/>
              </a:rPr>
              <a:t>args</a:t>
            </a:r>
            <a:r>
              <a:rPr lang="pt-BR" sz="2000" dirty="0">
                <a:latin typeface="Courier New" panose="02070309020205020404" pitchFamily="49" charset="0"/>
              </a:rPr>
              <a:t>)</a:t>
            </a:r>
            <a:r>
              <a:rPr lang="pt-BR" sz="2000" dirty="0"/>
              <a:t> é o ponto de entrada de um programa em Java.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É a primeira parte do código que o computador executa quando o programa começa.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Tudo o que estiver dentro dele será rodado automaticamente.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Sem esse método, o programa Java não sabe por onde iniciar.</a:t>
            </a:r>
          </a:p>
        </p:txBody>
      </p:sp>
    </p:spTree>
    <p:extLst>
      <p:ext uri="{BB962C8B-B14F-4D97-AF65-F5344CB8AC3E}">
        <p14:creationId xmlns:p14="http://schemas.microsoft.com/office/powerpoint/2010/main" val="4034350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0BA4B2-6A61-1788-32A0-495A59DF2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20807"/>
            <a:ext cx="7197505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Tudo gira em torno de classes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: diferente de C e Python, não existe código solto; todo código Java precisa estar dentro de uma classe.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adi" panose="020B0604020104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Tipagem estática e explícita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: tipos são obrigatórios (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,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double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,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String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), e erros de tipo aparecem já na compilação.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adi" panose="020B0604020104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Método </a:t>
            </a:r>
            <a:r>
              <a:rPr kumimoji="0" lang="pt-BR" altLang="pt-B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main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 como ponto de entrada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: não existe execução direta de arquivo como em Python.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pt-BR" altLang="pt-BR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adi" panose="020B0604020104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Sintaxe mais verbosa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: Java prioriza clareza e estrutura, mesmo que isso gere mais código.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pt-BR" altLang="pt-BR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adi" panose="020B0604020104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Compilação antes da execução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: o código é compilado antes de rodar, diferente da experiência direta do Python.</a:t>
            </a:r>
          </a:p>
        </p:txBody>
      </p:sp>
      <p:sp>
        <p:nvSpPr>
          <p:cNvPr id="3" name="Retângulo: Cantos Superiores Recortados 2">
            <a:extLst>
              <a:ext uri="{FF2B5EF4-FFF2-40B4-BE49-F238E27FC236}">
                <a16:creationId xmlns:a16="http://schemas.microsoft.com/office/drawing/2014/main" id="{9395BE4F-3C8E-EE27-16E7-F1F49A65FACC}"/>
              </a:ext>
            </a:extLst>
          </p:cNvPr>
          <p:cNvSpPr/>
          <p:nvPr/>
        </p:nvSpPr>
        <p:spPr>
          <a:xfrm rot="16200000">
            <a:off x="1064985" y="-901637"/>
            <a:ext cx="649458" cy="2779407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latin typeface="Abadi" panose="020B0604020104020204" pitchFamily="34" charset="0"/>
              </a:rPr>
              <a:t>Sobre o Java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4E8FCE7-07C1-D0B5-F4BC-04ED90EE4B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93" r="31908"/>
          <a:stretch>
            <a:fillRect/>
          </a:stretch>
        </p:blipFill>
        <p:spPr>
          <a:xfrm>
            <a:off x="7423842" y="17528"/>
            <a:ext cx="4255128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107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56C12328-D043-70D5-622B-AA7558D2DD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62" r="14994"/>
          <a:stretch>
            <a:fillRect/>
          </a:stretch>
        </p:blipFill>
        <p:spPr bwMode="auto">
          <a:xfrm>
            <a:off x="3390900" y="-26466"/>
            <a:ext cx="5202684" cy="6884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: Cantos Superiores Recortados 1">
            <a:extLst>
              <a:ext uri="{FF2B5EF4-FFF2-40B4-BE49-F238E27FC236}">
                <a16:creationId xmlns:a16="http://schemas.microsoft.com/office/drawing/2014/main" id="{B7DE3EBE-07AB-469A-3D9A-3D468956F24F}"/>
              </a:ext>
            </a:extLst>
          </p:cNvPr>
          <p:cNvSpPr/>
          <p:nvPr/>
        </p:nvSpPr>
        <p:spPr>
          <a:xfrm rot="16200000">
            <a:off x="1064985" y="-901637"/>
            <a:ext cx="649458" cy="2779407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latin typeface="Abadi" panose="020B0604020104020204" pitchFamily="34" charset="0"/>
              </a:rPr>
              <a:t>Sobre o Java</a:t>
            </a:r>
          </a:p>
        </p:txBody>
      </p:sp>
    </p:spTree>
    <p:extLst>
      <p:ext uri="{BB962C8B-B14F-4D97-AF65-F5344CB8AC3E}">
        <p14:creationId xmlns:p14="http://schemas.microsoft.com/office/powerpoint/2010/main" val="2290841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: Cantos Superiores Recortados 2">
            <a:extLst>
              <a:ext uri="{FF2B5EF4-FFF2-40B4-BE49-F238E27FC236}">
                <a16:creationId xmlns:a16="http://schemas.microsoft.com/office/drawing/2014/main" id="{2621992E-4D01-F406-981E-8CD0F892D500}"/>
              </a:ext>
            </a:extLst>
          </p:cNvPr>
          <p:cNvSpPr/>
          <p:nvPr/>
        </p:nvSpPr>
        <p:spPr>
          <a:xfrm rot="16200000">
            <a:off x="1810358" y="-1647009"/>
            <a:ext cx="649458" cy="4270151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latin typeface="Abadi" panose="020B0604020104020204" pitchFamily="34" charset="0"/>
              </a:rPr>
              <a:t>Vamos para a prática!</a:t>
            </a:r>
          </a:p>
        </p:txBody>
      </p:sp>
      <p:pic>
        <p:nvPicPr>
          <p:cNvPr id="4" name="Picture 2" descr="Oracle lança Java 20 com várias melhorias de desempenho e segurança -  Inforchannel">
            <a:extLst>
              <a:ext uri="{FF2B5EF4-FFF2-40B4-BE49-F238E27FC236}">
                <a16:creationId xmlns:a16="http://schemas.microsoft.com/office/drawing/2014/main" id="{FE851843-0C24-E115-D928-CF3F05554A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190" y="1257775"/>
            <a:ext cx="7757619" cy="4342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3184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CBCC4-02D6-3933-0343-E7512D877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: Cantos Superiores Recortados 2">
            <a:extLst>
              <a:ext uri="{FF2B5EF4-FFF2-40B4-BE49-F238E27FC236}">
                <a16:creationId xmlns:a16="http://schemas.microsoft.com/office/drawing/2014/main" id="{8EECE053-A0B0-70D0-09E7-CC3A6E2C7D06}"/>
              </a:ext>
            </a:extLst>
          </p:cNvPr>
          <p:cNvSpPr/>
          <p:nvPr/>
        </p:nvSpPr>
        <p:spPr>
          <a:xfrm rot="16200000">
            <a:off x="3070988" y="-2907637"/>
            <a:ext cx="649458" cy="6791407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200" dirty="0"/>
              <a:t>Conceito 1: Saída de dados (output)</a:t>
            </a:r>
            <a:endParaRPr lang="pt-BR" sz="3000" dirty="0">
              <a:latin typeface="Abadi" panose="020B06040201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D9D311-4853-118B-D21A-6824497C72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155" y="997682"/>
            <a:ext cx="1185168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BR" sz="2000" dirty="0"/>
              <a:t>Escreva um programa em Java que exiba na tela seu nome completo, idade e curso, cada informação em uma linha diferente.</a:t>
            </a:r>
          </a:p>
        </p:txBody>
      </p:sp>
      <p:pic>
        <p:nvPicPr>
          <p:cNvPr id="5" name="Imagem 4" descr="Texto&#10;&#10;O conteúdo gerado por IA pode estar incorreto.">
            <a:extLst>
              <a:ext uri="{FF2B5EF4-FFF2-40B4-BE49-F238E27FC236}">
                <a16:creationId xmlns:a16="http://schemas.microsoft.com/office/drawing/2014/main" id="{91791321-7908-414C-AA87-5207558E9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286" y="2312401"/>
            <a:ext cx="9877425" cy="39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032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79430-2911-0F11-2F89-E3216FAA9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: Cantos Superiores Recortados 2">
            <a:extLst>
              <a:ext uri="{FF2B5EF4-FFF2-40B4-BE49-F238E27FC236}">
                <a16:creationId xmlns:a16="http://schemas.microsoft.com/office/drawing/2014/main" id="{DEC5936C-6FD0-A5E4-F978-9B1E8E13EBCA}"/>
              </a:ext>
            </a:extLst>
          </p:cNvPr>
          <p:cNvSpPr/>
          <p:nvPr/>
        </p:nvSpPr>
        <p:spPr>
          <a:xfrm rot="16200000">
            <a:off x="2591595" y="-2428242"/>
            <a:ext cx="649458" cy="5832618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200" dirty="0"/>
              <a:t>Conceito 2: Variáveis e tipagem</a:t>
            </a:r>
            <a:endParaRPr lang="pt-BR" sz="3000" dirty="0">
              <a:latin typeface="Abadi" panose="020B06040201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2364E4-2E92-6C92-36D4-ADC663C128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155" y="997682"/>
            <a:ext cx="1185168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BR" sz="2000" dirty="0"/>
              <a:t>Crie um programa que declare variáveis dos tipos </a:t>
            </a:r>
            <a:r>
              <a:rPr lang="pt-BR" dirty="0" err="1"/>
              <a:t>int</a:t>
            </a:r>
            <a:r>
              <a:rPr lang="pt-BR" sz="2000" dirty="0"/>
              <a:t>, </a:t>
            </a:r>
            <a:r>
              <a:rPr lang="pt-BR" dirty="0" err="1"/>
              <a:t>double</a:t>
            </a:r>
            <a:r>
              <a:rPr lang="pt-BR" sz="2000" dirty="0"/>
              <a:t> e </a:t>
            </a:r>
            <a:r>
              <a:rPr lang="pt-BR" dirty="0" err="1"/>
              <a:t>boolean</a:t>
            </a:r>
            <a:r>
              <a:rPr lang="pt-BR" sz="2000" dirty="0"/>
              <a:t>, atribua valores a elas e exiba esses valores no console.</a:t>
            </a: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FA591842-6BFD-F91F-59B6-5DA2BD6D8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5895" y="1576523"/>
            <a:ext cx="6958521" cy="4876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1854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E43DA-BF6F-4D0A-6E81-9631C416F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: Cantos Superiores Recortados 2">
            <a:extLst>
              <a:ext uri="{FF2B5EF4-FFF2-40B4-BE49-F238E27FC236}">
                <a16:creationId xmlns:a16="http://schemas.microsoft.com/office/drawing/2014/main" id="{48764FB8-A9A3-B2CA-B8A4-3FBBDBA5C2CD}"/>
              </a:ext>
            </a:extLst>
          </p:cNvPr>
          <p:cNvSpPr/>
          <p:nvPr/>
        </p:nvSpPr>
        <p:spPr>
          <a:xfrm rot="16200000">
            <a:off x="2795781" y="-2632429"/>
            <a:ext cx="649458" cy="6240991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200" dirty="0"/>
              <a:t>Conceito 3: Estrutura condicional</a:t>
            </a:r>
            <a:endParaRPr lang="pt-BR" sz="3000" dirty="0">
              <a:latin typeface="Abadi" panose="020B06040201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283111-2151-320C-1336-0FD2C2B558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311" y="1027282"/>
            <a:ext cx="1185168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BR" sz="2000" dirty="0"/>
              <a:t>Faça um programa que receba um número inteiro e informe se ele é positivo, negativo ou zero.</a:t>
            </a: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8FA88DAB-9D4F-F9FC-D113-321C513CAE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72" t="10860" r="7955" b="6185"/>
          <a:stretch>
            <a:fillRect/>
          </a:stretch>
        </p:blipFill>
        <p:spPr>
          <a:xfrm>
            <a:off x="3166368" y="1641878"/>
            <a:ext cx="5859263" cy="4805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3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BF703-19D4-B168-FF4A-C84A30261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: Cantos Superiores Recortados 2">
            <a:extLst>
              <a:ext uri="{FF2B5EF4-FFF2-40B4-BE49-F238E27FC236}">
                <a16:creationId xmlns:a16="http://schemas.microsoft.com/office/drawing/2014/main" id="{CCE70723-9590-065F-4CD2-090E7974D1C4}"/>
              </a:ext>
            </a:extLst>
          </p:cNvPr>
          <p:cNvSpPr/>
          <p:nvPr/>
        </p:nvSpPr>
        <p:spPr>
          <a:xfrm rot="16200000">
            <a:off x="3070988" y="-2907637"/>
            <a:ext cx="649458" cy="6791407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200" dirty="0"/>
              <a:t>Conceito 4: Condicional composta</a:t>
            </a:r>
            <a:endParaRPr lang="pt-BR" sz="3000" dirty="0">
              <a:latin typeface="Abadi" panose="020B06040201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A5E1E2-76D9-01F6-276A-C264433B71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154" y="870351"/>
            <a:ext cx="3496323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pt-BR" sz="2000" dirty="0"/>
              <a:t>Escreva um programa que receba a média final de um aluno e exiba:</a:t>
            </a:r>
          </a:p>
          <a:p>
            <a:pPr algn="just"/>
            <a:endParaRPr lang="pt-BR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/>
              <a:t>“Aprovado” se a média for maior ou igual a 7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/>
              <a:t>“Recuperação” se estiver entre 5 e 6.9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/>
              <a:t>“Reprovado” se for menor que 5</a:t>
            </a: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1FC96A66-B940-1B80-F32C-17200E564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4547" y="1496895"/>
            <a:ext cx="6897902" cy="4606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1695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5CA5A-B85F-AA12-2B7C-6735E668E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: Cantos Superiores Recortados 2">
            <a:extLst>
              <a:ext uri="{FF2B5EF4-FFF2-40B4-BE49-F238E27FC236}">
                <a16:creationId xmlns:a16="http://schemas.microsoft.com/office/drawing/2014/main" id="{B797CE5B-9053-7CDC-3B4E-F061818E4473}"/>
              </a:ext>
            </a:extLst>
          </p:cNvPr>
          <p:cNvSpPr/>
          <p:nvPr/>
        </p:nvSpPr>
        <p:spPr>
          <a:xfrm rot="16200000">
            <a:off x="3341756" y="-3178403"/>
            <a:ext cx="649458" cy="7332940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200" dirty="0"/>
              <a:t>Conceito 5: Estrutura de repetição (for)</a:t>
            </a:r>
            <a:endParaRPr lang="pt-BR" sz="3000" dirty="0">
              <a:latin typeface="Abadi" panose="020B06040201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5D3CC0-E5EF-9E8B-311A-D3FEE29386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155" y="974016"/>
            <a:ext cx="1185168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BR" sz="2000" dirty="0"/>
              <a:t>Crie um programa que imprima os números de 1 a 10 utilizando um laço </a:t>
            </a:r>
            <a:r>
              <a:rPr lang="pt-BR" dirty="0"/>
              <a:t>for</a:t>
            </a:r>
            <a:r>
              <a:rPr lang="pt-BR" sz="2000" dirty="0"/>
              <a:t>.</a:t>
            </a:r>
          </a:p>
        </p:txBody>
      </p:sp>
      <p:pic>
        <p:nvPicPr>
          <p:cNvPr id="5" name="Imagem 4" descr="Texto&#10;&#10;O conteúdo gerado por IA pode estar incorreto.">
            <a:extLst>
              <a:ext uri="{FF2B5EF4-FFF2-40B4-BE49-F238E27FC236}">
                <a16:creationId xmlns:a16="http://schemas.microsoft.com/office/drawing/2014/main" id="{452E624F-7E1A-714B-A6DE-7E5F32EAF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961" y="2324378"/>
            <a:ext cx="8220075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0441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F6666-C3CD-B352-76D6-0DA61F36D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: Cantos Superiores Recortados 2">
            <a:extLst>
              <a:ext uri="{FF2B5EF4-FFF2-40B4-BE49-F238E27FC236}">
                <a16:creationId xmlns:a16="http://schemas.microsoft.com/office/drawing/2014/main" id="{BAEC14B1-2948-AAB8-E67D-1284C9C41CD4}"/>
              </a:ext>
            </a:extLst>
          </p:cNvPr>
          <p:cNvSpPr/>
          <p:nvPr/>
        </p:nvSpPr>
        <p:spPr>
          <a:xfrm rot="16200000">
            <a:off x="3563700" y="-3400347"/>
            <a:ext cx="649458" cy="7776827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200" dirty="0"/>
              <a:t>Conceito 6: Estrutura de repetição (</a:t>
            </a:r>
            <a:r>
              <a:rPr lang="pt-BR" sz="3200" dirty="0" err="1"/>
              <a:t>while</a:t>
            </a:r>
            <a:r>
              <a:rPr lang="pt-BR" sz="3200" dirty="0"/>
              <a:t>)</a:t>
            </a:r>
            <a:endParaRPr lang="pt-BR" sz="3000" dirty="0">
              <a:latin typeface="Abadi" panose="020B06040201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4FC1BF-6D68-B583-8D57-BBEAD8946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311" y="1027282"/>
            <a:ext cx="1185168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BR" sz="2000" dirty="0"/>
              <a:t>Faça um programa que exiba os números pares de 0 a 20 usando </a:t>
            </a:r>
            <a:r>
              <a:rPr lang="pt-BR" dirty="0" err="1"/>
              <a:t>while</a:t>
            </a:r>
            <a:r>
              <a:rPr lang="pt-BR" sz="2000" dirty="0"/>
              <a:t>.</a:t>
            </a:r>
          </a:p>
        </p:txBody>
      </p:sp>
      <p:pic>
        <p:nvPicPr>
          <p:cNvPr id="5" name="Imagem 4" descr="Texto&#10;&#10;O conteúdo gerado por IA pode estar incorreto.">
            <a:extLst>
              <a:ext uri="{FF2B5EF4-FFF2-40B4-BE49-F238E27FC236}">
                <a16:creationId xmlns:a16="http://schemas.microsoft.com/office/drawing/2014/main" id="{49698143-D6C0-0842-182A-492434DB5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225" y="2012087"/>
            <a:ext cx="9353550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2382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B45E9-41E9-D6FF-E440-F26982F4F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: Cantos Superiores Recortados 2">
            <a:extLst>
              <a:ext uri="{FF2B5EF4-FFF2-40B4-BE49-F238E27FC236}">
                <a16:creationId xmlns:a16="http://schemas.microsoft.com/office/drawing/2014/main" id="{9CD4391C-6C03-D7BD-6D4F-B1211409BA9C}"/>
              </a:ext>
            </a:extLst>
          </p:cNvPr>
          <p:cNvSpPr/>
          <p:nvPr/>
        </p:nvSpPr>
        <p:spPr>
          <a:xfrm rot="16200000">
            <a:off x="3070988" y="-2907637"/>
            <a:ext cx="649458" cy="6791407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200" dirty="0"/>
              <a:t>Conceito 7: Controle de fluxo</a:t>
            </a:r>
            <a:endParaRPr lang="pt-BR" sz="3000" dirty="0">
              <a:latin typeface="Abadi" panose="020B06040201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E768B4-4906-1035-9A76-0EF64B551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427" y="926661"/>
            <a:ext cx="1163714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BR" sz="2000" dirty="0"/>
              <a:t>Escreva um programa que percorra os números de 1 a 20 e interrompa a execução quando encontrar o número 13.</a:t>
            </a:r>
          </a:p>
        </p:txBody>
      </p:sp>
      <p:pic>
        <p:nvPicPr>
          <p:cNvPr id="5" name="Imagem 4" descr="Texto&#10;&#10;O conteúdo gerado por IA pode estar incorreto.">
            <a:extLst>
              <a:ext uri="{FF2B5EF4-FFF2-40B4-BE49-F238E27FC236}">
                <a16:creationId xmlns:a16="http://schemas.microsoft.com/office/drawing/2014/main" id="{D72D315B-E444-C6DF-1E02-E1EBF91AF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125" y="1924188"/>
            <a:ext cx="8667750" cy="418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56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FBCFF-C7F9-B0AE-8660-C8A66D5D9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: Cantos Superiores Recortados 2">
            <a:extLst>
              <a:ext uri="{FF2B5EF4-FFF2-40B4-BE49-F238E27FC236}">
                <a16:creationId xmlns:a16="http://schemas.microsoft.com/office/drawing/2014/main" id="{0564D414-2A40-F490-BF6C-2873E1DD3EFE}"/>
              </a:ext>
            </a:extLst>
          </p:cNvPr>
          <p:cNvSpPr/>
          <p:nvPr/>
        </p:nvSpPr>
        <p:spPr>
          <a:xfrm rot="16200000">
            <a:off x="3070988" y="-2907637"/>
            <a:ext cx="649458" cy="6791407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200" dirty="0"/>
              <a:t>Conceito 8: Tipagem e casting</a:t>
            </a:r>
            <a:endParaRPr lang="pt-BR" sz="3000" dirty="0">
              <a:latin typeface="Abadi" panose="020B06040201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99D2FA-50F8-1074-CDD2-3F508978FB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666" y="997683"/>
            <a:ext cx="734923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BR" sz="2000" dirty="0"/>
              <a:t>Crie um programa que armazene um valor </a:t>
            </a:r>
            <a:r>
              <a:rPr lang="pt-BR" dirty="0" err="1"/>
              <a:t>double</a:t>
            </a:r>
            <a:r>
              <a:rPr lang="pt-BR" sz="2000" dirty="0"/>
              <a:t> em uma variável e depois converta esse valor para </a:t>
            </a:r>
            <a:r>
              <a:rPr lang="pt-BR" dirty="0" err="1"/>
              <a:t>int</a:t>
            </a:r>
            <a:r>
              <a:rPr lang="pt-BR" sz="2000" dirty="0"/>
              <a:t>, exibindo os dois resultados.</a:t>
            </a:r>
          </a:p>
        </p:txBody>
      </p:sp>
      <p:pic>
        <p:nvPicPr>
          <p:cNvPr id="5" name="Imagem 4" descr="Texto&#10;&#10;O conteúdo gerado por IA pode estar incorreto.">
            <a:extLst>
              <a:ext uri="{FF2B5EF4-FFF2-40B4-BE49-F238E27FC236}">
                <a16:creationId xmlns:a16="http://schemas.microsoft.com/office/drawing/2014/main" id="{B1A9740F-D3C5-3DDB-2FE1-3A277CFCC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412" y="2259967"/>
            <a:ext cx="7877175" cy="370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1277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5D160-3457-F5CD-BCD7-8403F8E93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: Cantos Superiores Recortados 2">
            <a:extLst>
              <a:ext uri="{FF2B5EF4-FFF2-40B4-BE49-F238E27FC236}">
                <a16:creationId xmlns:a16="http://schemas.microsoft.com/office/drawing/2014/main" id="{A46CFB6A-0A43-52D8-BE8D-B77B5CEB3F3E}"/>
              </a:ext>
            </a:extLst>
          </p:cNvPr>
          <p:cNvSpPr/>
          <p:nvPr/>
        </p:nvSpPr>
        <p:spPr>
          <a:xfrm rot="16200000">
            <a:off x="3341756" y="-3178403"/>
            <a:ext cx="649458" cy="7332940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200" dirty="0"/>
              <a:t>Conceito 9: Escopo de variáveis</a:t>
            </a:r>
            <a:endParaRPr lang="pt-BR" sz="3000" dirty="0">
              <a:latin typeface="Abadi" panose="020B06040201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1EF6F9-EAF8-8346-2169-FD9A95D00E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155" y="917784"/>
            <a:ext cx="1185168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BR" sz="2000" dirty="0"/>
              <a:t>Faça um programa que declare uma variável fora de um bloco </a:t>
            </a:r>
            <a:r>
              <a:rPr lang="pt-BR" dirty="0" err="1"/>
              <a:t>if</a:t>
            </a:r>
            <a:r>
              <a:rPr lang="pt-BR" sz="2000" dirty="0"/>
              <a:t> e outra dentro do </a:t>
            </a:r>
            <a:r>
              <a:rPr lang="pt-BR" dirty="0" err="1"/>
              <a:t>if</a:t>
            </a:r>
            <a:r>
              <a:rPr lang="pt-BR" sz="2000" dirty="0"/>
              <a:t>. Tente exibir ambas fora do bloco e observe o comportamento do código.</a:t>
            </a:r>
          </a:p>
        </p:txBody>
      </p:sp>
      <p:pic>
        <p:nvPicPr>
          <p:cNvPr id="5" name="Imagem 4" descr="Texto&#10;&#10;O conteúdo gerado por IA pode estar incorreto.">
            <a:extLst>
              <a:ext uri="{FF2B5EF4-FFF2-40B4-BE49-F238E27FC236}">
                <a16:creationId xmlns:a16="http://schemas.microsoft.com/office/drawing/2014/main" id="{5A4E8ACE-9C48-FAE3-28CE-4E4D0D7FF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881" y="1966905"/>
            <a:ext cx="7156235" cy="4165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0737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242F4-F6AD-95BA-2FFC-3E2AA6E31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: Cantos Superiores Recortados 2">
            <a:extLst>
              <a:ext uri="{FF2B5EF4-FFF2-40B4-BE49-F238E27FC236}">
                <a16:creationId xmlns:a16="http://schemas.microsoft.com/office/drawing/2014/main" id="{A60A745B-030A-95FB-034B-595A0680B7C2}"/>
              </a:ext>
            </a:extLst>
          </p:cNvPr>
          <p:cNvSpPr/>
          <p:nvPr/>
        </p:nvSpPr>
        <p:spPr>
          <a:xfrm rot="16200000">
            <a:off x="3563700" y="-3400347"/>
            <a:ext cx="649458" cy="7776827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200" dirty="0"/>
              <a:t>Conceito 10: Tipos primitivos </a:t>
            </a:r>
            <a:r>
              <a:rPr lang="pt-BR" sz="3200" dirty="0" err="1"/>
              <a:t>vs</a:t>
            </a:r>
            <a:r>
              <a:rPr lang="pt-BR" sz="3200" dirty="0"/>
              <a:t> </a:t>
            </a:r>
            <a:r>
              <a:rPr lang="pt-BR" sz="3200" dirty="0" err="1"/>
              <a:t>String</a:t>
            </a:r>
            <a:endParaRPr lang="pt-BR" sz="3000" dirty="0">
              <a:latin typeface="Abadi" panose="020B06040201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E256A6-28F5-7768-248F-4C85BA9325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155" y="944416"/>
            <a:ext cx="1185168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BR" sz="2000" dirty="0"/>
              <a:t>Crie um programa que declare variáveis dos tipos </a:t>
            </a:r>
            <a:r>
              <a:rPr lang="pt-BR" dirty="0" err="1"/>
              <a:t>int</a:t>
            </a:r>
            <a:r>
              <a:rPr lang="pt-BR" sz="2000" dirty="0"/>
              <a:t>, </a:t>
            </a:r>
            <a:r>
              <a:rPr lang="pt-BR" dirty="0" err="1"/>
              <a:t>double</a:t>
            </a:r>
            <a:r>
              <a:rPr lang="pt-BR" sz="2000" dirty="0"/>
              <a:t> e </a:t>
            </a:r>
            <a:r>
              <a:rPr lang="pt-BR" dirty="0" err="1"/>
              <a:t>String</a:t>
            </a:r>
            <a:r>
              <a:rPr lang="pt-BR" sz="2000" dirty="0"/>
              <a:t>, e exiba uma frase combinando texto com valores numéricos.</a:t>
            </a:r>
          </a:p>
        </p:txBody>
      </p:sp>
      <p:pic>
        <p:nvPicPr>
          <p:cNvPr id="5" name="Imagem 4" descr="Texto&#10;&#10;O conteúdo gerado por IA pode estar incorreto.">
            <a:extLst>
              <a:ext uri="{FF2B5EF4-FFF2-40B4-BE49-F238E27FC236}">
                <a16:creationId xmlns:a16="http://schemas.microsoft.com/office/drawing/2014/main" id="{8A9C93BC-141A-E194-E717-0705E18FE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291" y="2136719"/>
            <a:ext cx="11363417" cy="2971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6255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764B5-82A2-8AFC-974D-E9409B8FE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: Cantos Superiores Recortados 2">
            <a:extLst>
              <a:ext uri="{FF2B5EF4-FFF2-40B4-BE49-F238E27FC236}">
                <a16:creationId xmlns:a16="http://schemas.microsoft.com/office/drawing/2014/main" id="{80232DCD-FDC2-BE42-9662-ED2990D58CD6}"/>
              </a:ext>
            </a:extLst>
          </p:cNvPr>
          <p:cNvSpPr/>
          <p:nvPr/>
        </p:nvSpPr>
        <p:spPr>
          <a:xfrm rot="16200000">
            <a:off x="3070988" y="-2907637"/>
            <a:ext cx="649458" cy="6791407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200" dirty="0"/>
              <a:t>Conceito 11: Vetores (</a:t>
            </a:r>
            <a:r>
              <a:rPr lang="pt-BR" sz="3200" dirty="0" err="1"/>
              <a:t>arrays</a:t>
            </a:r>
            <a:r>
              <a:rPr lang="pt-BR" sz="3200" dirty="0"/>
              <a:t>)</a:t>
            </a:r>
            <a:endParaRPr lang="pt-BR" sz="3000" dirty="0">
              <a:latin typeface="Abadi" panose="020B06040201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B5FD03-2402-9639-40F8-C06B4A279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427" y="1009527"/>
            <a:ext cx="116371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BR" sz="2000" dirty="0"/>
              <a:t>Crie um vetor de 5 números inteiros, atribua valores manualmente e exiba todos os elementos.</a:t>
            </a:r>
          </a:p>
        </p:txBody>
      </p:sp>
      <p:pic>
        <p:nvPicPr>
          <p:cNvPr id="5" name="Imagem 4" descr="Texto&#10;&#10;O conteúdo gerado por IA pode estar incorreto.">
            <a:extLst>
              <a:ext uri="{FF2B5EF4-FFF2-40B4-BE49-F238E27FC236}">
                <a16:creationId xmlns:a16="http://schemas.microsoft.com/office/drawing/2014/main" id="{D290E00E-322A-16D4-2DBA-CB16305AF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432" y="1606368"/>
            <a:ext cx="6493136" cy="5068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3189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5D13E-88E6-7AF5-DC53-152A08995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: Cantos Superiores Recortados 2">
            <a:extLst>
              <a:ext uri="{FF2B5EF4-FFF2-40B4-BE49-F238E27FC236}">
                <a16:creationId xmlns:a16="http://schemas.microsoft.com/office/drawing/2014/main" id="{21FC9865-A93C-0CBC-6B95-39E39F7A169A}"/>
              </a:ext>
            </a:extLst>
          </p:cNvPr>
          <p:cNvSpPr/>
          <p:nvPr/>
        </p:nvSpPr>
        <p:spPr>
          <a:xfrm rot="16200000">
            <a:off x="3070988" y="-2907637"/>
            <a:ext cx="649458" cy="6791407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200" dirty="0"/>
              <a:t>Conceito 12: Percorrendo </a:t>
            </a:r>
            <a:r>
              <a:rPr lang="pt-BR" sz="3200" dirty="0" err="1"/>
              <a:t>arrays</a:t>
            </a:r>
            <a:endParaRPr lang="pt-BR" sz="3000" dirty="0">
              <a:latin typeface="Abadi" panose="020B06040201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C678AA-5B24-A586-735A-ED9825F2F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023" y="1080550"/>
            <a:ext cx="1099795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BR" sz="2000" dirty="0"/>
              <a:t>Escreva um programa que percorra um vetor de inteiros e exiba apenas os valores maiores que 10.</a:t>
            </a:r>
          </a:p>
        </p:txBody>
      </p:sp>
      <p:pic>
        <p:nvPicPr>
          <p:cNvPr id="5" name="Imagem 4" descr="Texto&#10;&#10;O conteúdo gerado por IA pode estar incorreto.">
            <a:extLst>
              <a:ext uri="{FF2B5EF4-FFF2-40B4-BE49-F238E27FC236}">
                <a16:creationId xmlns:a16="http://schemas.microsoft.com/office/drawing/2014/main" id="{87B56E42-DBD1-EF4C-3B49-D95BD0C77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551" y="1909300"/>
            <a:ext cx="7908895" cy="4169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1301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73BB6-DF49-D796-6038-0354AF00B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: Cantos Superiores Recortados 2">
            <a:extLst>
              <a:ext uri="{FF2B5EF4-FFF2-40B4-BE49-F238E27FC236}">
                <a16:creationId xmlns:a16="http://schemas.microsoft.com/office/drawing/2014/main" id="{13CEAF54-0508-9FC3-F320-502218AF0B5F}"/>
              </a:ext>
            </a:extLst>
          </p:cNvPr>
          <p:cNvSpPr/>
          <p:nvPr/>
        </p:nvSpPr>
        <p:spPr>
          <a:xfrm rot="16200000">
            <a:off x="3341756" y="-3178403"/>
            <a:ext cx="649458" cy="7332940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200" dirty="0"/>
              <a:t>Conceito 13: Vetores e cálculo</a:t>
            </a:r>
            <a:endParaRPr lang="pt-BR" sz="3000" dirty="0">
              <a:latin typeface="Abadi" panose="020B06040201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70308A-D579-5A46-59B0-A20A8786B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155" y="974018"/>
            <a:ext cx="1185168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BR" sz="2000" dirty="0"/>
              <a:t>Faça um programa que calcule a soma de todos os valores armazenados em um vetor.</a:t>
            </a:r>
          </a:p>
        </p:txBody>
      </p:sp>
      <p:pic>
        <p:nvPicPr>
          <p:cNvPr id="5" name="Imagem 4" descr="Texto&#10;&#10;O conteúdo gerado por IA pode estar incorreto.">
            <a:extLst>
              <a:ext uri="{FF2B5EF4-FFF2-40B4-BE49-F238E27FC236}">
                <a16:creationId xmlns:a16="http://schemas.microsoft.com/office/drawing/2014/main" id="{66716ECD-FA23-DE04-B308-78E733200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224" y="1686942"/>
            <a:ext cx="782955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6022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D9981-4732-0F59-1292-E684518A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: Cantos Superiores Recortados 2">
            <a:extLst>
              <a:ext uri="{FF2B5EF4-FFF2-40B4-BE49-F238E27FC236}">
                <a16:creationId xmlns:a16="http://schemas.microsoft.com/office/drawing/2014/main" id="{72B76D54-8483-9FE0-9E1C-27CF098C1FC3}"/>
              </a:ext>
            </a:extLst>
          </p:cNvPr>
          <p:cNvSpPr/>
          <p:nvPr/>
        </p:nvSpPr>
        <p:spPr>
          <a:xfrm rot="16200000">
            <a:off x="4358252" y="-4194898"/>
            <a:ext cx="649458" cy="9365929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200" dirty="0"/>
              <a:t>Conceito 14: Modularização – métodos sem retorno</a:t>
            </a:r>
            <a:endParaRPr lang="pt-BR" sz="3000" dirty="0">
              <a:latin typeface="Abadi" panose="020B06040201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B89F0F-F3D4-A5C5-1FF1-03EAB38164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155" y="1098304"/>
            <a:ext cx="1185168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BR" sz="2000" dirty="0"/>
              <a:t>Crie um método que exiba uma mensagem de boas-vindas e chame esse método a partir do </a:t>
            </a:r>
            <a:r>
              <a:rPr lang="pt-BR" dirty="0" err="1"/>
              <a:t>main</a:t>
            </a:r>
            <a:endParaRPr lang="pt-BR" sz="2000" dirty="0"/>
          </a:p>
        </p:txBody>
      </p:sp>
      <p:pic>
        <p:nvPicPr>
          <p:cNvPr id="5" name="Imagem 4" descr="Texto&#10;&#10;O conteúdo gerado por IA pode estar incorreto.">
            <a:extLst>
              <a:ext uri="{FF2B5EF4-FFF2-40B4-BE49-F238E27FC236}">
                <a16:creationId xmlns:a16="http://schemas.microsoft.com/office/drawing/2014/main" id="{B4AEE8AD-C6D2-BE87-E298-347085225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74" y="2171839"/>
            <a:ext cx="9925050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4288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678FB-95A2-6B65-796C-64A040F3B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: Cantos Superiores Recortados 2">
            <a:extLst>
              <a:ext uri="{FF2B5EF4-FFF2-40B4-BE49-F238E27FC236}">
                <a16:creationId xmlns:a16="http://schemas.microsoft.com/office/drawing/2014/main" id="{BF9F9DD9-2B02-63D3-0B9F-BEB10DCC3E8D}"/>
              </a:ext>
            </a:extLst>
          </p:cNvPr>
          <p:cNvSpPr/>
          <p:nvPr/>
        </p:nvSpPr>
        <p:spPr>
          <a:xfrm rot="16200000">
            <a:off x="4336056" y="-4172704"/>
            <a:ext cx="649458" cy="9321542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200" dirty="0"/>
              <a:t>Conceito 15: Modularização – métodos com retorno</a:t>
            </a:r>
            <a:endParaRPr lang="pt-BR" sz="3000" dirty="0">
              <a:latin typeface="Abadi" panose="020B06040201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CA6747-AD66-AEB6-D943-4AA8F0AC3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427" y="917783"/>
            <a:ext cx="1163714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BR" sz="2000" dirty="0"/>
              <a:t>Crie um método que receba dois números inteiros como parâmetros e retorne a soma deles. Exiba o resultado no </a:t>
            </a:r>
            <a:r>
              <a:rPr lang="pt-BR" dirty="0" err="1"/>
              <a:t>main</a:t>
            </a:r>
            <a:r>
              <a:rPr lang="pt-BR" sz="2000" dirty="0"/>
              <a:t>.</a:t>
            </a:r>
          </a:p>
        </p:txBody>
      </p:sp>
      <p:pic>
        <p:nvPicPr>
          <p:cNvPr id="5" name="Imagem 4" descr="Texto&#10;&#10;O conteúdo gerado por IA pode estar incorreto.">
            <a:extLst>
              <a:ext uri="{FF2B5EF4-FFF2-40B4-BE49-F238E27FC236}">
                <a16:creationId xmlns:a16="http://schemas.microsoft.com/office/drawing/2014/main" id="{BEAF3311-6B35-6B10-9009-CA50E64C2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2053192"/>
            <a:ext cx="6477000" cy="37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4560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4BD05-F1B8-D5B7-11AA-B1A5A39DC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: Cantos Superiores Recortados 2">
            <a:extLst>
              <a:ext uri="{FF2B5EF4-FFF2-40B4-BE49-F238E27FC236}">
                <a16:creationId xmlns:a16="http://schemas.microsoft.com/office/drawing/2014/main" id="{B1C31F35-2C94-F069-6973-4FCF58328306}"/>
              </a:ext>
            </a:extLst>
          </p:cNvPr>
          <p:cNvSpPr/>
          <p:nvPr/>
        </p:nvSpPr>
        <p:spPr>
          <a:xfrm rot="16200000">
            <a:off x="4336056" y="-4172704"/>
            <a:ext cx="649458" cy="9321542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200" dirty="0"/>
              <a:t>Conceito 16: Parâmetros e organização</a:t>
            </a:r>
            <a:endParaRPr lang="pt-BR" sz="3000" dirty="0">
              <a:latin typeface="Abadi" panose="020B06040201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EC5B87-4105-3278-2265-6CA7BE0493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427" y="1009527"/>
            <a:ext cx="116371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BR" sz="2000" dirty="0"/>
              <a:t>Faça um método que receba um nome como parâmetro e exiba uma mensagem personalizada no console.</a:t>
            </a:r>
          </a:p>
        </p:txBody>
      </p:sp>
      <p:pic>
        <p:nvPicPr>
          <p:cNvPr id="5" name="Imagem 4" descr="Texto&#10;&#10;O conteúdo gerado por IA pode estar incorreto.">
            <a:extLst>
              <a:ext uri="{FF2B5EF4-FFF2-40B4-BE49-F238E27FC236}">
                <a16:creationId xmlns:a16="http://schemas.microsoft.com/office/drawing/2014/main" id="{5E2532A7-B921-C2BB-3315-9D0D19DD0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662" y="1966774"/>
            <a:ext cx="8448675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0553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C7900-8E28-2042-D07E-CAE6CF904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: Cantos Superiores Recortados 2">
            <a:extLst>
              <a:ext uri="{FF2B5EF4-FFF2-40B4-BE49-F238E27FC236}">
                <a16:creationId xmlns:a16="http://schemas.microsoft.com/office/drawing/2014/main" id="{616ECEB5-D872-6993-6F04-E43AE3143F87}"/>
              </a:ext>
            </a:extLst>
          </p:cNvPr>
          <p:cNvSpPr/>
          <p:nvPr/>
        </p:nvSpPr>
        <p:spPr>
          <a:xfrm rot="16200000">
            <a:off x="2560520" y="-2397170"/>
            <a:ext cx="649458" cy="5770473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latin typeface="Abadi" panose="020B0604020104020204" pitchFamily="34" charset="0"/>
              </a:rPr>
              <a:t>Algumas questões para reforço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E2D40E3-B512-3D42-4EC9-D76C1775EEC2}"/>
              </a:ext>
            </a:extLst>
          </p:cNvPr>
          <p:cNvSpPr txBox="1"/>
          <p:nvPr/>
        </p:nvSpPr>
        <p:spPr>
          <a:xfrm>
            <a:off x="489751" y="986213"/>
            <a:ext cx="11212497" cy="230832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b="1" dirty="0"/>
              <a:t>1. Saída de dados (Output)</a:t>
            </a:r>
          </a:p>
          <a:p>
            <a:r>
              <a:rPr lang="pt-BR" b="1" dirty="0"/>
              <a:t>Questões</a:t>
            </a:r>
            <a:endParaRPr lang="pt-BR" dirty="0"/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Exiba uma mensagem usando print e depois outra usando </a:t>
            </a:r>
            <a:r>
              <a:rPr lang="pt-BR" dirty="0" err="1"/>
              <a:t>println</a:t>
            </a:r>
            <a:r>
              <a:rPr lang="pt-BR" dirty="0"/>
              <a:t>, observando a diferença.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Exiba uma frase com aspas duplas no texto (</a:t>
            </a:r>
            <a:r>
              <a:rPr lang="pt-BR" dirty="0" err="1"/>
              <a:t>ex</a:t>
            </a:r>
            <a:r>
              <a:rPr lang="pt-BR" dirty="0"/>
              <a:t>: "Java é poderoso").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Exiba um bloco de texto simulando um menu simples no console.</a:t>
            </a:r>
          </a:p>
          <a:p>
            <a:r>
              <a:rPr lang="pt-BR" b="1" dirty="0"/>
              <a:t>Dica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 console é a principal forma de comunicação do programa com o usuário em aplicações básicas.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Pequenas diferenças entre print e </a:t>
            </a:r>
            <a:r>
              <a:rPr lang="pt-BR" dirty="0" err="1"/>
              <a:t>println</a:t>
            </a:r>
            <a:r>
              <a:rPr lang="pt-BR" dirty="0"/>
              <a:t> afetam diretamente a formatação da saída.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4495C72-B301-C616-40EA-DFA3F9975763}"/>
              </a:ext>
            </a:extLst>
          </p:cNvPr>
          <p:cNvSpPr txBox="1"/>
          <p:nvPr/>
        </p:nvSpPr>
        <p:spPr>
          <a:xfrm>
            <a:off x="489751" y="3757525"/>
            <a:ext cx="11212497" cy="230832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b="1" dirty="0"/>
              <a:t>2. Variáveis e Tipagem</a:t>
            </a:r>
          </a:p>
          <a:p>
            <a:r>
              <a:rPr lang="pt-BR" b="1" dirty="0"/>
              <a:t>Questões</a:t>
            </a:r>
            <a:endParaRPr lang="pt-BR" dirty="0"/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Declare uma variável sem inicializá-la e tente usá-la.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Tente atribuir um valor decimal a uma variável </a:t>
            </a:r>
            <a:r>
              <a:rPr lang="pt-BR" dirty="0" err="1"/>
              <a:t>int</a:t>
            </a:r>
            <a:r>
              <a:rPr lang="pt-BR" dirty="0"/>
              <a:t> e observe o erro.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Troque os tipos de duas variáveis e observe o impacto no código.</a:t>
            </a:r>
          </a:p>
          <a:p>
            <a:r>
              <a:rPr lang="pt-BR" b="1" dirty="0"/>
              <a:t>Dica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Variáveis precisam ser declaradas </a:t>
            </a:r>
            <a:r>
              <a:rPr lang="pt-BR" b="1" dirty="0"/>
              <a:t>e inicializadas</a:t>
            </a:r>
            <a:r>
              <a:rPr lang="pt-BR" dirty="0"/>
              <a:t> antes do uso.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Em Java, o tipo define quais valores são permitidos e quais operações podem ser feitas.</a:t>
            </a:r>
          </a:p>
        </p:txBody>
      </p:sp>
    </p:spTree>
    <p:extLst>
      <p:ext uri="{BB962C8B-B14F-4D97-AF65-F5344CB8AC3E}">
        <p14:creationId xmlns:p14="http://schemas.microsoft.com/office/powerpoint/2010/main" val="37124331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C74F6-19D1-C814-A044-D44DA345B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: Cantos Superiores Recortados 2">
            <a:extLst>
              <a:ext uri="{FF2B5EF4-FFF2-40B4-BE49-F238E27FC236}">
                <a16:creationId xmlns:a16="http://schemas.microsoft.com/office/drawing/2014/main" id="{F485301D-FD6C-5E18-D52E-A3E1E83932DC}"/>
              </a:ext>
            </a:extLst>
          </p:cNvPr>
          <p:cNvSpPr/>
          <p:nvPr/>
        </p:nvSpPr>
        <p:spPr>
          <a:xfrm rot="16200000">
            <a:off x="3483800" y="-3320450"/>
            <a:ext cx="649458" cy="7617031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latin typeface="Abadi" panose="020B0604020104020204" pitchFamily="34" charset="0"/>
              </a:rPr>
              <a:t>Algumas questões para reforço (Parte 2)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C7901F2-2C0D-795E-816B-F04962873597}"/>
              </a:ext>
            </a:extLst>
          </p:cNvPr>
          <p:cNvSpPr txBox="1"/>
          <p:nvPr/>
        </p:nvSpPr>
        <p:spPr>
          <a:xfrm>
            <a:off x="489751" y="986213"/>
            <a:ext cx="11212497" cy="230832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b="1" dirty="0"/>
              <a:t>3. Estruturas Condicionais</a:t>
            </a:r>
          </a:p>
          <a:p>
            <a:r>
              <a:rPr lang="pt-BR" b="1" dirty="0"/>
              <a:t>Questões</a:t>
            </a:r>
            <a:endParaRPr lang="pt-BR" dirty="0"/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Escreva uma condição que use dois operadores lógicos (&amp;&amp; ou ||).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Altere um </a:t>
            </a:r>
            <a:r>
              <a:rPr lang="pt-BR" dirty="0" err="1"/>
              <a:t>if</a:t>
            </a:r>
            <a:r>
              <a:rPr lang="pt-BR" dirty="0"/>
              <a:t> simples para </a:t>
            </a:r>
            <a:r>
              <a:rPr lang="pt-BR" dirty="0" err="1"/>
              <a:t>if</a:t>
            </a:r>
            <a:r>
              <a:rPr lang="pt-BR" dirty="0"/>
              <a:t> / </a:t>
            </a:r>
            <a:r>
              <a:rPr lang="pt-BR" dirty="0" err="1"/>
              <a:t>else</a:t>
            </a:r>
            <a:r>
              <a:rPr lang="pt-BR" dirty="0"/>
              <a:t> </a:t>
            </a:r>
            <a:r>
              <a:rPr lang="pt-BR" dirty="0" err="1"/>
              <a:t>if</a:t>
            </a:r>
            <a:r>
              <a:rPr lang="pt-BR" dirty="0"/>
              <a:t> / </a:t>
            </a:r>
            <a:r>
              <a:rPr lang="pt-BR" dirty="0" err="1"/>
              <a:t>else</a:t>
            </a:r>
            <a:r>
              <a:rPr lang="pt-BR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Reescreva uma condição usando a negação (!).</a:t>
            </a:r>
          </a:p>
          <a:p>
            <a:r>
              <a:rPr lang="pt-BR" b="1" dirty="0"/>
              <a:t>Dica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Condições podem ser combinadas para representar decisões mais complexas.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Operadores lógicos ajudam a expressar regras do mundo real no código.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9A698DB-9968-62F8-5879-358867524BCB}"/>
              </a:ext>
            </a:extLst>
          </p:cNvPr>
          <p:cNvSpPr txBox="1"/>
          <p:nvPr/>
        </p:nvSpPr>
        <p:spPr>
          <a:xfrm>
            <a:off x="489751" y="3757525"/>
            <a:ext cx="11212497" cy="230832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b="1" dirty="0"/>
              <a:t>4. Estruturas de Repetição</a:t>
            </a:r>
          </a:p>
          <a:p>
            <a:r>
              <a:rPr lang="pt-BR" b="1" dirty="0"/>
              <a:t>Questões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Altere um laço for para um </a:t>
            </a:r>
            <a:r>
              <a:rPr lang="pt-BR" dirty="0" err="1"/>
              <a:t>while</a:t>
            </a:r>
            <a:r>
              <a:rPr lang="pt-BR" dirty="0"/>
              <a:t> mantendo o mesmo comportamento.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Crie um laço que nunca execute e explique o motivo.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Crie um laço que execute exatamente uma vez.</a:t>
            </a:r>
          </a:p>
          <a:p>
            <a:r>
              <a:rPr lang="pt-BR" b="1" dirty="0"/>
              <a:t>Dica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Laços dependem diretamente da condição de parada.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Um erro na condição pode causar laços infinitos ou laços que não executam.</a:t>
            </a:r>
          </a:p>
        </p:txBody>
      </p:sp>
    </p:spTree>
    <p:extLst>
      <p:ext uri="{BB962C8B-B14F-4D97-AF65-F5344CB8AC3E}">
        <p14:creationId xmlns:p14="http://schemas.microsoft.com/office/powerpoint/2010/main" val="21353926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3ED14-5160-7B05-5D03-43BF8424E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: Cantos Superiores Recortados 2">
            <a:extLst>
              <a:ext uri="{FF2B5EF4-FFF2-40B4-BE49-F238E27FC236}">
                <a16:creationId xmlns:a16="http://schemas.microsoft.com/office/drawing/2014/main" id="{73A96BF2-DBEC-10EB-7062-726F96567478}"/>
              </a:ext>
            </a:extLst>
          </p:cNvPr>
          <p:cNvSpPr/>
          <p:nvPr/>
        </p:nvSpPr>
        <p:spPr>
          <a:xfrm rot="16200000">
            <a:off x="3483800" y="-3320450"/>
            <a:ext cx="649458" cy="7617031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latin typeface="Abadi" panose="020B0604020104020204" pitchFamily="34" charset="0"/>
              </a:rPr>
              <a:t>Algumas questões para reforço (Parte 3)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DA8ECB0-3967-A300-567C-01E67B3EA00D}"/>
              </a:ext>
            </a:extLst>
          </p:cNvPr>
          <p:cNvSpPr txBox="1"/>
          <p:nvPr/>
        </p:nvSpPr>
        <p:spPr>
          <a:xfrm>
            <a:off x="489751" y="986213"/>
            <a:ext cx="11212497" cy="230832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b="1" dirty="0"/>
              <a:t>5. Controle de Fluxo</a:t>
            </a:r>
          </a:p>
          <a:p>
            <a:r>
              <a:rPr lang="pt-BR" b="1" dirty="0"/>
              <a:t>Questões</a:t>
            </a:r>
            <a:endParaRPr lang="pt-BR" dirty="0"/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Use continue para ignorar múltiplos valores dentro de um laço.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Compare o efeito de remover um break de um laço.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Combine </a:t>
            </a:r>
            <a:r>
              <a:rPr lang="pt-BR" dirty="0" err="1"/>
              <a:t>if</a:t>
            </a:r>
            <a:r>
              <a:rPr lang="pt-BR" dirty="0"/>
              <a:t> com break dentro de uma repetição.</a:t>
            </a:r>
          </a:p>
          <a:p>
            <a:r>
              <a:rPr lang="pt-BR" b="1" dirty="0"/>
              <a:t>Dica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 controle de fluxo altera o caminho normal da execução.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break encerra o laço; continue apenas pula para a próxima iteração.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217B860-406A-A60F-B824-DA9B44CFF624}"/>
              </a:ext>
            </a:extLst>
          </p:cNvPr>
          <p:cNvSpPr txBox="1"/>
          <p:nvPr/>
        </p:nvSpPr>
        <p:spPr>
          <a:xfrm>
            <a:off x="489751" y="3757525"/>
            <a:ext cx="11212497" cy="230832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b="1" dirty="0"/>
              <a:t>6. Tipagem e Casting</a:t>
            </a:r>
          </a:p>
          <a:p>
            <a:r>
              <a:rPr lang="pt-BR" b="1" dirty="0"/>
              <a:t>Questões</a:t>
            </a:r>
            <a:endParaRPr lang="pt-BR" dirty="0"/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Faça uma conta entre </a:t>
            </a:r>
            <a:r>
              <a:rPr lang="pt-BR" dirty="0" err="1"/>
              <a:t>int</a:t>
            </a:r>
            <a:r>
              <a:rPr lang="pt-BR" dirty="0"/>
              <a:t> e </a:t>
            </a:r>
            <a:r>
              <a:rPr lang="pt-BR" dirty="0" err="1"/>
              <a:t>double</a:t>
            </a:r>
            <a:r>
              <a:rPr lang="pt-BR" dirty="0"/>
              <a:t> e observe o tipo do resultado.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Converta explicitamente um </a:t>
            </a:r>
            <a:r>
              <a:rPr lang="pt-BR" dirty="0" err="1"/>
              <a:t>int</a:t>
            </a:r>
            <a:r>
              <a:rPr lang="pt-BR" dirty="0"/>
              <a:t> para </a:t>
            </a:r>
            <a:r>
              <a:rPr lang="pt-BR" dirty="0" err="1"/>
              <a:t>double</a:t>
            </a:r>
            <a:r>
              <a:rPr lang="pt-BR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Compare o resultado de uma divisão inteira com uma divisão decimal.</a:t>
            </a:r>
          </a:p>
          <a:p>
            <a:r>
              <a:rPr lang="pt-BR" b="1" dirty="0"/>
              <a:t>Dica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Operações entre tipos diferentes seguem regras de promoção de tipo.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Casting explícito deve ser usado com cuidado para evitar perda de informação.</a:t>
            </a:r>
          </a:p>
        </p:txBody>
      </p:sp>
    </p:spTree>
    <p:extLst>
      <p:ext uri="{BB962C8B-B14F-4D97-AF65-F5344CB8AC3E}">
        <p14:creationId xmlns:p14="http://schemas.microsoft.com/office/powerpoint/2010/main" val="35234027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2C92D-89C3-ACB2-668F-10983A321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: Cantos Superiores Recortados 2">
            <a:extLst>
              <a:ext uri="{FF2B5EF4-FFF2-40B4-BE49-F238E27FC236}">
                <a16:creationId xmlns:a16="http://schemas.microsoft.com/office/drawing/2014/main" id="{69AE0120-1DE3-9CCA-2145-518AA7179918}"/>
              </a:ext>
            </a:extLst>
          </p:cNvPr>
          <p:cNvSpPr/>
          <p:nvPr/>
        </p:nvSpPr>
        <p:spPr>
          <a:xfrm rot="16200000">
            <a:off x="3483800" y="-3320450"/>
            <a:ext cx="649458" cy="7617031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latin typeface="Abadi" panose="020B0604020104020204" pitchFamily="34" charset="0"/>
              </a:rPr>
              <a:t>Algumas questões para reforço (Parte 4)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08FBE22-EAD2-CCC4-E5C4-951A3C982A1A}"/>
              </a:ext>
            </a:extLst>
          </p:cNvPr>
          <p:cNvSpPr txBox="1"/>
          <p:nvPr/>
        </p:nvSpPr>
        <p:spPr>
          <a:xfrm>
            <a:off x="489751" y="986213"/>
            <a:ext cx="11212497" cy="230832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b="1" dirty="0"/>
              <a:t>7. Escopo de Variáveis</a:t>
            </a:r>
          </a:p>
          <a:p>
            <a:r>
              <a:rPr lang="pt-BR" b="1" dirty="0"/>
              <a:t>Questões</a:t>
            </a:r>
            <a:endParaRPr lang="pt-BR" dirty="0"/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Declare variáveis com o mesmo nome em blocos diferentes.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Observe o escopo de uma variável declarada dentro de um laço.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Tente acessar uma variável antes de sua declaração.</a:t>
            </a:r>
          </a:p>
          <a:p>
            <a:r>
              <a:rPr lang="pt-BR" b="1" dirty="0"/>
              <a:t>Dica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 escopo está ligado ao bloco {} onde a variável foi declarada.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Variáveis não existem fora do bloco onde foram criadas.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77CF2AC-07F0-2829-9D24-E54CBF87FB7B}"/>
              </a:ext>
            </a:extLst>
          </p:cNvPr>
          <p:cNvSpPr txBox="1"/>
          <p:nvPr/>
        </p:nvSpPr>
        <p:spPr>
          <a:xfrm>
            <a:off x="489751" y="3757525"/>
            <a:ext cx="11212497" cy="230832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b="1" dirty="0"/>
              <a:t>8. Tipos Primitivos e </a:t>
            </a:r>
            <a:r>
              <a:rPr lang="pt-BR" b="1" dirty="0" err="1"/>
              <a:t>String</a:t>
            </a:r>
            <a:endParaRPr lang="pt-BR" b="1" dirty="0"/>
          </a:p>
          <a:p>
            <a:r>
              <a:rPr lang="pt-BR" b="1" dirty="0"/>
              <a:t>Questões</a:t>
            </a:r>
            <a:endParaRPr lang="pt-BR" dirty="0"/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Compare duas </a:t>
            </a:r>
            <a:r>
              <a:rPr lang="pt-BR" dirty="0" err="1"/>
              <a:t>String</a:t>
            </a:r>
            <a:r>
              <a:rPr lang="pt-BR" dirty="0"/>
              <a:t> usando == e observe o resultado.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Concatene números e texto em diferentes ordens.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Armazene um número em </a:t>
            </a:r>
            <a:r>
              <a:rPr lang="pt-BR" dirty="0" err="1"/>
              <a:t>String</a:t>
            </a:r>
            <a:r>
              <a:rPr lang="pt-BR" dirty="0"/>
              <a:t> e exiba junto com texto.</a:t>
            </a:r>
          </a:p>
          <a:p>
            <a:r>
              <a:rPr lang="pt-BR" b="1" dirty="0"/>
              <a:t>Dica</a:t>
            </a: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Tipos primitivos armazenam valores diretamente.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 err="1"/>
              <a:t>String</a:t>
            </a:r>
            <a:r>
              <a:rPr lang="pt-BR" dirty="0"/>
              <a:t> é um objeto e possui comportamento diferente de tipos primitivos.</a:t>
            </a:r>
          </a:p>
        </p:txBody>
      </p:sp>
    </p:spTree>
    <p:extLst>
      <p:ext uri="{BB962C8B-B14F-4D97-AF65-F5344CB8AC3E}">
        <p14:creationId xmlns:p14="http://schemas.microsoft.com/office/powerpoint/2010/main" val="5973173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1951C-F164-B359-307B-AFCBB4A8B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: Cantos Superiores Recortados 2">
            <a:extLst>
              <a:ext uri="{FF2B5EF4-FFF2-40B4-BE49-F238E27FC236}">
                <a16:creationId xmlns:a16="http://schemas.microsoft.com/office/drawing/2014/main" id="{11B77394-F6A6-531F-FA59-9B8E28BFFC80}"/>
              </a:ext>
            </a:extLst>
          </p:cNvPr>
          <p:cNvSpPr/>
          <p:nvPr/>
        </p:nvSpPr>
        <p:spPr>
          <a:xfrm rot="16200000">
            <a:off x="3483800" y="-3320450"/>
            <a:ext cx="649458" cy="7617031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latin typeface="Abadi" panose="020B0604020104020204" pitchFamily="34" charset="0"/>
              </a:rPr>
              <a:t>Algumas questões para reforço (Parte 5)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CBCF655-1863-2C17-9D99-2544CC93D1D4}"/>
              </a:ext>
            </a:extLst>
          </p:cNvPr>
          <p:cNvSpPr txBox="1"/>
          <p:nvPr/>
        </p:nvSpPr>
        <p:spPr>
          <a:xfrm>
            <a:off x="489751" y="986213"/>
            <a:ext cx="11212497" cy="230832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b="1" dirty="0"/>
              <a:t>9. Vetores (</a:t>
            </a:r>
            <a:r>
              <a:rPr lang="pt-BR" b="1" dirty="0" err="1"/>
              <a:t>Arrays</a:t>
            </a:r>
            <a:r>
              <a:rPr lang="pt-BR" b="1" dirty="0"/>
              <a:t>)</a:t>
            </a:r>
          </a:p>
          <a:p>
            <a:r>
              <a:rPr lang="pt-BR" b="1" dirty="0"/>
              <a:t>Questões</a:t>
            </a:r>
            <a:endParaRPr lang="pt-BR" dirty="0"/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Crie um vetor e tente acessar uma posição inválida.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Crie um vetor e descubra seu tamanho usando .</a:t>
            </a:r>
            <a:r>
              <a:rPr lang="pt-BR" dirty="0" err="1"/>
              <a:t>length</a:t>
            </a:r>
            <a:r>
              <a:rPr lang="pt-BR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Crie um vetor e inicialize todos os valores com o mesmo número.</a:t>
            </a:r>
          </a:p>
          <a:p>
            <a:r>
              <a:rPr lang="pt-BR" b="1" dirty="0"/>
              <a:t>Dica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Vetores têm tamanho fixo e índices começam em zero.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Acesso inválido gera erro em tempo de execução.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AD33891-2B2D-F276-C344-7996B10A2A5A}"/>
              </a:ext>
            </a:extLst>
          </p:cNvPr>
          <p:cNvSpPr txBox="1"/>
          <p:nvPr/>
        </p:nvSpPr>
        <p:spPr>
          <a:xfrm>
            <a:off x="489751" y="3757525"/>
            <a:ext cx="11212497" cy="230832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b="1" dirty="0"/>
              <a:t>10. Percorrendo </a:t>
            </a:r>
            <a:r>
              <a:rPr lang="pt-BR" b="1" dirty="0" err="1"/>
              <a:t>Arrays</a:t>
            </a:r>
            <a:endParaRPr lang="pt-BR" b="1" dirty="0"/>
          </a:p>
          <a:p>
            <a:r>
              <a:rPr lang="pt-BR" b="1" dirty="0"/>
              <a:t>Questões</a:t>
            </a:r>
            <a:endParaRPr lang="pt-BR" dirty="0"/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Percorra um vetor ao contrário (do último para o primeiro).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Use for-</a:t>
            </a:r>
            <a:r>
              <a:rPr lang="pt-BR" dirty="0" err="1"/>
              <a:t>each</a:t>
            </a:r>
            <a:r>
              <a:rPr lang="pt-BR" dirty="0"/>
              <a:t> para exibir os valores de um vetor.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Encontre o maior valor dentro de um </a:t>
            </a:r>
            <a:r>
              <a:rPr lang="pt-BR" dirty="0" err="1"/>
              <a:t>array</a:t>
            </a:r>
            <a:r>
              <a:rPr lang="pt-BR" dirty="0"/>
              <a:t>.</a:t>
            </a:r>
          </a:p>
          <a:p>
            <a:r>
              <a:rPr lang="pt-BR" b="1" dirty="0"/>
              <a:t>Dica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Percorrer </a:t>
            </a:r>
            <a:r>
              <a:rPr lang="pt-BR" dirty="0" err="1"/>
              <a:t>arrays</a:t>
            </a:r>
            <a:r>
              <a:rPr lang="pt-BR" dirty="0"/>
              <a:t> é uma das operações mais comuns em programação.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 laço for-</a:t>
            </a:r>
            <a:r>
              <a:rPr lang="pt-BR" dirty="0" err="1"/>
              <a:t>each</a:t>
            </a:r>
            <a:r>
              <a:rPr lang="pt-BR" dirty="0"/>
              <a:t> simplifica a leitura quando não é necessário o índice.</a:t>
            </a:r>
          </a:p>
        </p:txBody>
      </p:sp>
    </p:spTree>
    <p:extLst>
      <p:ext uri="{BB962C8B-B14F-4D97-AF65-F5344CB8AC3E}">
        <p14:creationId xmlns:p14="http://schemas.microsoft.com/office/powerpoint/2010/main" val="9632682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E634A-1784-5B3F-3C54-441825F0F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: Cantos Superiores Recortados 2">
            <a:extLst>
              <a:ext uri="{FF2B5EF4-FFF2-40B4-BE49-F238E27FC236}">
                <a16:creationId xmlns:a16="http://schemas.microsoft.com/office/drawing/2014/main" id="{FA276791-026E-F101-FC1B-F005C5A6C242}"/>
              </a:ext>
            </a:extLst>
          </p:cNvPr>
          <p:cNvSpPr/>
          <p:nvPr/>
        </p:nvSpPr>
        <p:spPr>
          <a:xfrm rot="16200000">
            <a:off x="3483800" y="-3320450"/>
            <a:ext cx="649458" cy="7617031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latin typeface="Abadi" panose="020B0604020104020204" pitchFamily="34" charset="0"/>
              </a:rPr>
              <a:t>Algumas questões para reforço (Parte 6)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F7DC8A8-8B73-D15E-3CB5-33F94B6CCA74}"/>
              </a:ext>
            </a:extLst>
          </p:cNvPr>
          <p:cNvSpPr txBox="1"/>
          <p:nvPr/>
        </p:nvSpPr>
        <p:spPr>
          <a:xfrm>
            <a:off x="489751" y="986213"/>
            <a:ext cx="11212497" cy="230832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b="1" dirty="0"/>
              <a:t>11. Modularização – Métodos</a:t>
            </a:r>
          </a:p>
          <a:p>
            <a:r>
              <a:rPr lang="pt-BR" b="1" dirty="0"/>
              <a:t>Questões</a:t>
            </a:r>
            <a:endParaRPr lang="pt-BR" dirty="0"/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Crie um método e chame-o mais de uma vez no </a:t>
            </a:r>
            <a:r>
              <a:rPr lang="pt-BR" dirty="0" err="1"/>
              <a:t>main</a:t>
            </a:r>
            <a:r>
              <a:rPr lang="pt-BR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Altere um método para receber mais de um parâmetro.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Observe a diferença entre método com e sem retorno.</a:t>
            </a:r>
          </a:p>
          <a:p>
            <a:r>
              <a:rPr lang="pt-BR" b="1" dirty="0"/>
              <a:t>Dica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Métodos organizam o código e melhoram a legibilidade.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Parâmetros permitem reutilizar o mesmo método com valores diferentes.</a:t>
            </a:r>
          </a:p>
        </p:txBody>
      </p:sp>
    </p:spTree>
    <p:extLst>
      <p:ext uri="{BB962C8B-B14F-4D97-AF65-F5344CB8AC3E}">
        <p14:creationId xmlns:p14="http://schemas.microsoft.com/office/powerpoint/2010/main" val="26437070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Personalizada 2">
      <a:dk1>
        <a:srgbClr val="0C101C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8C67361DBE7D944AD858223D4CAF603" ma:contentTypeVersion="3" ma:contentTypeDescription="Crie um novo documento." ma:contentTypeScope="" ma:versionID="b2c010e37c8d437adfa72cc06fc89f10">
  <xsd:schema xmlns:xsd="http://www.w3.org/2001/XMLSchema" xmlns:xs="http://www.w3.org/2001/XMLSchema" xmlns:p="http://schemas.microsoft.com/office/2006/metadata/properties" xmlns:ns2="7b76103c-d6e0-4e2e-819a-fe104c886131" targetNamespace="http://schemas.microsoft.com/office/2006/metadata/properties" ma:root="true" ma:fieldsID="430cfa03dd1b8b020d8472fbc3b2d459" ns2:_="">
    <xsd:import namespace="7b76103c-d6e0-4e2e-819a-fe104c8861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76103c-d6e0-4e2e-819a-fe104c8861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541C86E-5381-4C3C-A0CB-FEE2B35C8822}"/>
</file>

<file path=customXml/itemProps2.xml><?xml version="1.0" encoding="utf-8"?>
<ds:datastoreItem xmlns:ds="http://schemas.openxmlformats.org/officeDocument/2006/customXml" ds:itemID="{88B5FFAE-E767-47B1-84C4-A1C059C3E927}"/>
</file>

<file path=customXml/itemProps3.xml><?xml version="1.0" encoding="utf-8"?>
<ds:datastoreItem xmlns:ds="http://schemas.openxmlformats.org/officeDocument/2006/customXml" ds:itemID="{ABC3A4C2-87FA-4411-8499-BE0A2816EACE}"/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5066</TotalTime>
  <Words>1718</Words>
  <Application>Microsoft Office PowerPoint</Application>
  <PresentationFormat>Widescreen</PresentationFormat>
  <Paragraphs>201</Paragraphs>
  <Slides>32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39" baseType="lpstr">
      <vt:lpstr>Abadi</vt:lpstr>
      <vt:lpstr>Arial</vt:lpstr>
      <vt:lpstr>Calibri</vt:lpstr>
      <vt:lpstr>Calibri Light</vt:lpstr>
      <vt:lpstr>Courier New</vt:lpstr>
      <vt:lpstr>Wingdings</vt:lpstr>
      <vt:lpstr>Tema do Office</vt:lpstr>
      <vt:lpstr>Estrutura de Dados Aula 2: Java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Vinícius José Lopes Cursino</dc:creator>
  <cp:lastModifiedBy>Vinícius José Lopes Cursino</cp:lastModifiedBy>
  <cp:revision>55</cp:revision>
  <dcterms:created xsi:type="dcterms:W3CDTF">2024-11-05T22:56:10Z</dcterms:created>
  <dcterms:modified xsi:type="dcterms:W3CDTF">2026-01-29T22:56:56Z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0x01010068C67361DBE7D944AD858223D4CAF603</vt:lpwstr>
  </property>
</Properties>
</file>