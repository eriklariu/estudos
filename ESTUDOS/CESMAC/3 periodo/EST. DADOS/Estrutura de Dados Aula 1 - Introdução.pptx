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60" r:id="rId5"/>
    <p:sldId id="261" r:id="rId6"/>
    <p:sldId id="262" r:id="rId7"/>
    <p:sldId id="263" r:id="rId8"/>
    <p:sldId id="264" r:id="rId9"/>
    <p:sldId id="269"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D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8" d="100"/>
          <a:sy n="108" d="100"/>
        </p:scale>
        <p:origin x="67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26/01/2026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59778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26/01/2026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515272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A9C5F5F1-592D-4F5E-BEF8-26440F16569E}" type="datetimeFigureOut">
              <a:rPr lang="pt-BR" smtClean="0"/>
              <a:t>26/01/2026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2500829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9C5F5F1-592D-4F5E-BEF8-26440F16569E}" type="datetimeFigureOut">
              <a:rPr lang="pt-BR" smtClean="0"/>
              <a:t>26/01/2026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108660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9C5F5F1-592D-4F5E-BEF8-26440F16569E}" type="datetimeFigureOut">
              <a:rPr lang="pt-BR" smtClean="0"/>
              <a:t>26/01/2026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586583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9C5F5F1-592D-4F5E-BEF8-26440F16569E}" type="datetimeFigureOut">
              <a:rPr lang="pt-BR" smtClean="0"/>
              <a:t>26/01/2026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667466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5F5F1-592D-4F5E-BEF8-26440F16569E}" type="datetimeFigureOut">
              <a:rPr lang="pt-BR" smtClean="0"/>
              <a:t>26/01/2026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2031268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A9C5F5F1-592D-4F5E-BEF8-26440F16569E}" type="datetimeFigureOut">
              <a:rPr lang="pt-BR" smtClean="0"/>
              <a:t>26/01/2026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29410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A9C5F5F1-592D-4F5E-BEF8-26440F16569E}" type="datetimeFigureOut">
              <a:rPr lang="pt-BR" smtClean="0"/>
              <a:t>26/01/2026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1681366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26/01/2026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07797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26/01/2026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850997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C5F5F1-592D-4F5E-BEF8-26440F16569E}" type="datetimeFigureOut">
              <a:rPr lang="pt-BR" smtClean="0"/>
              <a:t>26/01/2026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8BF5F-91CD-412A-9493-8FA5B93396BD}" type="slidenum">
              <a:rPr lang="pt-BR" smtClean="0"/>
              <a:t>‹nº›</a:t>
            </a:fld>
            <a:endParaRPr lang="pt-BR"/>
          </a:p>
        </p:txBody>
      </p:sp>
    </p:spTree>
    <p:extLst>
      <p:ext uri="{BB962C8B-B14F-4D97-AF65-F5344CB8AC3E}">
        <p14:creationId xmlns:p14="http://schemas.microsoft.com/office/powerpoint/2010/main" val="275892620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FADF5B1-E9DA-EEF5-C245-EE90098EC5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647" b="6865"/>
          <a:stretch/>
        </p:blipFill>
        <p:spPr bwMode="auto">
          <a:xfrm>
            <a:off x="-129540" y="0"/>
            <a:ext cx="1232154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0920C71-0C6B-67A1-FA2E-EB93D611549D}"/>
              </a:ext>
            </a:extLst>
          </p:cNvPr>
          <p:cNvSpPr>
            <a:spLocks noGrp="1"/>
          </p:cNvSpPr>
          <p:nvPr>
            <p:ph type="ctrTitle"/>
          </p:nvPr>
        </p:nvSpPr>
        <p:spPr>
          <a:xfrm>
            <a:off x="381000" y="3429000"/>
            <a:ext cx="7190792" cy="2387600"/>
          </a:xfr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l"/>
            <a:r>
              <a:rPr lang="pt-BR" dirty="0">
                <a:latin typeface="Abadi" panose="020B0604020104020204" pitchFamily="34" charset="0"/>
              </a:rPr>
              <a:t>Estrutura de Dados</a:t>
            </a:r>
            <a:br>
              <a:rPr lang="pt-BR" dirty="0">
                <a:latin typeface="Abadi" panose="020B0604020104020204" pitchFamily="34" charset="0"/>
              </a:rPr>
            </a:br>
            <a:r>
              <a:rPr lang="pt-BR" dirty="0">
                <a:latin typeface="Abadi" panose="020B0604020104020204" pitchFamily="34" charset="0"/>
              </a:rPr>
              <a:t>Aula 1: Introdução</a:t>
            </a:r>
          </a:p>
        </p:txBody>
      </p:sp>
      <p:sp>
        <p:nvSpPr>
          <p:cNvPr id="3" name="Subtítulo 2">
            <a:extLst>
              <a:ext uri="{FF2B5EF4-FFF2-40B4-BE49-F238E27FC236}">
                <a16:creationId xmlns:a16="http://schemas.microsoft.com/office/drawing/2014/main" id="{CD51ADBE-F611-60E0-63DF-674DC817D5AD}"/>
              </a:ext>
            </a:extLst>
          </p:cNvPr>
          <p:cNvSpPr>
            <a:spLocks noGrp="1"/>
          </p:cNvSpPr>
          <p:nvPr>
            <p:ph type="subTitle" idx="1"/>
          </p:nvPr>
        </p:nvSpPr>
        <p:spPr>
          <a:xfrm>
            <a:off x="381000" y="5908675"/>
            <a:ext cx="7190792" cy="400795"/>
          </a:xfr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normAutofit lnSpcReduction="10000"/>
          </a:bodyPr>
          <a:lstStyle/>
          <a:p>
            <a:pPr algn="l"/>
            <a:r>
              <a:rPr lang="pt-BR" dirty="0">
                <a:latin typeface="Abadi" panose="020B0604020104020204" pitchFamily="34" charset="0"/>
              </a:rPr>
              <a:t>Professor: Vinicius Cursino</a:t>
            </a:r>
          </a:p>
        </p:txBody>
      </p:sp>
    </p:spTree>
    <p:extLst>
      <p:ext uri="{BB962C8B-B14F-4D97-AF65-F5344CB8AC3E}">
        <p14:creationId xmlns:p14="http://schemas.microsoft.com/office/powerpoint/2010/main" val="202891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1822AD41-7E25-8658-28D6-7CDEC8D98F35}"/>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O que são Estruturas de dados?</a:t>
            </a:r>
          </a:p>
        </p:txBody>
      </p:sp>
      <p:sp>
        <p:nvSpPr>
          <p:cNvPr id="6" name="CaixaDeTexto 5">
            <a:extLst>
              <a:ext uri="{FF2B5EF4-FFF2-40B4-BE49-F238E27FC236}">
                <a16:creationId xmlns:a16="http://schemas.microsoft.com/office/drawing/2014/main" id="{BC307461-92DB-4E34-0A22-84CE9440B4D7}"/>
              </a:ext>
            </a:extLst>
          </p:cNvPr>
          <p:cNvSpPr txBox="1"/>
          <p:nvPr/>
        </p:nvSpPr>
        <p:spPr>
          <a:xfrm>
            <a:off x="139700" y="1310406"/>
            <a:ext cx="6111240" cy="4708981"/>
          </a:xfrm>
          <a:prstGeom prst="rect">
            <a:avLst/>
          </a:prstGeom>
          <a:noFill/>
        </p:spPr>
        <p:txBody>
          <a:bodyPr wrap="square">
            <a:spAutoFit/>
          </a:bodyPr>
          <a:lstStyle/>
          <a:p>
            <a:pPr marL="285750" indent="-285750" algn="just">
              <a:buFont typeface="Wingdings" panose="05000000000000000000" pitchFamily="2" charset="2"/>
              <a:buChar char="Ø"/>
            </a:pPr>
            <a:r>
              <a:rPr lang="pt-BR" sz="2000" dirty="0">
                <a:latin typeface="Abadi" panose="020B0604020104020204" pitchFamily="34" charset="0"/>
              </a:rPr>
              <a:t>Estrutura de Dados é uma forma de organizar, gerenciar e armazenar dados para que possam ser utilizados de maneira eficiente. </a:t>
            </a:r>
          </a:p>
          <a:p>
            <a:pPr marL="285750" indent="-285750" algn="just">
              <a:buFont typeface="Wingdings" panose="05000000000000000000" pitchFamily="2" charset="2"/>
              <a:buChar char="Ø"/>
            </a:pPr>
            <a:endParaRPr lang="pt-BR" sz="2000" dirty="0">
              <a:latin typeface="Abadi" panose="020B0604020104020204" pitchFamily="34" charset="0"/>
            </a:endParaRPr>
          </a:p>
          <a:p>
            <a:pPr marL="285750" indent="-285750" algn="just">
              <a:buFont typeface="Wingdings" panose="05000000000000000000" pitchFamily="2" charset="2"/>
              <a:buChar char="Ø"/>
            </a:pPr>
            <a:r>
              <a:rPr lang="pt-BR" sz="2000" dirty="0">
                <a:latin typeface="Abadi" panose="020B0604020104020204" pitchFamily="34" charset="0"/>
              </a:rPr>
              <a:t>As estruturas de dados definem a organização dos dados na memória, bem como as operações possíveis sobre eles (como inserção, remoção, busca e atualização), facilitando a realização de tarefas computacionais de forma eficaz.</a:t>
            </a:r>
          </a:p>
          <a:p>
            <a:pPr marL="285750" indent="-285750" algn="just">
              <a:buFont typeface="Wingdings" panose="05000000000000000000" pitchFamily="2" charset="2"/>
              <a:buChar char="Ø"/>
            </a:pPr>
            <a:endParaRPr lang="pt-BR" sz="2000" dirty="0">
              <a:latin typeface="Abadi" panose="020B0604020104020204" pitchFamily="34" charset="0"/>
            </a:endParaRPr>
          </a:p>
          <a:p>
            <a:pPr marL="285750" indent="-285750" algn="just">
              <a:buFont typeface="Wingdings" panose="05000000000000000000" pitchFamily="2" charset="2"/>
              <a:buChar char="Ø"/>
            </a:pPr>
            <a:r>
              <a:rPr lang="pt-BR" sz="2000" dirty="0">
                <a:latin typeface="Abadi" panose="020B0604020104020204" pitchFamily="34" charset="0"/>
              </a:rPr>
              <a:t>Alguns exemplos da vida real são...</a:t>
            </a:r>
          </a:p>
          <a:p>
            <a:pPr marL="742950" lvl="1" indent="-285750" algn="just">
              <a:buFont typeface="Wingdings" panose="05000000000000000000" pitchFamily="2" charset="2"/>
              <a:buChar char="Ø"/>
            </a:pPr>
            <a:r>
              <a:rPr lang="pt-BR" sz="2000" dirty="0">
                <a:latin typeface="Abadi" panose="020B0604020104020204" pitchFamily="34" charset="0"/>
              </a:rPr>
              <a:t>Agenda telefônica;</a:t>
            </a:r>
          </a:p>
          <a:p>
            <a:pPr marL="742950" lvl="1" indent="-285750" algn="just">
              <a:buFont typeface="Wingdings" panose="05000000000000000000" pitchFamily="2" charset="2"/>
              <a:buChar char="Ø"/>
            </a:pPr>
            <a:r>
              <a:rPr lang="pt-BR" sz="2000" dirty="0">
                <a:latin typeface="Abadi" panose="020B0604020104020204" pitchFamily="34" charset="0"/>
              </a:rPr>
              <a:t>Pilha de Pratos;</a:t>
            </a:r>
          </a:p>
          <a:p>
            <a:pPr marL="742950" lvl="1" indent="-285750" algn="just">
              <a:buFont typeface="Wingdings" panose="05000000000000000000" pitchFamily="2" charset="2"/>
              <a:buChar char="Ø"/>
            </a:pPr>
            <a:r>
              <a:rPr lang="pt-BR" sz="2000" dirty="0">
                <a:latin typeface="Abadi" panose="020B0604020104020204" pitchFamily="34" charset="0"/>
              </a:rPr>
              <a:t>Lista de Tarefas;</a:t>
            </a:r>
          </a:p>
          <a:p>
            <a:pPr marL="742950" lvl="1" indent="-285750" algn="just">
              <a:buFont typeface="Wingdings" panose="05000000000000000000" pitchFamily="2" charset="2"/>
              <a:buChar char="Ø"/>
            </a:pPr>
            <a:r>
              <a:rPr lang="pt-BR" sz="2000" dirty="0">
                <a:latin typeface="Abadi" panose="020B0604020104020204" pitchFamily="34" charset="0"/>
              </a:rPr>
              <a:t>Fila de atendimento;</a:t>
            </a:r>
          </a:p>
        </p:txBody>
      </p:sp>
      <p:pic>
        <p:nvPicPr>
          <p:cNvPr id="8" name="Imagem 7">
            <a:extLst>
              <a:ext uri="{FF2B5EF4-FFF2-40B4-BE49-F238E27FC236}">
                <a16:creationId xmlns:a16="http://schemas.microsoft.com/office/drawing/2014/main" id="{FF14A338-DBA7-8AD3-2254-71992657AC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1743" y="3571132"/>
            <a:ext cx="2448255" cy="2448255"/>
          </a:xfrm>
          <a:prstGeom prst="rect">
            <a:avLst/>
          </a:prstGeom>
        </p:spPr>
      </p:pic>
      <p:pic>
        <p:nvPicPr>
          <p:cNvPr id="10" name="Imagem 9">
            <a:extLst>
              <a:ext uri="{FF2B5EF4-FFF2-40B4-BE49-F238E27FC236}">
                <a16:creationId xmlns:a16="http://schemas.microsoft.com/office/drawing/2014/main" id="{D7B41EC4-3280-5F8D-596F-4263E6D55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89999" y="1122877"/>
            <a:ext cx="2448255" cy="2448255"/>
          </a:xfrm>
          <a:prstGeom prst="rect">
            <a:avLst/>
          </a:prstGeom>
        </p:spPr>
      </p:pic>
      <p:pic>
        <p:nvPicPr>
          <p:cNvPr id="12" name="Imagem 11">
            <a:extLst>
              <a:ext uri="{FF2B5EF4-FFF2-40B4-BE49-F238E27FC236}">
                <a16:creationId xmlns:a16="http://schemas.microsoft.com/office/drawing/2014/main" id="{60D865DD-3FE3-E8D7-B063-CF3808D04D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0000" y="3571133"/>
            <a:ext cx="2448255" cy="2448255"/>
          </a:xfrm>
          <a:prstGeom prst="rect">
            <a:avLst/>
          </a:prstGeom>
        </p:spPr>
      </p:pic>
      <p:pic>
        <p:nvPicPr>
          <p:cNvPr id="14" name="Imagem 13">
            <a:extLst>
              <a:ext uri="{FF2B5EF4-FFF2-40B4-BE49-F238E27FC236}">
                <a16:creationId xmlns:a16="http://schemas.microsoft.com/office/drawing/2014/main" id="{700A14CA-CDEF-E405-4297-80EBC60D3E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1745" y="1122878"/>
            <a:ext cx="2448255" cy="2448255"/>
          </a:xfrm>
          <a:prstGeom prst="rect">
            <a:avLst/>
          </a:prstGeom>
        </p:spPr>
      </p:pic>
    </p:spTree>
    <p:extLst>
      <p:ext uri="{BB962C8B-B14F-4D97-AF65-F5344CB8AC3E}">
        <p14:creationId xmlns:p14="http://schemas.microsoft.com/office/powerpoint/2010/main" val="3918383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2DD3F-7B98-85EA-992B-1E7F6A830996}"/>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C8D68A45-B0D0-C659-60D1-D5A129E5B7E2}"/>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Formas de Armazenar Dados</a:t>
            </a:r>
          </a:p>
        </p:txBody>
      </p:sp>
      <p:pic>
        <p:nvPicPr>
          <p:cNvPr id="4" name="Imagem 3">
            <a:extLst>
              <a:ext uri="{FF2B5EF4-FFF2-40B4-BE49-F238E27FC236}">
                <a16:creationId xmlns:a16="http://schemas.microsoft.com/office/drawing/2014/main" id="{3FEED519-7B77-4C9A-ED67-9C4D6169D035}"/>
              </a:ext>
            </a:extLst>
          </p:cNvPr>
          <p:cNvPicPr>
            <a:picLocks noChangeAspect="1"/>
          </p:cNvPicPr>
          <p:nvPr/>
        </p:nvPicPr>
        <p:blipFill>
          <a:blip r:embed="rId2"/>
          <a:srcRect l="5019" t="12840" r="10121" b="1411"/>
          <a:stretch/>
        </p:blipFill>
        <p:spPr>
          <a:xfrm>
            <a:off x="6853703" y="1875557"/>
            <a:ext cx="5338297" cy="3461553"/>
          </a:xfrm>
          <a:prstGeom prst="rect">
            <a:avLst/>
          </a:prstGeom>
        </p:spPr>
      </p:pic>
      <p:pic>
        <p:nvPicPr>
          <p:cNvPr id="2050" name="Picture 2">
            <a:extLst>
              <a:ext uri="{FF2B5EF4-FFF2-40B4-BE49-F238E27FC236}">
                <a16:creationId xmlns:a16="http://schemas.microsoft.com/office/drawing/2014/main" id="{3F45053C-BC53-A854-BC59-A0EBC8EB0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2715" y="1664687"/>
            <a:ext cx="3382715" cy="430690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e onde vieram as cartas do baralho?">
            <a:extLst>
              <a:ext uri="{FF2B5EF4-FFF2-40B4-BE49-F238E27FC236}">
                <a16:creationId xmlns:a16="http://schemas.microsoft.com/office/drawing/2014/main" id="{8EB926A5-4B3F-7670-AE53-EE2B38617D7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73" r="21592"/>
          <a:stretch/>
        </p:blipFill>
        <p:spPr bwMode="auto">
          <a:xfrm>
            <a:off x="0" y="2141231"/>
            <a:ext cx="3382715" cy="335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363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C34A-C775-ADF8-107E-BE819BCE3DB2}"/>
            </a:ext>
          </a:extLst>
        </p:cNvPr>
        <p:cNvGrpSpPr/>
        <p:nvPr/>
      </p:nvGrpSpPr>
      <p:grpSpPr>
        <a:xfrm>
          <a:off x="0" y="0"/>
          <a:ext cx="0" cy="0"/>
          <a:chOff x="0" y="0"/>
          <a:chExt cx="0" cy="0"/>
        </a:xfrm>
      </p:grpSpPr>
      <p:sp>
        <p:nvSpPr>
          <p:cNvPr id="10" name="Retângulo 9">
            <a:extLst>
              <a:ext uri="{FF2B5EF4-FFF2-40B4-BE49-F238E27FC236}">
                <a16:creationId xmlns:a16="http://schemas.microsoft.com/office/drawing/2014/main" id="{F3426027-80A2-E2D4-B99D-C138F29B8B6D}"/>
              </a:ext>
            </a:extLst>
          </p:cNvPr>
          <p:cNvSpPr/>
          <p:nvPr/>
        </p:nvSpPr>
        <p:spPr>
          <a:xfrm>
            <a:off x="8456887" y="2184918"/>
            <a:ext cx="3455713" cy="330614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Retângulo: Cantos Superiores Recortados 1">
            <a:extLst>
              <a:ext uri="{FF2B5EF4-FFF2-40B4-BE49-F238E27FC236}">
                <a16:creationId xmlns:a16="http://schemas.microsoft.com/office/drawing/2014/main" id="{91337BD4-3CDF-C9C1-78AC-B4E495208AD3}"/>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Formas de Armazenar Dados</a:t>
            </a:r>
          </a:p>
        </p:txBody>
      </p:sp>
      <p:sp>
        <p:nvSpPr>
          <p:cNvPr id="6" name="Retângulo 5">
            <a:extLst>
              <a:ext uri="{FF2B5EF4-FFF2-40B4-BE49-F238E27FC236}">
                <a16:creationId xmlns:a16="http://schemas.microsoft.com/office/drawing/2014/main" id="{4C66388A-8DFF-A3EA-7EB7-ED4E90E20860}"/>
              </a:ext>
            </a:extLst>
          </p:cNvPr>
          <p:cNvSpPr/>
          <p:nvPr/>
        </p:nvSpPr>
        <p:spPr>
          <a:xfrm>
            <a:off x="4143035" y="2184918"/>
            <a:ext cx="3701661" cy="330614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074" name="Picture 2">
            <a:extLst>
              <a:ext uri="{FF2B5EF4-FFF2-40B4-BE49-F238E27FC236}">
                <a16:creationId xmlns:a16="http://schemas.microsoft.com/office/drawing/2014/main" id="{763C5834-F58D-8F05-58A9-8EDEEAAFAF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r="69499" b="6939"/>
          <a:stretch/>
        </p:blipFill>
        <p:spPr bwMode="auto">
          <a:xfrm>
            <a:off x="8456887" y="2281335"/>
            <a:ext cx="3455713" cy="29531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6A2DA1F-F1E9-58B8-6681-E83AE3C175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329" b="54603"/>
          <a:stretch/>
        </p:blipFill>
        <p:spPr bwMode="auto">
          <a:xfrm>
            <a:off x="4143035" y="2281335"/>
            <a:ext cx="3701661" cy="31133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EEF8D66B-1E3E-872F-0C2F-CC66820E4A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831" t="49569" b="2222"/>
          <a:stretch/>
        </p:blipFill>
        <p:spPr bwMode="auto">
          <a:xfrm>
            <a:off x="279400" y="2184918"/>
            <a:ext cx="3191588" cy="3306148"/>
          </a:xfrm>
          <a:prstGeom prst="rect">
            <a:avLst/>
          </a:prstGeom>
          <a:noFill/>
          <a:extLst>
            <a:ext uri="{909E8E84-426E-40DD-AFC4-6F175D3DCCD1}">
              <a14:hiddenFill xmlns:a14="http://schemas.microsoft.com/office/drawing/2010/main">
                <a:solidFill>
                  <a:srgbClr val="FFFFFF"/>
                </a:solidFill>
              </a14:hiddenFill>
            </a:ext>
          </a:extLst>
        </p:spPr>
      </p:pic>
      <p:sp>
        <p:nvSpPr>
          <p:cNvPr id="7" name="Retângulo 6">
            <a:extLst>
              <a:ext uri="{FF2B5EF4-FFF2-40B4-BE49-F238E27FC236}">
                <a16:creationId xmlns:a16="http://schemas.microsoft.com/office/drawing/2014/main" id="{8140BBFF-6FAE-25FB-E3A4-7DCCEFFCDCF1}"/>
              </a:ext>
            </a:extLst>
          </p:cNvPr>
          <p:cNvSpPr/>
          <p:nvPr/>
        </p:nvSpPr>
        <p:spPr>
          <a:xfrm>
            <a:off x="4143034" y="4835644"/>
            <a:ext cx="3701661" cy="65542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1C50C949-7CC9-622C-F6F5-A9C0087DFC71}"/>
              </a:ext>
            </a:extLst>
          </p:cNvPr>
          <p:cNvSpPr/>
          <p:nvPr/>
        </p:nvSpPr>
        <p:spPr>
          <a:xfrm>
            <a:off x="8456886" y="4599992"/>
            <a:ext cx="3455714" cy="59518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BD7D0DCD-BE71-E144-7A1E-2FFF58985A13}"/>
              </a:ext>
            </a:extLst>
          </p:cNvPr>
          <p:cNvSpPr/>
          <p:nvPr/>
        </p:nvSpPr>
        <p:spPr>
          <a:xfrm>
            <a:off x="279401" y="4963886"/>
            <a:ext cx="3107612" cy="5271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791BC988-6E4C-C18C-4737-48EDB2187DF3}"/>
              </a:ext>
            </a:extLst>
          </p:cNvPr>
          <p:cNvSpPr/>
          <p:nvPr/>
        </p:nvSpPr>
        <p:spPr>
          <a:xfrm>
            <a:off x="8456885" y="4867469"/>
            <a:ext cx="3455715" cy="5271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b="1" dirty="0">
                <a:solidFill>
                  <a:schemeClr val="bg1"/>
                </a:solidFill>
                <a:latin typeface="Abadi" panose="020B0604020104020204" pitchFamily="34" charset="0"/>
              </a:rPr>
              <a:t>Grafo</a:t>
            </a:r>
            <a:endParaRPr lang="pt-BR" b="1" dirty="0">
              <a:solidFill>
                <a:schemeClr val="bg1"/>
              </a:solidFill>
              <a:latin typeface="Abadi" panose="020B0604020104020204" pitchFamily="34" charset="0"/>
            </a:endParaRPr>
          </a:p>
        </p:txBody>
      </p:sp>
      <p:sp>
        <p:nvSpPr>
          <p:cNvPr id="12" name="Retângulo 11">
            <a:extLst>
              <a:ext uri="{FF2B5EF4-FFF2-40B4-BE49-F238E27FC236}">
                <a16:creationId xmlns:a16="http://schemas.microsoft.com/office/drawing/2014/main" id="{A9BAD983-F47E-CA1B-1368-8BAA23C32200}"/>
              </a:ext>
            </a:extLst>
          </p:cNvPr>
          <p:cNvSpPr/>
          <p:nvPr/>
        </p:nvSpPr>
        <p:spPr>
          <a:xfrm>
            <a:off x="4266006" y="4867469"/>
            <a:ext cx="3455715" cy="5271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b="1" dirty="0">
                <a:solidFill>
                  <a:schemeClr val="bg1"/>
                </a:solidFill>
                <a:latin typeface="Abadi" panose="020B0604020104020204" pitchFamily="34" charset="0"/>
              </a:rPr>
              <a:t>Árvore</a:t>
            </a:r>
            <a:endParaRPr lang="pt-BR" b="1" dirty="0">
              <a:solidFill>
                <a:schemeClr val="bg1"/>
              </a:solidFill>
              <a:latin typeface="Abadi" panose="020B0604020104020204" pitchFamily="34" charset="0"/>
            </a:endParaRPr>
          </a:p>
        </p:txBody>
      </p:sp>
      <p:sp>
        <p:nvSpPr>
          <p:cNvPr id="13" name="Retângulo 12">
            <a:extLst>
              <a:ext uri="{FF2B5EF4-FFF2-40B4-BE49-F238E27FC236}">
                <a16:creationId xmlns:a16="http://schemas.microsoft.com/office/drawing/2014/main" id="{EB4F01A1-060F-AABF-7DF2-8218668EF664}"/>
              </a:ext>
            </a:extLst>
          </p:cNvPr>
          <p:cNvSpPr/>
          <p:nvPr/>
        </p:nvSpPr>
        <p:spPr>
          <a:xfrm>
            <a:off x="321388" y="4931590"/>
            <a:ext cx="3107612" cy="52718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b="1" dirty="0">
                <a:solidFill>
                  <a:schemeClr val="bg1"/>
                </a:solidFill>
                <a:latin typeface="Abadi" panose="020B0604020104020204" pitchFamily="34" charset="0"/>
              </a:rPr>
              <a:t>Pilha</a:t>
            </a:r>
            <a:endParaRPr lang="pt-BR" b="1" dirty="0">
              <a:solidFill>
                <a:schemeClr val="bg1"/>
              </a:solidFill>
              <a:latin typeface="Abadi" panose="020B0604020104020204" pitchFamily="34" charset="0"/>
            </a:endParaRPr>
          </a:p>
        </p:txBody>
      </p:sp>
    </p:spTree>
    <p:extLst>
      <p:ext uri="{BB962C8B-B14F-4D97-AF65-F5344CB8AC3E}">
        <p14:creationId xmlns:p14="http://schemas.microsoft.com/office/powerpoint/2010/main" val="3835718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3CAA1-6A47-2839-70CF-FBCED22E5792}"/>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965D50D8-1E9C-6B0C-A6CE-07E5F09ACA4B}"/>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Formas de Armazenar Dados</a:t>
            </a:r>
          </a:p>
        </p:txBody>
      </p:sp>
      <p:pic>
        <p:nvPicPr>
          <p:cNvPr id="6150" name="Picture 6">
            <a:extLst>
              <a:ext uri="{FF2B5EF4-FFF2-40B4-BE49-F238E27FC236}">
                <a16:creationId xmlns:a16="http://schemas.microsoft.com/office/drawing/2014/main" id="{04B464AC-2CE2-CC99-F840-4DA07B284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195" y="840304"/>
            <a:ext cx="11085610" cy="6017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066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AE6F1-86A4-87C5-15AE-7202B383AF6C}"/>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C5FC01C8-FAE4-B2D2-F13E-60DF431EBA7B}"/>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Formas de Armazenar Dados</a:t>
            </a:r>
          </a:p>
        </p:txBody>
      </p:sp>
      <p:pic>
        <p:nvPicPr>
          <p:cNvPr id="6150" name="Picture 6">
            <a:extLst>
              <a:ext uri="{FF2B5EF4-FFF2-40B4-BE49-F238E27FC236}">
                <a16:creationId xmlns:a16="http://schemas.microsoft.com/office/drawing/2014/main" id="{131F8DBE-4D81-0EA0-27FF-9919B0A29F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67" t="3426" r="55499" b="52001"/>
          <a:stretch/>
        </p:blipFill>
        <p:spPr bwMode="auto">
          <a:xfrm>
            <a:off x="1005840" y="1053239"/>
            <a:ext cx="10180320" cy="5804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340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39CD5-0B7E-2A8E-58B3-D00A8BAAA045}"/>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6E47973C-C0BD-5462-B38D-F389458AD6A8}"/>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Quais os usos na computação?</a:t>
            </a:r>
          </a:p>
        </p:txBody>
      </p:sp>
      <p:sp>
        <p:nvSpPr>
          <p:cNvPr id="4" name="CaixaDeTexto 3">
            <a:extLst>
              <a:ext uri="{FF2B5EF4-FFF2-40B4-BE49-F238E27FC236}">
                <a16:creationId xmlns:a16="http://schemas.microsoft.com/office/drawing/2014/main" id="{96F72894-ACCF-143E-DED1-860F201C05C4}"/>
              </a:ext>
            </a:extLst>
          </p:cNvPr>
          <p:cNvSpPr txBox="1"/>
          <p:nvPr/>
        </p:nvSpPr>
        <p:spPr>
          <a:xfrm>
            <a:off x="212644" y="825143"/>
            <a:ext cx="11766712" cy="5940088"/>
          </a:xfrm>
          <a:prstGeom prst="rect">
            <a:avLst/>
          </a:prstGeom>
          <a:noFill/>
        </p:spPr>
        <p:txBody>
          <a:bodyPr wrap="square" numCol="1" rtlCol="0">
            <a:spAutoFit/>
          </a:bodyPr>
          <a:lstStyle/>
          <a:p>
            <a:r>
              <a:rPr lang="pt-BR" sz="2000" dirty="0">
                <a:latin typeface="Abadi" panose="020B0604020104020204" pitchFamily="34" charset="0"/>
              </a:rPr>
              <a:t>O uso de estruturas de dados é fundamental em várias áreas da tecnologia. A seguir, apresentamos alguns exemplos de sua aplicação:</a:t>
            </a:r>
          </a:p>
          <a:p>
            <a:pPr marL="285750" indent="-285750">
              <a:buFont typeface="Wingdings" panose="05000000000000000000" pitchFamily="2" charset="2"/>
              <a:buChar char="Ø"/>
            </a:pPr>
            <a:r>
              <a:rPr lang="pt-BR" sz="2000" dirty="0">
                <a:latin typeface="Abadi" panose="020B0604020104020204" pitchFamily="34" charset="0"/>
              </a:rPr>
              <a:t>Realizar buscas otimizadas</a:t>
            </a:r>
          </a:p>
          <a:p>
            <a:pPr marL="285750" indent="-285750">
              <a:buFont typeface="Wingdings" panose="05000000000000000000" pitchFamily="2" charset="2"/>
              <a:buChar char="Ø"/>
            </a:pPr>
            <a:r>
              <a:rPr lang="pt-BR" sz="2000" dirty="0">
                <a:latin typeface="Abadi" panose="020B0604020104020204" pitchFamily="34" charset="0"/>
              </a:rPr>
              <a:t>Definição de prioridade e comportamento de atividades</a:t>
            </a:r>
          </a:p>
          <a:p>
            <a:pPr marL="285750" indent="-285750">
              <a:buFont typeface="Wingdings" panose="05000000000000000000" pitchFamily="2" charset="2"/>
              <a:buChar char="Ø"/>
            </a:pPr>
            <a:r>
              <a:rPr lang="pt-BR" sz="2000" dirty="0">
                <a:latin typeface="Abadi" panose="020B0604020104020204" pitchFamily="34" charset="0"/>
              </a:rPr>
              <a:t>Descobrimento do caminho mais curto</a:t>
            </a:r>
          </a:p>
          <a:p>
            <a:pPr marL="285750" indent="-285750">
              <a:buFont typeface="Wingdings" panose="05000000000000000000" pitchFamily="2" charset="2"/>
              <a:buChar char="Ø"/>
            </a:pPr>
            <a:r>
              <a:rPr lang="pt-BR" sz="2000" dirty="0">
                <a:latin typeface="Abadi" panose="020B0604020104020204" pitchFamily="34" charset="0"/>
              </a:rPr>
              <a:t>Desfazer comandos (CTRL+Z)</a:t>
            </a:r>
          </a:p>
          <a:p>
            <a:pPr marL="285750" indent="-285750">
              <a:buFont typeface="Wingdings" panose="05000000000000000000" pitchFamily="2" charset="2"/>
              <a:buChar char="Ø"/>
            </a:pPr>
            <a:r>
              <a:rPr lang="pt-BR" sz="2000" dirty="0">
                <a:latin typeface="Abadi" panose="020B0604020104020204" pitchFamily="34" charset="0"/>
              </a:rPr>
              <a:t>Gerenciamento de filas de processamento</a:t>
            </a:r>
          </a:p>
          <a:p>
            <a:pPr marL="285750" indent="-285750">
              <a:buFont typeface="Wingdings" panose="05000000000000000000" pitchFamily="2" charset="2"/>
              <a:buChar char="Ø"/>
            </a:pPr>
            <a:r>
              <a:rPr lang="pt-BR" sz="2000" dirty="0">
                <a:latin typeface="Abadi" panose="020B0604020104020204" pitchFamily="34" charset="0"/>
              </a:rPr>
              <a:t>Representação de dados hierárquicos</a:t>
            </a:r>
          </a:p>
          <a:p>
            <a:pPr marL="285750" indent="-285750">
              <a:buFont typeface="Wingdings" panose="05000000000000000000" pitchFamily="2" charset="2"/>
              <a:buChar char="Ø"/>
            </a:pPr>
            <a:r>
              <a:rPr lang="pt-BR" sz="2000" dirty="0">
                <a:latin typeface="Abadi" panose="020B0604020104020204" pitchFamily="34" charset="0"/>
              </a:rPr>
              <a:t>Armazenamento e recuperação rápida de pares chave-valor</a:t>
            </a:r>
          </a:p>
          <a:p>
            <a:pPr marL="285750" indent="-285750">
              <a:buFont typeface="Wingdings" panose="05000000000000000000" pitchFamily="2" charset="2"/>
              <a:buChar char="Ø"/>
            </a:pPr>
            <a:r>
              <a:rPr lang="pt-BR" sz="2000" dirty="0">
                <a:latin typeface="Abadi" panose="020B0604020104020204" pitchFamily="34" charset="0"/>
              </a:rPr>
              <a:t>Gerenciamento de tarefas em ordem de chegada</a:t>
            </a:r>
          </a:p>
          <a:p>
            <a:pPr marL="285750" indent="-285750">
              <a:buFont typeface="Wingdings" panose="05000000000000000000" pitchFamily="2" charset="2"/>
              <a:buChar char="Ø"/>
            </a:pPr>
            <a:r>
              <a:rPr lang="pt-BR" sz="2000" dirty="0">
                <a:latin typeface="Abadi" panose="020B0604020104020204" pitchFamily="34" charset="0"/>
              </a:rPr>
              <a:t>Busca eficiente em prefixos de strings</a:t>
            </a:r>
          </a:p>
          <a:p>
            <a:pPr marL="285750" indent="-285750">
              <a:buFont typeface="Wingdings" panose="05000000000000000000" pitchFamily="2" charset="2"/>
              <a:buChar char="Ø"/>
            </a:pPr>
            <a:r>
              <a:rPr lang="pt-BR" sz="2000" dirty="0">
                <a:latin typeface="Abadi" panose="020B0604020104020204" pitchFamily="34" charset="0"/>
              </a:rPr>
              <a:t>Filtragem e operações em sequência de dados</a:t>
            </a:r>
          </a:p>
          <a:p>
            <a:pPr marL="285750" indent="-285750">
              <a:buFont typeface="Wingdings" panose="05000000000000000000" pitchFamily="2" charset="2"/>
              <a:buChar char="Ø"/>
            </a:pPr>
            <a:r>
              <a:rPr lang="pt-BR" sz="2000" dirty="0">
                <a:latin typeface="Abadi" panose="020B0604020104020204" pitchFamily="34" charset="0"/>
              </a:rPr>
              <a:t>Armazenamento de coleções únicas e não ordenadas</a:t>
            </a:r>
          </a:p>
          <a:p>
            <a:pPr marL="285750" indent="-285750">
              <a:buFont typeface="Wingdings" panose="05000000000000000000" pitchFamily="2" charset="2"/>
              <a:buChar char="Ø"/>
            </a:pPr>
            <a:r>
              <a:rPr lang="pt-BR" sz="2000" dirty="0">
                <a:latin typeface="Abadi" panose="020B0604020104020204" pitchFamily="34" charset="0"/>
              </a:rPr>
              <a:t>Análise de redes e conexões</a:t>
            </a:r>
          </a:p>
          <a:p>
            <a:pPr marL="285750" indent="-285750">
              <a:buFont typeface="Wingdings" panose="05000000000000000000" pitchFamily="2" charset="2"/>
              <a:buChar char="Ø"/>
            </a:pPr>
            <a:r>
              <a:rPr lang="pt-BR" sz="2000" dirty="0">
                <a:latin typeface="Abadi" panose="020B0604020104020204" pitchFamily="34" charset="0"/>
              </a:rPr>
              <a:t>Armazenamento de dados em ordem de inserção</a:t>
            </a:r>
          </a:p>
          <a:p>
            <a:pPr marL="285750" indent="-285750">
              <a:buFont typeface="Wingdings" panose="05000000000000000000" pitchFamily="2" charset="2"/>
              <a:buChar char="Ø"/>
            </a:pPr>
            <a:r>
              <a:rPr lang="pt-BR" sz="2000" dirty="0">
                <a:latin typeface="Abadi" panose="020B0604020104020204" pitchFamily="34" charset="0"/>
              </a:rPr>
              <a:t>Organização de dados para acessos rápidos por índice</a:t>
            </a:r>
          </a:p>
          <a:p>
            <a:pPr marL="285750" indent="-285750">
              <a:buFont typeface="Wingdings" panose="05000000000000000000" pitchFamily="2" charset="2"/>
              <a:buChar char="Ø"/>
            </a:pPr>
            <a:r>
              <a:rPr lang="pt-BR" sz="2000" dirty="0">
                <a:latin typeface="Abadi" panose="020B0604020104020204" pitchFamily="34" charset="0"/>
              </a:rPr>
              <a:t>Gerenciamento de prioridades em tarefas</a:t>
            </a:r>
          </a:p>
          <a:p>
            <a:pPr marL="285750" indent="-285750">
              <a:buFont typeface="Wingdings" panose="05000000000000000000" pitchFamily="2" charset="2"/>
              <a:buChar char="Ø"/>
            </a:pPr>
            <a:r>
              <a:rPr lang="pt-BR" sz="2000" dirty="0">
                <a:latin typeface="Abadi" panose="020B0604020104020204" pitchFamily="34" charset="0"/>
              </a:rPr>
              <a:t>Armazenamento de dados bidimensionais</a:t>
            </a:r>
          </a:p>
          <a:p>
            <a:pPr marL="285750" indent="-285750">
              <a:buFont typeface="Wingdings" panose="05000000000000000000" pitchFamily="2" charset="2"/>
              <a:buChar char="Ø"/>
            </a:pPr>
            <a:r>
              <a:rPr lang="pt-BR" sz="2000" dirty="0">
                <a:latin typeface="Abadi" panose="020B0604020104020204" pitchFamily="34" charset="0"/>
              </a:rPr>
              <a:t>...</a:t>
            </a:r>
          </a:p>
        </p:txBody>
      </p:sp>
      <p:pic>
        <p:nvPicPr>
          <p:cNvPr id="7" name="Imagem 6">
            <a:extLst>
              <a:ext uri="{FF2B5EF4-FFF2-40B4-BE49-F238E27FC236}">
                <a16:creationId xmlns:a16="http://schemas.microsoft.com/office/drawing/2014/main" id="{BA4D982D-6169-3194-A531-6ADC8B29C188}"/>
              </a:ext>
            </a:extLst>
          </p:cNvPr>
          <p:cNvPicPr>
            <a:picLocks noChangeAspect="1"/>
          </p:cNvPicPr>
          <p:nvPr/>
        </p:nvPicPr>
        <p:blipFill>
          <a:blip r:embed="rId2">
            <a:extLst>
              <a:ext uri="{28A0092B-C50C-407E-A947-70E740481C1C}">
                <a14:useLocalDpi xmlns:a14="http://schemas.microsoft.com/office/drawing/2010/main" val="0"/>
              </a:ext>
            </a:extLst>
          </a:blip>
          <a:srcRect b="3444"/>
          <a:stretch/>
        </p:blipFill>
        <p:spPr>
          <a:xfrm>
            <a:off x="7101875" y="2148499"/>
            <a:ext cx="4877481" cy="4709501"/>
          </a:xfrm>
          <a:prstGeom prst="rect">
            <a:avLst/>
          </a:prstGeom>
        </p:spPr>
      </p:pic>
    </p:spTree>
    <p:extLst>
      <p:ext uri="{BB962C8B-B14F-4D97-AF65-F5344CB8AC3E}">
        <p14:creationId xmlns:p14="http://schemas.microsoft.com/office/powerpoint/2010/main" val="1945112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B200-A76D-5BEB-1FD8-CFF14682F059}"/>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C5EDFDC3-7DBE-1716-0D28-3827FC3F6726}"/>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O que nossa disciplina vai abranger?</a:t>
            </a:r>
          </a:p>
        </p:txBody>
      </p:sp>
      <p:sp>
        <p:nvSpPr>
          <p:cNvPr id="4" name="CaixaDeTexto 3">
            <a:extLst>
              <a:ext uri="{FF2B5EF4-FFF2-40B4-BE49-F238E27FC236}">
                <a16:creationId xmlns:a16="http://schemas.microsoft.com/office/drawing/2014/main" id="{146A09C7-D089-AA70-B8AC-BA43B77C389F}"/>
              </a:ext>
            </a:extLst>
          </p:cNvPr>
          <p:cNvSpPr txBox="1"/>
          <p:nvPr/>
        </p:nvSpPr>
        <p:spPr>
          <a:xfrm>
            <a:off x="128642" y="825143"/>
            <a:ext cx="3965817" cy="5940088"/>
          </a:xfrm>
          <a:prstGeom prst="rect">
            <a:avLst/>
          </a:prstGeom>
          <a:noFill/>
        </p:spPr>
        <p:txBody>
          <a:bodyPr wrap="square" numCol="1" rtlCol="0">
            <a:spAutoFit/>
          </a:bodyPr>
          <a:lstStyle/>
          <a:p>
            <a:pPr marL="457200" indent="-457200">
              <a:buFont typeface="+mj-lt"/>
              <a:buAutoNum type="arabicPeriod"/>
            </a:pPr>
            <a:r>
              <a:rPr lang="pt-BR" sz="2000" dirty="0">
                <a:latin typeface="Abadi" panose="020B0604020104020204" pitchFamily="34" charset="0"/>
              </a:rPr>
              <a:t>Introdução</a:t>
            </a:r>
          </a:p>
          <a:p>
            <a:pPr marL="914400" lvl="1" indent="-457200">
              <a:buFont typeface="+mj-lt"/>
              <a:buAutoNum type="romanUcPeriod"/>
            </a:pPr>
            <a:r>
              <a:rPr lang="pt-BR" sz="2000" dirty="0">
                <a:latin typeface="Abadi" panose="020B0604020104020204" pitchFamily="34" charset="0"/>
              </a:rPr>
              <a:t>Estrutura de dados: conceito, objetivos e aplicabilidade;</a:t>
            </a:r>
          </a:p>
          <a:p>
            <a:pPr marL="914400" lvl="1" indent="-457200">
              <a:buFont typeface="+mj-lt"/>
              <a:buAutoNum type="romanUcPeriod"/>
            </a:pPr>
            <a:r>
              <a:rPr lang="pt-BR" sz="2000" dirty="0">
                <a:latin typeface="Abadi" panose="020B0604020104020204" pitchFamily="34" charset="0"/>
              </a:rPr>
              <a:t>Recursividade: conceitos, uso e implementação;</a:t>
            </a:r>
          </a:p>
          <a:p>
            <a:pPr marL="914400" lvl="1" indent="-457200">
              <a:buFont typeface="+mj-lt"/>
              <a:buAutoNum type="romanUcPeriod"/>
            </a:pPr>
            <a:r>
              <a:rPr lang="pt-BR" sz="2000" dirty="0">
                <a:latin typeface="Abadi" panose="020B0604020104020204" pitchFamily="34" charset="0"/>
              </a:rPr>
              <a:t>Complexidade de algoritmo: conceito e objetivo da análise;</a:t>
            </a:r>
          </a:p>
          <a:p>
            <a:pPr marL="914400" lvl="1" indent="-457200">
              <a:buFont typeface="+mj-lt"/>
              <a:buAutoNum type="romanUcPeriod"/>
            </a:pPr>
            <a:r>
              <a:rPr lang="pt-BR" sz="2000" dirty="0">
                <a:latin typeface="Abadi" panose="020B0604020104020204" pitchFamily="34" charset="0"/>
              </a:rPr>
              <a:t>Algoritmos Ótimos</a:t>
            </a:r>
          </a:p>
          <a:p>
            <a:pPr marL="457200" indent="-457200">
              <a:buFont typeface="+mj-lt"/>
              <a:buAutoNum type="arabicPeriod"/>
            </a:pPr>
            <a:endParaRPr lang="pt-BR" sz="2000" dirty="0">
              <a:latin typeface="Abadi" panose="020B0604020104020204" pitchFamily="34" charset="0"/>
            </a:endParaRPr>
          </a:p>
          <a:p>
            <a:pPr marL="457200" indent="-457200">
              <a:buFont typeface="+mj-lt"/>
              <a:buAutoNum type="arabicPeriod"/>
            </a:pPr>
            <a:r>
              <a:rPr lang="pt-BR" sz="2000" dirty="0">
                <a:latin typeface="Abadi" panose="020B0604020104020204" pitchFamily="34" charset="0"/>
              </a:rPr>
              <a:t>Lista Lineares</a:t>
            </a:r>
          </a:p>
          <a:p>
            <a:pPr marL="971550" lvl="1" indent="-514350">
              <a:buFont typeface="+mj-lt"/>
              <a:buAutoNum type="romanUcPeriod"/>
            </a:pPr>
            <a:r>
              <a:rPr lang="pt-BR" sz="2000" dirty="0">
                <a:latin typeface="Abadi" panose="020B0604020104020204" pitchFamily="34" charset="0"/>
              </a:rPr>
              <a:t>Conceito e Aplicabilidade</a:t>
            </a:r>
          </a:p>
          <a:p>
            <a:pPr marL="971550" lvl="1" indent="-514350">
              <a:buFont typeface="+mj-lt"/>
              <a:buAutoNum type="romanUcPeriod"/>
            </a:pPr>
            <a:r>
              <a:rPr lang="pt-BR" sz="2000" dirty="0">
                <a:latin typeface="Abadi" panose="020B0604020104020204" pitchFamily="34" charset="0"/>
              </a:rPr>
              <a:t>Operações Principais</a:t>
            </a:r>
          </a:p>
          <a:p>
            <a:pPr marL="971550" lvl="1" indent="-514350">
              <a:buFont typeface="+mj-lt"/>
              <a:buAutoNum type="romanUcPeriod"/>
            </a:pPr>
            <a:r>
              <a:rPr lang="pt-BR" sz="2000" dirty="0">
                <a:latin typeface="Abadi" panose="020B0604020104020204" pitchFamily="34" charset="0"/>
              </a:rPr>
              <a:t>Representação e Armazenamento</a:t>
            </a:r>
          </a:p>
          <a:p>
            <a:pPr marL="971550" lvl="1" indent="-514350">
              <a:buFont typeface="+mj-lt"/>
              <a:buAutoNum type="romanUcPeriod"/>
            </a:pPr>
            <a:r>
              <a:rPr lang="pt-BR" sz="2000" dirty="0">
                <a:latin typeface="Abadi" panose="020B0604020104020204" pitchFamily="34" charset="0"/>
              </a:rPr>
              <a:t>Listas Encadeadas</a:t>
            </a:r>
          </a:p>
          <a:p>
            <a:pPr marL="971550" lvl="1" indent="-514350">
              <a:buFont typeface="+mj-lt"/>
              <a:buAutoNum type="romanUcPeriod"/>
            </a:pPr>
            <a:r>
              <a:rPr lang="pt-BR" sz="2000" dirty="0">
                <a:latin typeface="Abadi" panose="020B0604020104020204" pitchFamily="34" charset="0"/>
              </a:rPr>
              <a:t>Listas Circulares</a:t>
            </a:r>
          </a:p>
          <a:p>
            <a:pPr marL="971550" lvl="1" indent="-514350">
              <a:buFont typeface="+mj-lt"/>
              <a:buAutoNum type="romanUcPeriod"/>
            </a:pPr>
            <a:r>
              <a:rPr lang="pt-BR" sz="2000" dirty="0">
                <a:latin typeface="Abadi" panose="020B0604020104020204" pitchFamily="34" charset="0"/>
              </a:rPr>
              <a:t>Listas Ordenadas</a:t>
            </a:r>
          </a:p>
        </p:txBody>
      </p:sp>
      <p:sp>
        <p:nvSpPr>
          <p:cNvPr id="9" name="CaixaDeTexto 8">
            <a:extLst>
              <a:ext uri="{FF2B5EF4-FFF2-40B4-BE49-F238E27FC236}">
                <a16:creationId xmlns:a16="http://schemas.microsoft.com/office/drawing/2014/main" id="{1B9F4E54-94F5-4045-3188-0076A1C5DD18}"/>
              </a:ext>
            </a:extLst>
          </p:cNvPr>
          <p:cNvSpPr txBox="1"/>
          <p:nvPr/>
        </p:nvSpPr>
        <p:spPr>
          <a:xfrm>
            <a:off x="4178462" y="825143"/>
            <a:ext cx="3965818" cy="5940088"/>
          </a:xfrm>
          <a:prstGeom prst="rect">
            <a:avLst/>
          </a:prstGeom>
          <a:noFill/>
        </p:spPr>
        <p:txBody>
          <a:bodyPr wrap="square" numCol="1" rtlCol="0">
            <a:spAutoFit/>
          </a:bodyPr>
          <a:lstStyle/>
          <a:p>
            <a:pPr marL="457200" indent="-457200">
              <a:buFont typeface="+mj-lt"/>
              <a:buAutoNum type="arabicPeriod" startAt="3"/>
            </a:pPr>
            <a:r>
              <a:rPr lang="pt-BR" sz="2000" dirty="0">
                <a:latin typeface="Abadi" panose="020B0604020104020204" pitchFamily="34" charset="0"/>
              </a:rPr>
              <a:t>Filas e Pilhas</a:t>
            </a:r>
          </a:p>
          <a:p>
            <a:pPr marL="914400" lvl="1" indent="-457200">
              <a:buFont typeface="+mj-lt"/>
              <a:buAutoNum type="romanUcPeriod"/>
            </a:pPr>
            <a:r>
              <a:rPr lang="pt-BR" sz="2000" dirty="0">
                <a:latin typeface="Abadi" panose="020B0604020104020204" pitchFamily="34" charset="0"/>
              </a:rPr>
              <a:t>Conceitos e Aplicabilidade</a:t>
            </a:r>
          </a:p>
          <a:p>
            <a:pPr marL="914400" lvl="1" indent="-457200">
              <a:buFont typeface="+mj-lt"/>
              <a:buAutoNum type="romanUcPeriod"/>
            </a:pPr>
            <a:r>
              <a:rPr lang="pt-BR" sz="2000" dirty="0">
                <a:latin typeface="Abadi" panose="020B0604020104020204" pitchFamily="34" charset="0"/>
              </a:rPr>
              <a:t>Operações Principais</a:t>
            </a:r>
          </a:p>
          <a:p>
            <a:pPr marL="914400" lvl="1" indent="-457200">
              <a:buFont typeface="+mj-lt"/>
              <a:buAutoNum type="romanUcPeriod"/>
            </a:pPr>
            <a:r>
              <a:rPr lang="pt-BR" sz="2000" dirty="0">
                <a:latin typeface="Abadi" panose="020B0604020104020204" pitchFamily="34" charset="0"/>
              </a:rPr>
              <a:t>Formas de Representação e Armazenamento</a:t>
            </a:r>
          </a:p>
          <a:p>
            <a:pPr marL="457200" indent="-457200">
              <a:buFont typeface="+mj-lt"/>
              <a:buAutoNum type="arabicPeriod" startAt="3"/>
            </a:pPr>
            <a:endParaRPr lang="pt-BR" sz="2000" dirty="0">
              <a:latin typeface="Abadi" panose="020B0604020104020204" pitchFamily="34" charset="0"/>
            </a:endParaRPr>
          </a:p>
          <a:p>
            <a:pPr marL="457200" indent="-457200">
              <a:buFont typeface="+mj-lt"/>
              <a:buAutoNum type="arabicPeriod" startAt="3"/>
            </a:pPr>
            <a:r>
              <a:rPr lang="pt-BR" sz="2000" dirty="0">
                <a:latin typeface="Abadi" panose="020B0604020104020204" pitchFamily="34" charset="0"/>
              </a:rPr>
              <a:t>Busca de Dados</a:t>
            </a:r>
          </a:p>
          <a:p>
            <a:pPr marL="971550" lvl="1" indent="-514350">
              <a:buFont typeface="+mj-lt"/>
              <a:buAutoNum type="romanUcPeriod"/>
            </a:pPr>
            <a:r>
              <a:rPr lang="pt-BR" sz="2000" dirty="0">
                <a:latin typeface="Abadi" panose="020B0604020104020204" pitchFamily="34" charset="0"/>
              </a:rPr>
              <a:t>Busca Sequencial</a:t>
            </a:r>
          </a:p>
          <a:p>
            <a:pPr marL="971550" lvl="1" indent="-514350">
              <a:buFont typeface="+mj-lt"/>
              <a:buAutoNum type="romanUcPeriod"/>
            </a:pPr>
            <a:r>
              <a:rPr lang="pt-BR" sz="2000" dirty="0">
                <a:latin typeface="Abadi" panose="020B0604020104020204" pitchFamily="34" charset="0"/>
              </a:rPr>
              <a:t>Busca Binária</a:t>
            </a:r>
          </a:p>
          <a:p>
            <a:pPr marL="971550" lvl="1" indent="-514350">
              <a:buFont typeface="+mj-lt"/>
              <a:buAutoNum type="romanUcPeriod"/>
            </a:pPr>
            <a:endParaRPr lang="pt-BR" sz="2000" dirty="0">
              <a:latin typeface="Abadi" panose="020B0604020104020204" pitchFamily="34" charset="0"/>
            </a:endParaRPr>
          </a:p>
          <a:p>
            <a:pPr marL="514350" indent="-514350">
              <a:buFont typeface="+mj-lt"/>
              <a:buAutoNum type="arabicPeriod" startAt="3"/>
            </a:pPr>
            <a:r>
              <a:rPr lang="pt-BR" sz="2000" dirty="0">
                <a:latin typeface="Abadi" panose="020B0604020104020204" pitchFamily="34" charset="0"/>
              </a:rPr>
              <a:t>Grafos</a:t>
            </a:r>
          </a:p>
          <a:p>
            <a:pPr marL="971550" lvl="1" indent="-514350">
              <a:buFont typeface="+mj-lt"/>
              <a:buAutoNum type="romanUcPeriod"/>
            </a:pPr>
            <a:r>
              <a:rPr lang="pt-BR" sz="2000" dirty="0">
                <a:latin typeface="Abadi" panose="020B0604020104020204" pitchFamily="34" charset="0"/>
              </a:rPr>
              <a:t>Conceito</a:t>
            </a:r>
          </a:p>
          <a:p>
            <a:pPr marL="971550" lvl="1" indent="-514350">
              <a:buFont typeface="+mj-lt"/>
              <a:buAutoNum type="romanUcPeriod"/>
            </a:pPr>
            <a:r>
              <a:rPr lang="pt-BR" sz="2000" dirty="0">
                <a:latin typeface="Abadi" panose="020B0604020104020204" pitchFamily="34" charset="0"/>
              </a:rPr>
              <a:t>Critérios para Percorrer</a:t>
            </a:r>
          </a:p>
          <a:p>
            <a:pPr marL="971550" lvl="1" indent="-514350">
              <a:buFont typeface="+mj-lt"/>
              <a:buAutoNum type="romanUcPeriod"/>
            </a:pPr>
            <a:endParaRPr lang="pt-BR" sz="2000" dirty="0">
              <a:latin typeface="Abadi" panose="020B0604020104020204" pitchFamily="34" charset="0"/>
            </a:endParaRPr>
          </a:p>
          <a:p>
            <a:pPr marL="514350" indent="-514350">
              <a:buFont typeface="+mj-lt"/>
              <a:buAutoNum type="arabicPeriod" startAt="3"/>
            </a:pPr>
            <a:r>
              <a:rPr lang="pt-BR" sz="2000" dirty="0">
                <a:latin typeface="Abadi" panose="020B0604020104020204" pitchFamily="34" charset="0"/>
              </a:rPr>
              <a:t>Árvore</a:t>
            </a:r>
          </a:p>
          <a:p>
            <a:pPr marL="971550" lvl="1" indent="-514350">
              <a:buFont typeface="+mj-lt"/>
              <a:buAutoNum type="romanUcPeriod"/>
            </a:pPr>
            <a:r>
              <a:rPr lang="pt-BR" sz="2000" dirty="0">
                <a:latin typeface="Abadi" panose="020B0604020104020204" pitchFamily="34" charset="0"/>
              </a:rPr>
              <a:t>Conceito</a:t>
            </a:r>
          </a:p>
          <a:p>
            <a:pPr marL="971550" lvl="1" indent="-514350">
              <a:buFont typeface="+mj-lt"/>
              <a:buAutoNum type="romanUcPeriod"/>
            </a:pPr>
            <a:r>
              <a:rPr lang="pt-BR" sz="2000" dirty="0">
                <a:latin typeface="Abadi" panose="020B0604020104020204" pitchFamily="34" charset="0"/>
              </a:rPr>
              <a:t>Árvore Binária</a:t>
            </a:r>
          </a:p>
          <a:p>
            <a:pPr marL="971550" lvl="1" indent="-514350">
              <a:buFont typeface="+mj-lt"/>
              <a:buAutoNum type="romanUcPeriod"/>
            </a:pPr>
            <a:r>
              <a:rPr lang="pt-BR" sz="2000" dirty="0">
                <a:latin typeface="Abadi" panose="020B0604020104020204" pitchFamily="34" charset="0"/>
              </a:rPr>
              <a:t>Arvore de Busca Binária</a:t>
            </a:r>
          </a:p>
          <a:p>
            <a:pPr marL="971550" lvl="1" indent="-514350">
              <a:buFont typeface="+mj-lt"/>
              <a:buAutoNum type="romanUcPeriod"/>
            </a:pPr>
            <a:r>
              <a:rPr lang="pt-BR" sz="2000" dirty="0">
                <a:latin typeface="Abadi" panose="020B0604020104020204" pitchFamily="34" charset="0"/>
              </a:rPr>
              <a:t>Balanceamento</a:t>
            </a:r>
          </a:p>
        </p:txBody>
      </p:sp>
      <p:sp>
        <p:nvSpPr>
          <p:cNvPr id="14" name="CaixaDeTexto 13">
            <a:extLst>
              <a:ext uri="{FF2B5EF4-FFF2-40B4-BE49-F238E27FC236}">
                <a16:creationId xmlns:a16="http://schemas.microsoft.com/office/drawing/2014/main" id="{3F9BF020-B911-B5FF-0641-26D4FDA956BB}"/>
              </a:ext>
            </a:extLst>
          </p:cNvPr>
          <p:cNvSpPr txBox="1"/>
          <p:nvPr/>
        </p:nvSpPr>
        <p:spPr>
          <a:xfrm>
            <a:off x="8144280" y="825143"/>
            <a:ext cx="3965818" cy="2554545"/>
          </a:xfrm>
          <a:prstGeom prst="rect">
            <a:avLst/>
          </a:prstGeom>
          <a:noFill/>
        </p:spPr>
        <p:txBody>
          <a:bodyPr wrap="square" numCol="1" rtlCol="0">
            <a:spAutoFit/>
          </a:bodyPr>
          <a:lstStyle/>
          <a:p>
            <a:pPr marL="457200" indent="-457200">
              <a:buFont typeface="+mj-lt"/>
              <a:buAutoNum type="arabicPeriod" startAt="7"/>
            </a:pPr>
            <a:r>
              <a:rPr lang="pt-BR" sz="2000" dirty="0">
                <a:latin typeface="Abadi" panose="020B0604020104020204" pitchFamily="34" charset="0"/>
              </a:rPr>
              <a:t>Algoritmos de Ordenação</a:t>
            </a:r>
          </a:p>
          <a:p>
            <a:pPr marL="971550" lvl="1" indent="-514350">
              <a:buFont typeface="+mj-lt"/>
              <a:buAutoNum type="romanUcPeriod"/>
            </a:pPr>
            <a:r>
              <a:rPr lang="pt-BR" sz="2000" dirty="0">
                <a:latin typeface="Abadi" panose="020B0604020104020204" pitchFamily="34" charset="0"/>
              </a:rPr>
              <a:t>Conceito e Aplicabilidade</a:t>
            </a:r>
          </a:p>
          <a:p>
            <a:pPr marL="971550" lvl="1" indent="-514350">
              <a:buFont typeface="+mj-lt"/>
              <a:buAutoNum type="romanUcPeriod"/>
            </a:pPr>
            <a:r>
              <a:rPr lang="pt-BR" sz="2000" dirty="0">
                <a:latin typeface="Abadi" panose="020B0604020104020204" pitchFamily="34" charset="0"/>
              </a:rPr>
              <a:t>Ordenação por troca e seleção</a:t>
            </a:r>
          </a:p>
          <a:p>
            <a:pPr marL="971550" lvl="1" indent="-514350">
              <a:buFont typeface="+mj-lt"/>
              <a:buAutoNum type="romanUcPeriod"/>
            </a:pPr>
            <a:r>
              <a:rPr lang="pt-BR" sz="2000" dirty="0">
                <a:latin typeface="Abadi" panose="020B0604020104020204" pitchFamily="34" charset="0"/>
              </a:rPr>
              <a:t>Divisão e Conquista</a:t>
            </a:r>
          </a:p>
          <a:p>
            <a:pPr marL="971550" lvl="1" indent="-514350">
              <a:buFont typeface="+mj-lt"/>
              <a:buAutoNum type="romanUcPeriod"/>
            </a:pPr>
            <a:r>
              <a:rPr lang="pt-BR" sz="2000" dirty="0">
                <a:latin typeface="Abadi" panose="020B0604020104020204" pitchFamily="34" charset="0"/>
              </a:rPr>
              <a:t>Métodos de Complexidade Linear</a:t>
            </a:r>
          </a:p>
          <a:p>
            <a:pPr marL="971550" lvl="1" indent="-514350">
              <a:buFont typeface="+mj-lt"/>
              <a:buAutoNum type="romanUcPeriod"/>
            </a:pPr>
            <a:r>
              <a:rPr lang="pt-BR" sz="2000" dirty="0">
                <a:latin typeface="Abadi" panose="020B0604020104020204" pitchFamily="34" charset="0"/>
              </a:rPr>
              <a:t>Classificação Externa</a:t>
            </a:r>
          </a:p>
        </p:txBody>
      </p:sp>
      <p:cxnSp>
        <p:nvCxnSpPr>
          <p:cNvPr id="19" name="Conector reto 18">
            <a:extLst>
              <a:ext uri="{FF2B5EF4-FFF2-40B4-BE49-F238E27FC236}">
                <a16:creationId xmlns:a16="http://schemas.microsoft.com/office/drawing/2014/main" id="{05B2E66A-6C07-0A06-A8C1-E6007123D7E6}"/>
              </a:ext>
            </a:extLst>
          </p:cNvPr>
          <p:cNvCxnSpPr/>
          <p:nvPr/>
        </p:nvCxnSpPr>
        <p:spPr>
          <a:xfrm>
            <a:off x="4094459" y="916424"/>
            <a:ext cx="0" cy="5757525"/>
          </a:xfrm>
          <a:prstGeom prst="line">
            <a:avLst/>
          </a:prstGeom>
          <a:ln w="57150">
            <a:solidFill>
              <a:srgbClr val="123D52"/>
            </a:solidFill>
          </a:ln>
        </p:spPr>
        <p:style>
          <a:lnRef idx="1">
            <a:schemeClr val="accent1"/>
          </a:lnRef>
          <a:fillRef idx="0">
            <a:schemeClr val="accent1"/>
          </a:fillRef>
          <a:effectRef idx="0">
            <a:schemeClr val="accent1"/>
          </a:effectRef>
          <a:fontRef idx="minor">
            <a:schemeClr val="tx1"/>
          </a:fontRef>
        </p:style>
      </p:cxnSp>
      <p:cxnSp>
        <p:nvCxnSpPr>
          <p:cNvPr id="20" name="Conector reto 19">
            <a:extLst>
              <a:ext uri="{FF2B5EF4-FFF2-40B4-BE49-F238E27FC236}">
                <a16:creationId xmlns:a16="http://schemas.microsoft.com/office/drawing/2014/main" id="{A28313B0-3854-4ACA-4898-6F31659552FF}"/>
              </a:ext>
            </a:extLst>
          </p:cNvPr>
          <p:cNvCxnSpPr/>
          <p:nvPr/>
        </p:nvCxnSpPr>
        <p:spPr>
          <a:xfrm>
            <a:off x="8117632" y="916424"/>
            <a:ext cx="0" cy="5757525"/>
          </a:xfrm>
          <a:prstGeom prst="line">
            <a:avLst/>
          </a:prstGeom>
          <a:ln w="57150">
            <a:solidFill>
              <a:srgbClr val="123D5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013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7613-914F-9EA7-3A01-D621D611DEE4}"/>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7B853C7A-B4ED-3DE9-F4F7-75EF08F88321}"/>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As avaliações</a:t>
            </a:r>
          </a:p>
        </p:txBody>
      </p:sp>
      <p:sp>
        <p:nvSpPr>
          <p:cNvPr id="3" name="CaixaDeTexto 2">
            <a:extLst>
              <a:ext uri="{FF2B5EF4-FFF2-40B4-BE49-F238E27FC236}">
                <a16:creationId xmlns:a16="http://schemas.microsoft.com/office/drawing/2014/main" id="{61E71D8F-EAC0-82E8-39B0-030206C103D1}"/>
              </a:ext>
            </a:extLst>
          </p:cNvPr>
          <p:cNvSpPr txBox="1"/>
          <p:nvPr/>
        </p:nvSpPr>
        <p:spPr>
          <a:xfrm>
            <a:off x="0" y="825143"/>
            <a:ext cx="4094459" cy="3046988"/>
          </a:xfrm>
          <a:prstGeom prst="rect">
            <a:avLst/>
          </a:prstGeom>
          <a:noFill/>
        </p:spPr>
        <p:txBody>
          <a:bodyPr wrap="square" numCol="1" rtlCol="0">
            <a:spAutoFit/>
          </a:bodyPr>
          <a:lstStyle/>
          <a:p>
            <a:r>
              <a:rPr lang="pt-BR" sz="2400" dirty="0">
                <a:latin typeface="Abadi" panose="020B0604020104020204" pitchFamily="34" charset="0"/>
              </a:rPr>
              <a:t>AV1:</a:t>
            </a:r>
          </a:p>
          <a:p>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Introdução</a:t>
            </a:r>
          </a:p>
          <a:p>
            <a:pPr marL="457200" indent="-457200">
              <a:buFont typeface="Arial" panose="020B0604020202020204" pitchFamily="34" charset="0"/>
              <a:buChar char="•"/>
            </a:pPr>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Lista Lineares</a:t>
            </a:r>
          </a:p>
          <a:p>
            <a:pPr marL="457200" indent="-457200">
              <a:buFont typeface="Arial" panose="020B0604020202020204" pitchFamily="34" charset="0"/>
              <a:buChar char="•"/>
            </a:pPr>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Filas e Pilhas</a:t>
            </a:r>
          </a:p>
        </p:txBody>
      </p:sp>
      <p:sp>
        <p:nvSpPr>
          <p:cNvPr id="5" name="CaixaDeTexto 4">
            <a:extLst>
              <a:ext uri="{FF2B5EF4-FFF2-40B4-BE49-F238E27FC236}">
                <a16:creationId xmlns:a16="http://schemas.microsoft.com/office/drawing/2014/main" id="{6E1BAE31-C075-B109-7C91-FEF5299A9099}"/>
              </a:ext>
            </a:extLst>
          </p:cNvPr>
          <p:cNvSpPr txBox="1"/>
          <p:nvPr/>
        </p:nvSpPr>
        <p:spPr>
          <a:xfrm>
            <a:off x="4109012" y="825143"/>
            <a:ext cx="4035265" cy="2677656"/>
          </a:xfrm>
          <a:prstGeom prst="rect">
            <a:avLst/>
          </a:prstGeom>
          <a:noFill/>
        </p:spPr>
        <p:txBody>
          <a:bodyPr wrap="square" numCol="1" rtlCol="0">
            <a:spAutoFit/>
          </a:bodyPr>
          <a:lstStyle/>
          <a:p>
            <a:r>
              <a:rPr lang="pt-BR" sz="2400" dirty="0">
                <a:latin typeface="Abadi" panose="020B0604020104020204" pitchFamily="34" charset="0"/>
              </a:rPr>
              <a:t>AV2:</a:t>
            </a:r>
          </a:p>
          <a:p>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Busca de Dados</a:t>
            </a:r>
          </a:p>
          <a:p>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Grafos</a:t>
            </a:r>
          </a:p>
          <a:p>
            <a:pPr marL="914400" lvl="1" indent="-457200">
              <a:buFont typeface="Wingdings" panose="05000000000000000000" pitchFamily="2" charset="2"/>
              <a:buChar char="Ø"/>
            </a:pPr>
            <a:endParaRPr lang="pt-BR" sz="2800" dirty="0">
              <a:solidFill>
                <a:srgbClr val="FFFF00"/>
              </a:solidFill>
              <a:latin typeface="Abadi" panose="020B0604020104020204" pitchFamily="34" charset="0"/>
            </a:endParaRPr>
          </a:p>
        </p:txBody>
      </p:sp>
      <p:sp>
        <p:nvSpPr>
          <p:cNvPr id="6" name="CaixaDeTexto 5">
            <a:extLst>
              <a:ext uri="{FF2B5EF4-FFF2-40B4-BE49-F238E27FC236}">
                <a16:creationId xmlns:a16="http://schemas.microsoft.com/office/drawing/2014/main" id="{12D4D2D0-4744-B20C-E478-E0740593E290}"/>
              </a:ext>
            </a:extLst>
          </p:cNvPr>
          <p:cNvSpPr txBox="1"/>
          <p:nvPr/>
        </p:nvSpPr>
        <p:spPr>
          <a:xfrm>
            <a:off x="8144280" y="825143"/>
            <a:ext cx="3965818" cy="3108543"/>
          </a:xfrm>
          <a:prstGeom prst="rect">
            <a:avLst/>
          </a:prstGeom>
          <a:noFill/>
        </p:spPr>
        <p:txBody>
          <a:bodyPr wrap="square" numCol="1" rtlCol="0">
            <a:spAutoFit/>
          </a:bodyPr>
          <a:lstStyle/>
          <a:p>
            <a:r>
              <a:rPr lang="pt-BR" sz="2400" dirty="0">
                <a:latin typeface="Abadi" panose="020B0604020104020204" pitchFamily="34" charset="0"/>
              </a:rPr>
              <a:t>AV3:</a:t>
            </a:r>
          </a:p>
          <a:p>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Árvore</a:t>
            </a:r>
          </a:p>
          <a:p>
            <a:pPr marL="457200" indent="-457200">
              <a:buFont typeface="Arial" panose="020B0604020202020204" pitchFamily="34" charset="0"/>
              <a:buChar char="•"/>
            </a:pPr>
            <a:endParaRPr lang="pt-BR" sz="2800" dirty="0">
              <a:latin typeface="Abadi" panose="020B0604020104020204" pitchFamily="34" charset="0"/>
            </a:endParaRPr>
          </a:p>
          <a:p>
            <a:pPr marL="457200" indent="-457200">
              <a:buFont typeface="Arial" panose="020B0604020202020204" pitchFamily="34" charset="0"/>
              <a:buChar char="•"/>
            </a:pPr>
            <a:r>
              <a:rPr lang="pt-BR" sz="2800" dirty="0">
                <a:latin typeface="Abadi" panose="020B0604020104020204" pitchFamily="34" charset="0"/>
              </a:rPr>
              <a:t>Algoritmos de Ordenação</a:t>
            </a:r>
            <a:endParaRPr lang="pt-BR" sz="2800" dirty="0">
              <a:solidFill>
                <a:srgbClr val="0070C0"/>
              </a:solidFill>
              <a:latin typeface="Abadi" panose="020B0604020104020204" pitchFamily="34" charset="0"/>
            </a:endParaRPr>
          </a:p>
          <a:p>
            <a:pPr marL="457200" indent="-457200">
              <a:buFont typeface="Arial" panose="020B0604020202020204" pitchFamily="34" charset="0"/>
              <a:buChar char="•"/>
            </a:pPr>
            <a:endParaRPr lang="pt-BR" sz="2800" dirty="0">
              <a:latin typeface="Abadi" panose="020B0604020104020204" pitchFamily="34" charset="0"/>
            </a:endParaRPr>
          </a:p>
        </p:txBody>
      </p:sp>
      <p:cxnSp>
        <p:nvCxnSpPr>
          <p:cNvPr id="7" name="Conector reto 6">
            <a:extLst>
              <a:ext uri="{FF2B5EF4-FFF2-40B4-BE49-F238E27FC236}">
                <a16:creationId xmlns:a16="http://schemas.microsoft.com/office/drawing/2014/main" id="{5F787C50-F84F-10E1-5F6A-C52C17FC9FC8}"/>
              </a:ext>
            </a:extLst>
          </p:cNvPr>
          <p:cNvCxnSpPr/>
          <p:nvPr/>
        </p:nvCxnSpPr>
        <p:spPr>
          <a:xfrm>
            <a:off x="4094459" y="916424"/>
            <a:ext cx="0" cy="5757525"/>
          </a:xfrm>
          <a:prstGeom prst="line">
            <a:avLst/>
          </a:prstGeom>
          <a:ln w="57150">
            <a:solidFill>
              <a:srgbClr val="123D52"/>
            </a:solidFill>
          </a:ln>
        </p:spPr>
        <p:style>
          <a:lnRef idx="1">
            <a:schemeClr val="accent1"/>
          </a:lnRef>
          <a:fillRef idx="0">
            <a:schemeClr val="accent1"/>
          </a:fillRef>
          <a:effectRef idx="0">
            <a:schemeClr val="accent1"/>
          </a:effectRef>
          <a:fontRef idx="minor">
            <a:schemeClr val="tx1"/>
          </a:fontRef>
        </p:style>
      </p:cxnSp>
      <p:cxnSp>
        <p:nvCxnSpPr>
          <p:cNvPr id="8" name="Conector reto 7">
            <a:extLst>
              <a:ext uri="{FF2B5EF4-FFF2-40B4-BE49-F238E27FC236}">
                <a16:creationId xmlns:a16="http://schemas.microsoft.com/office/drawing/2014/main" id="{007125BF-5F39-20A2-C653-5AA775593F1D}"/>
              </a:ext>
            </a:extLst>
          </p:cNvPr>
          <p:cNvCxnSpPr/>
          <p:nvPr/>
        </p:nvCxnSpPr>
        <p:spPr>
          <a:xfrm>
            <a:off x="8117632" y="916424"/>
            <a:ext cx="0" cy="5757525"/>
          </a:xfrm>
          <a:prstGeom prst="line">
            <a:avLst/>
          </a:prstGeom>
          <a:ln w="57150">
            <a:solidFill>
              <a:srgbClr val="123D5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044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2819A-AE57-3EA8-E982-761434E2EA14}"/>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C1ED571A-72DD-CC7E-1A39-ECF8FAB8EE3A}"/>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E o que preciso saber para estudar Estrutura de Dados?</a:t>
            </a:r>
          </a:p>
        </p:txBody>
      </p:sp>
      <p:sp>
        <p:nvSpPr>
          <p:cNvPr id="4" name="CaixaDeTexto 3">
            <a:extLst>
              <a:ext uri="{FF2B5EF4-FFF2-40B4-BE49-F238E27FC236}">
                <a16:creationId xmlns:a16="http://schemas.microsoft.com/office/drawing/2014/main" id="{41E8B2EB-46DB-AA01-9C30-D2FCE972229E}"/>
              </a:ext>
            </a:extLst>
          </p:cNvPr>
          <p:cNvSpPr txBox="1"/>
          <p:nvPr/>
        </p:nvSpPr>
        <p:spPr>
          <a:xfrm>
            <a:off x="128080" y="843805"/>
            <a:ext cx="11935840" cy="5016758"/>
          </a:xfrm>
          <a:prstGeom prst="rect">
            <a:avLst/>
          </a:prstGeom>
          <a:noFill/>
        </p:spPr>
        <p:txBody>
          <a:bodyPr wrap="square" numCol="1" rtlCol="0">
            <a:spAutoFit/>
          </a:bodyPr>
          <a:lstStyle/>
          <a:p>
            <a:pPr marL="457200" indent="-457200" algn="just">
              <a:buFont typeface="+mj-lt"/>
              <a:buAutoNum type="arabicPeriod"/>
            </a:pPr>
            <a:r>
              <a:rPr lang="pt-BR" sz="2000" u="sng" dirty="0">
                <a:latin typeface="Abadi" panose="020B0604020104020204" pitchFamily="34" charset="0"/>
              </a:rPr>
              <a:t>Lógica de Programação</a:t>
            </a:r>
            <a:r>
              <a:rPr lang="pt-BR" sz="2000" dirty="0">
                <a:latin typeface="Abadi" panose="020B0604020104020204" pitchFamily="34" charset="0"/>
              </a:rPr>
              <a:t>: Entender lógica de programação e controle de fluxo (como laços, condicionais, recursão) é essencial, pois estruturas de dados envolvem manipulação de dados com base em regras lógicas.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u="sng" dirty="0">
                <a:latin typeface="Abadi" panose="020B0604020104020204" pitchFamily="34" charset="0"/>
              </a:rPr>
              <a:t>Algoritmos Básicos</a:t>
            </a:r>
            <a:r>
              <a:rPr lang="pt-BR" sz="2000" dirty="0">
                <a:latin typeface="Abadi" panose="020B0604020104020204" pitchFamily="34" charset="0"/>
              </a:rPr>
              <a:t>: Algoritmos e estrutura de dados estão intimamente ligados. É útil entender algoritmos de ordenação e de busca, já que eles ilustram como otimizar operações com dados.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u="sng" dirty="0">
                <a:latin typeface="Abadi" panose="020B0604020104020204" pitchFamily="34" charset="0"/>
              </a:rPr>
              <a:t>Tipos de Dados</a:t>
            </a:r>
            <a:r>
              <a:rPr lang="pt-BR" sz="2000" dirty="0">
                <a:latin typeface="Abadi" panose="020B0604020104020204" pitchFamily="34" charset="0"/>
              </a:rPr>
              <a:t>: Compreender tipos de dados básicos (inteiros, floats, strings, booleanos) e compostos (listas, tuplas, dicionários) ajudará a entender como manipular diferentes formas de dados.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u="sng" dirty="0">
                <a:latin typeface="Abadi" panose="020B0604020104020204" pitchFamily="34" charset="0"/>
              </a:rPr>
              <a:t>Complexidade de Algoritmos</a:t>
            </a:r>
            <a:r>
              <a:rPr lang="pt-BR" sz="2000" dirty="0">
                <a:latin typeface="Abadi" panose="020B0604020104020204" pitchFamily="34" charset="0"/>
              </a:rPr>
              <a:t> (Notação Big O): A análise de complexidade permite entender a eficiência de um algoritmo. Conhecimento sobre notação Big O ajuda a prever o desempenho de uma estrutura de dados em diferentes situações.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u="sng" dirty="0">
                <a:latin typeface="Abadi" panose="020B0604020104020204" pitchFamily="34" charset="0"/>
              </a:rPr>
              <a:t>Recursão</a:t>
            </a:r>
            <a:r>
              <a:rPr lang="pt-BR" sz="2000" dirty="0">
                <a:latin typeface="Abadi" panose="020B0604020104020204" pitchFamily="34" charset="0"/>
              </a:rPr>
              <a:t>: Muitas estruturas de dados, como árvores, são naturalmente recursivas. Entender recursão facilita a implementação e o entendimento de algoritmos.</a:t>
            </a:r>
          </a:p>
        </p:txBody>
      </p:sp>
    </p:spTree>
    <p:extLst>
      <p:ext uri="{BB962C8B-B14F-4D97-AF65-F5344CB8AC3E}">
        <p14:creationId xmlns:p14="http://schemas.microsoft.com/office/powerpoint/2010/main" val="323541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EAD0-45B5-E5F4-440E-99E57CCD9639}"/>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93AD3134-C98A-A459-5A64-174F598E5AFD}"/>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E o que preciso saber para estudar Estrutura de Dados?</a:t>
            </a:r>
          </a:p>
        </p:txBody>
      </p:sp>
      <p:sp>
        <p:nvSpPr>
          <p:cNvPr id="4" name="CaixaDeTexto 3">
            <a:extLst>
              <a:ext uri="{FF2B5EF4-FFF2-40B4-BE49-F238E27FC236}">
                <a16:creationId xmlns:a16="http://schemas.microsoft.com/office/drawing/2014/main" id="{9AE9BED7-4A12-9D19-002D-CECA54B06979}"/>
              </a:ext>
            </a:extLst>
          </p:cNvPr>
          <p:cNvSpPr txBox="1"/>
          <p:nvPr/>
        </p:nvSpPr>
        <p:spPr>
          <a:xfrm>
            <a:off x="128080" y="843805"/>
            <a:ext cx="11935840" cy="5016758"/>
          </a:xfrm>
          <a:prstGeom prst="rect">
            <a:avLst/>
          </a:prstGeom>
          <a:noFill/>
        </p:spPr>
        <p:txBody>
          <a:bodyPr wrap="square" numCol="1" rtlCol="0">
            <a:spAutoFit/>
          </a:bodyPr>
          <a:lstStyle/>
          <a:p>
            <a:pPr marL="457200" indent="-457200" algn="just">
              <a:buFont typeface="+mj-lt"/>
              <a:buAutoNum type="arabicPeriod"/>
            </a:pPr>
            <a:r>
              <a:rPr lang="pt-BR" sz="2000" u="sng" dirty="0">
                <a:latin typeface="Abadi" panose="020B0604020104020204" pitchFamily="34" charset="0"/>
              </a:rPr>
              <a:t>Lógica de Programação</a:t>
            </a:r>
            <a:r>
              <a:rPr lang="pt-BR" sz="2000" dirty="0">
                <a:latin typeface="Abadi" panose="020B0604020104020204" pitchFamily="34" charset="0"/>
              </a:rPr>
              <a:t>: Entender lógica de programação e controle de fluxo (como laços, condicionais, recursão) é essencial, pois estruturas de dados envolvem manipulação de dados com base em regras lógicas.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u="sng" dirty="0">
                <a:latin typeface="Abadi" panose="020B0604020104020204" pitchFamily="34" charset="0"/>
              </a:rPr>
              <a:t>Algoritmos Básicos</a:t>
            </a:r>
            <a:r>
              <a:rPr lang="pt-BR" sz="2000" dirty="0">
                <a:latin typeface="Abadi" panose="020B0604020104020204" pitchFamily="34" charset="0"/>
              </a:rPr>
              <a:t>: Algoritmos e estrutura de dados estão intimamente ligados. É útil entender algoritmos de ordenação e de busca, já que eles ilustram como otimizar operações com dados.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u="sng" dirty="0">
                <a:latin typeface="Abadi" panose="020B0604020104020204" pitchFamily="34" charset="0"/>
              </a:rPr>
              <a:t>Tipos de Dados</a:t>
            </a:r>
            <a:r>
              <a:rPr lang="pt-BR" sz="2000" dirty="0">
                <a:latin typeface="Abadi" panose="020B0604020104020204" pitchFamily="34" charset="0"/>
              </a:rPr>
              <a:t>: Compreender tipos de dados básicos (inteiros, floats, strings, booleanos) e compostos (listas, tuplas, dicionários) ajudará a entender como manipular diferentes formas de dados.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b="1" u="sng" dirty="0">
                <a:solidFill>
                  <a:srgbClr val="FFFF00"/>
                </a:solidFill>
                <a:latin typeface="Abadi" panose="020B0604020104020204" pitchFamily="34" charset="0"/>
              </a:rPr>
              <a:t>Complexidade de Algoritmos</a:t>
            </a:r>
            <a:r>
              <a:rPr lang="pt-BR" sz="2000" dirty="0">
                <a:latin typeface="Abadi" panose="020B0604020104020204" pitchFamily="34" charset="0"/>
              </a:rPr>
              <a:t> (Notação Big O): A análise de complexidade permite entender a eficiência de um algoritmo. Conhecimento sobre notação Big O ajuda a prever o desempenho de uma estrutura de dados em diferentes situações.</a:t>
            </a:r>
          </a:p>
          <a:p>
            <a:pPr marL="457200" indent="-457200" algn="just">
              <a:buFont typeface="+mj-lt"/>
              <a:buAutoNum type="arabicPeriod"/>
            </a:pPr>
            <a:endParaRPr lang="pt-BR" sz="2000" dirty="0">
              <a:latin typeface="Abadi" panose="020B0604020104020204" pitchFamily="34" charset="0"/>
            </a:endParaRPr>
          </a:p>
          <a:p>
            <a:pPr marL="457200" indent="-457200" algn="just">
              <a:buFont typeface="+mj-lt"/>
              <a:buAutoNum type="arabicPeriod"/>
            </a:pPr>
            <a:r>
              <a:rPr lang="pt-BR" sz="2000" b="1" u="sng" dirty="0">
                <a:solidFill>
                  <a:srgbClr val="FFFF00"/>
                </a:solidFill>
                <a:latin typeface="Abadi" panose="020B0604020104020204" pitchFamily="34" charset="0"/>
              </a:rPr>
              <a:t>Recursão</a:t>
            </a:r>
            <a:r>
              <a:rPr lang="pt-BR" sz="2000" dirty="0">
                <a:latin typeface="Abadi" panose="020B0604020104020204" pitchFamily="34" charset="0"/>
              </a:rPr>
              <a:t>: Muitas estruturas de dados, como árvores, são naturalmente recursivas. Entender recursão facilita a implementação e o entendimento de algoritmos.</a:t>
            </a:r>
          </a:p>
        </p:txBody>
      </p:sp>
    </p:spTree>
    <p:extLst>
      <p:ext uri="{BB962C8B-B14F-4D97-AF65-F5344CB8AC3E}">
        <p14:creationId xmlns:p14="http://schemas.microsoft.com/office/powerpoint/2010/main" val="417991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27381-CADA-0954-B575-CA37E27BAC9F}"/>
            </a:ext>
          </a:extLst>
        </p:cNvPr>
        <p:cNvGrpSpPr/>
        <p:nvPr/>
      </p:nvGrpSpPr>
      <p:grpSpPr>
        <a:xfrm>
          <a:off x="0" y="0"/>
          <a:ext cx="0" cy="0"/>
          <a:chOff x="0" y="0"/>
          <a:chExt cx="0" cy="0"/>
        </a:xfrm>
      </p:grpSpPr>
      <p:sp>
        <p:nvSpPr>
          <p:cNvPr id="2" name="Retângulo: Cantos Superiores Recortados 1">
            <a:extLst>
              <a:ext uri="{FF2B5EF4-FFF2-40B4-BE49-F238E27FC236}">
                <a16:creationId xmlns:a16="http://schemas.microsoft.com/office/drawing/2014/main" id="{EB513587-2E61-D117-4DAB-3080EC8DEB74}"/>
              </a:ext>
            </a:extLst>
          </p:cNvPr>
          <p:cNvSpPr/>
          <p:nvPr/>
        </p:nvSpPr>
        <p:spPr>
          <a:xfrm>
            <a:off x="0" y="0"/>
            <a:ext cx="12192000" cy="751840"/>
          </a:xfrm>
          <a:prstGeom prst="snip2SameRect">
            <a:avLst>
              <a:gd name="adj1" fmla="val 0"/>
              <a:gd name="adj2" fmla="val 10502"/>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3600" dirty="0">
                <a:latin typeface="Abadi" panose="020B0604020104020204" pitchFamily="34" charset="0"/>
              </a:rPr>
              <a:t>E qual linguagem utilizaremos?</a:t>
            </a:r>
          </a:p>
        </p:txBody>
      </p:sp>
      <p:sp>
        <p:nvSpPr>
          <p:cNvPr id="6" name="CaixaDeTexto 5">
            <a:extLst>
              <a:ext uri="{FF2B5EF4-FFF2-40B4-BE49-F238E27FC236}">
                <a16:creationId xmlns:a16="http://schemas.microsoft.com/office/drawing/2014/main" id="{2131B12C-BFA5-67AC-5B00-C27DB7372482}"/>
              </a:ext>
            </a:extLst>
          </p:cNvPr>
          <p:cNvSpPr txBox="1"/>
          <p:nvPr/>
        </p:nvSpPr>
        <p:spPr>
          <a:xfrm>
            <a:off x="645920" y="5624524"/>
            <a:ext cx="10920594" cy="923330"/>
          </a:xfrm>
          <a:prstGeom prst="rect">
            <a:avLst/>
          </a:prstGeom>
          <a:noFill/>
        </p:spPr>
        <p:txBody>
          <a:bodyPr wrap="square">
            <a:spAutoFit/>
          </a:bodyPr>
          <a:lstStyle/>
          <a:p>
            <a:pPr algn="just"/>
            <a:r>
              <a:rPr lang="pt-BR" dirty="0">
                <a:latin typeface="Abadi" panose="020B0604020104020204" pitchFamily="34" charset="0"/>
              </a:rPr>
              <a:t>Obs.: Há algumas razões pelas quais é interessante evitar certas linguagens no estudo de estrutura de dados, especialmente se queremos um foco mais profundo em conceitos de baixo nível. As principais razões que foram determinísticas para não escolher alguns foi a Abstrações de Alto Nível e a Tipagem Dinâmica.</a:t>
            </a:r>
          </a:p>
        </p:txBody>
      </p:sp>
      <p:pic>
        <p:nvPicPr>
          <p:cNvPr id="1026" name="Picture 2" descr="Oracle lança Java 20 com várias melhorias de desempenho e segurança -  Inforchannel">
            <a:extLst>
              <a:ext uri="{FF2B5EF4-FFF2-40B4-BE49-F238E27FC236}">
                <a16:creationId xmlns:a16="http://schemas.microsoft.com/office/drawing/2014/main" id="{4AA6FC6F-5597-F0EB-0159-85CB0A1EB7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393" y="1312627"/>
            <a:ext cx="6701213" cy="3751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738983"/>
      </p:ext>
    </p:extLst>
  </p:cSld>
  <p:clrMapOvr>
    <a:masterClrMapping/>
  </p:clrMapOvr>
</p:sld>
</file>

<file path=ppt/theme/theme1.xml><?xml version="1.0" encoding="utf-8"?>
<a:theme xmlns:a="http://schemas.openxmlformats.org/drawingml/2006/main" name="Tema do Office">
  <a:themeElements>
    <a:clrScheme name="Personalizada 2">
      <a:dk1>
        <a:srgbClr val="0C101C"/>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8C67361DBE7D944AD858223D4CAF603" ma:contentTypeVersion="3" ma:contentTypeDescription="Crie um novo documento." ma:contentTypeScope="" ma:versionID="b2c010e37c8d437adfa72cc06fc89f10">
  <xsd:schema xmlns:xsd="http://www.w3.org/2001/XMLSchema" xmlns:xs="http://www.w3.org/2001/XMLSchema" xmlns:p="http://schemas.microsoft.com/office/2006/metadata/properties" xmlns:ns2="7b76103c-d6e0-4e2e-819a-fe104c886131" targetNamespace="http://schemas.microsoft.com/office/2006/metadata/properties" ma:root="true" ma:fieldsID="430cfa03dd1b8b020d8472fbc3b2d459" ns2:_="">
    <xsd:import namespace="7b76103c-d6e0-4e2e-819a-fe104c88613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76103c-d6e0-4e2e-819a-fe104c8861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5E4D3A-F2B8-49AB-ADFE-A81DE246FD2F}"/>
</file>

<file path=customXml/itemProps2.xml><?xml version="1.0" encoding="utf-8"?>
<ds:datastoreItem xmlns:ds="http://schemas.openxmlformats.org/officeDocument/2006/customXml" ds:itemID="{021D767D-39A8-4136-B520-5FB4753E4F48}"/>
</file>

<file path=customXml/itemProps3.xml><?xml version="1.0" encoding="utf-8"?>
<ds:datastoreItem xmlns:ds="http://schemas.openxmlformats.org/officeDocument/2006/customXml" ds:itemID="{721B7695-00EE-4529-B4FE-65C8E59AC05C}"/>
</file>

<file path=docProps/app.xml><?xml version="1.0" encoding="utf-8"?>
<Properties xmlns="http://schemas.openxmlformats.org/officeDocument/2006/extended-properties" xmlns:vt="http://schemas.openxmlformats.org/officeDocument/2006/docPropsVTypes">
  <Template>Office 2013 - 2022 Theme</Template>
  <TotalTime>3917</TotalTime>
  <Words>796</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12</vt:i4>
      </vt:variant>
    </vt:vector>
  </HeadingPairs>
  <TitlesOfParts>
    <vt:vector size="18" baseType="lpstr">
      <vt:lpstr>Abadi</vt:lpstr>
      <vt:lpstr>Arial</vt:lpstr>
      <vt:lpstr>Calibri</vt:lpstr>
      <vt:lpstr>Calibri Light</vt:lpstr>
      <vt:lpstr>Wingdings</vt:lpstr>
      <vt:lpstr>Tema do Office</vt:lpstr>
      <vt:lpstr>Estrutura de Dados Aula 1: Introdução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Vinícius José Lopes Cursino</dc:creator>
  <cp:lastModifiedBy>Vinícius José Lopes Cursino</cp:lastModifiedBy>
  <cp:revision>34</cp:revision>
  <dcterms:created xsi:type="dcterms:W3CDTF">2024-11-05T22:56:10Z</dcterms:created>
  <dcterms:modified xsi:type="dcterms:W3CDTF">2026-01-26T23:05:50Z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0x01010068C67361DBE7D944AD858223D4CAF603</vt:lpwstr>
  </property>
</Properties>
</file>