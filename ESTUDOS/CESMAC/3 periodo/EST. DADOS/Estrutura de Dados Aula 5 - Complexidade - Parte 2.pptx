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4"/>
  </p:notesMasterIdLst>
  <p:sldIdLst>
    <p:sldId id="256" r:id="rId5"/>
    <p:sldId id="304" r:id="rId6"/>
    <p:sldId id="305" r:id="rId7"/>
    <p:sldId id="273" r:id="rId8"/>
    <p:sldId id="306" r:id="rId9"/>
    <p:sldId id="277" r:id="rId10"/>
    <p:sldId id="307" r:id="rId11"/>
    <p:sldId id="309" r:id="rId12"/>
    <p:sldId id="283" r:id="rId13"/>
    <p:sldId id="310" r:id="rId14"/>
    <p:sldId id="311" r:id="rId15"/>
    <p:sldId id="281" r:id="rId16"/>
    <p:sldId id="312" r:id="rId17"/>
    <p:sldId id="313" r:id="rId18"/>
    <p:sldId id="285" r:id="rId19"/>
    <p:sldId id="314" r:id="rId20"/>
    <p:sldId id="315" r:id="rId21"/>
    <p:sldId id="288" r:id="rId22"/>
    <p:sldId id="28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D52"/>
    <a:srgbClr val="0C101C"/>
    <a:srgbClr val="CFFEFF"/>
    <a:srgbClr val="1F68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37" autoAdjust="0"/>
  </p:normalViewPr>
  <p:slideViewPr>
    <p:cSldViewPr snapToGrid="0" showGuides="1">
      <p:cViewPr varScale="1">
        <p:scale>
          <a:sx n="108" d="100"/>
          <a:sy n="108"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9B7344-8758-4923-BF9D-B590D61918F1}" type="datetimeFigureOut">
              <a:rPr lang="pt-BR" smtClean="0"/>
              <a:t>12/02/2026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2EDD73-88FC-478A-9AB9-3EF3A97C1DDD}" type="slidenum">
              <a:rPr lang="pt-BR" smtClean="0"/>
              <a:t>‹nº›</a:t>
            </a:fld>
            <a:endParaRPr lang="pt-BR"/>
          </a:p>
        </p:txBody>
      </p:sp>
    </p:spTree>
    <p:extLst>
      <p:ext uri="{BB962C8B-B14F-4D97-AF65-F5344CB8AC3E}">
        <p14:creationId xmlns:p14="http://schemas.microsoft.com/office/powerpoint/2010/main" val="215670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AF7A3-DD50-0385-3F83-C9D091D9B38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C347800-8B25-EF8A-43B2-AE69A5646FA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6775B65-F409-C956-4457-3BF80755C72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D9B40FE-33F6-D435-D2E4-D7B3CD7FF45C}"/>
              </a:ext>
            </a:extLst>
          </p:cNvPr>
          <p:cNvSpPr>
            <a:spLocks noGrp="1"/>
          </p:cNvSpPr>
          <p:nvPr>
            <p:ph type="sldNum" sz="quarter" idx="5"/>
          </p:nvPr>
        </p:nvSpPr>
        <p:spPr/>
        <p:txBody>
          <a:bodyPr/>
          <a:lstStyle/>
          <a:p>
            <a:fld id="{452EDD73-88FC-478A-9AB9-3EF3A97C1DDD}" type="slidenum">
              <a:rPr lang="pt-BR" smtClean="0"/>
              <a:t>2</a:t>
            </a:fld>
            <a:endParaRPr lang="pt-BR"/>
          </a:p>
        </p:txBody>
      </p:sp>
    </p:spTree>
    <p:extLst>
      <p:ext uri="{BB962C8B-B14F-4D97-AF65-F5344CB8AC3E}">
        <p14:creationId xmlns:p14="http://schemas.microsoft.com/office/powerpoint/2010/main" val="2642718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8907C-551A-D481-9CC7-5C9EBDD183A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50245F-2621-99F9-291E-4EF9CCD1C4E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40A7839-5BC6-A81B-B5A1-C86BE90A90F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F47D68F-CD33-21F7-F5AE-19ED3BCF4ACF}"/>
              </a:ext>
            </a:extLst>
          </p:cNvPr>
          <p:cNvSpPr>
            <a:spLocks noGrp="1"/>
          </p:cNvSpPr>
          <p:nvPr>
            <p:ph type="sldNum" sz="quarter" idx="5"/>
          </p:nvPr>
        </p:nvSpPr>
        <p:spPr/>
        <p:txBody>
          <a:bodyPr/>
          <a:lstStyle/>
          <a:p>
            <a:fld id="{452EDD73-88FC-478A-9AB9-3EF3A97C1DDD}" type="slidenum">
              <a:rPr lang="pt-BR" smtClean="0"/>
              <a:t>3</a:t>
            </a:fld>
            <a:endParaRPr lang="pt-BR"/>
          </a:p>
        </p:txBody>
      </p:sp>
    </p:spTree>
    <p:extLst>
      <p:ext uri="{BB962C8B-B14F-4D97-AF65-F5344CB8AC3E}">
        <p14:creationId xmlns:p14="http://schemas.microsoft.com/office/powerpoint/2010/main" val="1953937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452EDD73-88FC-478A-9AB9-3EF3A97C1DDD}" type="slidenum">
              <a:rPr lang="pt-BR" smtClean="0"/>
              <a:t>19</a:t>
            </a:fld>
            <a:endParaRPr lang="pt-BR"/>
          </a:p>
        </p:txBody>
      </p:sp>
    </p:spTree>
    <p:extLst>
      <p:ext uri="{BB962C8B-B14F-4D97-AF65-F5344CB8AC3E}">
        <p14:creationId xmlns:p14="http://schemas.microsoft.com/office/powerpoint/2010/main" val="2766947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12/02/2026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59778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12/02/2026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515272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A9C5F5F1-592D-4F5E-BEF8-26440F16569E}" type="datetimeFigureOut">
              <a:rPr lang="pt-BR" smtClean="0"/>
              <a:t>12/02/2026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2500829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9C5F5F1-592D-4F5E-BEF8-26440F16569E}" type="datetimeFigureOut">
              <a:rPr lang="pt-BR" smtClean="0"/>
              <a:t>12/02/2026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108660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9C5F5F1-592D-4F5E-BEF8-26440F16569E}" type="datetimeFigureOut">
              <a:rPr lang="pt-BR" smtClean="0"/>
              <a:t>12/02/2026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586583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9C5F5F1-592D-4F5E-BEF8-26440F16569E}" type="datetimeFigureOut">
              <a:rPr lang="pt-BR" smtClean="0"/>
              <a:t>12/02/2026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667466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5F5F1-592D-4F5E-BEF8-26440F16569E}" type="datetimeFigureOut">
              <a:rPr lang="pt-BR" smtClean="0"/>
              <a:t>12/02/2026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2031268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A9C5F5F1-592D-4F5E-BEF8-26440F16569E}" type="datetimeFigureOut">
              <a:rPr lang="pt-BR" smtClean="0"/>
              <a:t>12/02/2026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29410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A9C5F5F1-592D-4F5E-BEF8-26440F16569E}" type="datetimeFigureOut">
              <a:rPr lang="pt-BR" smtClean="0"/>
              <a:t>12/02/2026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1681366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12/02/2026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3077978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C5F5F1-592D-4F5E-BEF8-26440F16569E}" type="datetimeFigureOut">
              <a:rPr lang="pt-BR" smtClean="0"/>
              <a:t>12/02/2026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758BF5F-91CD-412A-9493-8FA5B93396BD}" type="slidenum">
              <a:rPr lang="pt-BR" smtClean="0"/>
              <a:t>‹nº›</a:t>
            </a:fld>
            <a:endParaRPr lang="pt-BR"/>
          </a:p>
        </p:txBody>
      </p:sp>
    </p:spTree>
    <p:extLst>
      <p:ext uri="{BB962C8B-B14F-4D97-AF65-F5344CB8AC3E}">
        <p14:creationId xmlns:p14="http://schemas.microsoft.com/office/powerpoint/2010/main" val="850997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C5F5F1-592D-4F5E-BEF8-26440F16569E}" type="datetimeFigureOut">
              <a:rPr lang="pt-BR" smtClean="0"/>
              <a:t>12/02/2026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8BF5F-91CD-412A-9493-8FA5B93396BD}" type="slidenum">
              <a:rPr lang="pt-BR" smtClean="0"/>
              <a:t>‹nº›</a:t>
            </a:fld>
            <a:endParaRPr lang="pt-BR"/>
          </a:p>
        </p:txBody>
      </p:sp>
    </p:spTree>
    <p:extLst>
      <p:ext uri="{BB962C8B-B14F-4D97-AF65-F5344CB8AC3E}">
        <p14:creationId xmlns:p14="http://schemas.microsoft.com/office/powerpoint/2010/main" val="275892620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FADF5B1-E9DA-EEF5-C245-EE90098EC5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647" b="6865"/>
          <a:stretch/>
        </p:blipFill>
        <p:spPr bwMode="auto">
          <a:xfrm>
            <a:off x="-129540" y="0"/>
            <a:ext cx="1232154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0920C71-0C6B-67A1-FA2E-EB93D611549D}"/>
              </a:ext>
            </a:extLst>
          </p:cNvPr>
          <p:cNvSpPr>
            <a:spLocks noGrp="1"/>
          </p:cNvSpPr>
          <p:nvPr>
            <p:ph type="ctrTitle"/>
          </p:nvPr>
        </p:nvSpPr>
        <p:spPr>
          <a:xfrm>
            <a:off x="380999" y="3429000"/>
            <a:ext cx="10272205" cy="2387600"/>
          </a:xfr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pPr algn="l"/>
            <a:r>
              <a:rPr lang="pt-BR" dirty="0">
                <a:latin typeface="Abadi" panose="020B0604020104020204" pitchFamily="34" charset="0"/>
              </a:rPr>
              <a:t>Estrutura de Dados</a:t>
            </a:r>
            <a:br>
              <a:rPr lang="pt-BR" dirty="0">
                <a:latin typeface="Abadi" panose="020B0604020104020204" pitchFamily="34" charset="0"/>
              </a:rPr>
            </a:br>
            <a:r>
              <a:rPr lang="pt-BR" dirty="0">
                <a:latin typeface="Abadi" panose="020B0604020104020204" pitchFamily="34" charset="0"/>
              </a:rPr>
              <a:t>Aula 5: Complexidade: Parte II</a:t>
            </a:r>
          </a:p>
        </p:txBody>
      </p:sp>
      <p:sp>
        <p:nvSpPr>
          <p:cNvPr id="3" name="Subtítulo 2">
            <a:extLst>
              <a:ext uri="{FF2B5EF4-FFF2-40B4-BE49-F238E27FC236}">
                <a16:creationId xmlns:a16="http://schemas.microsoft.com/office/drawing/2014/main" id="{CD51ADBE-F611-60E0-63DF-674DC817D5AD}"/>
              </a:ext>
            </a:extLst>
          </p:cNvPr>
          <p:cNvSpPr>
            <a:spLocks noGrp="1"/>
          </p:cNvSpPr>
          <p:nvPr>
            <p:ph type="subTitle" idx="1"/>
          </p:nvPr>
        </p:nvSpPr>
        <p:spPr>
          <a:xfrm>
            <a:off x="380999" y="5908675"/>
            <a:ext cx="7484705" cy="400795"/>
          </a:xfr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normAutofit lnSpcReduction="10000"/>
          </a:bodyPr>
          <a:lstStyle/>
          <a:p>
            <a:pPr algn="l"/>
            <a:r>
              <a:rPr lang="pt-BR" dirty="0">
                <a:latin typeface="Abadi" panose="020B0604020104020204" pitchFamily="34" charset="0"/>
              </a:rPr>
              <a:t>Professor: Vinicius Cursino</a:t>
            </a:r>
          </a:p>
        </p:txBody>
      </p:sp>
    </p:spTree>
    <p:extLst>
      <p:ext uri="{BB962C8B-B14F-4D97-AF65-F5344CB8AC3E}">
        <p14:creationId xmlns:p14="http://schemas.microsoft.com/office/powerpoint/2010/main" val="202891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0412B-674C-6840-592B-5CEBC10D271C}"/>
            </a:ext>
          </a:extLst>
        </p:cNvPr>
        <p:cNvGrpSpPr/>
        <p:nvPr/>
      </p:nvGrpSpPr>
      <p:grpSpPr>
        <a:xfrm>
          <a:off x="0" y="0"/>
          <a:ext cx="0" cy="0"/>
          <a:chOff x="0" y="0"/>
          <a:chExt cx="0" cy="0"/>
        </a:xfrm>
      </p:grpSpPr>
      <p:sp>
        <p:nvSpPr>
          <p:cNvPr id="9" name="Retângulo: Cantos Superiores Recortados 8">
            <a:extLst>
              <a:ext uri="{FF2B5EF4-FFF2-40B4-BE49-F238E27FC236}">
                <a16:creationId xmlns:a16="http://schemas.microsoft.com/office/drawing/2014/main" id="{2E476942-93F9-EC7E-309B-2C18B82FCE39}"/>
              </a:ext>
            </a:extLst>
          </p:cNvPr>
          <p:cNvSpPr/>
          <p:nvPr/>
        </p:nvSpPr>
        <p:spPr>
          <a:xfrm rot="16200000">
            <a:off x="2241190" y="-2077847"/>
            <a:ext cx="649458" cy="5131836"/>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latin typeface="Abadi" panose="020B0604020104020204" pitchFamily="34" charset="0"/>
              </a:rPr>
              <a:t>Complexidade de Espaço</a:t>
            </a:r>
          </a:p>
        </p:txBody>
      </p:sp>
      <p:sp>
        <p:nvSpPr>
          <p:cNvPr id="4" name="CaixaDeTexto 3">
            <a:extLst>
              <a:ext uri="{FF2B5EF4-FFF2-40B4-BE49-F238E27FC236}">
                <a16:creationId xmlns:a16="http://schemas.microsoft.com/office/drawing/2014/main" id="{936D5974-B9A8-FFC4-E65B-19709E89DFBD}"/>
              </a:ext>
            </a:extLst>
          </p:cNvPr>
          <p:cNvSpPr txBox="1"/>
          <p:nvPr/>
        </p:nvSpPr>
        <p:spPr>
          <a:xfrm>
            <a:off x="175454" y="999236"/>
            <a:ext cx="11841092" cy="4124206"/>
          </a:xfrm>
          <a:prstGeom prst="rect">
            <a:avLst/>
          </a:prstGeom>
          <a:noFill/>
        </p:spPr>
        <p:txBody>
          <a:bodyPr wrap="square">
            <a:spAutoFit/>
          </a:bodyPr>
          <a:lstStyle/>
          <a:p>
            <a:pPr algn="just"/>
            <a:r>
              <a:rPr lang="pt-BR" dirty="0">
                <a:latin typeface="Abadi" panose="020B0604020104020204" pitchFamily="34" charset="0"/>
              </a:rPr>
              <a:t>	Quando falamos sobre complexidade de espaço em algoritmos, estamos nos referindo à </a:t>
            </a:r>
            <a:r>
              <a:rPr lang="pt-BR" u="sng" dirty="0">
                <a:latin typeface="Abadi" panose="020B0604020104020204" pitchFamily="34" charset="0"/>
              </a:rPr>
              <a:t>quantidade de memória que um algoritmo necessita para executar</a:t>
            </a:r>
            <a:r>
              <a:rPr lang="pt-BR" dirty="0">
                <a:latin typeface="Abadi" panose="020B0604020104020204" pitchFamily="34" charset="0"/>
              </a:rPr>
              <a:t>, dependendo do tamanho da entrada (𝑛). Enquanto a complexidade de tempo analisa quanto tempo um algoritmo leva para processar os dados, a complexidade de espaço foca em quanto de memória é consumido, o que é igualmente importante, especialmente em sistemas com recursos limitados, como dispositivos móveis ou sistemas embarcados.</a:t>
            </a:r>
          </a:p>
          <a:p>
            <a:pPr algn="just"/>
            <a:endParaRPr lang="pt-BR" dirty="0">
              <a:latin typeface="Abadi" panose="020B0604020104020204" pitchFamily="34" charset="0"/>
            </a:endParaRPr>
          </a:p>
          <a:p>
            <a:pPr algn="just"/>
            <a:r>
              <a:rPr lang="pt-BR" dirty="0">
                <a:latin typeface="Abadi" panose="020B0604020104020204" pitchFamily="34" charset="0"/>
              </a:rPr>
              <a:t>	Existem três componentes principais que determinam a complexidade de espaço de um algoritmo:</a:t>
            </a:r>
          </a:p>
          <a:p>
            <a:pPr algn="just"/>
            <a:endParaRPr lang="pt-BR" dirty="0">
              <a:latin typeface="Abadi" panose="020B0604020104020204" pitchFamily="34" charset="0"/>
            </a:endParaRPr>
          </a:p>
          <a:p>
            <a:pPr marL="400050" indent="-400050" algn="just">
              <a:buFont typeface="+mj-lt"/>
              <a:buAutoNum type="arabicPeriod"/>
            </a:pPr>
            <a:r>
              <a:rPr lang="pt-BR" sz="2000" dirty="0">
                <a:latin typeface="Abadi" panose="020B0604020104020204" pitchFamily="34" charset="0"/>
              </a:rPr>
              <a:t>Espaço Fixo</a:t>
            </a:r>
          </a:p>
          <a:p>
            <a:pPr marL="400050" indent="-400050" algn="just">
              <a:buFont typeface="+mj-lt"/>
              <a:buAutoNum type="arabicPeriod"/>
            </a:pPr>
            <a:endParaRPr lang="pt-BR" sz="2000" dirty="0">
              <a:latin typeface="Abadi" panose="020B0604020104020204" pitchFamily="34" charset="0"/>
            </a:endParaRPr>
          </a:p>
          <a:p>
            <a:pPr marL="400050" indent="-400050" algn="just">
              <a:buFont typeface="+mj-lt"/>
              <a:buAutoNum type="arabicPeriod"/>
            </a:pPr>
            <a:r>
              <a:rPr lang="pt-BR" sz="2000" dirty="0">
                <a:latin typeface="Abadi" panose="020B0604020104020204" pitchFamily="34" charset="0"/>
              </a:rPr>
              <a:t>Espaço para Entrada e Saída</a:t>
            </a:r>
          </a:p>
          <a:p>
            <a:pPr marL="400050" indent="-400050" algn="just">
              <a:buFont typeface="+mj-lt"/>
              <a:buAutoNum type="arabicPeriod"/>
            </a:pPr>
            <a:endParaRPr lang="pt-BR" sz="2000" dirty="0">
              <a:latin typeface="Abadi" panose="020B0604020104020204" pitchFamily="34" charset="0"/>
            </a:endParaRPr>
          </a:p>
          <a:p>
            <a:pPr marL="400050" indent="-400050" algn="just">
              <a:buFont typeface="+mj-lt"/>
              <a:buAutoNum type="arabicPeriod"/>
            </a:pPr>
            <a:r>
              <a:rPr lang="pt-BR" sz="2000" dirty="0">
                <a:latin typeface="Abadi" panose="020B0604020104020204" pitchFamily="34" charset="0"/>
              </a:rPr>
              <a:t>Espaço Auxiliar</a:t>
            </a:r>
          </a:p>
          <a:p>
            <a:pPr marL="400050" indent="-400050" algn="just">
              <a:buFont typeface="+mj-lt"/>
              <a:buAutoNum type="arabicPeriod"/>
            </a:pPr>
            <a:endParaRPr lang="pt-BR" dirty="0">
              <a:latin typeface="Abadi" panose="020B0604020104020204" pitchFamily="34" charset="0"/>
            </a:endParaRPr>
          </a:p>
        </p:txBody>
      </p:sp>
      <p:grpSp>
        <p:nvGrpSpPr>
          <p:cNvPr id="18" name="Agrupar 17">
            <a:extLst>
              <a:ext uri="{FF2B5EF4-FFF2-40B4-BE49-F238E27FC236}">
                <a16:creationId xmlns:a16="http://schemas.microsoft.com/office/drawing/2014/main" id="{7F7900EB-6470-2F5B-C0B8-04CFF283BBE3}"/>
              </a:ext>
            </a:extLst>
          </p:cNvPr>
          <p:cNvGrpSpPr/>
          <p:nvPr/>
        </p:nvGrpSpPr>
        <p:grpSpPr>
          <a:xfrm>
            <a:off x="5894771" y="3672159"/>
            <a:ext cx="5078030" cy="2186605"/>
            <a:chOff x="4705162" y="3152813"/>
            <a:chExt cx="6960094" cy="3055376"/>
          </a:xfrm>
        </p:grpSpPr>
        <p:sp>
          <p:nvSpPr>
            <p:cNvPr id="16" name="Retângulo: Cantos Arredondados 15">
              <a:extLst>
                <a:ext uri="{FF2B5EF4-FFF2-40B4-BE49-F238E27FC236}">
                  <a16:creationId xmlns:a16="http://schemas.microsoft.com/office/drawing/2014/main" id="{B372DF39-74E4-A991-CFA2-D7B9734D217F}"/>
                </a:ext>
              </a:extLst>
            </p:cNvPr>
            <p:cNvSpPr/>
            <p:nvPr/>
          </p:nvSpPr>
          <p:spPr>
            <a:xfrm>
              <a:off x="4705162" y="3152813"/>
              <a:ext cx="6960094" cy="3055376"/>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Imagem 12">
              <a:extLst>
                <a:ext uri="{FF2B5EF4-FFF2-40B4-BE49-F238E27FC236}">
                  <a16:creationId xmlns:a16="http://schemas.microsoft.com/office/drawing/2014/main" id="{52DE70AF-455B-AED1-05C1-75AD8517867B}"/>
                </a:ext>
              </a:extLst>
            </p:cNvPr>
            <p:cNvPicPr>
              <a:picLocks noChangeAspect="1"/>
            </p:cNvPicPr>
            <p:nvPr/>
          </p:nvPicPr>
          <p:blipFill>
            <a:blip r:embed="rId3"/>
            <a:stretch>
              <a:fillRect/>
            </a:stretch>
          </p:blipFill>
          <p:spPr>
            <a:xfrm>
              <a:off x="5131837" y="3428999"/>
              <a:ext cx="2503005" cy="2503005"/>
            </a:xfrm>
            <a:prstGeom prst="rect">
              <a:avLst/>
            </a:prstGeom>
          </p:spPr>
        </p:pic>
        <p:pic>
          <p:nvPicPr>
            <p:cNvPr id="15" name="Imagem 14">
              <a:extLst>
                <a:ext uri="{FF2B5EF4-FFF2-40B4-BE49-F238E27FC236}">
                  <a16:creationId xmlns:a16="http://schemas.microsoft.com/office/drawing/2014/main" id="{5C410375-DFB9-B534-2A69-7DFFD55170BC}"/>
                </a:ext>
              </a:extLst>
            </p:cNvPr>
            <p:cNvPicPr>
              <a:picLocks noChangeAspect="1"/>
            </p:cNvPicPr>
            <p:nvPr/>
          </p:nvPicPr>
          <p:blipFill>
            <a:blip r:embed="rId4"/>
            <a:stretch>
              <a:fillRect/>
            </a:stretch>
          </p:blipFill>
          <p:spPr>
            <a:xfrm>
              <a:off x="8797521" y="3428999"/>
              <a:ext cx="2503005" cy="2503005"/>
            </a:xfrm>
            <a:prstGeom prst="rect">
              <a:avLst/>
            </a:prstGeom>
          </p:spPr>
        </p:pic>
      </p:grpSp>
    </p:spTree>
    <p:extLst>
      <p:ext uri="{BB962C8B-B14F-4D97-AF65-F5344CB8AC3E}">
        <p14:creationId xmlns:p14="http://schemas.microsoft.com/office/powerpoint/2010/main" val="1162030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D53AC-8C43-FAD6-937F-30A83362E624}"/>
            </a:ext>
          </a:extLst>
        </p:cNvPr>
        <p:cNvGrpSpPr/>
        <p:nvPr/>
      </p:nvGrpSpPr>
      <p:grpSpPr>
        <a:xfrm>
          <a:off x="0" y="0"/>
          <a:ext cx="0" cy="0"/>
          <a:chOff x="0" y="0"/>
          <a:chExt cx="0" cy="0"/>
        </a:xfrm>
      </p:grpSpPr>
      <p:sp>
        <p:nvSpPr>
          <p:cNvPr id="9" name="Retângulo: Cantos Superiores Recortados 8">
            <a:extLst>
              <a:ext uri="{FF2B5EF4-FFF2-40B4-BE49-F238E27FC236}">
                <a16:creationId xmlns:a16="http://schemas.microsoft.com/office/drawing/2014/main" id="{E72D1F34-1627-A795-47B3-4437AAAF486F}"/>
              </a:ext>
            </a:extLst>
          </p:cNvPr>
          <p:cNvSpPr/>
          <p:nvPr/>
        </p:nvSpPr>
        <p:spPr>
          <a:xfrm rot="16200000">
            <a:off x="2241190" y="-2077847"/>
            <a:ext cx="649458" cy="5131836"/>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latin typeface="Abadi" panose="020B0604020104020204" pitchFamily="34" charset="0"/>
              </a:rPr>
              <a:t>Componentes principais</a:t>
            </a:r>
          </a:p>
        </p:txBody>
      </p:sp>
      <p:sp>
        <p:nvSpPr>
          <p:cNvPr id="4" name="CaixaDeTexto 3">
            <a:extLst>
              <a:ext uri="{FF2B5EF4-FFF2-40B4-BE49-F238E27FC236}">
                <a16:creationId xmlns:a16="http://schemas.microsoft.com/office/drawing/2014/main" id="{42627D87-5DBE-110A-5713-C1CD341089E2}"/>
              </a:ext>
            </a:extLst>
          </p:cNvPr>
          <p:cNvSpPr txBox="1"/>
          <p:nvPr/>
        </p:nvSpPr>
        <p:spPr>
          <a:xfrm>
            <a:off x="250293" y="939812"/>
            <a:ext cx="11691413" cy="5909310"/>
          </a:xfrm>
          <a:prstGeom prst="rect">
            <a:avLst/>
          </a:prstGeom>
          <a:noFill/>
        </p:spPr>
        <p:txBody>
          <a:bodyPr wrap="square">
            <a:spAutoFit/>
          </a:bodyPr>
          <a:lstStyle/>
          <a:p>
            <a:pPr algn="just"/>
            <a:r>
              <a:rPr lang="pt-BR" dirty="0">
                <a:latin typeface="Abadi" panose="020B0604020104020204" pitchFamily="34" charset="0"/>
              </a:rPr>
              <a:t>Existem três componentes principais que determinam a complexidade de espaço de um algoritmo:</a:t>
            </a:r>
          </a:p>
          <a:p>
            <a:pPr algn="just"/>
            <a:endParaRPr lang="pt-BR" b="1" dirty="0">
              <a:latin typeface="Abadi" panose="020B0604020104020204" pitchFamily="34" charset="0"/>
            </a:endParaRPr>
          </a:p>
          <a:p>
            <a:pPr marL="342900" indent="-342900" algn="just">
              <a:buFont typeface="+mj-lt"/>
              <a:buAutoNum type="arabicPeriod"/>
            </a:pPr>
            <a:r>
              <a:rPr lang="pt-BR" b="1" dirty="0">
                <a:latin typeface="Abadi" panose="020B0604020104020204" pitchFamily="34" charset="0"/>
              </a:rPr>
              <a:t>Espaço Fixo:</a:t>
            </a:r>
          </a:p>
          <a:p>
            <a:pPr marL="800100" lvl="1" indent="-342900" algn="just">
              <a:buFont typeface="Arial" panose="020B0604020202020204" pitchFamily="34" charset="0"/>
              <a:buChar char="•"/>
            </a:pPr>
            <a:r>
              <a:rPr lang="pt-BR" dirty="0">
                <a:latin typeface="Abadi" panose="020B0604020104020204" pitchFamily="34" charset="0"/>
              </a:rPr>
              <a:t>Refere-se ao </a:t>
            </a:r>
            <a:r>
              <a:rPr lang="pt-BR" u="sng" dirty="0">
                <a:latin typeface="Abadi" panose="020B0604020104020204" pitchFamily="34" charset="0"/>
              </a:rPr>
              <a:t>espaço que é constantemente</a:t>
            </a:r>
            <a:r>
              <a:rPr lang="pt-BR" dirty="0">
                <a:latin typeface="Abadi" panose="020B0604020104020204" pitchFamily="34" charset="0"/>
              </a:rPr>
              <a:t> necessário para armazenar variáveis e estruturas fixas, independentemente do tamanho da entrada. Isso inclui variáveis simples (como inteiros ou </a:t>
            </a:r>
            <a:r>
              <a:rPr lang="pt-BR" dirty="0" err="1">
                <a:latin typeface="Abadi" panose="020B0604020104020204" pitchFamily="34" charset="0"/>
              </a:rPr>
              <a:t>booleans</a:t>
            </a:r>
            <a:r>
              <a:rPr lang="pt-BR" dirty="0">
                <a:latin typeface="Abadi" panose="020B0604020104020204" pitchFamily="34" charset="0"/>
              </a:rPr>
              <a:t>), ponteiros e valores fixos, que </a:t>
            </a:r>
            <a:r>
              <a:rPr lang="pt-BR" u="sng" dirty="0">
                <a:latin typeface="Abadi" panose="020B0604020104020204" pitchFamily="34" charset="0"/>
              </a:rPr>
              <a:t>não aumentam conforme o tamanho dos dados processados</a:t>
            </a:r>
            <a:r>
              <a:rPr lang="pt-BR" dirty="0">
                <a:latin typeface="Abadi" panose="020B0604020104020204" pitchFamily="34" charset="0"/>
              </a:rPr>
              <a:t>.</a:t>
            </a:r>
          </a:p>
          <a:p>
            <a:pPr marL="800100" lvl="1" indent="-342900" algn="just">
              <a:buFont typeface="Arial" panose="020B0604020202020204" pitchFamily="34" charset="0"/>
              <a:buChar char="•"/>
            </a:pPr>
            <a:r>
              <a:rPr lang="pt-BR" dirty="0">
                <a:latin typeface="Abadi" panose="020B0604020104020204" pitchFamily="34" charset="0"/>
              </a:rPr>
              <a:t>Exemplo: Um contador simples que armazena um número ou uma variável de estado.</a:t>
            </a:r>
          </a:p>
          <a:p>
            <a:pPr marL="800100" lvl="1" indent="-342900" algn="just">
              <a:buFont typeface="Arial" panose="020B0604020202020204" pitchFamily="34" charset="0"/>
              <a:buChar char="•"/>
            </a:pPr>
            <a:endParaRPr lang="pt-BR" dirty="0">
              <a:latin typeface="Abadi" panose="020B0604020104020204" pitchFamily="34" charset="0"/>
            </a:endParaRPr>
          </a:p>
          <a:p>
            <a:pPr marL="342900" indent="-342900" algn="just">
              <a:buFont typeface="+mj-lt"/>
              <a:buAutoNum type="arabicPeriod"/>
            </a:pPr>
            <a:r>
              <a:rPr lang="pt-BR" b="1" dirty="0">
                <a:latin typeface="Abadi" panose="020B0604020104020204" pitchFamily="34" charset="0"/>
              </a:rPr>
              <a:t>Espaço para Entrada e Saída</a:t>
            </a:r>
            <a:r>
              <a:rPr lang="pt-BR" dirty="0">
                <a:latin typeface="Abadi" panose="020B0604020104020204" pitchFamily="34" charset="0"/>
              </a:rPr>
              <a:t>:</a:t>
            </a:r>
          </a:p>
          <a:p>
            <a:pPr marL="800100" lvl="1" indent="-342900" algn="just">
              <a:buFont typeface="Arial" panose="020B0604020202020204" pitchFamily="34" charset="0"/>
              <a:buChar char="•"/>
            </a:pPr>
            <a:r>
              <a:rPr lang="pt-BR" dirty="0">
                <a:latin typeface="Abadi" panose="020B0604020104020204" pitchFamily="34" charset="0"/>
              </a:rPr>
              <a:t>Este espaço é </a:t>
            </a:r>
            <a:r>
              <a:rPr lang="pt-BR" u="sng" dirty="0">
                <a:latin typeface="Abadi" panose="020B0604020104020204" pitchFamily="34" charset="0"/>
              </a:rPr>
              <a:t>determinado pela quantidade de dados </a:t>
            </a:r>
            <a:r>
              <a:rPr lang="pt-BR" dirty="0">
                <a:latin typeface="Abadi" panose="020B0604020104020204" pitchFamily="34" charset="0"/>
              </a:rPr>
              <a:t>que precisam ser armazenados para entrada e saída. Para dados de entrada, é necessário espaço para armazenar todas as entradas do algoritmo. Da mesma forma, o espaço de saída é onde o resultado final será armazenado. Esse tipo de espaço </a:t>
            </a:r>
            <a:r>
              <a:rPr lang="pt-BR" u="sng" dirty="0">
                <a:latin typeface="Abadi" panose="020B0604020104020204" pitchFamily="34" charset="0"/>
              </a:rPr>
              <a:t>depende diretamente do tamanho da entrada</a:t>
            </a:r>
            <a:r>
              <a:rPr lang="pt-BR" dirty="0">
                <a:latin typeface="Abadi" panose="020B0604020104020204" pitchFamily="34" charset="0"/>
              </a:rPr>
              <a:t>, e é usualmente proporcional a 𝑛.</a:t>
            </a:r>
          </a:p>
          <a:p>
            <a:pPr marL="800100" lvl="1" indent="-342900" algn="just">
              <a:buFont typeface="Arial" panose="020B0604020202020204" pitchFamily="34" charset="0"/>
              <a:buChar char="•"/>
            </a:pPr>
            <a:r>
              <a:rPr lang="pt-BR" dirty="0">
                <a:latin typeface="Abadi" panose="020B0604020104020204" pitchFamily="34" charset="0"/>
              </a:rPr>
              <a:t>Exemplo: Armazenar um </a:t>
            </a:r>
            <a:r>
              <a:rPr lang="pt-BR" dirty="0" err="1">
                <a:latin typeface="Abadi" panose="020B0604020104020204" pitchFamily="34" charset="0"/>
              </a:rPr>
              <a:t>array</a:t>
            </a:r>
            <a:r>
              <a:rPr lang="pt-BR" dirty="0">
                <a:latin typeface="Abadi" panose="020B0604020104020204" pitchFamily="34" charset="0"/>
              </a:rPr>
              <a:t> de 𝑛 elementos ou gerar uma lista de resultados.</a:t>
            </a:r>
          </a:p>
          <a:p>
            <a:pPr marL="800100" lvl="1" indent="-342900" algn="just">
              <a:buFont typeface="Arial" panose="020B0604020202020204" pitchFamily="34" charset="0"/>
              <a:buChar char="•"/>
            </a:pPr>
            <a:endParaRPr lang="pt-BR" dirty="0">
              <a:latin typeface="Abadi" panose="020B0604020104020204" pitchFamily="34" charset="0"/>
            </a:endParaRPr>
          </a:p>
          <a:p>
            <a:pPr marL="342900" indent="-342900" algn="just">
              <a:buFont typeface="+mj-lt"/>
              <a:buAutoNum type="arabicPeriod"/>
            </a:pPr>
            <a:r>
              <a:rPr lang="pt-BR" b="1" dirty="0">
                <a:latin typeface="Abadi" panose="020B0604020104020204" pitchFamily="34" charset="0"/>
              </a:rPr>
              <a:t>Espaço Auxiliar</a:t>
            </a:r>
            <a:r>
              <a:rPr lang="pt-BR" dirty="0">
                <a:latin typeface="Abadi" panose="020B0604020104020204" pitchFamily="34" charset="0"/>
              </a:rPr>
              <a:t>:</a:t>
            </a:r>
          </a:p>
          <a:p>
            <a:pPr marL="800100" lvl="1" indent="-342900" algn="just">
              <a:buFont typeface="Arial" panose="020B0604020202020204" pitchFamily="34" charset="0"/>
              <a:buChar char="•"/>
            </a:pPr>
            <a:r>
              <a:rPr lang="pt-BR" dirty="0">
                <a:latin typeface="Abadi" panose="020B0604020104020204" pitchFamily="34" charset="0"/>
              </a:rPr>
              <a:t>Refere-se à </a:t>
            </a:r>
            <a:r>
              <a:rPr lang="pt-BR" u="sng" dirty="0">
                <a:latin typeface="Abadi" panose="020B0604020104020204" pitchFamily="34" charset="0"/>
              </a:rPr>
              <a:t>memória extra utilizada pelo algoritmo durante sua execução para cálculos temporários</a:t>
            </a:r>
            <a:r>
              <a:rPr lang="pt-BR" dirty="0">
                <a:latin typeface="Abadi" panose="020B0604020104020204" pitchFamily="34" charset="0"/>
              </a:rPr>
              <a:t>, como estruturas auxiliares ou pilhas de recursão. Este espaço não inclui a entrada ou saída, mas sim o </a:t>
            </a:r>
            <a:r>
              <a:rPr lang="pt-BR" u="sng" dirty="0">
                <a:latin typeface="Abadi" panose="020B0604020104020204" pitchFamily="34" charset="0"/>
              </a:rPr>
              <a:t>espaço adicional utilizado para realizar o processamento</a:t>
            </a:r>
            <a:r>
              <a:rPr lang="pt-BR" dirty="0">
                <a:latin typeface="Abadi" panose="020B0604020104020204" pitchFamily="34" charset="0"/>
              </a:rPr>
              <a:t>.</a:t>
            </a:r>
          </a:p>
          <a:p>
            <a:pPr marL="800100" lvl="1" indent="-342900" algn="just">
              <a:buFont typeface="Arial" panose="020B0604020202020204" pitchFamily="34" charset="0"/>
              <a:buChar char="•"/>
            </a:pPr>
            <a:r>
              <a:rPr lang="pt-BR" dirty="0">
                <a:latin typeface="Abadi" panose="020B0604020104020204" pitchFamily="34" charset="0"/>
              </a:rPr>
              <a:t>Exemplo: Usar um </a:t>
            </a:r>
            <a:r>
              <a:rPr lang="pt-BR" dirty="0" err="1">
                <a:latin typeface="Abadi" panose="020B0604020104020204" pitchFamily="34" charset="0"/>
              </a:rPr>
              <a:t>array</a:t>
            </a:r>
            <a:r>
              <a:rPr lang="pt-BR" dirty="0">
                <a:latin typeface="Abadi" panose="020B0604020104020204" pitchFamily="34" charset="0"/>
              </a:rPr>
              <a:t> ou lista temporária para armazenar dados intermediários ou usar recursão, onde a pilha de chamadas consome memória extra.</a:t>
            </a:r>
          </a:p>
        </p:txBody>
      </p:sp>
    </p:spTree>
    <p:extLst>
      <p:ext uri="{BB962C8B-B14F-4D97-AF65-F5344CB8AC3E}">
        <p14:creationId xmlns:p14="http://schemas.microsoft.com/office/powerpoint/2010/main" val="2665506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33B20-7923-CFA0-2B66-5A79DF94A42E}"/>
            </a:ext>
          </a:extLst>
        </p:cNvPr>
        <p:cNvGrpSpPr/>
        <p:nvPr/>
      </p:nvGrpSpPr>
      <p:grpSpPr>
        <a:xfrm>
          <a:off x="0" y="0"/>
          <a:ext cx="0" cy="0"/>
          <a:chOff x="0" y="0"/>
          <a:chExt cx="0" cy="0"/>
        </a:xfrm>
      </p:grpSpPr>
      <p:sp>
        <p:nvSpPr>
          <p:cNvPr id="9" name="Retângulo: Cantos Superiores Recortados 8">
            <a:extLst>
              <a:ext uri="{FF2B5EF4-FFF2-40B4-BE49-F238E27FC236}">
                <a16:creationId xmlns:a16="http://schemas.microsoft.com/office/drawing/2014/main" id="{4C751449-117D-87C2-D976-0C60A8550174}"/>
              </a:ext>
            </a:extLst>
          </p:cNvPr>
          <p:cNvSpPr/>
          <p:nvPr/>
        </p:nvSpPr>
        <p:spPr>
          <a:xfrm rot="16200000">
            <a:off x="3715426" y="-3552084"/>
            <a:ext cx="649458" cy="808030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Tip</a:t>
            </a:r>
            <a:r>
              <a:rPr lang="pt-BR" sz="3000" dirty="0">
                <a:latin typeface="Abadi" panose="020B0604020104020204" pitchFamily="34" charset="0"/>
              </a:rPr>
              <a:t>os de complexidade </a:t>
            </a:r>
            <a:r>
              <a:rPr lang="pt-BR" sz="3000">
                <a:latin typeface="Abadi" panose="020B0604020104020204" pitchFamily="34" charset="0"/>
              </a:rPr>
              <a:t>de espaço: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(1)</a:t>
            </a:r>
            <a:r>
              <a:rPr lang="pt-BR" sz="1100" dirty="0">
                <a:latin typeface="Abadi" panose="020B0604020104020204" pitchFamily="34" charset="0"/>
              </a:rPr>
              <a:t> </a:t>
            </a:r>
            <a:endParaRPr lang="pt-BR" sz="3000" dirty="0">
              <a:latin typeface="Abadi" panose="020B0604020104020204" pitchFamily="34" charset="0"/>
            </a:endParaRPr>
          </a:p>
        </p:txBody>
      </p:sp>
      <p:sp>
        <p:nvSpPr>
          <p:cNvPr id="3" name="CaixaDeTexto 2">
            <a:extLst>
              <a:ext uri="{FF2B5EF4-FFF2-40B4-BE49-F238E27FC236}">
                <a16:creationId xmlns:a16="http://schemas.microsoft.com/office/drawing/2014/main" id="{A1A00727-5047-773F-91A7-AECA893A2241}"/>
              </a:ext>
            </a:extLst>
          </p:cNvPr>
          <p:cNvSpPr txBox="1"/>
          <p:nvPr/>
        </p:nvSpPr>
        <p:spPr>
          <a:xfrm>
            <a:off x="180546" y="1005165"/>
            <a:ext cx="11837283" cy="1292662"/>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Definição:</a:t>
            </a:r>
            <a:endParaRPr lang="pt-BR" dirty="0">
              <a:solidFill>
                <a:schemeClr val="tx1"/>
              </a:solidFill>
              <a:latin typeface="Abadi" panose="020B0604020104020204" pitchFamily="34" charset="0"/>
              <a:ea typeface="Cambria Math" panose="02040503050406030204" pitchFamily="18" charset="0"/>
            </a:endParaRPr>
          </a:p>
          <a:p>
            <a:pPr marL="285750" indent="-28575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complexidade de espaço </a:t>
            </a:r>
            <a:r>
              <a:rPr lang="pt-BR" dirty="0">
                <a:solidFill>
                  <a:srgbClr val="FFFF00"/>
                </a:solidFill>
                <a:latin typeface="Abadi" panose="020B0604020104020204" pitchFamily="34" charset="0"/>
                <a:ea typeface="Cambria Math" panose="02040503050406030204" pitchFamily="18" charset="0"/>
              </a:rPr>
              <a:t>O(1)</a:t>
            </a:r>
            <a:r>
              <a:rPr lang="pt-BR" dirty="0">
                <a:solidFill>
                  <a:schemeClr val="tx1"/>
                </a:solidFill>
                <a:latin typeface="Abadi" panose="020B0604020104020204" pitchFamily="34" charset="0"/>
                <a:ea typeface="Cambria Math" panose="02040503050406030204" pitchFamily="18" charset="0"/>
              </a:rPr>
              <a:t>, também conhecida como complexidade constante, ocorre quando um algoritmo usa uma quantidade fixa de memória, independentemente do tamanho da entrada (𝑛). Isso significa que o espaço necessário para a execução do algoritmo não varia à medida que a entrada cresce.</a:t>
            </a:r>
            <a:endParaRPr lang="pt-BR" dirty="0">
              <a:solidFill>
                <a:schemeClr val="tx1"/>
              </a:solidFill>
              <a:latin typeface="Abadi" panose="020B0604020104020204" pitchFamily="34" charset="0"/>
            </a:endParaRPr>
          </a:p>
        </p:txBody>
      </p:sp>
      <p:sp>
        <p:nvSpPr>
          <p:cNvPr id="4" name="CaixaDeTexto 3">
            <a:extLst>
              <a:ext uri="{FF2B5EF4-FFF2-40B4-BE49-F238E27FC236}">
                <a16:creationId xmlns:a16="http://schemas.microsoft.com/office/drawing/2014/main" id="{009D4F53-D4A8-CB3D-ECAD-7E305A90A62D}"/>
              </a:ext>
            </a:extLst>
          </p:cNvPr>
          <p:cNvSpPr txBox="1"/>
          <p:nvPr/>
        </p:nvSpPr>
        <p:spPr>
          <a:xfrm>
            <a:off x="180546" y="2490192"/>
            <a:ext cx="11837283" cy="2677656"/>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Características: </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Memória Fixa:</a:t>
            </a:r>
          </a:p>
          <a:p>
            <a:pPr lvl="1" algn="just"/>
            <a:r>
              <a:rPr lang="pt-BR" dirty="0">
                <a:solidFill>
                  <a:schemeClr val="tx1"/>
                </a:solidFill>
                <a:latin typeface="Abadi" panose="020B0604020104020204" pitchFamily="34" charset="0"/>
                <a:ea typeface="Cambria Math" panose="02040503050406030204" pitchFamily="18" charset="0"/>
              </a:rPr>
              <a:t>O algoritmo utiliza uma quantidade predeterminada de memória, sem depender do tamanho dos dados.</a:t>
            </a:r>
          </a:p>
          <a:p>
            <a:pPr lvl="1" algn="just"/>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Independência da entrada:</a:t>
            </a:r>
          </a:p>
          <a:p>
            <a:pPr lvl="1" algn="just"/>
            <a:r>
              <a:rPr lang="pt-BR" dirty="0">
                <a:solidFill>
                  <a:schemeClr val="tx1"/>
                </a:solidFill>
                <a:latin typeface="Abadi" panose="020B0604020104020204" pitchFamily="34" charset="0"/>
                <a:ea typeface="Cambria Math" panose="02040503050406030204" pitchFamily="18" charset="0"/>
              </a:rPr>
              <a:t>O espaço requerido não aumenta com o número de elementos processados.</a:t>
            </a:r>
          </a:p>
          <a:p>
            <a:pPr lvl="1" algn="just"/>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Algoritmos </a:t>
            </a:r>
            <a:r>
              <a:rPr lang="pt-BR" dirty="0" err="1">
                <a:solidFill>
                  <a:schemeClr val="tx1"/>
                </a:solidFill>
                <a:latin typeface="Abadi" panose="020B0604020104020204" pitchFamily="34" charset="0"/>
                <a:ea typeface="Cambria Math" panose="02040503050406030204" pitchFamily="18" charset="0"/>
              </a:rPr>
              <a:t>in-place</a:t>
            </a:r>
            <a:r>
              <a:rPr lang="pt-BR" dirty="0">
                <a:solidFill>
                  <a:schemeClr val="tx1"/>
                </a:solidFill>
                <a:latin typeface="Abadi" panose="020B0604020104020204" pitchFamily="34" charset="0"/>
                <a:ea typeface="Cambria Math" panose="02040503050406030204" pitchFamily="18" charset="0"/>
              </a:rPr>
              <a:t>.</a:t>
            </a:r>
          </a:p>
          <a:p>
            <a:pPr lvl="1" algn="just"/>
            <a:r>
              <a:rPr lang="pt-BR" dirty="0">
                <a:solidFill>
                  <a:schemeClr val="tx1"/>
                </a:solidFill>
                <a:latin typeface="Abadi" panose="020B0604020104020204" pitchFamily="34" charset="0"/>
                <a:ea typeface="Cambria Math" panose="02040503050406030204" pitchFamily="18" charset="0"/>
              </a:rPr>
              <a:t>Muitos algoritmos 𝑂(1) operam diretamente sobre a entrada sem criar estruturas adicionais de dados.</a:t>
            </a:r>
            <a:endParaRPr lang="pt-BR" sz="1400" dirty="0">
              <a:solidFill>
                <a:schemeClr val="tx1"/>
              </a:solidFill>
              <a:latin typeface="Abadi" panose="020B0604020104020204" pitchFamily="34" charset="0"/>
            </a:endParaRPr>
          </a:p>
        </p:txBody>
      </p:sp>
    </p:spTree>
    <p:extLst>
      <p:ext uri="{BB962C8B-B14F-4D97-AF65-F5344CB8AC3E}">
        <p14:creationId xmlns:p14="http://schemas.microsoft.com/office/powerpoint/2010/main" val="4142529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20901-D1C6-8929-94F6-CAEFD0BCB0CC}"/>
            </a:ext>
          </a:extLst>
        </p:cNvPr>
        <p:cNvGrpSpPr/>
        <p:nvPr/>
      </p:nvGrpSpPr>
      <p:grpSpPr>
        <a:xfrm>
          <a:off x="0" y="0"/>
          <a:ext cx="0" cy="0"/>
          <a:chOff x="0" y="0"/>
          <a:chExt cx="0" cy="0"/>
        </a:xfrm>
      </p:grpSpPr>
      <p:sp>
        <p:nvSpPr>
          <p:cNvPr id="9" name="Retângulo: Cantos Superiores Recortados 8">
            <a:extLst>
              <a:ext uri="{FF2B5EF4-FFF2-40B4-BE49-F238E27FC236}">
                <a16:creationId xmlns:a16="http://schemas.microsoft.com/office/drawing/2014/main" id="{51D94FE0-794C-4ABA-1FFB-03B07D2285FF}"/>
              </a:ext>
            </a:extLst>
          </p:cNvPr>
          <p:cNvSpPr/>
          <p:nvPr/>
        </p:nvSpPr>
        <p:spPr>
          <a:xfrm rot="16200000">
            <a:off x="3715426" y="-3552084"/>
            <a:ext cx="649458" cy="808030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Exemplos de</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(1)</a:t>
            </a:r>
            <a:r>
              <a:rPr lang="pt-BR" sz="1100" dirty="0">
                <a:latin typeface="Abadi" panose="020B0604020104020204" pitchFamily="34" charset="0"/>
              </a:rPr>
              <a:t> </a:t>
            </a:r>
            <a:endParaRPr lang="pt-BR" sz="3000" dirty="0">
              <a:latin typeface="Abadi" panose="020B0604020104020204" pitchFamily="34" charset="0"/>
            </a:endParaRPr>
          </a:p>
        </p:txBody>
      </p:sp>
      <p:sp>
        <p:nvSpPr>
          <p:cNvPr id="4" name="CaixaDeTexto 3">
            <a:extLst>
              <a:ext uri="{FF2B5EF4-FFF2-40B4-BE49-F238E27FC236}">
                <a16:creationId xmlns:a16="http://schemas.microsoft.com/office/drawing/2014/main" id="{46F84379-E999-B5E5-7A4D-CF34C5D2A676}"/>
              </a:ext>
            </a:extLst>
          </p:cNvPr>
          <p:cNvSpPr txBox="1"/>
          <p:nvPr/>
        </p:nvSpPr>
        <p:spPr>
          <a:xfrm>
            <a:off x="177358" y="922648"/>
            <a:ext cx="5821449" cy="3693319"/>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dirty="0">
                <a:solidFill>
                  <a:schemeClr val="tx1"/>
                </a:solidFill>
                <a:latin typeface="Abadi" panose="020B0604020104020204" pitchFamily="34" charset="0"/>
                <a:ea typeface="Cambria Math" panose="02040503050406030204" pitchFamily="18" charset="0"/>
              </a:rPr>
              <a:t>Exemplos Reais:</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Verificar se um número é par ou ímpar:</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Apenas uma variável é usada para armazenar o número e realizar o cálculo.</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Troca de valores entre duas variáveis: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Requer três variáveis no máximo (duas de entrada e uma temporária).</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Busca linear para um valor específico:</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Mesmo que o tempo seja O(n), o espaço adicional para a busca é O(1), já que nenhuma estrutura extra é criada.</a:t>
            </a:r>
          </a:p>
        </p:txBody>
      </p:sp>
      <p:pic>
        <p:nvPicPr>
          <p:cNvPr id="15" name="Imagem 14">
            <a:extLst>
              <a:ext uri="{FF2B5EF4-FFF2-40B4-BE49-F238E27FC236}">
                <a16:creationId xmlns:a16="http://schemas.microsoft.com/office/drawing/2014/main" id="{8018C7CD-B8B7-D1E4-D2D0-270407B97462}"/>
              </a:ext>
            </a:extLst>
          </p:cNvPr>
          <p:cNvPicPr>
            <a:picLocks noChangeAspect="1"/>
          </p:cNvPicPr>
          <p:nvPr/>
        </p:nvPicPr>
        <p:blipFill>
          <a:blip r:embed="rId2"/>
          <a:stretch>
            <a:fillRect/>
          </a:stretch>
        </p:blipFill>
        <p:spPr>
          <a:xfrm>
            <a:off x="6193195" y="922648"/>
            <a:ext cx="5687786" cy="3694403"/>
          </a:xfrm>
          <a:prstGeom prst="rect">
            <a:avLst/>
          </a:prstGeom>
        </p:spPr>
      </p:pic>
      <p:sp>
        <p:nvSpPr>
          <p:cNvPr id="16" name="CaixaDeTexto 15">
            <a:extLst>
              <a:ext uri="{FF2B5EF4-FFF2-40B4-BE49-F238E27FC236}">
                <a16:creationId xmlns:a16="http://schemas.microsoft.com/office/drawing/2014/main" id="{3B087C4B-8E14-3FDF-3072-2477E62E9E11}"/>
              </a:ext>
            </a:extLst>
          </p:cNvPr>
          <p:cNvSpPr txBox="1"/>
          <p:nvPr/>
        </p:nvSpPr>
        <p:spPr>
          <a:xfrm>
            <a:off x="6193195" y="4726899"/>
            <a:ext cx="5687786" cy="1200329"/>
          </a:xfrm>
          <a:prstGeom prst="rect">
            <a:avLst/>
          </a:prstGeom>
          <a:noFill/>
          <a:ln w="28575">
            <a:solidFill>
              <a:srgbClr val="123D52"/>
            </a:solidFill>
          </a:ln>
        </p:spPr>
        <p:txBody>
          <a:bodyPr wrap="square">
            <a:spAutoFit/>
          </a:bodyPr>
          <a:lstStyle/>
          <a:p>
            <a:pPr algn="just"/>
            <a:r>
              <a:rPr lang="pt-BR" dirty="0">
                <a:latin typeface="Abadi" panose="020B0604020104020204" pitchFamily="34" charset="0"/>
              </a:rPr>
              <a:t>Por que é O(1)?</a:t>
            </a:r>
          </a:p>
          <a:p>
            <a:pPr algn="just"/>
            <a:r>
              <a:rPr lang="pt-BR" dirty="0">
                <a:latin typeface="Abadi" panose="020B0604020104020204" pitchFamily="34" charset="0"/>
              </a:rPr>
              <a:t>O algoritmo não utiliza memória adicional além das variáveis fixas (uma para o índice e outra para o valor do elemento).</a:t>
            </a:r>
          </a:p>
        </p:txBody>
      </p:sp>
    </p:spTree>
    <p:extLst>
      <p:ext uri="{BB962C8B-B14F-4D97-AF65-F5344CB8AC3E}">
        <p14:creationId xmlns:p14="http://schemas.microsoft.com/office/powerpoint/2010/main" val="937398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9851D-27B2-ADC0-88FA-A12E7E64784A}"/>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7211297C-7FED-64EC-A79F-DCF716D667E9}"/>
              </a:ext>
            </a:extLst>
          </p:cNvPr>
          <p:cNvSpPr/>
          <p:nvPr/>
        </p:nvSpPr>
        <p:spPr>
          <a:xfrm>
            <a:off x="0" y="1046480"/>
            <a:ext cx="12192000" cy="58115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Cantos Superiores Recortados 8">
            <a:extLst>
              <a:ext uri="{FF2B5EF4-FFF2-40B4-BE49-F238E27FC236}">
                <a16:creationId xmlns:a16="http://schemas.microsoft.com/office/drawing/2014/main" id="{426F2BF5-CC6D-AFDD-EA39-E3AD59DFD912}"/>
              </a:ext>
            </a:extLst>
          </p:cNvPr>
          <p:cNvSpPr/>
          <p:nvPr/>
        </p:nvSpPr>
        <p:spPr>
          <a:xfrm rot="16200000">
            <a:off x="1260232" y="-1096889"/>
            <a:ext cx="649458" cy="316991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Gráfico do</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(1)</a:t>
            </a:r>
          </a:p>
        </p:txBody>
      </p:sp>
      <p:pic>
        <p:nvPicPr>
          <p:cNvPr id="4" name="Imagem 3">
            <a:extLst>
              <a:ext uri="{FF2B5EF4-FFF2-40B4-BE49-F238E27FC236}">
                <a16:creationId xmlns:a16="http://schemas.microsoft.com/office/drawing/2014/main" id="{A9DCF736-0094-AA8F-D21A-8F1E924AD4FE}"/>
              </a:ext>
            </a:extLst>
          </p:cNvPr>
          <p:cNvPicPr>
            <a:picLocks noChangeAspect="1"/>
          </p:cNvPicPr>
          <p:nvPr/>
        </p:nvPicPr>
        <p:blipFill>
          <a:blip r:embed="rId2"/>
          <a:srcRect l="17272" r="15305"/>
          <a:stretch/>
        </p:blipFill>
        <p:spPr>
          <a:xfrm>
            <a:off x="1739330" y="1046480"/>
            <a:ext cx="8713340" cy="5791328"/>
          </a:xfrm>
          <a:prstGeom prst="rect">
            <a:avLst/>
          </a:prstGeom>
        </p:spPr>
      </p:pic>
    </p:spTree>
    <p:extLst>
      <p:ext uri="{BB962C8B-B14F-4D97-AF65-F5344CB8AC3E}">
        <p14:creationId xmlns:p14="http://schemas.microsoft.com/office/powerpoint/2010/main" val="606945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AFEAE-8B3A-C061-6E13-A0597FCBCC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4A8FC8D5-8887-B5C4-16F4-612F6D30D6DE}"/>
                  </a:ext>
                </a:extLst>
              </p:cNvPr>
              <p:cNvSpPr/>
              <p:nvPr/>
            </p:nvSpPr>
            <p:spPr>
              <a:xfrm rot="16200000">
                <a:off x="3477499" y="-3314155"/>
                <a:ext cx="649458" cy="760444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lgn="r">
                  <a:buFont typeface="Wingdings" panose="05000000000000000000" pitchFamily="2" charset="2"/>
                  <a:buChar char="Ø"/>
                </a:pPr>
                <a:r>
                  <a:rPr lang="pt-BR" sz="3000" dirty="0">
                    <a:solidFill>
                      <a:schemeClr val="tx1"/>
                    </a:solidFill>
                    <a:latin typeface="Abadi" panose="020B0604020104020204" pitchFamily="34" charset="0"/>
                  </a:rPr>
                  <a:t>Tip</a:t>
                </a:r>
                <a:r>
                  <a:rPr lang="pt-BR" sz="3000" dirty="0">
                    <a:latin typeface="Abadi" panose="020B0604020104020204" pitchFamily="34" charset="0"/>
                  </a:rPr>
                  <a:t>os de complexidade de espaço: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m:rPr>
                        <m:sty m:val="p"/>
                      </m:rPr>
                      <a:rPr lang="pt-BR" sz="3000" i="1" dirty="0" smtClean="0">
                        <a:latin typeface="Cambria Math" panose="02040503050406030204" pitchFamily="18" charset="0"/>
                      </a:rPr>
                      <m:t>log</m:t>
                    </m:r>
                    <m:r>
                      <a:rPr lang="pt-BR" sz="3000" i="1" dirty="0" smtClean="0">
                        <a:latin typeface="Cambria Math" panose="02040503050406030204" pitchFamily="18" charset="0"/>
                      </a:rPr>
                      <m:t>⁡</m:t>
                    </m:r>
                    <m:r>
                      <a:rPr lang="pt-BR" sz="3000" i="1" dirty="0" smtClean="0">
                        <a:latin typeface="Cambria Math" panose="02040503050406030204" pitchFamily="18" charset="0"/>
                      </a:rPr>
                      <m:t>𝑛</m:t>
                    </m:r>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4A8FC8D5-8887-B5C4-16F4-612F6D30D6DE}"/>
                  </a:ext>
                </a:extLst>
              </p:cNvPr>
              <p:cNvSpPr>
                <a:spLocks noRot="1" noChangeAspect="1" noMove="1" noResize="1" noEditPoints="1" noAdjustHandles="1" noChangeArrowheads="1" noChangeShapeType="1" noTextEdit="1"/>
              </p:cNvSpPr>
              <p:nvPr/>
            </p:nvSpPr>
            <p:spPr>
              <a:xfrm rot="16200000">
                <a:off x="3477499" y="-3314155"/>
                <a:ext cx="649458" cy="7604449"/>
              </a:xfrm>
              <a:prstGeom prst="snip2SameRect">
                <a:avLst>
                  <a:gd name="adj1" fmla="val 0"/>
                  <a:gd name="adj2" fmla="val 15195"/>
                </a:avLst>
              </a:prstGeom>
              <a:blipFill>
                <a:blip r:embed="rId2"/>
                <a:stretch>
                  <a:fillRect l="-1518" t="-4505" r="-1597" b="-18018"/>
                </a:stretch>
              </a:blipFill>
              <a:ln w="28575">
                <a:solidFill>
                  <a:schemeClr val="tx2"/>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C0F36C30-D223-EB57-769A-82C5956F7DCC}"/>
                  </a:ext>
                </a:extLst>
              </p:cNvPr>
              <p:cNvSpPr txBox="1"/>
              <p:nvPr/>
            </p:nvSpPr>
            <p:spPr>
              <a:xfrm>
                <a:off x="180546" y="1005165"/>
                <a:ext cx="11837283" cy="1569660"/>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Definição:</a:t>
                </a:r>
                <a:endParaRPr lang="pt-BR" dirty="0">
                  <a:solidFill>
                    <a:schemeClr val="tx1"/>
                  </a:solidFill>
                  <a:latin typeface="Abadi" panose="020B0604020104020204" pitchFamily="34" charset="0"/>
                  <a:ea typeface="Cambria Math" panose="02040503050406030204" pitchFamily="18" charset="0"/>
                </a:endParaRPr>
              </a:p>
              <a:p>
                <a:pPr marL="285750" indent="-28575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complexidade de espaço </a:t>
                </a:r>
                <a:r>
                  <a:rPr lang="pt-BR" dirty="0">
                    <a:solidFill>
                      <a:srgbClr val="FFFF00"/>
                    </a:solidFill>
                    <a:latin typeface="Abadi" panose="020B0604020104020204" pitchFamily="34" charset="0"/>
                    <a:ea typeface="Cambria Math" panose="02040503050406030204" pitchFamily="18" charset="0"/>
                  </a:rPr>
                  <a:t>O(</a:t>
                </a:r>
                <a14:m>
                  <m:oMath xmlns:m="http://schemas.openxmlformats.org/officeDocument/2006/math">
                    <m:r>
                      <m:rPr>
                        <m:sty m:val="p"/>
                      </m:rPr>
                      <a:rPr lang="pt-BR" i="1" dirty="0" smtClean="0">
                        <a:solidFill>
                          <a:srgbClr val="FFFF00"/>
                        </a:solidFill>
                        <a:latin typeface="Cambria Math" panose="02040503050406030204" pitchFamily="18" charset="0"/>
                        <a:ea typeface="Cambria Math" panose="02040503050406030204" pitchFamily="18" charset="0"/>
                      </a:rPr>
                      <m:t>log</m:t>
                    </m:r>
                    <m:r>
                      <a:rPr lang="pt-BR" i="1" dirty="0" smtClean="0">
                        <a:solidFill>
                          <a:srgbClr val="FFFF00"/>
                        </a:solidFill>
                        <a:latin typeface="Cambria Math" panose="02040503050406030204" pitchFamily="18" charset="0"/>
                        <a:ea typeface="Cambria Math" panose="02040503050406030204" pitchFamily="18" charset="0"/>
                      </a:rPr>
                      <m:t>⁡</m:t>
                    </m:r>
                    <m:r>
                      <a:rPr lang="pt-BR" i="1" dirty="0" smtClean="0">
                        <a:solidFill>
                          <a:srgbClr val="FFFF00"/>
                        </a:solidFill>
                        <a:latin typeface="Cambria Math" panose="02040503050406030204" pitchFamily="18" charset="0"/>
                        <a:ea typeface="Cambria Math" panose="02040503050406030204" pitchFamily="18" charset="0"/>
                      </a:rPr>
                      <m:t>𝑛</m:t>
                    </m:r>
                  </m:oMath>
                </a14:m>
                <a:r>
                  <a:rPr lang="pt-BR" dirty="0">
                    <a:solidFill>
                      <a:srgbClr val="FFFF00"/>
                    </a:solidFill>
                    <a:latin typeface="Abadi" panose="020B0604020104020204" pitchFamily="34" charset="0"/>
                    <a:ea typeface="Cambria Math" panose="02040503050406030204" pitchFamily="18" charset="0"/>
                  </a:rPr>
                  <a:t>)</a:t>
                </a:r>
                <a:r>
                  <a:rPr lang="pt-BR" dirty="0">
                    <a:solidFill>
                      <a:schemeClr val="tx1"/>
                    </a:solidFill>
                    <a:latin typeface="Abadi" panose="020B0604020104020204" pitchFamily="34" charset="0"/>
                    <a:ea typeface="Cambria Math" panose="02040503050406030204" pitchFamily="18" charset="0"/>
                  </a:rPr>
                  <a:t>, ou logarítmica, ocorre quando o consumo de memória adicional de um algoritmo cresce de forma proporcional ao logaritmo do tamanho da entrada (𝑛). Isso geralmente aparece em </a:t>
                </a:r>
                <a:r>
                  <a:rPr lang="pt-BR" u="sng" dirty="0">
                    <a:solidFill>
                      <a:schemeClr val="tx1"/>
                    </a:solidFill>
                    <a:latin typeface="Abadi" panose="020B0604020104020204" pitchFamily="34" charset="0"/>
                    <a:ea typeface="Cambria Math" panose="02040503050406030204" pitchFamily="18" charset="0"/>
                  </a:rPr>
                  <a:t>algoritmos que dividem o problema em partes menores de forma repetitiva, reduzindo o tamanho dos dados processados em cada etapa</a:t>
                </a:r>
                <a:r>
                  <a:rPr lang="pt-BR" dirty="0">
                    <a:solidFill>
                      <a:schemeClr val="tx1"/>
                    </a:solidFill>
                    <a:latin typeface="Abadi" panose="020B0604020104020204" pitchFamily="34" charset="0"/>
                    <a:ea typeface="Cambria Math" panose="02040503050406030204" pitchFamily="18" charset="0"/>
                  </a:rPr>
                  <a:t>.</a:t>
                </a:r>
                <a:endParaRPr lang="pt-BR" dirty="0">
                  <a:solidFill>
                    <a:schemeClr val="tx1"/>
                  </a:solidFill>
                  <a:latin typeface="Abadi" panose="020B0604020104020204" pitchFamily="34" charset="0"/>
                </a:endParaRPr>
              </a:p>
            </p:txBody>
          </p:sp>
        </mc:Choice>
        <mc:Fallback xmlns="">
          <p:sp>
            <p:nvSpPr>
              <p:cNvPr id="3" name="CaixaDeTexto 2">
                <a:extLst>
                  <a:ext uri="{FF2B5EF4-FFF2-40B4-BE49-F238E27FC236}">
                    <a16:creationId xmlns:a16="http://schemas.microsoft.com/office/drawing/2014/main" id="{C0F36C30-D223-EB57-769A-82C5956F7DCC}"/>
                  </a:ext>
                </a:extLst>
              </p:cNvPr>
              <p:cNvSpPr txBox="1">
                <a:spLocks noRot="1" noChangeAspect="1" noMove="1" noResize="1" noEditPoints="1" noAdjustHandles="1" noChangeArrowheads="1" noChangeShapeType="1" noTextEdit="1"/>
              </p:cNvSpPr>
              <p:nvPr/>
            </p:nvSpPr>
            <p:spPr>
              <a:xfrm>
                <a:off x="180546" y="1005165"/>
                <a:ext cx="11837283" cy="1569660"/>
              </a:xfrm>
              <a:prstGeom prst="rect">
                <a:avLst/>
              </a:prstGeom>
              <a:blipFill>
                <a:blip r:embed="rId3"/>
                <a:stretch>
                  <a:fillRect l="-719" t="-2290" r="-308" b="-4198"/>
                </a:stretch>
              </a:blipFill>
              <a:ln w="28575">
                <a:solidFill>
                  <a:srgbClr val="123D5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1410652D-3015-2932-E7F8-4D69F409B927}"/>
              </a:ext>
            </a:extLst>
          </p:cNvPr>
          <p:cNvSpPr txBox="1"/>
          <p:nvPr/>
        </p:nvSpPr>
        <p:spPr>
          <a:xfrm>
            <a:off x="177358" y="2767190"/>
            <a:ext cx="11837283" cy="2954655"/>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Características: </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Problema reduzido progressivamente:</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O tamanho da entrada é dividido por um fator constante em cada etapa, como na divisão pela metade.</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Espaço adicional usado por chamadas recursivas: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memória para a pilha de recursão cresce de maneira logarítmica, pois o número de chamadas é proporcional a 𝑛 log.</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Estruturas auxiliares eficientes: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Usado em algoritmos que precisam de memória auxiliar mínima.</a:t>
            </a:r>
            <a:endParaRPr lang="pt-BR" sz="1400" dirty="0">
              <a:solidFill>
                <a:schemeClr val="tx1"/>
              </a:solidFill>
              <a:latin typeface="Abadi" panose="020B0604020104020204" pitchFamily="34" charset="0"/>
            </a:endParaRPr>
          </a:p>
        </p:txBody>
      </p:sp>
    </p:spTree>
    <p:extLst>
      <p:ext uri="{BB962C8B-B14F-4D97-AF65-F5344CB8AC3E}">
        <p14:creationId xmlns:p14="http://schemas.microsoft.com/office/powerpoint/2010/main" val="95615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5B29C-EF1A-3402-CC01-C3AD5A8B4EF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5967BE08-90E7-29DA-5195-6E9CA541731E}"/>
                  </a:ext>
                </a:extLst>
              </p:cNvPr>
              <p:cNvSpPr/>
              <p:nvPr/>
            </p:nvSpPr>
            <p:spPr>
              <a:xfrm rot="16200000">
                <a:off x="2222492" y="-2059149"/>
                <a:ext cx="649458" cy="5094438"/>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Exemplos de</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m:rPr>
                        <m:sty m:val="p"/>
                      </m:rPr>
                      <a:rPr lang="pt-BR" sz="3000" i="1" dirty="0" smtClean="0">
                        <a:latin typeface="Cambria Math" panose="02040503050406030204" pitchFamily="18" charset="0"/>
                      </a:rPr>
                      <m:t>log</m:t>
                    </m:r>
                    <m:r>
                      <a:rPr lang="pt-BR" sz="3000" i="1" dirty="0" smtClean="0">
                        <a:latin typeface="Cambria Math" panose="02040503050406030204" pitchFamily="18" charset="0"/>
                      </a:rPr>
                      <m:t>⁡</m:t>
                    </m:r>
                    <m:r>
                      <a:rPr lang="pt-BR" sz="3000" i="1" dirty="0" smtClean="0">
                        <a:latin typeface="Cambria Math" panose="02040503050406030204" pitchFamily="18" charset="0"/>
                      </a:rPr>
                      <m:t>𝑛</m:t>
                    </m:r>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5967BE08-90E7-29DA-5195-6E9CA541731E}"/>
                  </a:ext>
                </a:extLst>
              </p:cNvPr>
              <p:cNvSpPr>
                <a:spLocks noRot="1" noChangeAspect="1" noMove="1" noResize="1" noEditPoints="1" noAdjustHandles="1" noChangeArrowheads="1" noChangeShapeType="1" noTextEdit="1"/>
              </p:cNvSpPr>
              <p:nvPr/>
            </p:nvSpPr>
            <p:spPr>
              <a:xfrm rot="16200000">
                <a:off x="2222492" y="-2059149"/>
                <a:ext cx="649458" cy="5094438"/>
              </a:xfrm>
              <a:prstGeom prst="snip2SameRect">
                <a:avLst>
                  <a:gd name="adj1" fmla="val 0"/>
                  <a:gd name="adj2" fmla="val 15195"/>
                </a:avLst>
              </a:prstGeom>
              <a:blipFill>
                <a:blip r:embed="rId2"/>
                <a:stretch>
                  <a:fillRect l="-3092" t="-4505" b="-18919"/>
                </a:stretch>
              </a:blipFill>
              <a:ln w="28575">
                <a:solidFill>
                  <a:schemeClr val="tx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2E8F37D8-9EF1-A9EC-DC05-4D171762A7EC}"/>
              </a:ext>
            </a:extLst>
          </p:cNvPr>
          <p:cNvSpPr txBox="1"/>
          <p:nvPr/>
        </p:nvSpPr>
        <p:spPr>
          <a:xfrm>
            <a:off x="84052" y="884814"/>
            <a:ext cx="5094438" cy="3970318"/>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dirty="0">
                <a:solidFill>
                  <a:schemeClr val="tx1"/>
                </a:solidFill>
                <a:latin typeface="Abadi" panose="020B0604020104020204" pitchFamily="34" charset="0"/>
                <a:ea typeface="Cambria Math" panose="02040503050406030204" pitchFamily="18" charset="0"/>
              </a:rPr>
              <a:t>Exemplos Reais:</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Busca Binária: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Reduz a metade do intervalo de busca em cada etapa.</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Algoritmos de Divisão e Conquista: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Como no Merge </a:t>
            </a:r>
            <a:r>
              <a:rPr lang="pt-BR" dirty="0" err="1">
                <a:solidFill>
                  <a:schemeClr val="tx1"/>
                </a:solidFill>
                <a:latin typeface="Abadi" panose="020B0604020104020204" pitchFamily="34" charset="0"/>
                <a:ea typeface="Cambria Math" panose="02040503050406030204" pitchFamily="18" charset="0"/>
              </a:rPr>
              <a:t>Sort</a:t>
            </a:r>
            <a:r>
              <a:rPr lang="pt-BR" dirty="0">
                <a:solidFill>
                  <a:schemeClr val="tx1"/>
                </a:solidFill>
                <a:latin typeface="Abadi" panose="020B0604020104020204" pitchFamily="34" charset="0"/>
                <a:ea typeface="Cambria Math" panose="02040503050406030204" pitchFamily="18" charset="0"/>
              </a:rPr>
              <a:t> ou Quick </a:t>
            </a:r>
            <a:r>
              <a:rPr lang="pt-BR" dirty="0" err="1">
                <a:solidFill>
                  <a:schemeClr val="tx1"/>
                </a:solidFill>
                <a:latin typeface="Abadi" panose="020B0604020104020204" pitchFamily="34" charset="0"/>
                <a:ea typeface="Cambria Math" panose="02040503050406030204" pitchFamily="18" charset="0"/>
              </a:rPr>
              <a:t>Sort</a:t>
            </a:r>
            <a:r>
              <a:rPr lang="pt-BR" dirty="0">
                <a:solidFill>
                  <a:schemeClr val="tx1"/>
                </a:solidFill>
                <a:latin typeface="Abadi" panose="020B0604020104020204" pitchFamily="34" charset="0"/>
                <a:ea typeface="Cambria Math" panose="02040503050406030204" pitchFamily="18" charset="0"/>
              </a:rPr>
              <a:t>, o espaço para chamadas recursivas pode ser O(log ⁡𝑛) se bem implementados..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Navegação em Árvore Binária Balanceada: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Mesmo que o tempo seja O(n), o espaço adicional para a busca é O(1), já que nenhuma estrutura extra é criada.</a:t>
            </a: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20DDD418-D9B9-33F2-01EC-ABB40B6F2F1D}"/>
                  </a:ext>
                </a:extLst>
              </p:cNvPr>
              <p:cNvSpPr txBox="1"/>
              <p:nvPr/>
            </p:nvSpPr>
            <p:spPr>
              <a:xfrm>
                <a:off x="5310633" y="5322577"/>
                <a:ext cx="6665169" cy="1477328"/>
              </a:xfrm>
              <a:prstGeom prst="rect">
                <a:avLst/>
              </a:prstGeom>
              <a:noFill/>
              <a:ln w="28575">
                <a:solidFill>
                  <a:srgbClr val="123D52"/>
                </a:solidFill>
              </a:ln>
            </p:spPr>
            <p:txBody>
              <a:bodyPr wrap="square">
                <a:spAutoFit/>
              </a:bodyPr>
              <a:lstStyle/>
              <a:p>
                <a:pPr algn="just"/>
                <a:r>
                  <a:rPr lang="pt-BR" dirty="0">
                    <a:latin typeface="Abadi" panose="020B0604020104020204" pitchFamily="34" charset="0"/>
                  </a:rPr>
                  <a:t>Por que é O(</a:t>
                </a:r>
                <a14:m>
                  <m:oMath xmlns:m="http://schemas.openxmlformats.org/officeDocument/2006/math">
                    <m:r>
                      <m:rPr>
                        <m:sty m:val="p"/>
                      </m:rPr>
                      <a:rPr lang="pt-BR" sz="1800" i="1" dirty="0" smtClean="0">
                        <a:latin typeface="Cambria Math" panose="02040503050406030204" pitchFamily="18" charset="0"/>
                      </a:rPr>
                      <m:t>log</m:t>
                    </m:r>
                    <m:r>
                      <a:rPr lang="pt-BR" sz="1800" i="1" dirty="0" smtClean="0">
                        <a:latin typeface="Cambria Math" panose="02040503050406030204" pitchFamily="18" charset="0"/>
                      </a:rPr>
                      <m:t>⁡</m:t>
                    </m:r>
                    <m:r>
                      <a:rPr lang="pt-BR" sz="1800" i="1" dirty="0" smtClean="0">
                        <a:latin typeface="Cambria Math" panose="02040503050406030204" pitchFamily="18" charset="0"/>
                      </a:rPr>
                      <m:t>𝑛</m:t>
                    </m:r>
                  </m:oMath>
                </a14:m>
                <a:r>
                  <a:rPr lang="pt-BR" dirty="0">
                    <a:latin typeface="Abadi" panose="020B0604020104020204" pitchFamily="34" charset="0"/>
                  </a:rPr>
                  <a:t>)?</a:t>
                </a:r>
              </a:p>
              <a:p>
                <a:pPr algn="just"/>
                <a:r>
                  <a:rPr lang="pt-BR" dirty="0">
                    <a:latin typeface="Abadi" panose="020B0604020104020204" pitchFamily="34" charset="0"/>
                  </a:rPr>
                  <a:t>Cada chamada recursiva consome um pequeno espaço adicional na pilha. Como a busca binária divide o problema pela metade em cada passo, o número de chamadas recursivas é proporcional a log⁡ 𝑛.</a:t>
                </a:r>
              </a:p>
            </p:txBody>
          </p:sp>
        </mc:Choice>
        <mc:Fallback xmlns="">
          <p:sp>
            <p:nvSpPr>
              <p:cNvPr id="16" name="CaixaDeTexto 15">
                <a:extLst>
                  <a:ext uri="{FF2B5EF4-FFF2-40B4-BE49-F238E27FC236}">
                    <a16:creationId xmlns:a16="http://schemas.microsoft.com/office/drawing/2014/main" id="{20DDD418-D9B9-33F2-01EC-ABB40B6F2F1D}"/>
                  </a:ext>
                </a:extLst>
              </p:cNvPr>
              <p:cNvSpPr txBox="1">
                <a:spLocks noRot="1" noChangeAspect="1" noMove="1" noResize="1" noEditPoints="1" noAdjustHandles="1" noChangeArrowheads="1" noChangeShapeType="1" noTextEdit="1"/>
              </p:cNvSpPr>
              <p:nvPr/>
            </p:nvSpPr>
            <p:spPr>
              <a:xfrm>
                <a:off x="5310633" y="5322577"/>
                <a:ext cx="6665169" cy="1477328"/>
              </a:xfrm>
              <a:prstGeom prst="rect">
                <a:avLst/>
              </a:prstGeom>
              <a:blipFill>
                <a:blip r:embed="rId3"/>
                <a:stretch>
                  <a:fillRect l="-546" t="-1215" r="-455" b="-4453"/>
                </a:stretch>
              </a:blipFill>
              <a:ln w="28575">
                <a:solidFill>
                  <a:srgbClr val="123D52"/>
                </a:solidFill>
              </a:ln>
            </p:spPr>
            <p:txBody>
              <a:bodyPr/>
              <a:lstStyle/>
              <a:p>
                <a:r>
                  <a:rPr lang="pt-BR">
                    <a:noFill/>
                  </a:rPr>
                  <a:t> </a:t>
                </a:r>
              </a:p>
            </p:txBody>
          </p:sp>
        </mc:Fallback>
      </mc:AlternateContent>
      <p:pic>
        <p:nvPicPr>
          <p:cNvPr id="6" name="Imagem 5">
            <a:extLst>
              <a:ext uri="{FF2B5EF4-FFF2-40B4-BE49-F238E27FC236}">
                <a16:creationId xmlns:a16="http://schemas.microsoft.com/office/drawing/2014/main" id="{FC88B8E5-C67C-E8EC-2F8C-B39C9B88BE18}"/>
              </a:ext>
            </a:extLst>
          </p:cNvPr>
          <p:cNvPicPr>
            <a:picLocks noChangeAspect="1"/>
          </p:cNvPicPr>
          <p:nvPr/>
        </p:nvPicPr>
        <p:blipFill>
          <a:blip r:embed="rId4"/>
          <a:stretch>
            <a:fillRect/>
          </a:stretch>
        </p:blipFill>
        <p:spPr>
          <a:xfrm>
            <a:off x="5271796" y="292984"/>
            <a:ext cx="6742845" cy="4876981"/>
          </a:xfrm>
          <a:prstGeom prst="rect">
            <a:avLst/>
          </a:prstGeom>
        </p:spPr>
      </p:pic>
    </p:spTree>
    <p:extLst>
      <p:ext uri="{BB962C8B-B14F-4D97-AF65-F5344CB8AC3E}">
        <p14:creationId xmlns:p14="http://schemas.microsoft.com/office/powerpoint/2010/main" val="3454208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2B2F549C-914A-082B-F8BE-20F813C63FC5}"/>
              </a:ext>
            </a:extLst>
          </p:cNvPr>
          <p:cNvSpPr/>
          <p:nvPr/>
        </p:nvSpPr>
        <p:spPr>
          <a:xfrm>
            <a:off x="0" y="1046480"/>
            <a:ext cx="12192000" cy="58115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 name="Retângulo: Cantos Superiores Recortados 4">
                <a:extLst>
                  <a:ext uri="{FF2B5EF4-FFF2-40B4-BE49-F238E27FC236}">
                    <a16:creationId xmlns:a16="http://schemas.microsoft.com/office/drawing/2014/main" id="{FC98C4A1-6695-5120-3FD9-D3A9509CCA1B}"/>
                  </a:ext>
                </a:extLst>
              </p:cNvPr>
              <p:cNvSpPr/>
              <p:nvPr/>
            </p:nvSpPr>
            <p:spPr>
              <a:xfrm rot="16200000">
                <a:off x="1518068" y="-1354725"/>
                <a:ext cx="649458" cy="3685591"/>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Gráfico do</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m:rPr>
                        <m:sty m:val="p"/>
                      </m:rPr>
                      <a:rPr lang="pt-BR" sz="3000" i="1" dirty="0" smtClean="0">
                        <a:latin typeface="Cambria Math" panose="02040503050406030204" pitchFamily="18" charset="0"/>
                        <a:ea typeface="Cambria Math" panose="02040503050406030204" pitchFamily="18" charset="0"/>
                      </a:rPr>
                      <m:t>log</m:t>
                    </m:r>
                    <m:r>
                      <a:rPr lang="pt-BR" sz="3000" i="1" dirty="0" smtClean="0">
                        <a:latin typeface="Cambria Math" panose="02040503050406030204" pitchFamily="18" charset="0"/>
                        <a:ea typeface="Cambria Math" panose="02040503050406030204" pitchFamily="18" charset="0"/>
                      </a:rPr>
                      <m:t>⁡</m:t>
                    </m:r>
                    <m:r>
                      <a:rPr lang="pt-BR" sz="3000" i="1" dirty="0" smtClean="0">
                        <a:latin typeface="Cambria Math" panose="02040503050406030204" pitchFamily="18" charset="0"/>
                        <a:ea typeface="Cambria Math" panose="02040503050406030204" pitchFamily="18" charset="0"/>
                      </a:rPr>
                      <m:t>𝑛</m:t>
                    </m:r>
                  </m:oMath>
                </a14:m>
                <a:r>
                  <a:rPr lang="pt-BR" sz="3000" dirty="0">
                    <a:latin typeface="Abadi" panose="020B0604020104020204" pitchFamily="34" charset="0"/>
                  </a:rPr>
                  <a:t>)</a:t>
                </a:r>
              </a:p>
            </p:txBody>
          </p:sp>
        </mc:Choice>
        <mc:Fallback xmlns="">
          <p:sp>
            <p:nvSpPr>
              <p:cNvPr id="5" name="Retângulo: Cantos Superiores Recortados 4">
                <a:extLst>
                  <a:ext uri="{FF2B5EF4-FFF2-40B4-BE49-F238E27FC236}">
                    <a16:creationId xmlns:a16="http://schemas.microsoft.com/office/drawing/2014/main" id="{FC98C4A1-6695-5120-3FD9-D3A9509CCA1B}"/>
                  </a:ext>
                </a:extLst>
              </p:cNvPr>
              <p:cNvSpPr>
                <a:spLocks noRot="1" noChangeAspect="1" noMove="1" noResize="1" noEditPoints="1" noAdjustHandles="1" noChangeArrowheads="1" noChangeShapeType="1" noTextEdit="1"/>
              </p:cNvSpPr>
              <p:nvPr/>
            </p:nvSpPr>
            <p:spPr>
              <a:xfrm rot="16200000">
                <a:off x="1518068" y="-1354725"/>
                <a:ext cx="649458" cy="3685591"/>
              </a:xfrm>
              <a:prstGeom prst="snip2SameRect">
                <a:avLst>
                  <a:gd name="adj1" fmla="val 0"/>
                  <a:gd name="adj2" fmla="val 15195"/>
                </a:avLst>
              </a:prstGeom>
              <a:blipFill>
                <a:blip r:embed="rId2"/>
                <a:stretch>
                  <a:fillRect l="-4262" t="-4505" r="-1475" b="-18919"/>
                </a:stretch>
              </a:blipFill>
              <a:ln w="28575">
                <a:solidFill>
                  <a:schemeClr val="tx2"/>
                </a:solidFill>
              </a:ln>
            </p:spPr>
            <p:txBody>
              <a:bodyPr/>
              <a:lstStyle/>
              <a:p>
                <a:r>
                  <a:rPr lang="pt-BR">
                    <a:noFill/>
                  </a:rPr>
                  <a:t> </a:t>
                </a:r>
              </a:p>
            </p:txBody>
          </p:sp>
        </mc:Fallback>
      </mc:AlternateContent>
      <p:pic>
        <p:nvPicPr>
          <p:cNvPr id="6" name="Imagem 5">
            <a:extLst>
              <a:ext uri="{FF2B5EF4-FFF2-40B4-BE49-F238E27FC236}">
                <a16:creationId xmlns:a16="http://schemas.microsoft.com/office/drawing/2014/main" id="{D4D5D944-B619-18B8-B210-E0AEA8E04B35}"/>
              </a:ext>
            </a:extLst>
          </p:cNvPr>
          <p:cNvPicPr>
            <a:picLocks noChangeAspect="1"/>
          </p:cNvPicPr>
          <p:nvPr/>
        </p:nvPicPr>
        <p:blipFill>
          <a:blip r:embed="rId3"/>
          <a:srcRect l="18181" r="15664"/>
          <a:stretch/>
        </p:blipFill>
        <p:spPr>
          <a:xfrm>
            <a:off x="1819469" y="1081894"/>
            <a:ext cx="8543110" cy="5775773"/>
          </a:xfrm>
          <a:prstGeom prst="rect">
            <a:avLst/>
          </a:prstGeom>
        </p:spPr>
      </p:pic>
    </p:spTree>
    <p:extLst>
      <p:ext uri="{BB962C8B-B14F-4D97-AF65-F5344CB8AC3E}">
        <p14:creationId xmlns:p14="http://schemas.microsoft.com/office/powerpoint/2010/main" val="2859939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D55A5-F3BE-15E6-9C55-8DE78D24E5C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642CB227-9A58-F3F0-6B17-00667E4E0818}"/>
                  </a:ext>
                </a:extLst>
              </p:cNvPr>
              <p:cNvSpPr/>
              <p:nvPr/>
            </p:nvSpPr>
            <p:spPr>
              <a:xfrm rot="16200000">
                <a:off x="3439405" y="-3276060"/>
                <a:ext cx="649458" cy="752825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lgn="r">
                  <a:buFont typeface="Wingdings" panose="05000000000000000000" pitchFamily="2" charset="2"/>
                  <a:buChar char="Ø"/>
                </a:pPr>
                <a:r>
                  <a:rPr lang="pt-BR" sz="3000" dirty="0">
                    <a:solidFill>
                      <a:schemeClr val="tx1"/>
                    </a:solidFill>
                    <a:latin typeface="Abadi" panose="020B0604020104020204" pitchFamily="34" charset="0"/>
                  </a:rPr>
                  <a:t>Tip</a:t>
                </a:r>
                <a:r>
                  <a:rPr lang="pt-BR" sz="3000" dirty="0">
                    <a:latin typeface="Abadi" panose="020B0604020104020204" pitchFamily="34" charset="0"/>
                  </a:rPr>
                  <a:t>os de complexidade de espaço: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a:rPr lang="pt-BR" sz="3000" i="1" dirty="0" smtClean="0">
                        <a:latin typeface="Cambria Math" panose="02040503050406030204" pitchFamily="18" charset="0"/>
                      </a:rPr>
                      <m:t>𝑛</m:t>
                    </m:r>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642CB227-9A58-F3F0-6B17-00667E4E0818}"/>
                  </a:ext>
                </a:extLst>
              </p:cNvPr>
              <p:cNvSpPr>
                <a:spLocks noRot="1" noChangeAspect="1" noMove="1" noResize="1" noEditPoints="1" noAdjustHandles="1" noChangeArrowheads="1" noChangeShapeType="1" noTextEdit="1"/>
              </p:cNvSpPr>
              <p:nvPr/>
            </p:nvSpPr>
            <p:spPr>
              <a:xfrm rot="16200000">
                <a:off x="3439405" y="-3276060"/>
                <a:ext cx="649458" cy="7528259"/>
              </a:xfrm>
              <a:prstGeom prst="snip2SameRect">
                <a:avLst>
                  <a:gd name="adj1" fmla="val 0"/>
                  <a:gd name="adj2" fmla="val 15195"/>
                </a:avLst>
              </a:prstGeom>
              <a:blipFill>
                <a:blip r:embed="rId2"/>
                <a:stretch>
                  <a:fillRect t="-4505" r="-1613" b="-18018"/>
                </a:stretch>
              </a:blipFill>
              <a:ln w="28575">
                <a:solidFill>
                  <a:schemeClr val="tx2"/>
                </a:solidFill>
              </a:ln>
            </p:spPr>
            <p:txBody>
              <a:bodyPr/>
              <a:lstStyle/>
              <a:p>
                <a:r>
                  <a:rPr lang="pt-BR">
                    <a:noFill/>
                  </a:rPr>
                  <a:t> </a:t>
                </a:r>
              </a:p>
            </p:txBody>
          </p:sp>
        </mc:Fallback>
      </mc:AlternateContent>
      <p:sp>
        <p:nvSpPr>
          <p:cNvPr id="3" name="CaixaDeTexto 2">
            <a:extLst>
              <a:ext uri="{FF2B5EF4-FFF2-40B4-BE49-F238E27FC236}">
                <a16:creationId xmlns:a16="http://schemas.microsoft.com/office/drawing/2014/main" id="{7DF54EB5-4CFD-5A41-64EF-A8BEB595963F}"/>
              </a:ext>
            </a:extLst>
          </p:cNvPr>
          <p:cNvSpPr txBox="1"/>
          <p:nvPr/>
        </p:nvSpPr>
        <p:spPr>
          <a:xfrm>
            <a:off x="180546" y="1005165"/>
            <a:ext cx="11837283" cy="1569660"/>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Definição:</a:t>
            </a:r>
            <a:endParaRPr lang="pt-BR" dirty="0">
              <a:solidFill>
                <a:schemeClr val="tx1"/>
              </a:solidFill>
              <a:latin typeface="Abadi" panose="020B0604020104020204" pitchFamily="34" charset="0"/>
              <a:ea typeface="Cambria Math" panose="02040503050406030204" pitchFamily="18" charset="0"/>
            </a:endParaRPr>
          </a:p>
          <a:p>
            <a:pPr marL="285750" indent="-28575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complexidade de espaço </a:t>
            </a:r>
            <a:r>
              <a:rPr lang="pt-BR" dirty="0">
                <a:solidFill>
                  <a:srgbClr val="FFFF00"/>
                </a:solidFill>
                <a:latin typeface="Abadi" panose="020B0604020104020204" pitchFamily="34" charset="0"/>
                <a:ea typeface="Cambria Math" panose="02040503050406030204" pitchFamily="18" charset="0"/>
              </a:rPr>
              <a:t>𝑂(𝑛)</a:t>
            </a:r>
            <a:r>
              <a:rPr lang="pt-BR" dirty="0">
                <a:solidFill>
                  <a:schemeClr val="tx1"/>
                </a:solidFill>
                <a:latin typeface="Abadi" panose="020B0604020104020204" pitchFamily="34" charset="0"/>
                <a:ea typeface="Cambria Math" panose="02040503050406030204" pitchFamily="18" charset="0"/>
              </a:rPr>
              <a:t> ocorre quando um algoritmo usa memória proporcional ao tamanho da entrada (𝑛). Isso significa que, à medida que o tamanho dos dados aumenta, a quantidade de memória necessária cresce linearmente. Essa complexidade é </a:t>
            </a:r>
            <a:r>
              <a:rPr lang="pt-BR" u="sng" dirty="0">
                <a:solidFill>
                  <a:schemeClr val="tx1"/>
                </a:solidFill>
                <a:latin typeface="Abadi" panose="020B0604020104020204" pitchFamily="34" charset="0"/>
                <a:ea typeface="Cambria Math" panose="02040503050406030204" pitchFamily="18" charset="0"/>
              </a:rPr>
              <a:t>comum em algoritmos que precisam armazenar todos os elementos da entrada ou criar estruturas auxiliares de mesmo tamanho</a:t>
            </a:r>
            <a:r>
              <a:rPr lang="pt-BR" dirty="0">
                <a:solidFill>
                  <a:schemeClr val="tx1"/>
                </a:solidFill>
                <a:latin typeface="Abadi" panose="020B0604020104020204" pitchFamily="34" charset="0"/>
                <a:ea typeface="Cambria Math" panose="02040503050406030204" pitchFamily="18" charset="0"/>
              </a:rPr>
              <a:t>.</a:t>
            </a:r>
            <a:endParaRPr lang="pt-BR" dirty="0">
              <a:solidFill>
                <a:schemeClr val="tx1"/>
              </a:solidFill>
              <a:latin typeface="Abadi" panose="020B0604020104020204" pitchFamily="34" charset="0"/>
            </a:endParaRPr>
          </a:p>
        </p:txBody>
      </p:sp>
      <p:sp>
        <p:nvSpPr>
          <p:cNvPr id="4" name="CaixaDeTexto 3">
            <a:extLst>
              <a:ext uri="{FF2B5EF4-FFF2-40B4-BE49-F238E27FC236}">
                <a16:creationId xmlns:a16="http://schemas.microsoft.com/office/drawing/2014/main" id="{5774BCA6-C720-265F-D0C5-F540008C1C28}"/>
              </a:ext>
            </a:extLst>
          </p:cNvPr>
          <p:cNvSpPr txBox="1"/>
          <p:nvPr/>
        </p:nvSpPr>
        <p:spPr>
          <a:xfrm>
            <a:off x="177358" y="2767190"/>
            <a:ext cx="11837283" cy="2954655"/>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Características: </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Memória cresce com a entrada: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quantidade de memória alocada é diretamente proporcional ao número de elementos.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Estruturas auxiliares lineares: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Algoritmos que utilizam listas, </a:t>
            </a:r>
            <a:r>
              <a:rPr lang="pt-BR" dirty="0" err="1">
                <a:solidFill>
                  <a:schemeClr val="tx1"/>
                </a:solidFill>
                <a:latin typeface="Abadi" panose="020B0604020104020204" pitchFamily="34" charset="0"/>
                <a:ea typeface="Cambria Math" panose="02040503050406030204" pitchFamily="18" charset="0"/>
              </a:rPr>
              <a:t>arrays</a:t>
            </a:r>
            <a:r>
              <a:rPr lang="pt-BR" dirty="0">
                <a:solidFill>
                  <a:schemeClr val="tx1"/>
                </a:solidFill>
                <a:latin typeface="Abadi" panose="020B0604020104020204" pitchFamily="34" charset="0"/>
                <a:ea typeface="Cambria Math" panose="02040503050406030204" pitchFamily="18" charset="0"/>
              </a:rPr>
              <a:t> ou outras estruturas adicionais que replicam o tamanho da entrada.</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Recursão linear:</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Algoritmos recursivos onde a profundidade da recursão é proporcional a 𝑛n, como em problemas de somatórios simples.</a:t>
            </a:r>
            <a:endParaRPr lang="pt-BR" sz="1400" dirty="0">
              <a:solidFill>
                <a:schemeClr val="tx1"/>
              </a:solidFill>
              <a:latin typeface="Abadi" panose="020B0604020104020204" pitchFamily="34" charset="0"/>
            </a:endParaRPr>
          </a:p>
        </p:txBody>
      </p:sp>
    </p:spTree>
    <p:extLst>
      <p:ext uri="{BB962C8B-B14F-4D97-AF65-F5344CB8AC3E}">
        <p14:creationId xmlns:p14="http://schemas.microsoft.com/office/powerpoint/2010/main" val="4214811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736A9-5419-96EC-4D00-18ACC0EEF06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5B4A9615-043D-E14A-E1CF-0BF548935EE7}"/>
                  </a:ext>
                </a:extLst>
              </p:cNvPr>
              <p:cNvSpPr/>
              <p:nvPr/>
            </p:nvSpPr>
            <p:spPr>
              <a:xfrm rot="16200000">
                <a:off x="2222492" y="-2059149"/>
                <a:ext cx="649458" cy="5094438"/>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Exemplos de</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a:rPr lang="pt-BR" sz="3000" i="1" dirty="0" smtClean="0">
                        <a:latin typeface="Cambria Math" panose="02040503050406030204" pitchFamily="18" charset="0"/>
                      </a:rPr>
                      <m:t>𝑛</m:t>
                    </m:r>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5B4A9615-043D-E14A-E1CF-0BF548935EE7}"/>
                  </a:ext>
                </a:extLst>
              </p:cNvPr>
              <p:cNvSpPr>
                <a:spLocks noRot="1" noChangeAspect="1" noMove="1" noResize="1" noEditPoints="1" noAdjustHandles="1" noChangeArrowheads="1" noChangeShapeType="1" noTextEdit="1"/>
              </p:cNvSpPr>
              <p:nvPr/>
            </p:nvSpPr>
            <p:spPr>
              <a:xfrm rot="16200000">
                <a:off x="2222492" y="-2059149"/>
                <a:ext cx="649458" cy="5094438"/>
              </a:xfrm>
              <a:prstGeom prst="snip2SameRect">
                <a:avLst>
                  <a:gd name="adj1" fmla="val 0"/>
                  <a:gd name="adj2" fmla="val 15195"/>
                </a:avLst>
              </a:prstGeom>
              <a:blipFill>
                <a:blip r:embed="rId2"/>
                <a:stretch>
                  <a:fillRect l="-3092" t="-4505" b="-18919"/>
                </a:stretch>
              </a:blipFill>
              <a:ln w="28575">
                <a:solidFill>
                  <a:schemeClr val="tx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CDC790C1-5B71-1679-B00A-27C2F5EE8BE3}"/>
              </a:ext>
            </a:extLst>
          </p:cNvPr>
          <p:cNvSpPr txBox="1"/>
          <p:nvPr/>
        </p:nvSpPr>
        <p:spPr>
          <a:xfrm>
            <a:off x="84052" y="884814"/>
            <a:ext cx="5686828" cy="3416320"/>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dirty="0">
                <a:solidFill>
                  <a:schemeClr val="tx1"/>
                </a:solidFill>
                <a:latin typeface="Abadi" panose="020B0604020104020204" pitchFamily="34" charset="0"/>
                <a:ea typeface="Cambria Math" panose="02040503050406030204" pitchFamily="18" charset="0"/>
              </a:rPr>
              <a:t>Exemplos Reais:</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Copiar todos os elementos de um </a:t>
            </a:r>
            <a:r>
              <a:rPr lang="pt-BR" dirty="0" err="1">
                <a:solidFill>
                  <a:schemeClr val="tx1"/>
                </a:solidFill>
                <a:latin typeface="Abadi" panose="020B0604020104020204" pitchFamily="34" charset="0"/>
                <a:ea typeface="Cambria Math" panose="02040503050406030204" pitchFamily="18" charset="0"/>
              </a:rPr>
              <a:t>array</a:t>
            </a:r>
            <a:r>
              <a:rPr lang="pt-BR" dirty="0">
                <a:solidFill>
                  <a:schemeClr val="tx1"/>
                </a:solidFill>
                <a:latin typeface="Abadi" panose="020B0604020104020204" pitchFamily="34" charset="0"/>
                <a:ea typeface="Cambria Math" panose="02040503050406030204" pitchFamily="18" charset="0"/>
              </a:rPr>
              <a:t> para outro:</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Requer espaço igual ao tamanho do </a:t>
            </a:r>
            <a:r>
              <a:rPr lang="pt-BR" dirty="0" err="1">
                <a:solidFill>
                  <a:schemeClr val="tx1"/>
                </a:solidFill>
                <a:latin typeface="Abadi" panose="020B0604020104020204" pitchFamily="34" charset="0"/>
                <a:ea typeface="Cambria Math" panose="02040503050406030204" pitchFamily="18" charset="0"/>
              </a:rPr>
              <a:t>array</a:t>
            </a:r>
            <a:r>
              <a:rPr lang="pt-BR" dirty="0">
                <a:solidFill>
                  <a:schemeClr val="tx1"/>
                </a:solidFill>
                <a:latin typeface="Abadi" panose="020B0604020104020204" pitchFamily="34" charset="0"/>
                <a:ea typeface="Cambria Math" panose="02040503050406030204" pitchFamily="18" charset="0"/>
              </a:rPr>
              <a:t> original.</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Armazenar resultados intermediários: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Algoritmos que criam </a:t>
            </a:r>
            <a:r>
              <a:rPr lang="pt-BR" dirty="0" err="1">
                <a:solidFill>
                  <a:schemeClr val="tx1"/>
                </a:solidFill>
                <a:latin typeface="Abadi" panose="020B0604020104020204" pitchFamily="34" charset="0"/>
                <a:ea typeface="Cambria Math" panose="02040503050406030204" pitchFamily="18" charset="0"/>
              </a:rPr>
              <a:t>arrays</a:t>
            </a:r>
            <a:r>
              <a:rPr lang="pt-BR" dirty="0">
                <a:solidFill>
                  <a:schemeClr val="tx1"/>
                </a:solidFill>
                <a:latin typeface="Abadi" panose="020B0604020104020204" pitchFamily="34" charset="0"/>
                <a:ea typeface="Cambria Math" panose="02040503050406030204" pitchFamily="18" charset="0"/>
              </a:rPr>
              <a:t> ou listas temporárias.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Percorrer uma lista encadeada: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Estruturas lineares necessitam de 𝑛 memória para armazenar todos os nós.</a:t>
            </a: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B83A7BF0-1D41-4351-3948-15F2F192B4B0}"/>
                  </a:ext>
                </a:extLst>
              </p:cNvPr>
              <p:cNvSpPr txBox="1"/>
              <p:nvPr/>
            </p:nvSpPr>
            <p:spPr>
              <a:xfrm>
                <a:off x="5310633" y="5535937"/>
                <a:ext cx="6665169" cy="1200329"/>
              </a:xfrm>
              <a:prstGeom prst="rect">
                <a:avLst/>
              </a:prstGeom>
              <a:noFill/>
              <a:ln w="28575">
                <a:solidFill>
                  <a:srgbClr val="123D52"/>
                </a:solidFill>
              </a:ln>
            </p:spPr>
            <p:txBody>
              <a:bodyPr wrap="square">
                <a:spAutoFit/>
              </a:bodyPr>
              <a:lstStyle/>
              <a:p>
                <a:pPr algn="just"/>
                <a:r>
                  <a:rPr lang="pt-BR" dirty="0">
                    <a:latin typeface="Abadi" panose="020B0604020104020204" pitchFamily="34" charset="0"/>
                  </a:rPr>
                  <a:t>Por que é O(</a:t>
                </a:r>
                <a14:m>
                  <m:oMath xmlns:m="http://schemas.openxmlformats.org/officeDocument/2006/math">
                    <m:r>
                      <m:rPr>
                        <m:sty m:val="p"/>
                      </m:rPr>
                      <a:rPr lang="pt-BR" sz="1800" i="1" dirty="0" smtClean="0">
                        <a:latin typeface="Cambria Math" panose="02040503050406030204" pitchFamily="18" charset="0"/>
                      </a:rPr>
                      <m:t>log</m:t>
                    </m:r>
                    <m:r>
                      <a:rPr lang="pt-BR" sz="1800" i="1" dirty="0" smtClean="0">
                        <a:latin typeface="Cambria Math" panose="02040503050406030204" pitchFamily="18" charset="0"/>
                      </a:rPr>
                      <m:t>⁡</m:t>
                    </m:r>
                    <m:r>
                      <a:rPr lang="pt-BR" sz="1800" i="1" dirty="0" smtClean="0">
                        <a:latin typeface="Cambria Math" panose="02040503050406030204" pitchFamily="18" charset="0"/>
                      </a:rPr>
                      <m:t>𝑛</m:t>
                    </m:r>
                  </m:oMath>
                </a14:m>
                <a:r>
                  <a:rPr lang="pt-BR" dirty="0">
                    <a:latin typeface="Abadi" panose="020B0604020104020204" pitchFamily="34" charset="0"/>
                  </a:rPr>
                  <a:t>)?</a:t>
                </a:r>
              </a:p>
              <a:p>
                <a:pPr algn="just"/>
                <a:r>
                  <a:rPr lang="pt-BR" dirty="0">
                    <a:latin typeface="Abadi" panose="020B0604020104020204" pitchFamily="34" charset="0"/>
                  </a:rPr>
                  <a:t>O algoritmo cria um </a:t>
                </a:r>
                <a:r>
                  <a:rPr lang="pt-BR" dirty="0" err="1">
                    <a:latin typeface="Abadi" panose="020B0604020104020204" pitchFamily="34" charset="0"/>
                  </a:rPr>
                  <a:t>array</a:t>
                </a:r>
                <a:r>
                  <a:rPr lang="pt-BR" dirty="0">
                    <a:latin typeface="Abadi" panose="020B0604020104020204" pitchFamily="34" charset="0"/>
                  </a:rPr>
                  <a:t> auxiliar 𝑎𝑐𝑢𝑚𝑢𝑙𝑎𝑑𝑜𝑠, que tem o mesmo tamanho da entrada 𝑎𝑟𝑟𝑎𝑦, consumindo memória proporcional a 𝑛.</a:t>
                </a:r>
              </a:p>
            </p:txBody>
          </p:sp>
        </mc:Choice>
        <mc:Fallback xmlns="">
          <p:sp>
            <p:nvSpPr>
              <p:cNvPr id="16" name="CaixaDeTexto 15">
                <a:extLst>
                  <a:ext uri="{FF2B5EF4-FFF2-40B4-BE49-F238E27FC236}">
                    <a16:creationId xmlns:a16="http://schemas.microsoft.com/office/drawing/2014/main" id="{B83A7BF0-1D41-4351-3948-15F2F192B4B0}"/>
                  </a:ext>
                </a:extLst>
              </p:cNvPr>
              <p:cNvSpPr txBox="1">
                <a:spLocks noRot="1" noChangeAspect="1" noMove="1" noResize="1" noEditPoints="1" noAdjustHandles="1" noChangeArrowheads="1" noChangeShapeType="1" noTextEdit="1"/>
              </p:cNvSpPr>
              <p:nvPr/>
            </p:nvSpPr>
            <p:spPr>
              <a:xfrm>
                <a:off x="5310633" y="5535937"/>
                <a:ext cx="6665169" cy="1200329"/>
              </a:xfrm>
              <a:prstGeom prst="rect">
                <a:avLst/>
              </a:prstGeom>
              <a:blipFill>
                <a:blip r:embed="rId3"/>
                <a:stretch>
                  <a:fillRect l="-546" t="-1485" r="-455" b="-5446"/>
                </a:stretch>
              </a:blipFill>
              <a:ln w="28575">
                <a:solidFill>
                  <a:srgbClr val="123D52"/>
                </a:solidFill>
              </a:ln>
            </p:spPr>
            <p:txBody>
              <a:bodyPr/>
              <a:lstStyle/>
              <a:p>
                <a:r>
                  <a:rPr lang="pt-BR">
                    <a:noFill/>
                  </a:rPr>
                  <a:t> </a:t>
                </a:r>
              </a:p>
            </p:txBody>
          </p:sp>
        </mc:Fallback>
      </mc:AlternateContent>
      <p:pic>
        <p:nvPicPr>
          <p:cNvPr id="5" name="Imagem 4">
            <a:extLst>
              <a:ext uri="{FF2B5EF4-FFF2-40B4-BE49-F238E27FC236}">
                <a16:creationId xmlns:a16="http://schemas.microsoft.com/office/drawing/2014/main" id="{46C45ED2-2CA8-2FCD-874E-FA62FC57C277}"/>
              </a:ext>
            </a:extLst>
          </p:cNvPr>
          <p:cNvPicPr>
            <a:picLocks noChangeAspect="1"/>
          </p:cNvPicPr>
          <p:nvPr/>
        </p:nvPicPr>
        <p:blipFill>
          <a:blip r:embed="rId4"/>
          <a:stretch>
            <a:fillRect/>
          </a:stretch>
        </p:blipFill>
        <p:spPr>
          <a:xfrm>
            <a:off x="5862320" y="121734"/>
            <a:ext cx="5567680" cy="5343693"/>
          </a:xfrm>
          <a:prstGeom prst="rect">
            <a:avLst/>
          </a:prstGeom>
        </p:spPr>
      </p:pic>
    </p:spTree>
    <p:extLst>
      <p:ext uri="{BB962C8B-B14F-4D97-AF65-F5344CB8AC3E}">
        <p14:creationId xmlns:p14="http://schemas.microsoft.com/office/powerpoint/2010/main" val="3137636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BDE2-A0C2-7F3D-6646-97AB4300B2CD}"/>
            </a:ext>
          </a:extLst>
        </p:cNvPr>
        <p:cNvGrpSpPr/>
        <p:nvPr/>
      </p:nvGrpSpPr>
      <p:grpSpPr>
        <a:xfrm>
          <a:off x="0" y="0"/>
          <a:ext cx="0" cy="0"/>
          <a:chOff x="0" y="0"/>
          <a:chExt cx="0" cy="0"/>
        </a:xfrm>
      </p:grpSpPr>
      <p:sp>
        <p:nvSpPr>
          <p:cNvPr id="8" name="Retângulo 7">
            <a:extLst>
              <a:ext uri="{FF2B5EF4-FFF2-40B4-BE49-F238E27FC236}">
                <a16:creationId xmlns:a16="http://schemas.microsoft.com/office/drawing/2014/main" id="{A2443D87-094E-BE7B-BD80-B7DE72EB8FD9}"/>
              </a:ext>
            </a:extLst>
          </p:cNvPr>
          <p:cNvSpPr/>
          <p:nvPr/>
        </p:nvSpPr>
        <p:spPr>
          <a:xfrm>
            <a:off x="0" y="1046480"/>
            <a:ext cx="12192000" cy="58115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4B8A241A-28C3-15B7-B052-EDB919580AD5}"/>
                  </a:ext>
                </a:extLst>
              </p:cNvPr>
              <p:cNvSpPr/>
              <p:nvPr/>
            </p:nvSpPr>
            <p:spPr>
              <a:xfrm rot="16200000">
                <a:off x="1239912" y="-1076569"/>
                <a:ext cx="649458" cy="312927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Gráfico do</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a:rPr lang="pt-BR" sz="3000" i="1" dirty="0" smtClean="0">
                        <a:latin typeface="Cambria Math" panose="02040503050406030204" pitchFamily="18" charset="0"/>
                        <a:ea typeface="Cambria Math" panose="02040503050406030204" pitchFamily="18" charset="0"/>
                      </a:rPr>
                      <m:t>𝑛</m:t>
                    </m:r>
                  </m:oMath>
                </a14:m>
                <a:r>
                  <a:rPr lang="pt-BR" sz="3000" dirty="0">
                    <a:latin typeface="Abadi" panose="020B0604020104020204" pitchFamily="34" charset="0"/>
                  </a:rPr>
                  <a:t>)</a:t>
                </a:r>
              </a:p>
            </p:txBody>
          </p:sp>
        </mc:Choice>
        <mc:Fallback xmlns="">
          <p:sp>
            <p:nvSpPr>
              <p:cNvPr id="9" name="Retângulo: Cantos Superiores Recortados 8">
                <a:extLst>
                  <a:ext uri="{FF2B5EF4-FFF2-40B4-BE49-F238E27FC236}">
                    <a16:creationId xmlns:a16="http://schemas.microsoft.com/office/drawing/2014/main" id="{4B8A241A-28C3-15B7-B052-EDB919580AD5}"/>
                  </a:ext>
                </a:extLst>
              </p:cNvPr>
              <p:cNvSpPr>
                <a:spLocks noRot="1" noChangeAspect="1" noMove="1" noResize="1" noEditPoints="1" noAdjustHandles="1" noChangeArrowheads="1" noChangeShapeType="1" noTextEdit="1"/>
              </p:cNvSpPr>
              <p:nvPr/>
            </p:nvSpPr>
            <p:spPr>
              <a:xfrm rot="16200000">
                <a:off x="1239912" y="-1076569"/>
                <a:ext cx="649458" cy="3129279"/>
              </a:xfrm>
              <a:prstGeom prst="snip2SameRect">
                <a:avLst>
                  <a:gd name="adj1" fmla="val 0"/>
                  <a:gd name="adj2" fmla="val 15195"/>
                </a:avLst>
              </a:prstGeom>
              <a:blipFill>
                <a:blip r:embed="rId2"/>
                <a:stretch>
                  <a:fillRect l="-5019" t="-4505" r="-1931" b="-18919"/>
                </a:stretch>
              </a:blipFill>
              <a:ln w="28575">
                <a:solidFill>
                  <a:schemeClr val="tx2"/>
                </a:solidFill>
              </a:ln>
            </p:spPr>
            <p:txBody>
              <a:bodyPr/>
              <a:lstStyle/>
              <a:p>
                <a:r>
                  <a:rPr lang="pt-BR">
                    <a:noFill/>
                  </a:rPr>
                  <a:t> </a:t>
                </a:r>
              </a:p>
            </p:txBody>
          </p:sp>
        </mc:Fallback>
      </mc:AlternateContent>
      <p:pic>
        <p:nvPicPr>
          <p:cNvPr id="6" name="Imagem 5">
            <a:extLst>
              <a:ext uri="{FF2B5EF4-FFF2-40B4-BE49-F238E27FC236}">
                <a16:creationId xmlns:a16="http://schemas.microsoft.com/office/drawing/2014/main" id="{F6DCCB24-2C02-3256-C106-B5365233028D}"/>
              </a:ext>
            </a:extLst>
          </p:cNvPr>
          <p:cNvPicPr>
            <a:picLocks noChangeAspect="1"/>
          </p:cNvPicPr>
          <p:nvPr/>
        </p:nvPicPr>
        <p:blipFill>
          <a:blip r:embed="rId3"/>
          <a:srcRect l="18005" r="15458"/>
          <a:stretch/>
        </p:blipFill>
        <p:spPr>
          <a:xfrm>
            <a:off x="1797499" y="1086883"/>
            <a:ext cx="8597001" cy="5747741"/>
          </a:xfrm>
          <a:prstGeom prst="rect">
            <a:avLst/>
          </a:prstGeom>
        </p:spPr>
      </p:pic>
    </p:spTree>
    <p:extLst>
      <p:ext uri="{BB962C8B-B14F-4D97-AF65-F5344CB8AC3E}">
        <p14:creationId xmlns:p14="http://schemas.microsoft.com/office/powerpoint/2010/main" val="90082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05ABF-E21D-101B-A931-830F49CF55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AB985B01-64CB-A63C-AE89-55D312BE2272}"/>
                  </a:ext>
                </a:extLst>
              </p:cNvPr>
              <p:cNvSpPr/>
              <p:nvPr/>
            </p:nvSpPr>
            <p:spPr>
              <a:xfrm rot="16200000">
                <a:off x="3377264" y="-3213918"/>
                <a:ext cx="649458" cy="7403975"/>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lgn="r">
                  <a:buFont typeface="Wingdings" panose="05000000000000000000" pitchFamily="2" charset="2"/>
                  <a:buChar char="Ø"/>
                </a:pPr>
                <a:r>
                  <a:rPr lang="pt-BR" sz="3000" dirty="0">
                    <a:solidFill>
                      <a:schemeClr val="tx1"/>
                    </a:solidFill>
                    <a:latin typeface="Abadi" panose="020B0604020104020204" pitchFamily="34" charset="0"/>
                  </a:rPr>
                  <a:t>Tip</a:t>
                </a:r>
                <a:r>
                  <a:rPr lang="pt-BR" sz="3000" dirty="0">
                    <a:latin typeface="Abadi" panose="020B0604020104020204" pitchFamily="34" charset="0"/>
                  </a:rPr>
                  <a:t>os de complexidade de espaço: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sSup>
                      <m:sSupPr>
                        <m:ctrlPr>
                          <a:rPr lang="pt-BR" sz="3000" i="1" dirty="0" smtClean="0">
                            <a:latin typeface="Cambria Math" panose="02040503050406030204" pitchFamily="18" charset="0"/>
                          </a:rPr>
                        </m:ctrlPr>
                      </m:sSupPr>
                      <m:e>
                        <m:r>
                          <a:rPr lang="pt-BR" sz="3000" b="0" i="1" dirty="0" smtClean="0">
                            <a:latin typeface="Cambria Math" panose="02040503050406030204" pitchFamily="18" charset="0"/>
                          </a:rPr>
                          <m:t>𝑛</m:t>
                        </m:r>
                      </m:e>
                      <m:sup>
                        <m:r>
                          <a:rPr lang="pt-BR" sz="3000" b="0" i="1" dirty="0" smtClean="0">
                            <a:latin typeface="Cambria Math" panose="02040503050406030204" pitchFamily="18" charset="0"/>
                          </a:rPr>
                          <m:t>2</m:t>
                        </m:r>
                      </m:sup>
                    </m:sSup>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AB985B01-64CB-A63C-AE89-55D312BE2272}"/>
                  </a:ext>
                </a:extLst>
              </p:cNvPr>
              <p:cNvSpPr>
                <a:spLocks noRot="1" noChangeAspect="1" noMove="1" noResize="1" noEditPoints="1" noAdjustHandles="1" noChangeArrowheads="1" noChangeShapeType="1" noTextEdit="1"/>
              </p:cNvSpPr>
              <p:nvPr/>
            </p:nvSpPr>
            <p:spPr>
              <a:xfrm rot="16200000">
                <a:off x="3377264" y="-3213918"/>
                <a:ext cx="649458" cy="7403975"/>
              </a:xfrm>
              <a:prstGeom prst="snip2SameRect">
                <a:avLst>
                  <a:gd name="adj1" fmla="val 0"/>
                  <a:gd name="adj2" fmla="val 15195"/>
                </a:avLst>
              </a:prstGeom>
              <a:blipFill>
                <a:blip r:embed="rId2"/>
                <a:stretch>
                  <a:fillRect t="-3571" r="-1557" b="-17857"/>
                </a:stretch>
              </a:blipFill>
              <a:ln w="28575">
                <a:solidFill>
                  <a:schemeClr val="tx2"/>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64ED01D0-1A50-38F4-35B5-B41DF04266FA}"/>
                  </a:ext>
                </a:extLst>
              </p:cNvPr>
              <p:cNvSpPr txBox="1"/>
              <p:nvPr/>
            </p:nvSpPr>
            <p:spPr>
              <a:xfrm>
                <a:off x="180546" y="1005165"/>
                <a:ext cx="11837283" cy="1292662"/>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Definição:</a:t>
                </a:r>
                <a:endParaRPr lang="pt-BR" dirty="0">
                  <a:solidFill>
                    <a:schemeClr val="tx1"/>
                  </a:solidFill>
                  <a:latin typeface="Abadi" panose="020B0604020104020204" pitchFamily="34" charset="0"/>
                  <a:ea typeface="Cambria Math" panose="02040503050406030204" pitchFamily="18" charset="0"/>
                </a:endParaRPr>
              </a:p>
              <a:p>
                <a:pPr marL="285750" indent="-28575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complexidade de espaço </a:t>
                </a:r>
                <a:r>
                  <a:rPr lang="pt-BR" dirty="0">
                    <a:solidFill>
                      <a:srgbClr val="FFFF00"/>
                    </a:solidFill>
                    <a:latin typeface="Abadi" panose="020B0604020104020204" pitchFamily="34" charset="0"/>
                    <a:ea typeface="Cambria Math" panose="02040503050406030204" pitchFamily="18" charset="0"/>
                  </a:rPr>
                  <a:t>𝑂(</a:t>
                </a:r>
                <a14:m>
                  <m:oMath xmlns:m="http://schemas.openxmlformats.org/officeDocument/2006/math">
                    <m:sSup>
                      <m:sSupPr>
                        <m:ctrlPr>
                          <a:rPr lang="pt-BR" sz="1800" i="1" dirty="0" smtClean="0">
                            <a:solidFill>
                              <a:srgbClr val="FFFF00"/>
                            </a:solidFill>
                            <a:latin typeface="Cambria Math" panose="02040503050406030204" pitchFamily="18" charset="0"/>
                          </a:rPr>
                        </m:ctrlPr>
                      </m:sSupPr>
                      <m:e>
                        <m:r>
                          <a:rPr lang="pt-BR" sz="1800" b="0" i="1" dirty="0" smtClean="0">
                            <a:solidFill>
                              <a:srgbClr val="FFFF00"/>
                            </a:solidFill>
                            <a:latin typeface="Cambria Math" panose="02040503050406030204" pitchFamily="18" charset="0"/>
                          </a:rPr>
                          <m:t>𝑛</m:t>
                        </m:r>
                      </m:e>
                      <m:sup>
                        <m:r>
                          <a:rPr lang="pt-BR" sz="1800" b="0" i="1" dirty="0" smtClean="0">
                            <a:solidFill>
                              <a:srgbClr val="FFFF00"/>
                            </a:solidFill>
                            <a:latin typeface="Cambria Math" panose="02040503050406030204" pitchFamily="18" charset="0"/>
                          </a:rPr>
                          <m:t>2</m:t>
                        </m:r>
                      </m:sup>
                    </m:sSup>
                  </m:oMath>
                </a14:m>
                <a:r>
                  <a:rPr lang="pt-BR" dirty="0">
                    <a:solidFill>
                      <a:srgbClr val="FFFF00"/>
                    </a:solidFill>
                    <a:latin typeface="Abadi" panose="020B0604020104020204" pitchFamily="34" charset="0"/>
                    <a:ea typeface="Cambria Math" panose="02040503050406030204" pitchFamily="18" charset="0"/>
                  </a:rPr>
                  <a:t>)</a:t>
                </a:r>
                <a:r>
                  <a:rPr lang="pt-BR" dirty="0">
                    <a:solidFill>
                      <a:schemeClr val="tx1"/>
                    </a:solidFill>
                    <a:latin typeface="Abadi" panose="020B0604020104020204" pitchFamily="34" charset="0"/>
                    <a:ea typeface="Cambria Math" panose="02040503050406030204" pitchFamily="18" charset="0"/>
                  </a:rPr>
                  <a:t> ocorre quando o consumo de memória cresce proporcionalmente ao quadrado do tamanho da entrada (𝑛). Isso geralmente acontece em algoritmos que utilizam estruturas bidimensionais, como matrizes ou tabelas, ou em problemas que requerem armazenamento de combinações de pares de elementos.</a:t>
                </a:r>
                <a:endParaRPr lang="pt-BR" dirty="0">
                  <a:solidFill>
                    <a:schemeClr val="tx1"/>
                  </a:solidFill>
                  <a:latin typeface="Abadi" panose="020B0604020104020204" pitchFamily="34" charset="0"/>
                </a:endParaRPr>
              </a:p>
            </p:txBody>
          </p:sp>
        </mc:Choice>
        <mc:Fallback xmlns="">
          <p:sp>
            <p:nvSpPr>
              <p:cNvPr id="3" name="CaixaDeTexto 2">
                <a:extLst>
                  <a:ext uri="{FF2B5EF4-FFF2-40B4-BE49-F238E27FC236}">
                    <a16:creationId xmlns:a16="http://schemas.microsoft.com/office/drawing/2014/main" id="{64ED01D0-1A50-38F4-35B5-B41DF04266FA}"/>
                  </a:ext>
                </a:extLst>
              </p:cNvPr>
              <p:cNvSpPr txBox="1">
                <a:spLocks noRot="1" noChangeAspect="1" noMove="1" noResize="1" noEditPoints="1" noAdjustHandles="1" noChangeArrowheads="1" noChangeShapeType="1" noTextEdit="1"/>
              </p:cNvSpPr>
              <p:nvPr/>
            </p:nvSpPr>
            <p:spPr>
              <a:xfrm>
                <a:off x="180546" y="1005165"/>
                <a:ext cx="11837283" cy="1292662"/>
              </a:xfrm>
              <a:prstGeom prst="rect">
                <a:avLst/>
              </a:prstGeom>
              <a:blipFill>
                <a:blip r:embed="rId3"/>
                <a:stretch>
                  <a:fillRect l="-719" t="-2765" r="-308" b="-5069"/>
                </a:stretch>
              </a:blipFill>
              <a:ln w="28575">
                <a:solidFill>
                  <a:srgbClr val="123D5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5F2E9B29-A9FA-DD07-4D43-611761EA3BF2}"/>
              </a:ext>
            </a:extLst>
          </p:cNvPr>
          <p:cNvSpPr txBox="1"/>
          <p:nvPr/>
        </p:nvSpPr>
        <p:spPr>
          <a:xfrm>
            <a:off x="177358" y="2767190"/>
            <a:ext cx="11837283" cy="2677656"/>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Características: </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Estruturas bidimensionais: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Matriz 𝑛 × 𝑛 ou tabelas que armazenam informações para cada par de elementos.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Problemas combinatórios: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Algoritmos que armazenam relações ou combinações entre todos os elementos da entrada.</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Dependência quadrática do tamanho da entrada: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memória necessária cresce rapidamente conforme o tamanho da entrada aumenta.</a:t>
            </a:r>
            <a:endParaRPr lang="pt-BR" sz="1400" dirty="0">
              <a:solidFill>
                <a:schemeClr val="tx1"/>
              </a:solidFill>
              <a:latin typeface="Abadi" panose="020B0604020104020204" pitchFamily="34" charset="0"/>
            </a:endParaRPr>
          </a:p>
        </p:txBody>
      </p:sp>
    </p:spTree>
    <p:extLst>
      <p:ext uri="{BB962C8B-B14F-4D97-AF65-F5344CB8AC3E}">
        <p14:creationId xmlns:p14="http://schemas.microsoft.com/office/powerpoint/2010/main" val="1592723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0F6C2-CEE1-B1C6-159D-573311C21C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189951F4-1C2B-42F1-E95C-D73634406388}"/>
                  </a:ext>
                </a:extLst>
              </p:cNvPr>
              <p:cNvSpPr/>
              <p:nvPr/>
            </p:nvSpPr>
            <p:spPr>
              <a:xfrm rot="16200000">
                <a:off x="2222492" y="-2059149"/>
                <a:ext cx="649458" cy="5094438"/>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Exemplos de</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sSup>
                      <m:sSupPr>
                        <m:ctrlPr>
                          <a:rPr lang="pt-BR" sz="3000" i="1" dirty="0">
                            <a:latin typeface="Cambria Math" panose="02040503050406030204" pitchFamily="18" charset="0"/>
                          </a:rPr>
                        </m:ctrlPr>
                      </m:sSupPr>
                      <m:e>
                        <m:r>
                          <a:rPr lang="pt-BR" sz="3000" i="1" dirty="0">
                            <a:latin typeface="Cambria Math" panose="02040503050406030204" pitchFamily="18" charset="0"/>
                          </a:rPr>
                          <m:t>𝑛</m:t>
                        </m:r>
                      </m:e>
                      <m:sup>
                        <m:r>
                          <a:rPr lang="pt-BR" sz="3000" i="1" dirty="0">
                            <a:latin typeface="Cambria Math" panose="02040503050406030204" pitchFamily="18" charset="0"/>
                          </a:rPr>
                          <m:t>2</m:t>
                        </m:r>
                      </m:sup>
                    </m:sSup>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189951F4-1C2B-42F1-E95C-D73634406388}"/>
                  </a:ext>
                </a:extLst>
              </p:cNvPr>
              <p:cNvSpPr>
                <a:spLocks noRot="1" noChangeAspect="1" noMove="1" noResize="1" noEditPoints="1" noAdjustHandles="1" noChangeArrowheads="1" noChangeShapeType="1" noTextEdit="1"/>
              </p:cNvSpPr>
              <p:nvPr/>
            </p:nvSpPr>
            <p:spPr>
              <a:xfrm rot="16200000">
                <a:off x="2222492" y="-2059149"/>
                <a:ext cx="649458" cy="5094438"/>
              </a:xfrm>
              <a:prstGeom prst="snip2SameRect">
                <a:avLst>
                  <a:gd name="adj1" fmla="val 0"/>
                  <a:gd name="adj2" fmla="val 15195"/>
                </a:avLst>
              </a:prstGeom>
              <a:blipFill>
                <a:blip r:embed="rId2"/>
                <a:stretch>
                  <a:fillRect l="-3092" t="-4505" b="-18919"/>
                </a:stretch>
              </a:blipFill>
              <a:ln w="28575">
                <a:solidFill>
                  <a:schemeClr val="tx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66562EF4-E6F3-504C-79EB-E96581507169}"/>
              </a:ext>
            </a:extLst>
          </p:cNvPr>
          <p:cNvSpPr txBox="1"/>
          <p:nvPr/>
        </p:nvSpPr>
        <p:spPr>
          <a:xfrm>
            <a:off x="60959" y="884814"/>
            <a:ext cx="6128443" cy="3416320"/>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dirty="0">
                <a:solidFill>
                  <a:schemeClr val="tx1"/>
                </a:solidFill>
                <a:latin typeface="Abadi" panose="020B0604020104020204" pitchFamily="34" charset="0"/>
                <a:ea typeface="Cambria Math" panose="02040503050406030204" pitchFamily="18" charset="0"/>
              </a:rPr>
              <a:t>Exemplos Reais:</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Matriz de adjacência em grafos: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Representação de grafos densos onde todas as conexões são armazenadas.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Tabela de programação dinâmica: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Armazenamento de subproblemas em algoritmos como o de cálculo da distância de edição.</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Armazenamento de pares ou relações: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Problemas que exigem guardar todos os pares possíveis de elementos.</a:t>
            </a: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DD0E604A-A323-E7AD-5896-D6285B0B11A8}"/>
                  </a:ext>
                </a:extLst>
              </p:cNvPr>
              <p:cNvSpPr txBox="1"/>
              <p:nvPr/>
            </p:nvSpPr>
            <p:spPr>
              <a:xfrm>
                <a:off x="60959" y="4910634"/>
                <a:ext cx="6128443" cy="923330"/>
              </a:xfrm>
              <a:prstGeom prst="rect">
                <a:avLst/>
              </a:prstGeom>
              <a:noFill/>
              <a:ln w="28575">
                <a:solidFill>
                  <a:srgbClr val="123D52"/>
                </a:solidFill>
              </a:ln>
            </p:spPr>
            <p:txBody>
              <a:bodyPr wrap="square">
                <a:spAutoFit/>
              </a:bodyPr>
              <a:lstStyle/>
              <a:p>
                <a:pPr algn="just"/>
                <a:r>
                  <a:rPr lang="pt-BR" dirty="0">
                    <a:latin typeface="Abadi" panose="020B0604020104020204" pitchFamily="34" charset="0"/>
                  </a:rPr>
                  <a:t>Por que é O(</a:t>
                </a:r>
                <a14:m>
                  <m:oMath xmlns:m="http://schemas.openxmlformats.org/officeDocument/2006/math">
                    <m:sSup>
                      <m:sSupPr>
                        <m:ctrlPr>
                          <a:rPr lang="pt-BR" i="1" dirty="0">
                            <a:latin typeface="Cambria Math" panose="02040503050406030204" pitchFamily="18" charset="0"/>
                          </a:rPr>
                        </m:ctrlPr>
                      </m:sSupPr>
                      <m:e>
                        <m:r>
                          <a:rPr lang="pt-BR" i="1" dirty="0">
                            <a:latin typeface="Cambria Math" panose="02040503050406030204" pitchFamily="18" charset="0"/>
                          </a:rPr>
                          <m:t>𝑛</m:t>
                        </m:r>
                      </m:e>
                      <m:sup>
                        <m:r>
                          <a:rPr lang="pt-BR" i="1" dirty="0">
                            <a:latin typeface="Cambria Math" panose="02040503050406030204" pitchFamily="18" charset="0"/>
                          </a:rPr>
                          <m:t>2</m:t>
                        </m:r>
                      </m:sup>
                    </m:sSup>
                  </m:oMath>
                </a14:m>
                <a:r>
                  <a:rPr lang="pt-BR" dirty="0">
                    <a:latin typeface="Abadi" panose="020B0604020104020204" pitchFamily="34" charset="0"/>
                  </a:rPr>
                  <a:t>)?</a:t>
                </a:r>
              </a:p>
              <a:p>
                <a:pPr algn="just"/>
                <a:r>
                  <a:rPr lang="pt-BR" dirty="0">
                    <a:latin typeface="Abadi" panose="020B0604020104020204" pitchFamily="34" charset="0"/>
                  </a:rPr>
                  <a:t>A matriz tabela possui 𝑛 × 𝑛 elementos, consumindo espaço proporcional ao quadrado do tamanho do </a:t>
                </a:r>
                <a:r>
                  <a:rPr lang="pt-BR" dirty="0" err="1">
                    <a:latin typeface="Abadi" panose="020B0604020104020204" pitchFamily="34" charset="0"/>
                  </a:rPr>
                  <a:t>array</a:t>
                </a:r>
                <a:r>
                  <a:rPr lang="pt-BR" dirty="0">
                    <a:latin typeface="Abadi" panose="020B0604020104020204" pitchFamily="34" charset="0"/>
                  </a:rPr>
                  <a:t> de entrada.</a:t>
                </a:r>
              </a:p>
            </p:txBody>
          </p:sp>
        </mc:Choice>
        <mc:Fallback xmlns="">
          <p:sp>
            <p:nvSpPr>
              <p:cNvPr id="16" name="CaixaDeTexto 15">
                <a:extLst>
                  <a:ext uri="{FF2B5EF4-FFF2-40B4-BE49-F238E27FC236}">
                    <a16:creationId xmlns:a16="http://schemas.microsoft.com/office/drawing/2014/main" id="{DD0E604A-A323-E7AD-5896-D6285B0B11A8}"/>
                  </a:ext>
                </a:extLst>
              </p:cNvPr>
              <p:cNvSpPr txBox="1">
                <a:spLocks noRot="1" noChangeAspect="1" noMove="1" noResize="1" noEditPoints="1" noAdjustHandles="1" noChangeArrowheads="1" noChangeShapeType="1" noTextEdit="1"/>
              </p:cNvSpPr>
              <p:nvPr/>
            </p:nvSpPr>
            <p:spPr>
              <a:xfrm>
                <a:off x="60959" y="4910634"/>
                <a:ext cx="6128443" cy="923330"/>
              </a:xfrm>
              <a:prstGeom prst="rect">
                <a:avLst/>
              </a:prstGeom>
              <a:blipFill>
                <a:blip r:embed="rId3"/>
                <a:stretch>
                  <a:fillRect l="-594" t="-1923" r="-495" b="-7692"/>
                </a:stretch>
              </a:blipFill>
              <a:ln w="28575">
                <a:solidFill>
                  <a:srgbClr val="123D52"/>
                </a:solidFill>
              </a:ln>
            </p:spPr>
            <p:txBody>
              <a:bodyPr/>
              <a:lstStyle/>
              <a:p>
                <a:r>
                  <a:rPr lang="pt-BR">
                    <a:noFill/>
                  </a:rPr>
                  <a:t> </a:t>
                </a:r>
              </a:p>
            </p:txBody>
          </p:sp>
        </mc:Fallback>
      </mc:AlternateContent>
      <p:pic>
        <p:nvPicPr>
          <p:cNvPr id="3" name="Imagem 2">
            <a:extLst>
              <a:ext uri="{FF2B5EF4-FFF2-40B4-BE49-F238E27FC236}">
                <a16:creationId xmlns:a16="http://schemas.microsoft.com/office/drawing/2014/main" id="{1691EA8E-0918-07DE-286B-2DA63F5AB6E1}"/>
              </a:ext>
            </a:extLst>
          </p:cNvPr>
          <p:cNvPicPr>
            <a:picLocks noChangeAspect="1"/>
          </p:cNvPicPr>
          <p:nvPr/>
        </p:nvPicPr>
        <p:blipFill>
          <a:blip r:embed="rId4"/>
          <a:stretch>
            <a:fillRect/>
          </a:stretch>
        </p:blipFill>
        <p:spPr>
          <a:xfrm>
            <a:off x="6288974" y="30480"/>
            <a:ext cx="5747370" cy="6786880"/>
          </a:xfrm>
          <a:prstGeom prst="rect">
            <a:avLst/>
          </a:prstGeom>
        </p:spPr>
      </p:pic>
    </p:spTree>
    <p:extLst>
      <p:ext uri="{BB962C8B-B14F-4D97-AF65-F5344CB8AC3E}">
        <p14:creationId xmlns:p14="http://schemas.microsoft.com/office/powerpoint/2010/main" val="2943858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695FE-18BD-7CE7-E24F-5BEBCC97AD56}"/>
            </a:ext>
          </a:extLst>
        </p:cNvPr>
        <p:cNvGrpSpPr/>
        <p:nvPr/>
      </p:nvGrpSpPr>
      <p:grpSpPr>
        <a:xfrm>
          <a:off x="0" y="0"/>
          <a:ext cx="0" cy="0"/>
          <a:chOff x="0" y="0"/>
          <a:chExt cx="0" cy="0"/>
        </a:xfrm>
      </p:grpSpPr>
      <p:sp>
        <p:nvSpPr>
          <p:cNvPr id="8" name="Retângulo 7">
            <a:extLst>
              <a:ext uri="{FF2B5EF4-FFF2-40B4-BE49-F238E27FC236}">
                <a16:creationId xmlns:a16="http://schemas.microsoft.com/office/drawing/2014/main" id="{26A46182-6115-5F4A-4A7F-331D9EC89FC6}"/>
              </a:ext>
            </a:extLst>
          </p:cNvPr>
          <p:cNvSpPr/>
          <p:nvPr/>
        </p:nvSpPr>
        <p:spPr>
          <a:xfrm>
            <a:off x="0" y="1046480"/>
            <a:ext cx="12192000" cy="58115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 name="Retângulo: Cantos Superiores Recortados 4">
                <a:extLst>
                  <a:ext uri="{FF2B5EF4-FFF2-40B4-BE49-F238E27FC236}">
                    <a16:creationId xmlns:a16="http://schemas.microsoft.com/office/drawing/2014/main" id="{DE55B7F5-3567-B007-EBA5-51FB78B6CA82}"/>
                  </a:ext>
                </a:extLst>
              </p:cNvPr>
              <p:cNvSpPr/>
              <p:nvPr/>
            </p:nvSpPr>
            <p:spPr>
              <a:xfrm rot="16200000">
                <a:off x="1397392" y="-1234049"/>
                <a:ext cx="649458" cy="3444239"/>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Gráfico do</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sSup>
                      <m:sSupPr>
                        <m:ctrlPr>
                          <a:rPr lang="pt-BR" sz="3000" i="1" dirty="0" smtClean="0">
                            <a:latin typeface="Cambria Math" panose="02040503050406030204" pitchFamily="18" charset="0"/>
                            <a:ea typeface="Cambria Math" panose="02040503050406030204" pitchFamily="18" charset="0"/>
                          </a:rPr>
                        </m:ctrlPr>
                      </m:sSupPr>
                      <m:e>
                        <m:r>
                          <a:rPr lang="pt-BR" sz="3000" b="0" i="1" dirty="0" smtClean="0">
                            <a:latin typeface="Cambria Math" panose="02040503050406030204" pitchFamily="18" charset="0"/>
                            <a:ea typeface="Cambria Math" panose="02040503050406030204" pitchFamily="18" charset="0"/>
                          </a:rPr>
                          <m:t>𝑛</m:t>
                        </m:r>
                      </m:e>
                      <m:sup>
                        <m:r>
                          <a:rPr lang="pt-BR" sz="3000" b="0" i="1" dirty="0" smtClean="0">
                            <a:latin typeface="Cambria Math" panose="02040503050406030204" pitchFamily="18" charset="0"/>
                            <a:ea typeface="Cambria Math" panose="02040503050406030204" pitchFamily="18" charset="0"/>
                          </a:rPr>
                          <m:t>2</m:t>
                        </m:r>
                      </m:sup>
                    </m:sSup>
                  </m:oMath>
                </a14:m>
                <a:r>
                  <a:rPr lang="pt-BR" sz="3000" dirty="0">
                    <a:latin typeface="Abadi" panose="020B0604020104020204" pitchFamily="34" charset="0"/>
                  </a:rPr>
                  <a:t>)</a:t>
                </a:r>
              </a:p>
            </p:txBody>
          </p:sp>
        </mc:Choice>
        <mc:Fallback xmlns="">
          <p:sp>
            <p:nvSpPr>
              <p:cNvPr id="5" name="Retângulo: Cantos Superiores Recortados 4">
                <a:extLst>
                  <a:ext uri="{FF2B5EF4-FFF2-40B4-BE49-F238E27FC236}">
                    <a16:creationId xmlns:a16="http://schemas.microsoft.com/office/drawing/2014/main" id="{DE55B7F5-3567-B007-EBA5-51FB78B6CA82}"/>
                  </a:ext>
                </a:extLst>
              </p:cNvPr>
              <p:cNvSpPr>
                <a:spLocks noRot="1" noChangeAspect="1" noMove="1" noResize="1" noEditPoints="1" noAdjustHandles="1" noChangeArrowheads="1" noChangeShapeType="1" noTextEdit="1"/>
              </p:cNvSpPr>
              <p:nvPr/>
            </p:nvSpPr>
            <p:spPr>
              <a:xfrm rot="16200000">
                <a:off x="1397392" y="-1234049"/>
                <a:ext cx="649458" cy="3444239"/>
              </a:xfrm>
              <a:prstGeom prst="snip2SameRect">
                <a:avLst>
                  <a:gd name="adj1" fmla="val 0"/>
                  <a:gd name="adj2" fmla="val 15195"/>
                </a:avLst>
              </a:prstGeom>
              <a:blipFill>
                <a:blip r:embed="rId2"/>
                <a:stretch>
                  <a:fillRect l="-4561" t="-4505" b="-18919"/>
                </a:stretch>
              </a:blipFill>
              <a:ln w="28575">
                <a:solidFill>
                  <a:schemeClr val="tx2"/>
                </a:solidFill>
              </a:ln>
            </p:spPr>
            <p:txBody>
              <a:bodyPr/>
              <a:lstStyle/>
              <a:p>
                <a:r>
                  <a:rPr lang="pt-BR">
                    <a:noFill/>
                  </a:rPr>
                  <a:t> </a:t>
                </a:r>
              </a:p>
            </p:txBody>
          </p:sp>
        </mc:Fallback>
      </mc:AlternateContent>
      <p:pic>
        <p:nvPicPr>
          <p:cNvPr id="6" name="Imagem 5">
            <a:extLst>
              <a:ext uri="{FF2B5EF4-FFF2-40B4-BE49-F238E27FC236}">
                <a16:creationId xmlns:a16="http://schemas.microsoft.com/office/drawing/2014/main" id="{2544D6C8-3C9D-616D-8506-D28BD632CDE5}"/>
              </a:ext>
            </a:extLst>
          </p:cNvPr>
          <p:cNvPicPr>
            <a:picLocks noChangeAspect="1"/>
          </p:cNvPicPr>
          <p:nvPr/>
        </p:nvPicPr>
        <p:blipFill>
          <a:blip r:embed="rId3"/>
          <a:srcRect l="17500" t="1320" r="16276"/>
          <a:stretch/>
        </p:blipFill>
        <p:spPr>
          <a:xfrm>
            <a:off x="1754156" y="1046479"/>
            <a:ext cx="8542734" cy="5721501"/>
          </a:xfrm>
          <a:prstGeom prst="rect">
            <a:avLst/>
          </a:prstGeom>
        </p:spPr>
      </p:pic>
    </p:spTree>
    <p:extLst>
      <p:ext uri="{BB962C8B-B14F-4D97-AF65-F5344CB8AC3E}">
        <p14:creationId xmlns:p14="http://schemas.microsoft.com/office/powerpoint/2010/main" val="63088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45821-1190-CA19-470F-40918A036D2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A4BA827C-02EE-A97C-A727-BC70F459CB51}"/>
                  </a:ext>
                </a:extLst>
              </p:cNvPr>
              <p:cNvSpPr/>
              <p:nvPr/>
            </p:nvSpPr>
            <p:spPr>
              <a:xfrm rot="16200000">
                <a:off x="3261753" y="-3098408"/>
                <a:ext cx="649458" cy="7172955"/>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lgn="r">
                  <a:buFont typeface="Wingdings" panose="05000000000000000000" pitchFamily="2" charset="2"/>
                  <a:buChar char="Ø"/>
                </a:pPr>
                <a:r>
                  <a:rPr lang="pt-BR" sz="3000" dirty="0">
                    <a:solidFill>
                      <a:schemeClr val="tx1"/>
                    </a:solidFill>
                    <a:latin typeface="Abadi" panose="020B0604020104020204" pitchFamily="34" charset="0"/>
                  </a:rPr>
                  <a:t>Tip</a:t>
                </a:r>
                <a:r>
                  <a:rPr lang="pt-BR" sz="3000" dirty="0">
                    <a:latin typeface="Abadi" panose="020B0604020104020204" pitchFamily="34" charset="0"/>
                  </a:rPr>
                  <a:t>os de complexidade de espaço: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a:rPr lang="pt-BR" sz="3000" i="1" dirty="0" smtClean="0">
                        <a:latin typeface="Cambria Math" panose="02040503050406030204" pitchFamily="18" charset="0"/>
                      </a:rPr>
                      <m:t>𝑛</m:t>
                    </m:r>
                    <m:r>
                      <a:rPr lang="pt-BR" sz="3000" i="1" dirty="0" smtClean="0">
                        <a:latin typeface="Cambria Math" panose="02040503050406030204" pitchFamily="18" charset="0"/>
                      </a:rPr>
                      <m:t>!</m:t>
                    </m:r>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A4BA827C-02EE-A97C-A727-BC70F459CB51}"/>
                  </a:ext>
                </a:extLst>
              </p:cNvPr>
              <p:cNvSpPr>
                <a:spLocks noRot="1" noChangeAspect="1" noMove="1" noResize="1" noEditPoints="1" noAdjustHandles="1" noChangeArrowheads="1" noChangeShapeType="1" noTextEdit="1"/>
              </p:cNvSpPr>
              <p:nvPr/>
            </p:nvSpPr>
            <p:spPr>
              <a:xfrm rot="16200000">
                <a:off x="3261753" y="-3098408"/>
                <a:ext cx="649458" cy="7172955"/>
              </a:xfrm>
              <a:prstGeom prst="snip2SameRect">
                <a:avLst>
                  <a:gd name="adj1" fmla="val 0"/>
                  <a:gd name="adj2" fmla="val 15195"/>
                </a:avLst>
              </a:prstGeom>
              <a:blipFill>
                <a:blip r:embed="rId2"/>
                <a:stretch>
                  <a:fillRect l="-1438" t="-4505" r="-1607" b="-18018"/>
                </a:stretch>
              </a:blipFill>
              <a:ln w="28575">
                <a:solidFill>
                  <a:schemeClr val="tx2"/>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CA84A8D4-A887-31E8-5EF6-16C5032BAA00}"/>
                  </a:ext>
                </a:extLst>
              </p:cNvPr>
              <p:cNvSpPr txBox="1"/>
              <p:nvPr/>
            </p:nvSpPr>
            <p:spPr>
              <a:xfrm>
                <a:off x="180546" y="1005165"/>
                <a:ext cx="11837283" cy="1292662"/>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Definição:</a:t>
                </a:r>
                <a:endParaRPr lang="pt-BR" dirty="0">
                  <a:solidFill>
                    <a:schemeClr val="tx1"/>
                  </a:solidFill>
                  <a:latin typeface="Abadi" panose="020B0604020104020204" pitchFamily="34" charset="0"/>
                  <a:ea typeface="Cambria Math" panose="02040503050406030204" pitchFamily="18" charset="0"/>
                </a:endParaRPr>
              </a:p>
              <a:p>
                <a:pPr marL="285750" indent="-28575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complexidade de espaço </a:t>
                </a:r>
                <a:r>
                  <a:rPr lang="pt-BR" dirty="0">
                    <a:solidFill>
                      <a:srgbClr val="FFFF00"/>
                    </a:solidFill>
                    <a:latin typeface="Abadi" panose="020B0604020104020204" pitchFamily="34" charset="0"/>
                    <a:ea typeface="Cambria Math" panose="02040503050406030204" pitchFamily="18" charset="0"/>
                  </a:rPr>
                  <a:t>𝑂(</a:t>
                </a:r>
                <a14:m>
                  <m:oMath xmlns:m="http://schemas.openxmlformats.org/officeDocument/2006/math">
                    <m:r>
                      <m:rPr>
                        <m:nor/>
                      </m:rPr>
                      <a:rPr lang="pt-BR" dirty="0" smtClean="0">
                        <a:solidFill>
                          <a:srgbClr val="FFFF00"/>
                        </a:solidFill>
                        <a:latin typeface="Abadi" panose="020B0604020104020204" pitchFamily="34" charset="0"/>
                        <a:ea typeface="Cambria Math" panose="02040503050406030204" pitchFamily="18" charset="0"/>
                      </a:rPr>
                      <m:t>𝑛</m:t>
                    </m:r>
                  </m:oMath>
                </a14:m>
                <a:r>
                  <a:rPr lang="pt-BR" dirty="0">
                    <a:solidFill>
                      <a:srgbClr val="FFFF00"/>
                    </a:solidFill>
                    <a:latin typeface="Abadi" panose="020B0604020104020204" pitchFamily="34" charset="0"/>
                    <a:ea typeface="Cambria Math" panose="02040503050406030204" pitchFamily="18" charset="0"/>
                  </a:rPr>
                  <a:t>!) </a:t>
                </a:r>
                <a:r>
                  <a:rPr lang="pt-BR" dirty="0">
                    <a:solidFill>
                      <a:schemeClr val="tx1"/>
                    </a:solidFill>
                    <a:latin typeface="Abadi" panose="020B0604020104020204" pitchFamily="34" charset="0"/>
                    <a:ea typeface="Cambria Math" panose="02040503050406030204" pitchFamily="18" charset="0"/>
                  </a:rPr>
                  <a:t>ocorre em algoritmos que precisam armazenar todas as permutações possíveis de um conjunto de 𝑛 elementos. Como o número de permutações cresce rapidamente com 𝑛! (fatorial de 𝑛), esses algoritmos consomem uma quantidade exponencial de memória, sendo inviáveis para entradas maiores.</a:t>
                </a:r>
                <a:endParaRPr lang="pt-BR" dirty="0">
                  <a:solidFill>
                    <a:schemeClr val="tx1"/>
                  </a:solidFill>
                  <a:latin typeface="Abadi" panose="020B0604020104020204" pitchFamily="34" charset="0"/>
                </a:endParaRPr>
              </a:p>
            </p:txBody>
          </p:sp>
        </mc:Choice>
        <mc:Fallback xmlns="">
          <p:sp>
            <p:nvSpPr>
              <p:cNvPr id="3" name="CaixaDeTexto 2">
                <a:extLst>
                  <a:ext uri="{FF2B5EF4-FFF2-40B4-BE49-F238E27FC236}">
                    <a16:creationId xmlns:a16="http://schemas.microsoft.com/office/drawing/2014/main" id="{CA84A8D4-A887-31E8-5EF6-16C5032BAA00}"/>
                  </a:ext>
                </a:extLst>
              </p:cNvPr>
              <p:cNvSpPr txBox="1">
                <a:spLocks noRot="1" noChangeAspect="1" noMove="1" noResize="1" noEditPoints="1" noAdjustHandles="1" noChangeArrowheads="1" noChangeShapeType="1" noTextEdit="1"/>
              </p:cNvSpPr>
              <p:nvPr/>
            </p:nvSpPr>
            <p:spPr>
              <a:xfrm>
                <a:off x="180546" y="1005165"/>
                <a:ext cx="11837283" cy="1292662"/>
              </a:xfrm>
              <a:prstGeom prst="rect">
                <a:avLst/>
              </a:prstGeom>
              <a:blipFill>
                <a:blip r:embed="rId3"/>
                <a:stretch>
                  <a:fillRect l="-719" t="-2765" r="-308" b="-5069"/>
                </a:stretch>
              </a:blipFill>
              <a:ln w="28575">
                <a:solidFill>
                  <a:srgbClr val="123D5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3BFD7182-4C8F-B106-3771-3FA46A579D7C}"/>
              </a:ext>
            </a:extLst>
          </p:cNvPr>
          <p:cNvSpPr txBox="1"/>
          <p:nvPr/>
        </p:nvSpPr>
        <p:spPr>
          <a:xfrm>
            <a:off x="177358" y="2767190"/>
            <a:ext cx="11837283" cy="3231654"/>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sz="2400" dirty="0">
                <a:solidFill>
                  <a:schemeClr val="tx1"/>
                </a:solidFill>
                <a:latin typeface="Abadi" panose="020B0604020104020204" pitchFamily="34" charset="0"/>
                <a:ea typeface="Cambria Math" panose="02040503050406030204" pitchFamily="18" charset="0"/>
              </a:rPr>
              <a:t>Características: </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Exploração de permutações: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O algoritmo precisa gerar ou armazenar todas as permutações possíveis de um conjunto.</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Crescimento extremamente rápido:</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A memória necessária aumenta drasticamente com o tamanho da entrada.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Exemplo: Para 𝑛 = 5, são necessárias 120 unidades, para 𝑛 = 10, 3.628.800 unidades.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Problemas combinatórios complexos:</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Problemas como o Caixeiro Viajante ou geração de todas as combinações possíveis frequentemente atingem 𝑂(𝑛!) em espaço e/ou tempo</a:t>
            </a:r>
            <a:endParaRPr lang="pt-BR" sz="1400" dirty="0">
              <a:solidFill>
                <a:schemeClr val="tx1"/>
              </a:solidFill>
              <a:latin typeface="Abadi" panose="020B0604020104020204" pitchFamily="34" charset="0"/>
            </a:endParaRPr>
          </a:p>
        </p:txBody>
      </p:sp>
    </p:spTree>
    <p:extLst>
      <p:ext uri="{BB962C8B-B14F-4D97-AF65-F5344CB8AC3E}">
        <p14:creationId xmlns:p14="http://schemas.microsoft.com/office/powerpoint/2010/main" val="3857691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1BA3B-5406-1BC1-1D4D-26F47AB48A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tângulo: Cantos Superiores Recortados 8">
                <a:extLst>
                  <a:ext uri="{FF2B5EF4-FFF2-40B4-BE49-F238E27FC236}">
                    <a16:creationId xmlns:a16="http://schemas.microsoft.com/office/drawing/2014/main" id="{8C5FDDC4-83BD-64D5-2091-228F7FD52342}"/>
                  </a:ext>
                </a:extLst>
              </p:cNvPr>
              <p:cNvSpPr/>
              <p:nvPr/>
            </p:nvSpPr>
            <p:spPr>
              <a:xfrm rot="16200000">
                <a:off x="2222492" y="-2059149"/>
                <a:ext cx="649458" cy="5094438"/>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Exemplos de</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a:rPr lang="pt-BR" sz="3000" i="1" dirty="0">
                        <a:latin typeface="Cambria Math" panose="02040503050406030204" pitchFamily="18" charset="0"/>
                      </a:rPr>
                      <m:t>𝑛</m:t>
                    </m:r>
                    <m:r>
                      <a:rPr lang="pt-BR" sz="3000" i="1" dirty="0">
                        <a:latin typeface="Cambria Math" panose="02040503050406030204" pitchFamily="18" charset="0"/>
                      </a:rPr>
                      <m:t>!</m:t>
                    </m:r>
                  </m:oMath>
                </a14:m>
                <a:r>
                  <a:rPr lang="pt-BR" sz="3000" dirty="0">
                    <a:latin typeface="Abadi" panose="020B0604020104020204" pitchFamily="34" charset="0"/>
                  </a:rPr>
                  <a:t>)</a:t>
                </a:r>
                <a:r>
                  <a:rPr lang="pt-BR" sz="1100" dirty="0">
                    <a:latin typeface="Abadi" panose="020B0604020104020204" pitchFamily="34" charset="0"/>
                  </a:rPr>
                  <a:t> </a:t>
                </a:r>
                <a:endParaRPr lang="pt-BR" sz="3000" dirty="0">
                  <a:latin typeface="Abadi" panose="020B0604020104020204" pitchFamily="34" charset="0"/>
                </a:endParaRPr>
              </a:p>
            </p:txBody>
          </p:sp>
        </mc:Choice>
        <mc:Fallback xmlns="">
          <p:sp>
            <p:nvSpPr>
              <p:cNvPr id="9" name="Retângulo: Cantos Superiores Recortados 8">
                <a:extLst>
                  <a:ext uri="{FF2B5EF4-FFF2-40B4-BE49-F238E27FC236}">
                    <a16:creationId xmlns:a16="http://schemas.microsoft.com/office/drawing/2014/main" id="{8C5FDDC4-83BD-64D5-2091-228F7FD52342}"/>
                  </a:ext>
                </a:extLst>
              </p:cNvPr>
              <p:cNvSpPr>
                <a:spLocks noRot="1" noChangeAspect="1" noMove="1" noResize="1" noEditPoints="1" noAdjustHandles="1" noChangeArrowheads="1" noChangeShapeType="1" noTextEdit="1"/>
              </p:cNvSpPr>
              <p:nvPr/>
            </p:nvSpPr>
            <p:spPr>
              <a:xfrm rot="16200000">
                <a:off x="2222492" y="-2059149"/>
                <a:ext cx="649458" cy="5094438"/>
              </a:xfrm>
              <a:prstGeom prst="snip2SameRect">
                <a:avLst>
                  <a:gd name="adj1" fmla="val 0"/>
                  <a:gd name="adj2" fmla="val 15195"/>
                </a:avLst>
              </a:prstGeom>
              <a:blipFill>
                <a:blip r:embed="rId2"/>
                <a:stretch>
                  <a:fillRect l="-3092" t="-4505" b="-18919"/>
                </a:stretch>
              </a:blipFill>
              <a:ln w="28575">
                <a:solidFill>
                  <a:schemeClr val="tx2"/>
                </a:solidFill>
              </a:ln>
            </p:spPr>
            <p:txBody>
              <a:bodyPr/>
              <a:lstStyle/>
              <a:p>
                <a:r>
                  <a:rPr lang="pt-BR">
                    <a:noFill/>
                  </a:rPr>
                  <a:t> </a:t>
                </a:r>
              </a:p>
            </p:txBody>
          </p:sp>
        </mc:Fallback>
      </mc:AlternateContent>
      <p:sp>
        <p:nvSpPr>
          <p:cNvPr id="4" name="CaixaDeTexto 3">
            <a:extLst>
              <a:ext uri="{FF2B5EF4-FFF2-40B4-BE49-F238E27FC236}">
                <a16:creationId xmlns:a16="http://schemas.microsoft.com/office/drawing/2014/main" id="{5A1B18F9-6901-2ABA-9976-CBA987F05C62}"/>
              </a:ext>
            </a:extLst>
          </p:cNvPr>
          <p:cNvSpPr txBox="1"/>
          <p:nvPr/>
        </p:nvSpPr>
        <p:spPr>
          <a:xfrm>
            <a:off x="60959" y="884814"/>
            <a:ext cx="6128443" cy="3139321"/>
          </a:xfrm>
          <a:prstGeom prst="rect">
            <a:avLst/>
          </a:prstGeom>
          <a:noFill/>
          <a:ln w="28575">
            <a:solidFill>
              <a:srgbClr val="123D52"/>
            </a:solidFill>
          </a:ln>
        </p:spPr>
        <p:style>
          <a:lnRef idx="1">
            <a:schemeClr val="dk1"/>
          </a:lnRef>
          <a:fillRef idx="2">
            <a:schemeClr val="dk1"/>
          </a:fillRef>
          <a:effectRef idx="1">
            <a:schemeClr val="dk1"/>
          </a:effectRef>
          <a:fontRef idx="minor">
            <a:schemeClr val="dk1"/>
          </a:fontRef>
        </p:style>
        <p:txBody>
          <a:bodyPr wrap="square">
            <a:spAutoFit/>
          </a:bodyPr>
          <a:lstStyle/>
          <a:p>
            <a:pPr algn="just"/>
            <a:r>
              <a:rPr lang="pt-BR" dirty="0">
                <a:solidFill>
                  <a:schemeClr val="tx1"/>
                </a:solidFill>
                <a:latin typeface="Abadi" panose="020B0604020104020204" pitchFamily="34" charset="0"/>
                <a:ea typeface="Cambria Math" panose="02040503050406030204" pitchFamily="18" charset="0"/>
              </a:rPr>
              <a:t>Exemplos Reais:</a:t>
            </a: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Geração de todas as permutações de um conjunto:</a:t>
            </a:r>
          </a:p>
          <a:p>
            <a:pPr marL="800100" lvl="1"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Como listar todas as ordens possíveis para 𝑛 itens.</a:t>
            </a:r>
          </a:p>
          <a:p>
            <a:pPr marL="800100" lvl="1" indent="-342900" algn="just">
              <a:buFont typeface="+mj-lt"/>
              <a:buAutoNum type="arabicPeriod"/>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Problema do Caixeiro Viajante (TSP):</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Um algoritmo ingênuo que tenta todas as rotas possíveis entre 𝑛 cidades.</a:t>
            </a:r>
          </a:p>
          <a:p>
            <a:pPr marL="800100" lvl="1" indent="-342900" algn="just">
              <a:buFont typeface="Arial" panose="020B0604020202020204" pitchFamily="34" charset="0"/>
              <a:buChar char="•"/>
            </a:pPr>
            <a:endParaRPr lang="pt-BR" dirty="0">
              <a:solidFill>
                <a:schemeClr val="tx1"/>
              </a:solidFill>
              <a:latin typeface="Abadi" panose="020B0604020104020204" pitchFamily="34" charset="0"/>
              <a:ea typeface="Cambria Math" panose="02040503050406030204" pitchFamily="18" charset="0"/>
            </a:endParaRPr>
          </a:p>
          <a:p>
            <a:pPr marL="342900" indent="-342900" algn="just">
              <a:buFont typeface="+mj-lt"/>
              <a:buAutoNum type="arabicPeriod"/>
            </a:pPr>
            <a:r>
              <a:rPr lang="pt-BR" dirty="0">
                <a:solidFill>
                  <a:schemeClr val="tx1"/>
                </a:solidFill>
                <a:latin typeface="Abadi" panose="020B0604020104020204" pitchFamily="34" charset="0"/>
                <a:ea typeface="Cambria Math" panose="02040503050406030204" pitchFamily="18" charset="0"/>
              </a:rPr>
              <a:t>Problemas de otimização exaustiva:</a:t>
            </a:r>
          </a:p>
          <a:p>
            <a:pPr marL="800100" lvl="1" indent="-342900" algn="just">
              <a:buFont typeface="Arial" panose="020B0604020202020204" pitchFamily="34" charset="0"/>
              <a:buChar char="•"/>
            </a:pPr>
            <a:r>
              <a:rPr lang="pt-BR" dirty="0">
                <a:solidFill>
                  <a:schemeClr val="tx1"/>
                </a:solidFill>
                <a:latin typeface="Abadi" panose="020B0604020104020204" pitchFamily="34" charset="0"/>
                <a:ea typeface="Cambria Math" panose="02040503050406030204" pitchFamily="18" charset="0"/>
              </a:rPr>
              <a:t>Explorando todas as configurações possíveis para encontrar a solução ótima.</a:t>
            </a: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724AAFA3-278F-E6DB-226E-F00C341B8A1C}"/>
                  </a:ext>
                </a:extLst>
              </p:cNvPr>
              <p:cNvSpPr txBox="1"/>
              <p:nvPr/>
            </p:nvSpPr>
            <p:spPr>
              <a:xfrm>
                <a:off x="157244" y="4788714"/>
                <a:ext cx="6128443" cy="1200329"/>
              </a:xfrm>
              <a:prstGeom prst="rect">
                <a:avLst/>
              </a:prstGeom>
              <a:noFill/>
              <a:ln w="28575">
                <a:solidFill>
                  <a:srgbClr val="123D52"/>
                </a:solidFill>
              </a:ln>
            </p:spPr>
            <p:txBody>
              <a:bodyPr wrap="square">
                <a:spAutoFit/>
              </a:bodyPr>
              <a:lstStyle/>
              <a:p>
                <a:pPr algn="just"/>
                <a:r>
                  <a:rPr lang="pt-BR" dirty="0">
                    <a:latin typeface="Abadi" panose="020B0604020104020204" pitchFamily="34" charset="0"/>
                  </a:rPr>
                  <a:t>Por que é O(</a:t>
                </a:r>
                <a14:m>
                  <m:oMath xmlns:m="http://schemas.openxmlformats.org/officeDocument/2006/math">
                    <m:r>
                      <m:rPr>
                        <m:nor/>
                      </m:rPr>
                      <a:rPr lang="pt-BR" dirty="0"/>
                      <m:t>𝑛</m:t>
                    </m:r>
                    <m:r>
                      <m:rPr>
                        <m:nor/>
                      </m:rPr>
                      <a:rPr lang="pt-BR" dirty="0"/>
                      <m:t>!</m:t>
                    </m:r>
                  </m:oMath>
                </a14:m>
                <a:r>
                  <a:rPr lang="pt-BR" dirty="0">
                    <a:latin typeface="Abadi" panose="020B0604020104020204" pitchFamily="34" charset="0"/>
                  </a:rPr>
                  <a:t>)?</a:t>
                </a:r>
              </a:p>
              <a:p>
                <a:pPr algn="just"/>
                <a:r>
                  <a:rPr lang="pt-BR" dirty="0"/>
                  <a:t>O algoritmo gera todas as permutações possíveis, armazenando-as em uma lista resultado. Como existem 𝑛! permutações, a memória consumida é proporcional a 𝑛!.</a:t>
                </a:r>
                <a:endParaRPr lang="pt-BR" dirty="0">
                  <a:latin typeface="Abadi" panose="020B0604020104020204" pitchFamily="34" charset="0"/>
                </a:endParaRPr>
              </a:p>
            </p:txBody>
          </p:sp>
        </mc:Choice>
        <mc:Fallback xmlns="">
          <p:sp>
            <p:nvSpPr>
              <p:cNvPr id="16" name="CaixaDeTexto 15">
                <a:extLst>
                  <a:ext uri="{FF2B5EF4-FFF2-40B4-BE49-F238E27FC236}">
                    <a16:creationId xmlns:a16="http://schemas.microsoft.com/office/drawing/2014/main" id="{724AAFA3-278F-E6DB-226E-F00C341B8A1C}"/>
                  </a:ext>
                </a:extLst>
              </p:cNvPr>
              <p:cNvSpPr txBox="1">
                <a:spLocks noRot="1" noChangeAspect="1" noMove="1" noResize="1" noEditPoints="1" noAdjustHandles="1" noChangeArrowheads="1" noChangeShapeType="1" noTextEdit="1"/>
              </p:cNvSpPr>
              <p:nvPr/>
            </p:nvSpPr>
            <p:spPr>
              <a:xfrm>
                <a:off x="157244" y="4788714"/>
                <a:ext cx="6128443" cy="1200329"/>
              </a:xfrm>
              <a:prstGeom prst="rect">
                <a:avLst/>
              </a:prstGeom>
              <a:blipFill>
                <a:blip r:embed="rId3"/>
                <a:stretch>
                  <a:fillRect l="-693" t="-1990" r="-495" b="-5970"/>
                </a:stretch>
              </a:blipFill>
              <a:ln w="28575">
                <a:solidFill>
                  <a:srgbClr val="123D52"/>
                </a:solidFill>
              </a:ln>
            </p:spPr>
            <p:txBody>
              <a:bodyPr/>
              <a:lstStyle/>
              <a:p>
                <a:r>
                  <a:rPr lang="pt-BR">
                    <a:noFill/>
                  </a:rPr>
                  <a:t> </a:t>
                </a:r>
              </a:p>
            </p:txBody>
          </p:sp>
        </mc:Fallback>
      </mc:AlternateContent>
      <p:pic>
        <p:nvPicPr>
          <p:cNvPr id="5" name="Imagem 4">
            <a:extLst>
              <a:ext uri="{FF2B5EF4-FFF2-40B4-BE49-F238E27FC236}">
                <a16:creationId xmlns:a16="http://schemas.microsoft.com/office/drawing/2014/main" id="{C4795B81-045C-5384-7C0B-602B333328E2}"/>
              </a:ext>
            </a:extLst>
          </p:cNvPr>
          <p:cNvPicPr>
            <a:picLocks noChangeAspect="1"/>
          </p:cNvPicPr>
          <p:nvPr/>
        </p:nvPicPr>
        <p:blipFill>
          <a:blip r:embed="rId4"/>
          <a:srcRect r="13450"/>
          <a:stretch/>
        </p:blipFill>
        <p:spPr>
          <a:xfrm>
            <a:off x="6381972" y="163340"/>
            <a:ext cx="5576347" cy="4999500"/>
          </a:xfrm>
          <a:prstGeom prst="rect">
            <a:avLst/>
          </a:prstGeom>
        </p:spPr>
      </p:pic>
      <p:sp>
        <p:nvSpPr>
          <p:cNvPr id="6" name="CaixaDeTexto 5">
            <a:extLst>
              <a:ext uri="{FF2B5EF4-FFF2-40B4-BE49-F238E27FC236}">
                <a16:creationId xmlns:a16="http://schemas.microsoft.com/office/drawing/2014/main" id="{3A1C6BD7-4030-6371-96FF-0282C38803ED}"/>
              </a:ext>
            </a:extLst>
          </p:cNvPr>
          <p:cNvSpPr txBox="1"/>
          <p:nvPr/>
        </p:nvSpPr>
        <p:spPr>
          <a:xfrm>
            <a:off x="6381972" y="5162840"/>
            <a:ext cx="5576347" cy="523220"/>
          </a:xfrm>
          <a:prstGeom prst="rect">
            <a:avLst/>
          </a:prstGeom>
          <a:noFill/>
          <a:ln w="28575">
            <a:noFill/>
          </a:ln>
        </p:spPr>
        <p:txBody>
          <a:bodyPr wrap="square">
            <a:spAutoFit/>
          </a:bodyPr>
          <a:lstStyle/>
          <a:p>
            <a:pPr algn="ctr"/>
            <a:r>
              <a:rPr lang="pt-BR" sz="2800" dirty="0">
                <a:latin typeface="Abadi" panose="020B0604020104020204" pitchFamily="34" charset="0"/>
              </a:rPr>
              <a:t>...</a:t>
            </a:r>
          </a:p>
        </p:txBody>
      </p:sp>
    </p:spTree>
    <p:extLst>
      <p:ext uri="{BB962C8B-B14F-4D97-AF65-F5344CB8AC3E}">
        <p14:creationId xmlns:p14="http://schemas.microsoft.com/office/powerpoint/2010/main" val="2816704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28A41-2EE4-398A-6DDC-43B541544BA6}"/>
            </a:ext>
          </a:extLst>
        </p:cNvPr>
        <p:cNvGrpSpPr/>
        <p:nvPr/>
      </p:nvGrpSpPr>
      <p:grpSpPr>
        <a:xfrm>
          <a:off x="0" y="0"/>
          <a:ext cx="0" cy="0"/>
          <a:chOff x="0" y="0"/>
          <a:chExt cx="0" cy="0"/>
        </a:xfrm>
      </p:grpSpPr>
      <p:sp>
        <p:nvSpPr>
          <p:cNvPr id="8" name="Retângulo 7">
            <a:extLst>
              <a:ext uri="{FF2B5EF4-FFF2-40B4-BE49-F238E27FC236}">
                <a16:creationId xmlns:a16="http://schemas.microsoft.com/office/drawing/2014/main" id="{A1FC1CEE-10C3-BD10-E1A9-CAEC86567D63}"/>
              </a:ext>
            </a:extLst>
          </p:cNvPr>
          <p:cNvSpPr/>
          <p:nvPr/>
        </p:nvSpPr>
        <p:spPr>
          <a:xfrm>
            <a:off x="0" y="1046480"/>
            <a:ext cx="12192000" cy="58115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 name="Retângulo: Cantos Superiores Recortados 4">
                <a:extLst>
                  <a:ext uri="{FF2B5EF4-FFF2-40B4-BE49-F238E27FC236}">
                    <a16:creationId xmlns:a16="http://schemas.microsoft.com/office/drawing/2014/main" id="{483630F8-241B-D190-1797-6AB9ADB665F7}"/>
                  </a:ext>
                </a:extLst>
              </p:cNvPr>
              <p:cNvSpPr/>
              <p:nvPr/>
            </p:nvSpPr>
            <p:spPr>
              <a:xfrm rot="16200000">
                <a:off x="2852345" y="-2689002"/>
                <a:ext cx="649458" cy="6354146"/>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Gráfico do</a:t>
                </a:r>
                <a:r>
                  <a:rPr lang="pt-BR" sz="3000" dirty="0">
                    <a:latin typeface="Abadi" panose="020B0604020104020204" pitchFamily="34" charset="0"/>
                  </a:rPr>
                  <a:t> </a:t>
                </a:r>
                <a:r>
                  <a:rPr lang="pt-BR" sz="3000" dirty="0">
                    <a:latin typeface="Cambria Math" panose="02040503050406030204" pitchFamily="18" charset="0"/>
                    <a:ea typeface="Cambria Math" panose="02040503050406030204" pitchFamily="18" charset="0"/>
                  </a:rPr>
                  <a:t>O</a:t>
                </a:r>
                <a:r>
                  <a:rPr lang="pt-BR" sz="3000" dirty="0">
                    <a:latin typeface="Abadi" panose="020B0604020104020204" pitchFamily="34" charset="0"/>
                  </a:rPr>
                  <a:t>(</a:t>
                </a:r>
                <a14:m>
                  <m:oMath xmlns:m="http://schemas.openxmlformats.org/officeDocument/2006/math">
                    <m:r>
                      <a:rPr lang="pt-BR" sz="3000" i="1" dirty="0" smtClean="0">
                        <a:latin typeface="Cambria Math" panose="02040503050406030204" pitchFamily="18" charset="0"/>
                      </a:rPr>
                      <m:t>𝑛</m:t>
                    </m:r>
                    <m:r>
                      <a:rPr lang="pt-BR" sz="3000" i="1" dirty="0" smtClean="0">
                        <a:latin typeface="Cambria Math" panose="02040503050406030204" pitchFamily="18" charset="0"/>
                      </a:rPr>
                      <m:t>!</m:t>
                    </m:r>
                  </m:oMath>
                </a14:m>
                <a:r>
                  <a:rPr lang="pt-BR" sz="3000" dirty="0">
                    <a:latin typeface="Abadi" panose="020B0604020104020204" pitchFamily="34" charset="0"/>
                  </a:rPr>
                  <a:t>)</a:t>
                </a:r>
              </a:p>
            </p:txBody>
          </p:sp>
        </mc:Choice>
        <mc:Fallback xmlns="">
          <p:sp>
            <p:nvSpPr>
              <p:cNvPr id="5" name="Retângulo: Cantos Superiores Recortados 4">
                <a:extLst>
                  <a:ext uri="{FF2B5EF4-FFF2-40B4-BE49-F238E27FC236}">
                    <a16:creationId xmlns:a16="http://schemas.microsoft.com/office/drawing/2014/main" id="{483630F8-241B-D190-1797-6AB9ADB665F7}"/>
                  </a:ext>
                </a:extLst>
              </p:cNvPr>
              <p:cNvSpPr>
                <a:spLocks noRot="1" noChangeAspect="1" noMove="1" noResize="1" noEditPoints="1" noAdjustHandles="1" noChangeArrowheads="1" noChangeShapeType="1" noTextEdit="1"/>
              </p:cNvSpPr>
              <p:nvPr/>
            </p:nvSpPr>
            <p:spPr>
              <a:xfrm rot="16200000">
                <a:off x="2852345" y="-2689002"/>
                <a:ext cx="649458" cy="6354146"/>
              </a:xfrm>
              <a:prstGeom prst="snip2SameRect">
                <a:avLst>
                  <a:gd name="adj1" fmla="val 0"/>
                  <a:gd name="adj2" fmla="val 15195"/>
                </a:avLst>
              </a:prstGeom>
              <a:blipFill>
                <a:blip r:embed="rId2"/>
                <a:stretch>
                  <a:fillRect l="-2483" t="-4505" b="-18919"/>
                </a:stretch>
              </a:blipFill>
              <a:ln w="28575">
                <a:solidFill>
                  <a:schemeClr val="tx2"/>
                </a:solidFill>
              </a:ln>
            </p:spPr>
            <p:txBody>
              <a:bodyPr/>
              <a:lstStyle/>
              <a:p>
                <a:r>
                  <a:rPr lang="pt-BR">
                    <a:noFill/>
                  </a:rPr>
                  <a:t> </a:t>
                </a:r>
              </a:p>
            </p:txBody>
          </p:sp>
        </mc:Fallback>
      </mc:AlternateContent>
      <p:pic>
        <p:nvPicPr>
          <p:cNvPr id="6" name="Imagem 5">
            <a:extLst>
              <a:ext uri="{FF2B5EF4-FFF2-40B4-BE49-F238E27FC236}">
                <a16:creationId xmlns:a16="http://schemas.microsoft.com/office/drawing/2014/main" id="{DEA74935-66A4-DF14-08EA-9AA4206A78C0}"/>
              </a:ext>
            </a:extLst>
          </p:cNvPr>
          <p:cNvPicPr>
            <a:picLocks noChangeAspect="1"/>
          </p:cNvPicPr>
          <p:nvPr/>
        </p:nvPicPr>
        <p:blipFill>
          <a:blip r:embed="rId3"/>
          <a:srcRect l="17340" t="495" r="16276" b="-1"/>
          <a:stretch/>
        </p:blipFill>
        <p:spPr>
          <a:xfrm>
            <a:off x="1726163" y="1046479"/>
            <a:ext cx="8584163" cy="5699085"/>
          </a:xfrm>
          <a:prstGeom prst="rect">
            <a:avLst/>
          </a:prstGeom>
        </p:spPr>
      </p:pic>
    </p:spTree>
    <p:extLst>
      <p:ext uri="{BB962C8B-B14F-4D97-AF65-F5344CB8AC3E}">
        <p14:creationId xmlns:p14="http://schemas.microsoft.com/office/powerpoint/2010/main" val="3850801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69B5C-B59B-0CA0-B1E4-AA50C67DA911}"/>
            </a:ext>
          </a:extLst>
        </p:cNvPr>
        <p:cNvGrpSpPr/>
        <p:nvPr/>
      </p:nvGrpSpPr>
      <p:grpSpPr>
        <a:xfrm>
          <a:off x="0" y="0"/>
          <a:ext cx="0" cy="0"/>
          <a:chOff x="0" y="0"/>
          <a:chExt cx="0" cy="0"/>
        </a:xfrm>
      </p:grpSpPr>
      <p:sp>
        <p:nvSpPr>
          <p:cNvPr id="5" name="Retângulo: Cantos Superiores Recortados 4">
            <a:extLst>
              <a:ext uri="{FF2B5EF4-FFF2-40B4-BE49-F238E27FC236}">
                <a16:creationId xmlns:a16="http://schemas.microsoft.com/office/drawing/2014/main" id="{873CFDF9-C504-13A0-4E52-5620983412CA}"/>
              </a:ext>
            </a:extLst>
          </p:cNvPr>
          <p:cNvSpPr/>
          <p:nvPr/>
        </p:nvSpPr>
        <p:spPr>
          <a:xfrm rot="16200000">
            <a:off x="3706098" y="-3542755"/>
            <a:ext cx="649458" cy="8061651"/>
          </a:xfrm>
          <a:prstGeom prst="snip2SameRect">
            <a:avLst>
              <a:gd name="adj1" fmla="val 0"/>
              <a:gd name="adj2" fmla="val 15195"/>
            </a:avLst>
          </a:prstGeom>
          <a:solidFill>
            <a:srgbClr val="123D52"/>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457200" indent="-457200">
              <a:buFont typeface="Wingdings" panose="05000000000000000000" pitchFamily="2" charset="2"/>
              <a:buChar char="Ø"/>
            </a:pPr>
            <a:r>
              <a:rPr lang="pt-BR" sz="3000" dirty="0">
                <a:solidFill>
                  <a:schemeClr val="tx1"/>
                </a:solidFill>
                <a:latin typeface="Abadi" panose="020B0604020104020204" pitchFamily="34" charset="0"/>
              </a:rPr>
              <a:t>Resumo de tipos de complexidade de espaço</a:t>
            </a:r>
            <a:endParaRPr lang="pt-BR" sz="3000" dirty="0">
              <a:latin typeface="Abadi" panose="020B0604020104020204" pitchFamily="34" charset="0"/>
            </a:endParaRPr>
          </a:p>
        </p:txBody>
      </p:sp>
      <mc:AlternateContent xmlns:mc="http://schemas.openxmlformats.org/markup-compatibility/2006" xmlns:a14="http://schemas.microsoft.com/office/drawing/2010/main">
        <mc:Choice Requires="a14">
          <p:graphicFrame>
            <p:nvGraphicFramePr>
              <p:cNvPr id="4" name="Tabela 3">
                <a:extLst>
                  <a:ext uri="{FF2B5EF4-FFF2-40B4-BE49-F238E27FC236}">
                    <a16:creationId xmlns:a16="http://schemas.microsoft.com/office/drawing/2014/main" id="{539A46A3-FD05-2540-98FE-171027F7FF6F}"/>
                  </a:ext>
                </a:extLst>
              </p:cNvPr>
              <p:cNvGraphicFramePr>
                <a:graphicFrameLocks noGrp="1"/>
              </p:cNvGraphicFramePr>
              <p:nvPr>
                <p:extLst>
                  <p:ext uri="{D42A27DB-BD31-4B8C-83A1-F6EECF244321}">
                    <p14:modId xmlns:p14="http://schemas.microsoft.com/office/powerpoint/2010/main" val="3088513242"/>
                  </p:ext>
                </p:extLst>
              </p:nvPr>
            </p:nvGraphicFramePr>
            <p:xfrm>
              <a:off x="0" y="1017347"/>
              <a:ext cx="12192000" cy="3610637"/>
            </p:xfrm>
            <a:graphic>
              <a:graphicData uri="http://schemas.openxmlformats.org/drawingml/2006/table">
                <a:tbl>
                  <a:tblPr firstRow="1" bandRow="1">
                    <a:tableStyleId>{F5AB1C69-6EDB-4FF4-983F-18BD219EF322}</a:tableStyleId>
                  </a:tblPr>
                  <a:tblGrid>
                    <a:gridCol w="2313810">
                      <a:extLst>
                        <a:ext uri="{9D8B030D-6E8A-4147-A177-3AD203B41FA5}">
                          <a16:colId xmlns:a16="http://schemas.microsoft.com/office/drawing/2014/main" val="152084202"/>
                        </a:ext>
                      </a:extLst>
                    </a:gridCol>
                    <a:gridCol w="5992176">
                      <a:extLst>
                        <a:ext uri="{9D8B030D-6E8A-4147-A177-3AD203B41FA5}">
                          <a16:colId xmlns:a16="http://schemas.microsoft.com/office/drawing/2014/main" val="797316878"/>
                        </a:ext>
                      </a:extLst>
                    </a:gridCol>
                    <a:gridCol w="3886014">
                      <a:extLst>
                        <a:ext uri="{9D8B030D-6E8A-4147-A177-3AD203B41FA5}">
                          <a16:colId xmlns:a16="http://schemas.microsoft.com/office/drawing/2014/main" val="1845160105"/>
                        </a:ext>
                      </a:extLst>
                    </a:gridCol>
                  </a:tblGrid>
                  <a:tr h="410237">
                    <a:tc>
                      <a:txBody>
                        <a:bodyPr/>
                        <a:lstStyle/>
                        <a:p>
                          <a:r>
                            <a:rPr lang="pt-BR" sz="2000" dirty="0"/>
                            <a:t>Complexidade</a:t>
                          </a:r>
                        </a:p>
                      </a:txBody>
                      <a:tcPr>
                        <a:solidFill>
                          <a:srgbClr val="123D52"/>
                        </a:solidFill>
                      </a:tcPr>
                    </a:tc>
                    <a:tc>
                      <a:txBody>
                        <a:bodyPr/>
                        <a:lstStyle/>
                        <a:p>
                          <a:r>
                            <a:rPr lang="pt-BR" sz="2000" dirty="0"/>
                            <a:t>Descrição</a:t>
                          </a:r>
                        </a:p>
                      </a:txBody>
                      <a:tcPr>
                        <a:solidFill>
                          <a:srgbClr val="123D52"/>
                        </a:solidFill>
                      </a:tcPr>
                    </a:tc>
                    <a:tc>
                      <a:txBody>
                        <a:bodyPr/>
                        <a:lstStyle/>
                        <a:p>
                          <a:r>
                            <a:rPr lang="pt-BR" sz="2000" dirty="0"/>
                            <a:t>Exemplo Real</a:t>
                          </a:r>
                        </a:p>
                      </a:txBody>
                      <a:tcPr>
                        <a:solidFill>
                          <a:srgbClr val="123D52"/>
                        </a:solidFill>
                      </a:tcPr>
                    </a:tc>
                    <a:extLst>
                      <a:ext uri="{0D108BD9-81ED-4DB2-BD59-A6C34878D82A}">
                        <a16:rowId xmlns:a16="http://schemas.microsoft.com/office/drawing/2014/main" val="3553427007"/>
                      </a:ext>
                    </a:extLst>
                  </a:tr>
                  <a:tr h="615769">
                    <a:tc>
                      <a:txBody>
                        <a:bodyPr/>
                        <a:lstStyle/>
                        <a:p>
                          <a:pPr algn="l"/>
                          <a:r>
                            <a:rPr lang="pt-BR" sz="1800" dirty="0">
                              <a:latin typeface="Abadi" panose="020B0604020104020204" pitchFamily="34" charset="0"/>
                            </a:rPr>
                            <a:t>O(</a:t>
                          </a:r>
                          <a14:m>
                            <m:oMath xmlns:m="http://schemas.openxmlformats.org/officeDocument/2006/math">
                              <m:r>
                                <a:rPr lang="pt-BR" sz="1800" i="1" dirty="0" smtClean="0">
                                  <a:latin typeface="Cambria Math" panose="02040503050406030204" pitchFamily="18" charset="0"/>
                                </a:rPr>
                                <m:t>1</m:t>
                              </m:r>
                            </m:oMath>
                          </a14:m>
                          <a:r>
                            <a:rPr lang="pt-BR" sz="1800" dirty="0">
                              <a:latin typeface="Abadi" panose="020B0604020104020204" pitchFamily="34" charset="0"/>
                            </a:rPr>
                            <a:t>)</a:t>
                          </a:r>
                        </a:p>
                      </a:txBody>
                      <a:tcPr/>
                    </a:tc>
                    <a:tc>
                      <a:txBody>
                        <a:bodyPr/>
                        <a:lstStyle/>
                        <a:p>
                          <a:pPr algn="l"/>
                          <a:r>
                            <a:rPr lang="pt-BR" sz="1800" dirty="0">
                              <a:latin typeface="Abadi" panose="020B0604020104020204" pitchFamily="34" charset="0"/>
                            </a:rPr>
                            <a:t>Constante: o espaço usado é fixo e não cresce com o tamanho da entrada</a:t>
                          </a:r>
                        </a:p>
                      </a:txBody>
                      <a:tcPr/>
                    </a:tc>
                    <a:tc>
                      <a:txBody>
                        <a:bodyPr/>
                        <a:lstStyle/>
                        <a:p>
                          <a:pPr algn="l"/>
                          <a:r>
                            <a:rPr lang="pt-BR" sz="1800" dirty="0">
                              <a:latin typeface="Abadi" panose="020B0604020104020204" pitchFamily="34" charset="0"/>
                            </a:rPr>
                            <a:t>Algoritmo de busca linear sem armazenamento extra.</a:t>
                          </a:r>
                        </a:p>
                      </a:txBody>
                      <a:tcPr/>
                    </a:tc>
                    <a:extLst>
                      <a:ext uri="{0D108BD9-81ED-4DB2-BD59-A6C34878D82A}">
                        <a16:rowId xmlns:a16="http://schemas.microsoft.com/office/drawing/2014/main" val="2098552481"/>
                      </a:ext>
                    </a:extLst>
                  </a:tr>
                  <a:tr h="615769">
                    <a:tc>
                      <a:txBody>
                        <a:bodyPr/>
                        <a:lstStyle/>
                        <a:p>
                          <a:pPr algn="l"/>
                          <a:r>
                            <a:rPr lang="pt-BR" sz="1800" dirty="0">
                              <a:latin typeface="Abadi" panose="020B0604020104020204" pitchFamily="34" charset="0"/>
                            </a:rPr>
                            <a:t>O(</a:t>
                          </a:r>
                          <a14:m>
                            <m:oMath xmlns:m="http://schemas.openxmlformats.org/officeDocument/2006/math">
                              <m:func>
                                <m:funcPr>
                                  <m:ctrlPr>
                                    <a:rPr lang="pt-BR" sz="1800" b="0" i="1" smtClean="0">
                                      <a:latin typeface="Cambria Math" panose="02040503050406030204" pitchFamily="18" charset="0"/>
                                    </a:rPr>
                                  </m:ctrlPr>
                                </m:funcPr>
                                <m:fName>
                                  <m:r>
                                    <m:rPr>
                                      <m:sty m:val="p"/>
                                    </m:rPr>
                                    <a:rPr lang="pt-BR" sz="1800" b="0" i="0" smtClean="0">
                                      <a:latin typeface="Cambria Math" panose="02040503050406030204" pitchFamily="18" charset="0"/>
                                    </a:rPr>
                                    <m:t>log</m:t>
                                  </m:r>
                                </m:fName>
                                <m:e>
                                  <m:r>
                                    <a:rPr lang="pt-BR" sz="1800" b="0" i="1" smtClean="0">
                                      <a:latin typeface="Cambria Math" panose="02040503050406030204" pitchFamily="18" charset="0"/>
                                    </a:rPr>
                                    <m:t>𝑛</m:t>
                                  </m:r>
                                </m:e>
                              </m:func>
                            </m:oMath>
                          </a14:m>
                          <a:r>
                            <a:rPr lang="pt-BR" sz="1800" dirty="0">
                              <a:latin typeface="Abadi" panose="020B0604020104020204" pitchFamily="34" charset="0"/>
                            </a:rPr>
                            <a:t>)</a:t>
                          </a:r>
                        </a:p>
                      </a:txBody>
                      <a:tcPr/>
                    </a:tc>
                    <a:tc>
                      <a:txBody>
                        <a:bodyPr/>
                        <a:lstStyle/>
                        <a:p>
                          <a:pPr algn="l"/>
                          <a:r>
                            <a:rPr lang="pt-BR" sz="1800" dirty="0">
                              <a:latin typeface="Abadi" panose="020B0604020104020204" pitchFamily="34" charset="0"/>
                            </a:rPr>
                            <a:t>Logarítmica: espaço usado cresce lentamente com o tamanho da entrada.</a:t>
                          </a:r>
                        </a:p>
                      </a:txBody>
                      <a:tcPr/>
                    </a:tc>
                    <a:tc>
                      <a:txBody>
                        <a:bodyPr/>
                        <a:lstStyle/>
                        <a:p>
                          <a:pPr algn="l"/>
                          <a:r>
                            <a:rPr lang="pt-BR" sz="1800" dirty="0">
                              <a:latin typeface="Abadi" panose="020B0604020104020204" pitchFamily="34" charset="0"/>
                            </a:rPr>
                            <a:t>Busca binária (apenas índices).</a:t>
                          </a:r>
                        </a:p>
                      </a:txBody>
                      <a:tcPr/>
                    </a:tc>
                    <a:extLst>
                      <a:ext uri="{0D108BD9-81ED-4DB2-BD59-A6C34878D82A}">
                        <a16:rowId xmlns:a16="http://schemas.microsoft.com/office/drawing/2014/main" val="2539461039"/>
                      </a:ext>
                    </a:extLst>
                  </a:tr>
                  <a:tr h="615769">
                    <a:tc>
                      <a:txBody>
                        <a:bodyPr/>
                        <a:lstStyle/>
                        <a:p>
                          <a:pPr algn="l"/>
                          <a:r>
                            <a:rPr lang="pt-BR" sz="1800" dirty="0">
                              <a:latin typeface="Abadi" panose="020B0604020104020204" pitchFamily="34" charset="0"/>
                            </a:rPr>
                            <a:t>O(</a:t>
                          </a:r>
                          <a14:m>
                            <m:oMath xmlns:m="http://schemas.openxmlformats.org/officeDocument/2006/math">
                              <m:r>
                                <a:rPr lang="pt-BR" sz="1800" i="1" dirty="0" smtClean="0">
                                  <a:latin typeface="Cambria Math" panose="02040503050406030204" pitchFamily="18" charset="0"/>
                                </a:rPr>
                                <m:t>𝑛</m:t>
                              </m:r>
                            </m:oMath>
                          </a14:m>
                          <a:r>
                            <a:rPr lang="pt-BR" sz="1800" dirty="0">
                              <a:latin typeface="Abadi" panose="020B0604020104020204" pitchFamily="34" charset="0"/>
                            </a:rPr>
                            <a:t>)</a:t>
                          </a:r>
                        </a:p>
                      </a:txBody>
                      <a:tcPr/>
                    </a:tc>
                    <a:tc>
                      <a:txBody>
                        <a:bodyPr/>
                        <a:lstStyle/>
                        <a:p>
                          <a:pPr algn="l"/>
                          <a:r>
                            <a:rPr lang="pt-BR" sz="1800" dirty="0">
                              <a:latin typeface="Abadi" panose="020B0604020104020204" pitchFamily="34" charset="0"/>
                            </a:rPr>
                            <a:t>Linear: o espaço usado é proporcional ao tamanho da entrada.</a:t>
                          </a:r>
                        </a:p>
                      </a:txBody>
                      <a:tcPr/>
                    </a:tc>
                    <a:tc>
                      <a:txBody>
                        <a:bodyPr/>
                        <a:lstStyle/>
                        <a:p>
                          <a:pPr algn="l"/>
                          <a:r>
                            <a:rPr lang="pt-BR" sz="1800" dirty="0">
                              <a:latin typeface="Abadi" panose="020B0604020104020204" pitchFamily="34" charset="0"/>
                            </a:rPr>
                            <a:t>Armazenamento de um </a:t>
                          </a:r>
                          <a:r>
                            <a:rPr lang="pt-BR" sz="1800" dirty="0" err="1">
                              <a:latin typeface="Abadi" panose="020B0604020104020204" pitchFamily="34" charset="0"/>
                            </a:rPr>
                            <a:t>array</a:t>
                          </a:r>
                          <a:r>
                            <a:rPr lang="pt-BR" sz="1800" dirty="0">
                              <a:latin typeface="Abadi" panose="020B0604020104020204" pitchFamily="34" charset="0"/>
                            </a:rPr>
                            <a:t> de tamanho </a:t>
                          </a:r>
                          <a14:m>
                            <m:oMath xmlns:m="http://schemas.openxmlformats.org/officeDocument/2006/math">
                              <m:r>
                                <a:rPr lang="pt-BR" sz="1800" i="1" dirty="0" smtClean="0">
                                  <a:latin typeface="Cambria Math" panose="02040503050406030204" pitchFamily="18" charset="0"/>
                                </a:rPr>
                                <m:t>𝑛</m:t>
                              </m:r>
                            </m:oMath>
                          </a14:m>
                          <a:endParaRPr lang="pt-BR" sz="1800" dirty="0">
                            <a:latin typeface="Abadi" panose="020B0604020104020204" pitchFamily="34" charset="0"/>
                          </a:endParaRPr>
                        </a:p>
                      </a:txBody>
                      <a:tcPr/>
                    </a:tc>
                    <a:extLst>
                      <a:ext uri="{0D108BD9-81ED-4DB2-BD59-A6C34878D82A}">
                        <a16:rowId xmlns:a16="http://schemas.microsoft.com/office/drawing/2014/main" val="302635459"/>
                      </a:ext>
                    </a:extLst>
                  </a:tr>
                  <a:tr h="615769">
                    <a:tc>
                      <a:txBody>
                        <a:bodyPr/>
                        <a:lstStyle/>
                        <a:p>
                          <a:pPr algn="l"/>
                          <a:r>
                            <a:rPr lang="pt-BR" sz="1800" dirty="0">
                              <a:latin typeface="Abadi" panose="020B0604020104020204" pitchFamily="34" charset="0"/>
                            </a:rPr>
                            <a:t>O(</a:t>
                          </a:r>
                          <a14:m>
                            <m:oMath xmlns:m="http://schemas.openxmlformats.org/officeDocument/2006/math">
                              <m:sSup>
                                <m:sSupPr>
                                  <m:ctrlPr>
                                    <a:rPr lang="pt-BR" sz="1800" i="1" smtClean="0">
                                      <a:latin typeface="Cambria Math" panose="02040503050406030204" pitchFamily="18" charset="0"/>
                                    </a:rPr>
                                  </m:ctrlPr>
                                </m:sSupPr>
                                <m:e>
                                  <m:r>
                                    <a:rPr lang="pt-BR" sz="1800" b="0" i="1" smtClean="0">
                                      <a:latin typeface="Cambria Math" panose="02040503050406030204" pitchFamily="18" charset="0"/>
                                    </a:rPr>
                                    <m:t>𝑛</m:t>
                                  </m:r>
                                </m:e>
                                <m:sup>
                                  <m:r>
                                    <a:rPr lang="pt-BR" sz="1800" b="0" i="1" smtClean="0">
                                      <a:latin typeface="Cambria Math" panose="02040503050406030204" pitchFamily="18" charset="0"/>
                                    </a:rPr>
                                    <m:t>2</m:t>
                                  </m:r>
                                </m:sup>
                              </m:sSup>
                            </m:oMath>
                          </a14:m>
                          <a:r>
                            <a:rPr lang="pt-BR" sz="1800" dirty="0">
                              <a:latin typeface="Abadi" panose="020B0604020104020204" pitchFamily="34" charset="0"/>
                            </a:rPr>
                            <a:t>)</a:t>
                          </a:r>
                        </a:p>
                      </a:txBody>
                      <a:tcPr/>
                    </a:tc>
                    <a:tc>
                      <a:txBody>
                        <a:bodyPr/>
                        <a:lstStyle/>
                        <a:p>
                          <a:pPr algn="l"/>
                          <a:r>
                            <a:rPr lang="pt-BR" sz="1800" dirty="0">
                              <a:latin typeface="Abadi" panose="020B0604020104020204" pitchFamily="34" charset="0"/>
                            </a:rPr>
                            <a:t>Quadrática: espaço cresce com o quadrado da entrada (geralmente em matrizes).</a:t>
                          </a:r>
                        </a:p>
                      </a:txBody>
                      <a:tcPr/>
                    </a:tc>
                    <a:tc>
                      <a:txBody>
                        <a:bodyPr/>
                        <a:lstStyle/>
                        <a:p>
                          <a:pPr algn="l"/>
                          <a:r>
                            <a:rPr lang="pt-BR" sz="1800" dirty="0">
                              <a:latin typeface="Abadi" panose="020B0604020104020204" pitchFamily="34" charset="0"/>
                            </a:rPr>
                            <a:t>Matriz de adjacência para grafos densos.</a:t>
                          </a:r>
                        </a:p>
                      </a:txBody>
                      <a:tcPr/>
                    </a:tc>
                    <a:extLst>
                      <a:ext uri="{0D108BD9-81ED-4DB2-BD59-A6C34878D82A}">
                        <a16:rowId xmlns:a16="http://schemas.microsoft.com/office/drawing/2014/main" val="95679420"/>
                      </a:ext>
                    </a:extLst>
                  </a:tr>
                  <a:tr h="615769">
                    <a:tc>
                      <a:txBody>
                        <a:bodyPr/>
                        <a:lstStyle/>
                        <a:p>
                          <a:pPr algn="l"/>
                          <a:r>
                            <a:rPr lang="pt-BR" sz="1800" dirty="0">
                              <a:latin typeface="Abadi" panose="020B0604020104020204" pitchFamily="34" charset="0"/>
                            </a:rPr>
                            <a:t>O(</a:t>
                          </a:r>
                          <a14:m>
                            <m:oMath xmlns:m="http://schemas.openxmlformats.org/officeDocument/2006/math">
                              <m:r>
                                <a:rPr lang="pt-BR" sz="1800" i="1" dirty="0" smtClean="0">
                                  <a:latin typeface="Cambria Math" panose="02040503050406030204" pitchFamily="18" charset="0"/>
                                </a:rPr>
                                <m:t>𝑛</m:t>
                              </m:r>
                              <m:r>
                                <a:rPr lang="pt-BR" sz="1800" i="1" dirty="0" smtClean="0">
                                  <a:latin typeface="Cambria Math" panose="02040503050406030204" pitchFamily="18" charset="0"/>
                                </a:rPr>
                                <m:t>!</m:t>
                              </m:r>
                            </m:oMath>
                          </a14:m>
                          <a:r>
                            <a:rPr lang="pt-BR" sz="1800" dirty="0">
                              <a:latin typeface="Abadi" panose="020B0604020104020204" pitchFamily="34" charset="0"/>
                            </a:rPr>
                            <a:t>)</a:t>
                          </a:r>
                        </a:p>
                      </a:txBody>
                      <a:tcPr/>
                    </a:tc>
                    <a:tc>
                      <a:txBody>
                        <a:bodyPr/>
                        <a:lstStyle/>
                        <a:p>
                          <a:pPr algn="l"/>
                          <a:r>
                            <a:rPr lang="pt-BR" sz="1800" dirty="0">
                              <a:latin typeface="Abadi" panose="020B0604020104020204" pitchFamily="34" charset="0"/>
                            </a:rPr>
                            <a:t>Fatorial: memória para calcular permutação de </a:t>
                          </a:r>
                          <a14:m>
                            <m:oMath xmlns:m="http://schemas.openxmlformats.org/officeDocument/2006/math">
                              <m:r>
                                <a:rPr lang="pt-BR" sz="1800" i="1" dirty="0" smtClean="0">
                                  <a:latin typeface="Cambria Math" panose="02040503050406030204" pitchFamily="18" charset="0"/>
                                </a:rPr>
                                <m:t>𝑛</m:t>
                              </m:r>
                            </m:oMath>
                          </a14:m>
                          <a:r>
                            <a:rPr lang="pt-BR" sz="1800" dirty="0">
                              <a:latin typeface="Abadi" panose="020B0604020104020204" pitchFamily="34" charset="0"/>
                            </a:rPr>
                            <a:t> elementos (muito rara).</a:t>
                          </a:r>
                        </a:p>
                      </a:txBody>
                      <a:tcPr/>
                    </a:tc>
                    <a:tc>
                      <a:txBody>
                        <a:bodyPr/>
                        <a:lstStyle/>
                        <a:p>
                          <a:pPr algn="l"/>
                          <a:r>
                            <a:rPr lang="pt-BR" sz="1800" dirty="0">
                              <a:latin typeface="Abadi" panose="020B0604020104020204" pitchFamily="34" charset="0"/>
                            </a:rPr>
                            <a:t>Resolver o problema do Caixeiro viajante na memória.</a:t>
                          </a:r>
                        </a:p>
                      </a:txBody>
                      <a:tcPr/>
                    </a:tc>
                    <a:extLst>
                      <a:ext uri="{0D108BD9-81ED-4DB2-BD59-A6C34878D82A}">
                        <a16:rowId xmlns:a16="http://schemas.microsoft.com/office/drawing/2014/main" val="2584374418"/>
                      </a:ext>
                    </a:extLst>
                  </a:tr>
                </a:tbl>
              </a:graphicData>
            </a:graphic>
          </p:graphicFrame>
        </mc:Choice>
        <mc:Fallback xmlns="">
          <p:graphicFrame>
            <p:nvGraphicFramePr>
              <p:cNvPr id="4" name="Tabela 3">
                <a:extLst>
                  <a:ext uri="{FF2B5EF4-FFF2-40B4-BE49-F238E27FC236}">
                    <a16:creationId xmlns:a16="http://schemas.microsoft.com/office/drawing/2014/main" id="{539A46A3-FD05-2540-98FE-171027F7FF6F}"/>
                  </a:ext>
                </a:extLst>
              </p:cNvPr>
              <p:cNvGraphicFramePr>
                <a:graphicFrameLocks noGrp="1"/>
              </p:cNvGraphicFramePr>
              <p:nvPr>
                <p:extLst>
                  <p:ext uri="{D42A27DB-BD31-4B8C-83A1-F6EECF244321}">
                    <p14:modId xmlns:p14="http://schemas.microsoft.com/office/powerpoint/2010/main" val="3088513242"/>
                  </p:ext>
                </p:extLst>
              </p:nvPr>
            </p:nvGraphicFramePr>
            <p:xfrm>
              <a:off x="0" y="1017347"/>
              <a:ext cx="12192000" cy="3610637"/>
            </p:xfrm>
            <a:graphic>
              <a:graphicData uri="http://schemas.openxmlformats.org/drawingml/2006/table">
                <a:tbl>
                  <a:tblPr firstRow="1" bandRow="1">
                    <a:tableStyleId>{F5AB1C69-6EDB-4FF4-983F-18BD219EF322}</a:tableStyleId>
                  </a:tblPr>
                  <a:tblGrid>
                    <a:gridCol w="2313810">
                      <a:extLst>
                        <a:ext uri="{9D8B030D-6E8A-4147-A177-3AD203B41FA5}">
                          <a16:colId xmlns:a16="http://schemas.microsoft.com/office/drawing/2014/main" val="152084202"/>
                        </a:ext>
                      </a:extLst>
                    </a:gridCol>
                    <a:gridCol w="5992176">
                      <a:extLst>
                        <a:ext uri="{9D8B030D-6E8A-4147-A177-3AD203B41FA5}">
                          <a16:colId xmlns:a16="http://schemas.microsoft.com/office/drawing/2014/main" val="797316878"/>
                        </a:ext>
                      </a:extLst>
                    </a:gridCol>
                    <a:gridCol w="3886014">
                      <a:extLst>
                        <a:ext uri="{9D8B030D-6E8A-4147-A177-3AD203B41FA5}">
                          <a16:colId xmlns:a16="http://schemas.microsoft.com/office/drawing/2014/main" val="1845160105"/>
                        </a:ext>
                      </a:extLst>
                    </a:gridCol>
                  </a:tblGrid>
                  <a:tr h="410237">
                    <a:tc>
                      <a:txBody>
                        <a:bodyPr/>
                        <a:lstStyle/>
                        <a:p>
                          <a:r>
                            <a:rPr lang="pt-BR" sz="2000" dirty="0"/>
                            <a:t>Complexidade</a:t>
                          </a:r>
                        </a:p>
                      </a:txBody>
                      <a:tcPr>
                        <a:solidFill>
                          <a:srgbClr val="123D52"/>
                        </a:solidFill>
                      </a:tcPr>
                    </a:tc>
                    <a:tc>
                      <a:txBody>
                        <a:bodyPr/>
                        <a:lstStyle/>
                        <a:p>
                          <a:r>
                            <a:rPr lang="pt-BR" sz="2000" dirty="0"/>
                            <a:t>Descrição</a:t>
                          </a:r>
                        </a:p>
                      </a:txBody>
                      <a:tcPr>
                        <a:solidFill>
                          <a:srgbClr val="123D52"/>
                        </a:solidFill>
                      </a:tcPr>
                    </a:tc>
                    <a:tc>
                      <a:txBody>
                        <a:bodyPr/>
                        <a:lstStyle/>
                        <a:p>
                          <a:r>
                            <a:rPr lang="pt-BR" sz="2000" dirty="0"/>
                            <a:t>Exemplo Real</a:t>
                          </a:r>
                        </a:p>
                      </a:txBody>
                      <a:tcPr>
                        <a:solidFill>
                          <a:srgbClr val="123D52"/>
                        </a:solidFill>
                      </a:tcPr>
                    </a:tc>
                    <a:extLst>
                      <a:ext uri="{0D108BD9-81ED-4DB2-BD59-A6C34878D82A}">
                        <a16:rowId xmlns:a16="http://schemas.microsoft.com/office/drawing/2014/main" val="3553427007"/>
                      </a:ext>
                    </a:extLst>
                  </a:tr>
                  <a:tr h="640080">
                    <a:tc>
                      <a:txBody>
                        <a:bodyPr/>
                        <a:lstStyle/>
                        <a:p>
                          <a:endParaRPr lang="pt-BR"/>
                        </a:p>
                      </a:txBody>
                      <a:tcPr>
                        <a:blipFill>
                          <a:blip r:embed="rId3"/>
                          <a:stretch>
                            <a:fillRect l="-526" t="-67925" r="-427632" b="-411321"/>
                          </a:stretch>
                        </a:blipFill>
                      </a:tcPr>
                    </a:tc>
                    <a:tc>
                      <a:txBody>
                        <a:bodyPr/>
                        <a:lstStyle/>
                        <a:p>
                          <a:pPr algn="l"/>
                          <a:r>
                            <a:rPr lang="pt-BR" sz="1800" dirty="0">
                              <a:latin typeface="Abadi" panose="020B0604020104020204" pitchFamily="34" charset="0"/>
                            </a:rPr>
                            <a:t>Constante: o espaço usado é fixo e não cresce com o tamanho da entrada</a:t>
                          </a:r>
                        </a:p>
                      </a:txBody>
                      <a:tcPr/>
                    </a:tc>
                    <a:tc>
                      <a:txBody>
                        <a:bodyPr/>
                        <a:lstStyle/>
                        <a:p>
                          <a:pPr algn="l"/>
                          <a:r>
                            <a:rPr lang="pt-BR" sz="1800" dirty="0">
                              <a:latin typeface="Abadi" panose="020B0604020104020204" pitchFamily="34" charset="0"/>
                            </a:rPr>
                            <a:t>Algoritmo de busca linear sem armazenamento extra.</a:t>
                          </a:r>
                        </a:p>
                      </a:txBody>
                      <a:tcPr/>
                    </a:tc>
                    <a:extLst>
                      <a:ext uri="{0D108BD9-81ED-4DB2-BD59-A6C34878D82A}">
                        <a16:rowId xmlns:a16="http://schemas.microsoft.com/office/drawing/2014/main" val="2098552481"/>
                      </a:ext>
                    </a:extLst>
                  </a:tr>
                  <a:tr h="640080">
                    <a:tc>
                      <a:txBody>
                        <a:bodyPr/>
                        <a:lstStyle/>
                        <a:p>
                          <a:endParaRPr lang="pt-BR"/>
                        </a:p>
                      </a:txBody>
                      <a:tcPr>
                        <a:blipFill>
                          <a:blip r:embed="rId3"/>
                          <a:stretch>
                            <a:fillRect l="-526" t="-169524" r="-427632" b="-315238"/>
                          </a:stretch>
                        </a:blipFill>
                      </a:tcPr>
                    </a:tc>
                    <a:tc>
                      <a:txBody>
                        <a:bodyPr/>
                        <a:lstStyle/>
                        <a:p>
                          <a:pPr algn="l"/>
                          <a:r>
                            <a:rPr lang="pt-BR" sz="1800" dirty="0">
                              <a:latin typeface="Abadi" panose="020B0604020104020204" pitchFamily="34" charset="0"/>
                            </a:rPr>
                            <a:t>Logarítmica: espaço usado cresce lentamente com o tamanho da entrada.</a:t>
                          </a:r>
                        </a:p>
                      </a:txBody>
                      <a:tcPr/>
                    </a:tc>
                    <a:tc>
                      <a:txBody>
                        <a:bodyPr/>
                        <a:lstStyle/>
                        <a:p>
                          <a:pPr algn="l"/>
                          <a:r>
                            <a:rPr lang="pt-BR" sz="1800" dirty="0">
                              <a:latin typeface="Abadi" panose="020B0604020104020204" pitchFamily="34" charset="0"/>
                            </a:rPr>
                            <a:t>Busca binária (apenas índices).</a:t>
                          </a:r>
                        </a:p>
                      </a:txBody>
                      <a:tcPr/>
                    </a:tc>
                    <a:extLst>
                      <a:ext uri="{0D108BD9-81ED-4DB2-BD59-A6C34878D82A}">
                        <a16:rowId xmlns:a16="http://schemas.microsoft.com/office/drawing/2014/main" val="2539461039"/>
                      </a:ext>
                    </a:extLst>
                  </a:tr>
                  <a:tr h="640080">
                    <a:tc>
                      <a:txBody>
                        <a:bodyPr/>
                        <a:lstStyle/>
                        <a:p>
                          <a:endParaRPr lang="pt-BR"/>
                        </a:p>
                      </a:txBody>
                      <a:tcPr>
                        <a:blipFill>
                          <a:blip r:embed="rId3"/>
                          <a:stretch>
                            <a:fillRect l="-526" t="-269524" r="-427632" b="-215238"/>
                          </a:stretch>
                        </a:blipFill>
                      </a:tcPr>
                    </a:tc>
                    <a:tc>
                      <a:txBody>
                        <a:bodyPr/>
                        <a:lstStyle/>
                        <a:p>
                          <a:pPr algn="l"/>
                          <a:r>
                            <a:rPr lang="pt-BR" sz="1800" dirty="0">
                              <a:latin typeface="Abadi" panose="020B0604020104020204" pitchFamily="34" charset="0"/>
                            </a:rPr>
                            <a:t>Linear: o espaço usado é proporcional ao tamanho da entrada.</a:t>
                          </a:r>
                        </a:p>
                      </a:txBody>
                      <a:tcPr/>
                    </a:tc>
                    <a:tc>
                      <a:txBody>
                        <a:bodyPr/>
                        <a:lstStyle/>
                        <a:p>
                          <a:endParaRPr lang="pt-BR"/>
                        </a:p>
                      </a:txBody>
                      <a:tcPr>
                        <a:blipFill>
                          <a:blip r:embed="rId3"/>
                          <a:stretch>
                            <a:fillRect l="-214286" t="-269524" r="-785" b="-215238"/>
                          </a:stretch>
                        </a:blipFill>
                      </a:tcPr>
                    </a:tc>
                    <a:extLst>
                      <a:ext uri="{0D108BD9-81ED-4DB2-BD59-A6C34878D82A}">
                        <a16:rowId xmlns:a16="http://schemas.microsoft.com/office/drawing/2014/main" val="302635459"/>
                      </a:ext>
                    </a:extLst>
                  </a:tr>
                  <a:tr h="640080">
                    <a:tc>
                      <a:txBody>
                        <a:bodyPr/>
                        <a:lstStyle/>
                        <a:p>
                          <a:endParaRPr lang="pt-BR"/>
                        </a:p>
                      </a:txBody>
                      <a:tcPr>
                        <a:blipFill>
                          <a:blip r:embed="rId3"/>
                          <a:stretch>
                            <a:fillRect l="-526" t="-366038" r="-427632" b="-113208"/>
                          </a:stretch>
                        </a:blipFill>
                      </a:tcPr>
                    </a:tc>
                    <a:tc>
                      <a:txBody>
                        <a:bodyPr/>
                        <a:lstStyle/>
                        <a:p>
                          <a:pPr algn="l"/>
                          <a:r>
                            <a:rPr lang="pt-BR" sz="1800" dirty="0">
                              <a:latin typeface="Abadi" panose="020B0604020104020204" pitchFamily="34" charset="0"/>
                            </a:rPr>
                            <a:t>Quadrática: espaço cresce com o quadrado da entrada (geralmente em matrizes).</a:t>
                          </a:r>
                        </a:p>
                      </a:txBody>
                      <a:tcPr/>
                    </a:tc>
                    <a:tc>
                      <a:txBody>
                        <a:bodyPr/>
                        <a:lstStyle/>
                        <a:p>
                          <a:pPr algn="l"/>
                          <a:r>
                            <a:rPr lang="pt-BR" sz="1800" dirty="0">
                              <a:latin typeface="Abadi" panose="020B0604020104020204" pitchFamily="34" charset="0"/>
                            </a:rPr>
                            <a:t>Matriz de adjacência para grafos densos.</a:t>
                          </a:r>
                        </a:p>
                      </a:txBody>
                      <a:tcPr/>
                    </a:tc>
                    <a:extLst>
                      <a:ext uri="{0D108BD9-81ED-4DB2-BD59-A6C34878D82A}">
                        <a16:rowId xmlns:a16="http://schemas.microsoft.com/office/drawing/2014/main" val="95679420"/>
                      </a:ext>
                    </a:extLst>
                  </a:tr>
                  <a:tr h="640080">
                    <a:tc>
                      <a:txBody>
                        <a:bodyPr/>
                        <a:lstStyle/>
                        <a:p>
                          <a:endParaRPr lang="pt-BR"/>
                        </a:p>
                      </a:txBody>
                      <a:tcPr>
                        <a:blipFill>
                          <a:blip r:embed="rId3"/>
                          <a:stretch>
                            <a:fillRect l="-526" t="-470476" r="-427632" b="-14286"/>
                          </a:stretch>
                        </a:blipFill>
                      </a:tcPr>
                    </a:tc>
                    <a:tc>
                      <a:txBody>
                        <a:bodyPr/>
                        <a:lstStyle/>
                        <a:p>
                          <a:endParaRPr lang="pt-BR"/>
                        </a:p>
                      </a:txBody>
                      <a:tcPr>
                        <a:blipFill>
                          <a:blip r:embed="rId3"/>
                          <a:stretch>
                            <a:fillRect l="-38861" t="-470476" r="-65310" b="-14286"/>
                          </a:stretch>
                        </a:blipFill>
                      </a:tcPr>
                    </a:tc>
                    <a:tc>
                      <a:txBody>
                        <a:bodyPr/>
                        <a:lstStyle/>
                        <a:p>
                          <a:pPr algn="l"/>
                          <a:r>
                            <a:rPr lang="pt-BR" sz="1800" dirty="0">
                              <a:latin typeface="Abadi" panose="020B0604020104020204" pitchFamily="34" charset="0"/>
                            </a:rPr>
                            <a:t>Resolver o problema do Caixeiro viajante na memória.</a:t>
                          </a:r>
                        </a:p>
                      </a:txBody>
                      <a:tcPr/>
                    </a:tc>
                    <a:extLst>
                      <a:ext uri="{0D108BD9-81ED-4DB2-BD59-A6C34878D82A}">
                        <a16:rowId xmlns:a16="http://schemas.microsoft.com/office/drawing/2014/main" val="2584374418"/>
                      </a:ext>
                    </a:extLst>
                  </a:tr>
                </a:tbl>
              </a:graphicData>
            </a:graphic>
          </p:graphicFrame>
        </mc:Fallback>
      </mc:AlternateContent>
    </p:spTree>
    <p:extLst>
      <p:ext uri="{BB962C8B-B14F-4D97-AF65-F5344CB8AC3E}">
        <p14:creationId xmlns:p14="http://schemas.microsoft.com/office/powerpoint/2010/main" val="3561455665"/>
      </p:ext>
    </p:extLst>
  </p:cSld>
  <p:clrMapOvr>
    <a:masterClrMapping/>
  </p:clrMapOvr>
</p:sld>
</file>

<file path=ppt/theme/theme1.xml><?xml version="1.0" encoding="utf-8"?>
<a:theme xmlns:a="http://schemas.openxmlformats.org/drawingml/2006/main" name="Tema do Office">
  <a:themeElements>
    <a:clrScheme name="Personalizada 2">
      <a:dk1>
        <a:srgbClr val="0C101C"/>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8C67361DBE7D944AD858223D4CAF603" ma:contentTypeVersion="0" ma:contentTypeDescription="Crie um novo documento." ma:contentTypeScope="" ma:versionID="c9dec7fe9ee32fa528428c7fb0668172">
  <xsd:schema xmlns:xsd="http://www.w3.org/2001/XMLSchema" xmlns:xs="http://www.w3.org/2001/XMLSchema" xmlns:p="http://schemas.microsoft.com/office/2006/metadata/properties" targetNamespace="http://schemas.microsoft.com/office/2006/metadata/properties" ma:root="true" ma:fieldsID="397561fba88d9dece65508bac662637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7D9AB-7125-40BB-8107-E7672D400207}">
  <ds:schemaRefs>
    <ds:schemaRef ds:uri="http://schemas.microsoft.com/sharepoint/v3/contenttype/forms"/>
  </ds:schemaRefs>
</ds:datastoreItem>
</file>

<file path=customXml/itemProps2.xml><?xml version="1.0" encoding="utf-8"?>
<ds:datastoreItem xmlns:ds="http://schemas.openxmlformats.org/officeDocument/2006/customXml" ds:itemID="{9C2264DE-50CE-4A49-9CF7-3CBB3BABAA1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03BE477-302B-4E2E-8B3E-1120226A9C14}"/>
</file>

<file path=docProps/app.xml><?xml version="1.0" encoding="utf-8"?>
<Properties xmlns="http://schemas.openxmlformats.org/officeDocument/2006/extended-properties" xmlns:vt="http://schemas.openxmlformats.org/officeDocument/2006/docPropsVTypes">
  <Template>Office 2013 - 2022 Theme</Template>
  <TotalTime>8948</TotalTime>
  <Words>1740</Words>
  <Application>Microsoft Office PowerPoint</Application>
  <PresentationFormat>Widescreen</PresentationFormat>
  <Paragraphs>175</Paragraphs>
  <Slides>19</Slides>
  <Notes>3</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19</vt:i4>
      </vt:variant>
    </vt:vector>
  </HeadingPairs>
  <TitlesOfParts>
    <vt:vector size="26" baseType="lpstr">
      <vt:lpstr>Abadi</vt:lpstr>
      <vt:lpstr>Arial</vt:lpstr>
      <vt:lpstr>Calibri</vt:lpstr>
      <vt:lpstr>Calibri Light</vt:lpstr>
      <vt:lpstr>Cambria Math</vt:lpstr>
      <vt:lpstr>Wingdings</vt:lpstr>
      <vt:lpstr>Tema do Office</vt:lpstr>
      <vt:lpstr>Estrutura de Dados Aula 5: Complexidade: Parte II</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Vinícius José Lopes Cursino</dc:creator>
  <cp:lastModifiedBy>Vinícius José Lopes Cursino</cp:lastModifiedBy>
  <cp:revision>103</cp:revision>
  <dcterms:created xsi:type="dcterms:W3CDTF">2024-11-05T22:56:10Z</dcterms:created>
  <dcterms:modified xsi:type="dcterms:W3CDTF">2026-02-12T23:37:25Z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0x01010068C67361DBE7D944AD858223D4CAF603</vt:lpwstr>
  </property>
</Properties>
</file>