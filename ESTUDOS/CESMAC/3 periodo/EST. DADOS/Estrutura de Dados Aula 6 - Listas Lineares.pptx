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56" r:id="rId2"/>
    <p:sldId id="306" r:id="rId3"/>
    <p:sldId id="304" r:id="rId4"/>
    <p:sldId id="305" r:id="rId5"/>
    <p:sldId id="308" r:id="rId6"/>
    <p:sldId id="315" r:id="rId7"/>
    <p:sldId id="314" r:id="rId8"/>
    <p:sldId id="310" r:id="rId9"/>
    <p:sldId id="311" r:id="rId10"/>
    <p:sldId id="312" r:id="rId11"/>
    <p:sldId id="319" r:id="rId12"/>
    <p:sldId id="320" r:id="rId13"/>
    <p:sldId id="32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7E7"/>
    <a:srgbClr val="123D52"/>
    <a:srgbClr val="0C101C"/>
    <a:srgbClr val="CFFEFF"/>
    <a:srgbClr val="1F68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737" autoAdjust="0"/>
  </p:normalViewPr>
  <p:slideViewPr>
    <p:cSldViewPr snapToGrid="0" showGuides="1">
      <p:cViewPr varScale="1">
        <p:scale>
          <a:sx n="108" d="100"/>
          <a:sy n="108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B7344-8758-4923-BF9D-B590D61918F1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EDD73-88FC-478A-9AB9-3EF3A97C1D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70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F7A3-DD50-0385-3F83-C9D091D9B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347800-8B25-EF8A-43B2-AE69A5646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6775B65-F409-C956-4457-3BF80755C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9B40FE-33F6-D435-D2E4-D7B3CD7FF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DD73-88FC-478A-9AB9-3EF3A97C1DD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2718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30338-AFA1-BB1B-FBBC-FCA6DE2E5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E47AA4A-80F0-663E-B93D-11A6B02A8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2FF4B4-9549-7CBA-9407-47B58C5D3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209C3F-BEEF-F059-5BDC-2BE8F5E65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DD73-88FC-478A-9AB9-3EF3A97C1DD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8124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E92EC-F1E5-5609-93C8-D8A87576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FEEBAD5-E28F-0B72-0341-60F5FAA61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87A09B-E998-3FBB-1B12-070D344C5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D1CE02-93EB-494B-AA36-BB12A2AA0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DD73-88FC-478A-9AB9-3EF3A97C1DD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91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5FA8D-7DA8-6704-320A-BB0574CB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E3880CF-2D0B-F6DA-394E-8AC9299C5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61A7B3F-B261-B16D-E8F6-DD7C0C1FE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182D8A-6172-A002-9421-FA4F6BC9C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DD73-88FC-478A-9AB9-3EF3A97C1DD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1093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00703-9486-20CA-4E2E-2841D25B9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DE5D42D-308A-9A38-A894-644AAE748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8BCB9A-8DF0-C1DA-E8D9-43B3D7134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082D41-26DD-143D-FFA0-1004415BB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DD73-88FC-478A-9AB9-3EF3A97C1DD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443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128E7-0926-19A8-78E4-580689D76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EC60C3-ADFD-774A-FC06-78C9354FA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C2E4489-D658-F9B5-B856-4D6CC7778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453C79-9B68-0932-798D-F1283F415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DD73-88FC-478A-9AB9-3EF3A97C1DD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7636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AF2C0-0214-6B9A-2385-2E9E6592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D63C7A-5605-CB25-C0F4-330F20ABA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74DB5A2-FEC8-0BF3-53ED-1B5E19021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67DBF5-CC94-320A-FA48-D0B0478A3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DD73-88FC-478A-9AB9-3EF3A97C1DD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1464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A5F03-5B26-127A-76C3-4A87A3BC1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CB16438-C4AB-FE5E-A0F9-8E503558B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AA83FFF-8C5B-9985-7774-ACBCB54D5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7C6FFF-17A8-A486-CA27-7F9E99D94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DD73-88FC-478A-9AB9-3EF3A97C1DD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607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78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7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82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60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58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46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26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1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36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797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99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5F5F1-592D-4F5E-BEF8-26440F16569E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926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ADF5B1-E9DA-EEF5-C245-EE90098EC5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7" b="6865"/>
          <a:stretch/>
        </p:blipFill>
        <p:spPr bwMode="auto">
          <a:xfrm>
            <a:off x="-129540" y="0"/>
            <a:ext cx="123215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920C71-0C6B-67A1-FA2E-EB93D6115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3429000"/>
            <a:ext cx="10272205" cy="2387600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Estrutura de Dados</a:t>
            </a:r>
            <a:br>
              <a:rPr lang="pt-BR" dirty="0">
                <a:latin typeface="Abadi" panose="020B0604020104020204" pitchFamily="34" charset="0"/>
              </a:rPr>
            </a:br>
            <a:r>
              <a:rPr lang="pt-BR">
                <a:latin typeface="Abadi" panose="020B0604020104020204" pitchFamily="34" charset="0"/>
              </a:rPr>
              <a:t>Aula 6: </a:t>
            </a:r>
            <a:r>
              <a:rPr lang="pt-BR" dirty="0">
                <a:latin typeface="Abadi" panose="020B0604020104020204" pitchFamily="34" charset="0"/>
              </a:rPr>
              <a:t>Listas lineares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51ADBE-F611-60E0-63DF-674DC817D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5908675"/>
            <a:ext cx="7484705" cy="40079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Professor: Vinicius Cursino</a:t>
            </a:r>
          </a:p>
        </p:txBody>
      </p:sp>
    </p:spTree>
    <p:extLst>
      <p:ext uri="{BB962C8B-B14F-4D97-AF65-F5344CB8AC3E}">
        <p14:creationId xmlns:p14="http://schemas.microsoft.com/office/powerpoint/2010/main" val="202891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DED8C783-EDD4-61B8-5002-90E4C1E61FCD}"/>
              </a:ext>
            </a:extLst>
          </p:cNvPr>
          <p:cNvSpPr/>
          <p:nvPr/>
        </p:nvSpPr>
        <p:spPr>
          <a:xfrm>
            <a:off x="6244906" y="3046461"/>
            <a:ext cx="5770880" cy="33731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2A59E406-3150-C806-A4AE-4E38A0166C7A}"/>
              </a:ext>
            </a:extLst>
          </p:cNvPr>
          <p:cNvSpPr/>
          <p:nvPr/>
        </p:nvSpPr>
        <p:spPr>
          <a:xfrm>
            <a:off x="150882" y="3048043"/>
            <a:ext cx="5770880" cy="33731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2" name="Tabela 4">
            <a:extLst>
              <a:ext uri="{FF2B5EF4-FFF2-40B4-BE49-F238E27FC236}">
                <a16:creationId xmlns:a16="http://schemas.microsoft.com/office/drawing/2014/main" id="{A33723ED-C401-28CF-88BE-165A0088D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361204"/>
              </p:ext>
            </p:extLst>
          </p:nvPr>
        </p:nvGraphicFramePr>
        <p:xfrm>
          <a:off x="1000435" y="4037562"/>
          <a:ext cx="332987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5696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475696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  <a:gridCol w="475696">
                  <a:extLst>
                    <a:ext uri="{9D8B030D-6E8A-4147-A177-3AD203B41FA5}">
                      <a16:colId xmlns:a16="http://schemas.microsoft.com/office/drawing/2014/main" val="2163399860"/>
                    </a:ext>
                  </a:extLst>
                </a:gridCol>
                <a:gridCol w="475696">
                  <a:extLst>
                    <a:ext uri="{9D8B030D-6E8A-4147-A177-3AD203B41FA5}">
                      <a16:colId xmlns:a16="http://schemas.microsoft.com/office/drawing/2014/main" val="386008816"/>
                    </a:ext>
                  </a:extLst>
                </a:gridCol>
                <a:gridCol w="475696">
                  <a:extLst>
                    <a:ext uri="{9D8B030D-6E8A-4147-A177-3AD203B41FA5}">
                      <a16:colId xmlns:a16="http://schemas.microsoft.com/office/drawing/2014/main" val="3181661682"/>
                    </a:ext>
                  </a:extLst>
                </a:gridCol>
                <a:gridCol w="475696">
                  <a:extLst>
                    <a:ext uri="{9D8B030D-6E8A-4147-A177-3AD203B41FA5}">
                      <a16:colId xmlns:a16="http://schemas.microsoft.com/office/drawing/2014/main" val="574754337"/>
                    </a:ext>
                  </a:extLst>
                </a:gridCol>
                <a:gridCol w="475696">
                  <a:extLst>
                    <a:ext uri="{9D8B030D-6E8A-4147-A177-3AD203B41FA5}">
                      <a16:colId xmlns:a16="http://schemas.microsoft.com/office/drawing/2014/main" val="125168069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FC66EEBA-E22F-0A41-3E1D-870ECE40AF40}"/>
              </a:ext>
            </a:extLst>
          </p:cNvPr>
          <p:cNvCxnSpPr/>
          <p:nvPr/>
        </p:nvCxnSpPr>
        <p:spPr>
          <a:xfrm>
            <a:off x="1000435" y="3893546"/>
            <a:ext cx="3329872" cy="0"/>
          </a:xfrm>
          <a:prstGeom prst="straightConnector1">
            <a:avLst/>
          </a:prstGeom>
          <a:ln>
            <a:solidFill>
              <a:srgbClr val="0C101C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1F8B8487-830D-F076-8FB6-56BE08EE9899}"/>
              </a:ext>
            </a:extLst>
          </p:cNvPr>
          <p:cNvSpPr/>
          <p:nvPr/>
        </p:nvSpPr>
        <p:spPr>
          <a:xfrm>
            <a:off x="984655" y="4797194"/>
            <a:ext cx="792088" cy="365760"/>
          </a:xfrm>
          <a:prstGeom prst="rect">
            <a:avLst/>
          </a:prstGeom>
          <a:ln>
            <a:solidFill>
              <a:srgbClr val="0C101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Início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8869E63-927C-8231-33D3-78A8D2321708}"/>
              </a:ext>
            </a:extLst>
          </p:cNvPr>
          <p:cNvSpPr/>
          <p:nvPr/>
        </p:nvSpPr>
        <p:spPr>
          <a:xfrm>
            <a:off x="2077835" y="4788000"/>
            <a:ext cx="377541" cy="365760"/>
          </a:xfrm>
          <a:prstGeom prst="rect">
            <a:avLst/>
          </a:prstGeom>
          <a:solidFill>
            <a:srgbClr val="E7E7E7"/>
          </a:solidFill>
          <a:ln>
            <a:solidFill>
              <a:srgbClr val="0C101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8DF1D48-6AD8-C4B6-7003-BA47980D98FB}"/>
              </a:ext>
            </a:extLst>
          </p:cNvPr>
          <p:cNvSpPr/>
          <p:nvPr/>
        </p:nvSpPr>
        <p:spPr>
          <a:xfrm>
            <a:off x="2875368" y="4788000"/>
            <a:ext cx="377541" cy="365760"/>
          </a:xfrm>
          <a:prstGeom prst="rect">
            <a:avLst/>
          </a:prstGeom>
          <a:solidFill>
            <a:srgbClr val="E7E7E7"/>
          </a:solidFill>
          <a:ln>
            <a:solidFill>
              <a:srgbClr val="0C101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8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D556C47-661D-3B1C-48EC-56113F240DE5}"/>
              </a:ext>
            </a:extLst>
          </p:cNvPr>
          <p:cNvSpPr/>
          <p:nvPr/>
        </p:nvSpPr>
        <p:spPr>
          <a:xfrm>
            <a:off x="3672901" y="4797194"/>
            <a:ext cx="377541" cy="365760"/>
          </a:xfrm>
          <a:prstGeom prst="rect">
            <a:avLst/>
          </a:prstGeom>
          <a:solidFill>
            <a:srgbClr val="E7E7E7"/>
          </a:solidFill>
          <a:ln>
            <a:solidFill>
              <a:srgbClr val="0C101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6669436-02F3-104D-6BF8-243E34ED8139}"/>
              </a:ext>
            </a:extLst>
          </p:cNvPr>
          <p:cNvSpPr/>
          <p:nvPr/>
        </p:nvSpPr>
        <p:spPr>
          <a:xfrm>
            <a:off x="3668276" y="5503006"/>
            <a:ext cx="377541" cy="365760"/>
          </a:xfrm>
          <a:prstGeom prst="rect">
            <a:avLst/>
          </a:prstGeom>
          <a:solidFill>
            <a:srgbClr val="E7E7E7"/>
          </a:solidFill>
          <a:ln>
            <a:solidFill>
              <a:srgbClr val="0C101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7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3C24794-5550-B1A1-B651-56493D22CC62}"/>
              </a:ext>
            </a:extLst>
          </p:cNvPr>
          <p:cNvSpPr/>
          <p:nvPr/>
        </p:nvSpPr>
        <p:spPr>
          <a:xfrm>
            <a:off x="2875368" y="5532162"/>
            <a:ext cx="377541" cy="365760"/>
          </a:xfrm>
          <a:prstGeom prst="rect">
            <a:avLst/>
          </a:prstGeom>
          <a:solidFill>
            <a:srgbClr val="E7E7E7"/>
          </a:solidFill>
          <a:ln>
            <a:solidFill>
              <a:srgbClr val="0C101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BDA6B7F-F44C-E6DC-35F3-28A1025456CA}"/>
              </a:ext>
            </a:extLst>
          </p:cNvPr>
          <p:cNvSpPr/>
          <p:nvPr/>
        </p:nvSpPr>
        <p:spPr>
          <a:xfrm>
            <a:off x="2077834" y="5532162"/>
            <a:ext cx="377541" cy="365760"/>
          </a:xfrm>
          <a:prstGeom prst="rect">
            <a:avLst/>
          </a:prstGeom>
          <a:solidFill>
            <a:srgbClr val="E7E7E7"/>
          </a:solidFill>
          <a:ln>
            <a:solidFill>
              <a:srgbClr val="0C101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5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D38BDD3-3DB6-2E7F-7AAA-8F87A47EAA9D}"/>
              </a:ext>
            </a:extLst>
          </p:cNvPr>
          <p:cNvSpPr/>
          <p:nvPr/>
        </p:nvSpPr>
        <p:spPr>
          <a:xfrm>
            <a:off x="1128672" y="5532162"/>
            <a:ext cx="648071" cy="365760"/>
          </a:xfrm>
          <a:prstGeom prst="rect">
            <a:avLst/>
          </a:prstGeom>
          <a:ln>
            <a:solidFill>
              <a:srgbClr val="0C101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Fim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6C71105-9C83-E295-0F6B-F6F440B171CD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1776743" y="4970880"/>
            <a:ext cx="301092" cy="9194"/>
          </a:xfrm>
          <a:prstGeom prst="straightConnector1">
            <a:avLst/>
          </a:prstGeom>
          <a:ln>
            <a:solidFill>
              <a:srgbClr val="0C101C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D65EE631-B937-7C50-F5F0-6E9DBF380CE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455376" y="4970880"/>
            <a:ext cx="419992" cy="0"/>
          </a:xfrm>
          <a:prstGeom prst="straightConnector1">
            <a:avLst/>
          </a:prstGeom>
          <a:ln>
            <a:solidFill>
              <a:srgbClr val="0C101C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A11CA24-BEFA-13F6-4B60-8B1B9E53B06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252909" y="4970880"/>
            <a:ext cx="419992" cy="9194"/>
          </a:xfrm>
          <a:prstGeom prst="straightConnector1">
            <a:avLst/>
          </a:prstGeom>
          <a:ln>
            <a:solidFill>
              <a:srgbClr val="0C101C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A089D101-5509-1D72-23E7-22F719901B8E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857047" y="5162954"/>
            <a:ext cx="4625" cy="340052"/>
          </a:xfrm>
          <a:prstGeom prst="straightConnector1">
            <a:avLst/>
          </a:prstGeom>
          <a:ln>
            <a:solidFill>
              <a:srgbClr val="0C101C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EB2E30A1-AEBF-558F-1A83-726E93BEC97C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>
            <a:off x="3252909" y="5685886"/>
            <a:ext cx="415367" cy="29156"/>
          </a:xfrm>
          <a:prstGeom prst="straightConnector1">
            <a:avLst/>
          </a:prstGeom>
          <a:ln>
            <a:solidFill>
              <a:srgbClr val="0C101C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D6D0A3D4-C217-7E5C-13C4-4310C7298674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flipH="1">
            <a:off x="2455375" y="5715042"/>
            <a:ext cx="419993" cy="0"/>
          </a:xfrm>
          <a:prstGeom prst="straightConnector1">
            <a:avLst/>
          </a:prstGeom>
          <a:ln>
            <a:solidFill>
              <a:srgbClr val="0C101C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424A47B-17B9-EBD5-4E67-DB78DE5126DE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flipH="1">
            <a:off x="1776743" y="5715042"/>
            <a:ext cx="301091" cy="0"/>
          </a:xfrm>
          <a:prstGeom prst="straightConnector1">
            <a:avLst/>
          </a:prstGeom>
          <a:ln>
            <a:solidFill>
              <a:srgbClr val="0C101C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BEFCBAF-9945-F40A-CC99-2819C68D5395}"/>
              </a:ext>
            </a:extLst>
          </p:cNvPr>
          <p:cNvSpPr txBox="1"/>
          <p:nvPr/>
        </p:nvSpPr>
        <p:spPr>
          <a:xfrm>
            <a:off x="4381235" y="4037562"/>
            <a:ext cx="542136" cy="369332"/>
          </a:xfrm>
          <a:prstGeom prst="rect">
            <a:avLst/>
          </a:prstGeom>
          <a:noFill/>
          <a:ln>
            <a:solidFill>
              <a:srgbClr val="0C101C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Fim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FEC22C7-AAED-1BAA-0AAD-5902193221C2}"/>
              </a:ext>
            </a:extLst>
          </p:cNvPr>
          <p:cNvSpPr txBox="1"/>
          <p:nvPr/>
        </p:nvSpPr>
        <p:spPr>
          <a:xfrm>
            <a:off x="225864" y="4073035"/>
            <a:ext cx="699230" cy="369332"/>
          </a:xfrm>
          <a:prstGeom prst="rect">
            <a:avLst/>
          </a:prstGeom>
          <a:noFill/>
          <a:ln>
            <a:solidFill>
              <a:srgbClr val="0C101C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Início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3FE6856-98D5-DFE0-236C-FDABBB74DD4A}"/>
              </a:ext>
            </a:extLst>
          </p:cNvPr>
          <p:cNvSpPr txBox="1"/>
          <p:nvPr/>
        </p:nvSpPr>
        <p:spPr>
          <a:xfrm>
            <a:off x="4530051" y="4797194"/>
            <a:ext cx="1172116" cy="1200329"/>
          </a:xfrm>
          <a:prstGeom prst="rect">
            <a:avLst/>
          </a:prstGeom>
          <a:noFill/>
          <a:ln>
            <a:solidFill>
              <a:srgbClr val="0C101C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Exemplos:</a:t>
            </a:r>
          </a:p>
          <a:p>
            <a:pPr marL="285750" indent="-285750">
              <a:buFontTx/>
              <a:buChar char="-"/>
            </a:pPr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Lista</a:t>
            </a:r>
          </a:p>
          <a:p>
            <a:pPr marL="285750" indent="-285750">
              <a:buFontTx/>
              <a:buChar char="-"/>
            </a:pPr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Pilha</a:t>
            </a:r>
          </a:p>
          <a:p>
            <a:pPr marL="285750" indent="-285750">
              <a:buFontTx/>
              <a:buChar char="-"/>
            </a:pPr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Fila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1150339-8E2B-E885-59A9-B3A8C970C9D8}"/>
              </a:ext>
            </a:extLst>
          </p:cNvPr>
          <p:cNvSpPr txBox="1"/>
          <p:nvPr/>
        </p:nvSpPr>
        <p:spPr>
          <a:xfrm>
            <a:off x="225864" y="3116379"/>
            <a:ext cx="1005403" cy="369332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rgbClr val="0C101C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Lineares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50CCA64-61E4-C72B-5B2F-31BEA5514615}"/>
              </a:ext>
            </a:extLst>
          </p:cNvPr>
          <p:cNvSpPr txBox="1"/>
          <p:nvPr/>
        </p:nvSpPr>
        <p:spPr>
          <a:xfrm>
            <a:off x="6299159" y="3114805"/>
            <a:ext cx="1465466" cy="369332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rgbClr val="0C101C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Não Lineares</a:t>
            </a:r>
          </a:p>
        </p:txBody>
      </p:sp>
      <p:pic>
        <p:nvPicPr>
          <p:cNvPr id="25" name="Picture 2" descr="Resultado de imagem para arvore estrutura de dados">
            <a:extLst>
              <a:ext uri="{FF2B5EF4-FFF2-40B4-BE49-F238E27FC236}">
                <a16:creationId xmlns:a16="http://schemas.microsoft.com/office/drawing/2014/main" id="{940FC2CB-D08F-26AD-9E99-5E2A99B18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584" y="3835396"/>
            <a:ext cx="2767362" cy="1843328"/>
          </a:xfrm>
          <a:prstGeom prst="rect">
            <a:avLst/>
          </a:prstGeom>
          <a:noFill/>
          <a:ln>
            <a:solidFill>
              <a:srgbClr val="0C10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Resultado de imagem para grafo">
            <a:extLst>
              <a:ext uri="{FF2B5EF4-FFF2-40B4-BE49-F238E27FC236}">
                <a16:creationId xmlns:a16="http://schemas.microsoft.com/office/drawing/2014/main" id="{BA963164-704E-688F-E572-AA41EE4A6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6640" y="5095890"/>
            <a:ext cx="2445272" cy="1047000"/>
          </a:xfrm>
          <a:prstGeom prst="rect">
            <a:avLst/>
          </a:prstGeom>
          <a:noFill/>
          <a:ln>
            <a:solidFill>
              <a:srgbClr val="0C10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1F40A24B-ADD0-326E-E73C-A2BA04C6060A}"/>
              </a:ext>
            </a:extLst>
          </p:cNvPr>
          <p:cNvSpPr txBox="1"/>
          <p:nvPr/>
        </p:nvSpPr>
        <p:spPr>
          <a:xfrm>
            <a:off x="9717591" y="3838951"/>
            <a:ext cx="1172116" cy="923330"/>
          </a:xfrm>
          <a:prstGeom prst="rect">
            <a:avLst/>
          </a:prstGeom>
          <a:noFill/>
          <a:ln>
            <a:solidFill>
              <a:srgbClr val="0C101C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Exemplos:</a:t>
            </a:r>
          </a:p>
          <a:p>
            <a:pPr marL="285750" indent="-285750">
              <a:buFontTx/>
              <a:buChar char="-"/>
            </a:pPr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Árvore</a:t>
            </a:r>
          </a:p>
          <a:p>
            <a:pPr marL="285750" indent="-285750">
              <a:buFontTx/>
              <a:buChar char="-"/>
            </a:pPr>
            <a:r>
              <a:rPr lang="pt-BR" dirty="0">
                <a:solidFill>
                  <a:schemeClr val="bg1"/>
                </a:solidFill>
                <a:latin typeface="Abadi" panose="020B0604020104020204" pitchFamily="34" charset="0"/>
              </a:rPr>
              <a:t>Grafo</a:t>
            </a:r>
          </a:p>
        </p:txBody>
      </p:sp>
      <p:sp>
        <p:nvSpPr>
          <p:cNvPr id="29" name="Retângulo: Cantos Superiores Recortados 28">
            <a:extLst>
              <a:ext uri="{FF2B5EF4-FFF2-40B4-BE49-F238E27FC236}">
                <a16:creationId xmlns:a16="http://schemas.microsoft.com/office/drawing/2014/main" id="{0BC632AA-D863-B24F-9495-11B1F293125E}"/>
              </a:ext>
            </a:extLst>
          </p:cNvPr>
          <p:cNvSpPr/>
          <p:nvPr/>
        </p:nvSpPr>
        <p:spPr>
          <a:xfrm rot="16200000">
            <a:off x="2413394" y="-2250051"/>
            <a:ext cx="649458" cy="5476241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Tipos de Estruturas de Dados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2F39924-04C3-E8F8-B2B6-6744E0F563FC}"/>
              </a:ext>
            </a:extLst>
          </p:cNvPr>
          <p:cNvSpPr txBox="1"/>
          <p:nvPr/>
        </p:nvSpPr>
        <p:spPr>
          <a:xfrm>
            <a:off x="40640" y="912225"/>
            <a:ext cx="12110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Existem dois tipos de estruturas de dados...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F015990-6900-A43A-4D0D-549BF395068F}"/>
              </a:ext>
            </a:extLst>
          </p:cNvPr>
          <p:cNvSpPr txBox="1"/>
          <p:nvPr/>
        </p:nvSpPr>
        <p:spPr>
          <a:xfrm>
            <a:off x="150882" y="1454619"/>
            <a:ext cx="5770880" cy="1323439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As estruturas de dados lineares organizam os elementos de forma sequencial, onde cada elemento tem um sucessor e, opcionalmente, um antecessor.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F47E181-CE19-8A48-B9D0-50D509EEC33D}"/>
              </a:ext>
            </a:extLst>
          </p:cNvPr>
          <p:cNvSpPr txBox="1"/>
          <p:nvPr/>
        </p:nvSpPr>
        <p:spPr>
          <a:xfrm>
            <a:off x="6303506" y="1454619"/>
            <a:ext cx="5770880" cy="1015663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As estruturas de dados não lineares organizam os elementos de forma hierárquica ou interconectada, permitindo múltiplos relacionamentos entre eles.</a:t>
            </a:r>
          </a:p>
        </p:txBody>
      </p:sp>
    </p:spTree>
    <p:extLst>
      <p:ext uri="{BB962C8B-B14F-4D97-AF65-F5344CB8AC3E}">
        <p14:creationId xmlns:p14="http://schemas.microsoft.com/office/powerpoint/2010/main" val="298699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0412B-674C-6840-592B-5CEBC10D2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2E476942-93F9-EC7E-309B-2C18B82FCE39}"/>
              </a:ext>
            </a:extLst>
          </p:cNvPr>
          <p:cNvSpPr/>
          <p:nvPr/>
        </p:nvSpPr>
        <p:spPr>
          <a:xfrm rot="16200000">
            <a:off x="2390479" y="-2227137"/>
            <a:ext cx="649458" cy="5430415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O que são Listas Lineares?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1280247-9E6C-BA62-6277-5F716EFFD8DB}"/>
              </a:ext>
            </a:extLst>
          </p:cNvPr>
          <p:cNvSpPr/>
          <p:nvPr/>
        </p:nvSpPr>
        <p:spPr>
          <a:xfrm>
            <a:off x="1" y="4507103"/>
            <a:ext cx="12192000" cy="224929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6D5974-B9A8-FFC4-E65B-19709E89DFBD}"/>
              </a:ext>
            </a:extLst>
          </p:cNvPr>
          <p:cNvSpPr txBox="1"/>
          <p:nvPr/>
        </p:nvSpPr>
        <p:spPr>
          <a:xfrm>
            <a:off x="87727" y="948051"/>
            <a:ext cx="1201654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badi" panose="020B0604020104020204" pitchFamily="34" charset="0"/>
              </a:rPr>
              <a:t>	</a:t>
            </a:r>
            <a:r>
              <a:rPr lang="pt-BR" sz="2000" dirty="0">
                <a:latin typeface="Abadi" panose="020B0604020104020204" pitchFamily="34" charset="0"/>
              </a:rPr>
              <a:t>Listas lineares são estruturas de dados que organizam elementos de forma sequencial, onde cada elemento tem uma posição definida. Elas permitem a realização de diversas operações sobre os elementos, como inserção, remoção e busca.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r>
              <a:rPr lang="pt-BR" b="1" dirty="0">
                <a:latin typeface="Abadi" panose="020B0604020104020204" pitchFamily="34" charset="0"/>
              </a:rPr>
              <a:t>Aplicabilidade:</a:t>
            </a:r>
            <a:endParaRPr lang="pt-BR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latin typeface="Abadi" panose="020B0604020104020204" pitchFamily="34" charset="0"/>
              </a:rPr>
              <a:t>Gestão de coleções dinâmicas</a:t>
            </a:r>
            <a:r>
              <a:rPr lang="pt-BR" sz="2000" dirty="0">
                <a:latin typeface="Abadi" panose="020B0604020104020204" pitchFamily="34" charset="0"/>
              </a:rPr>
              <a:t>: Como playlists, menus ou históricos de navegação.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latin typeface="Abadi" panose="020B0604020104020204" pitchFamily="34" charset="0"/>
              </a:rPr>
              <a:t>Implementação de outras estruturas</a:t>
            </a:r>
            <a:r>
              <a:rPr lang="pt-BR" sz="2000" dirty="0">
                <a:latin typeface="Abadi" panose="020B0604020104020204" pitchFamily="34" charset="0"/>
              </a:rPr>
              <a:t>: Servem como base para pilhas e filas.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latin typeface="Abadi" panose="020B0604020104020204" pitchFamily="34" charset="0"/>
              </a:rPr>
              <a:t>Manipulação dinâmica de dados</a:t>
            </a:r>
            <a:r>
              <a:rPr lang="pt-BR" sz="2000" dirty="0">
                <a:latin typeface="Abadi" panose="020B0604020104020204" pitchFamily="34" charset="0"/>
              </a:rPr>
              <a:t>: Ideal para situações em que o tamanho do conjunto de dados varia frequentemente.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AA37B60-7AE9-6772-5214-86E5EEEE86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73" t="12830" r="13629" b="16262"/>
          <a:stretch/>
        </p:blipFill>
        <p:spPr>
          <a:xfrm>
            <a:off x="3611880" y="4507103"/>
            <a:ext cx="4968240" cy="224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3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C3883-8B50-3C32-F08D-5B0F0EED5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1469DDE6-A2E2-6B21-FC23-2EF232191C1A}"/>
              </a:ext>
            </a:extLst>
          </p:cNvPr>
          <p:cNvSpPr/>
          <p:nvPr/>
        </p:nvSpPr>
        <p:spPr>
          <a:xfrm rot="16200000">
            <a:off x="2758832" y="-2595490"/>
            <a:ext cx="649458" cy="6167119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Quais as Operações Principais?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CBFF46E-98D7-2A5B-4A15-55BF684A5DC1}"/>
              </a:ext>
            </a:extLst>
          </p:cNvPr>
          <p:cNvSpPr txBox="1"/>
          <p:nvPr/>
        </p:nvSpPr>
        <p:spPr>
          <a:xfrm>
            <a:off x="87726" y="1019171"/>
            <a:ext cx="6953153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badi" panose="020B0604020104020204" pitchFamily="34" charset="0"/>
              </a:rPr>
              <a:t>As principais operações desses tipo de estrutura de dados são: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b="1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b="1" dirty="0">
                <a:latin typeface="Abadi" panose="020B0604020104020204" pitchFamily="34" charset="0"/>
              </a:rPr>
              <a:t>Inserção:</a:t>
            </a:r>
            <a:r>
              <a:rPr lang="pt-BR" sz="2000" dirty="0">
                <a:latin typeface="Abadi" panose="020B0604020104020204" pitchFamily="34" charset="0"/>
              </a:rPr>
              <a:t> Adicionar um elemento em qualquer posição da lista.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b="1" dirty="0">
                <a:latin typeface="Abadi" panose="020B0604020104020204" pitchFamily="34" charset="0"/>
              </a:rPr>
              <a:t>Remoção:</a:t>
            </a:r>
            <a:r>
              <a:rPr lang="pt-BR" sz="2000" dirty="0">
                <a:latin typeface="Abadi" panose="020B0604020104020204" pitchFamily="34" charset="0"/>
              </a:rPr>
              <a:t> Eliminar um elemento da lista em uma posição específica.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b="1" dirty="0">
                <a:latin typeface="Abadi" panose="020B0604020104020204" pitchFamily="34" charset="0"/>
              </a:rPr>
              <a:t>Busca:</a:t>
            </a:r>
            <a:r>
              <a:rPr lang="pt-BR" sz="2000" dirty="0">
                <a:latin typeface="Abadi" panose="020B0604020104020204" pitchFamily="34" charset="0"/>
              </a:rPr>
              <a:t> Localizar um elemento na lista.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b="1" dirty="0">
                <a:latin typeface="Abadi" panose="020B0604020104020204" pitchFamily="34" charset="0"/>
              </a:rPr>
              <a:t>Acesso:</a:t>
            </a:r>
            <a:r>
              <a:rPr lang="pt-BR" sz="2000" dirty="0">
                <a:latin typeface="Abadi" panose="020B0604020104020204" pitchFamily="34" charset="0"/>
              </a:rPr>
              <a:t> Recuperar o elemento de uma posição específica.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b="1" dirty="0">
                <a:latin typeface="Abadi" panose="020B0604020104020204" pitchFamily="34" charset="0"/>
              </a:rPr>
              <a:t>Atualização:</a:t>
            </a:r>
            <a:r>
              <a:rPr lang="pt-BR" sz="2000" dirty="0">
                <a:latin typeface="Abadi" panose="020B0604020104020204" pitchFamily="34" charset="0"/>
              </a:rPr>
              <a:t> Modificar o valor de um elemento existente.</a:t>
            </a:r>
          </a:p>
          <a:p>
            <a:pPr algn="just"/>
            <a:endParaRPr lang="pt-BR" dirty="0">
              <a:latin typeface="Abadi" panose="020B0604020104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AE3E78-5E9E-BC13-5739-8B8DA7DEFA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66"/>
          <a:stretch/>
        </p:blipFill>
        <p:spPr bwMode="auto">
          <a:xfrm>
            <a:off x="7274559" y="71120"/>
            <a:ext cx="3931919" cy="3355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ssoas de negócios que trabalham em notas adesivas criativas anotando  ideias em post-its investidores profissionais iniciam negócios de projetos  | Foto Premium">
            <a:extLst>
              <a:ext uri="{FF2B5EF4-FFF2-40B4-BE49-F238E27FC236}">
                <a16:creationId xmlns:a16="http://schemas.microsoft.com/office/drawing/2014/main" id="{F26C3F3D-74F8-326A-A02C-66D8567F10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90" t="4597" r="5868" b="14067"/>
          <a:stretch/>
        </p:blipFill>
        <p:spPr bwMode="auto">
          <a:xfrm>
            <a:off x="7274559" y="3514065"/>
            <a:ext cx="3931919" cy="323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669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F79C1-F6D4-A226-E5E5-D7947B8FB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9580A690-D717-9E5D-6C41-EC95C6A016BA}"/>
              </a:ext>
            </a:extLst>
          </p:cNvPr>
          <p:cNvSpPr/>
          <p:nvPr/>
        </p:nvSpPr>
        <p:spPr>
          <a:xfrm rot="16200000">
            <a:off x="5319155" y="-5155810"/>
            <a:ext cx="649458" cy="11287760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2800" dirty="0">
                <a:latin typeface="Abadi" panose="020B0604020104020204" pitchFamily="34" charset="0"/>
              </a:rPr>
              <a:t>Formas de Representação e Armazenamento: Sequencial e Encadeada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F0AA75C-D614-9876-7089-80B5F8CB25C4}"/>
                  </a:ext>
                </a:extLst>
              </p:cNvPr>
              <p:cNvSpPr txBox="1"/>
              <p:nvPr/>
            </p:nvSpPr>
            <p:spPr>
              <a:xfrm>
                <a:off x="77567" y="969382"/>
                <a:ext cx="5713633" cy="3416320"/>
              </a:xfrm>
              <a:prstGeom prst="rect">
                <a:avLst/>
              </a:prstGeom>
              <a:noFill/>
              <a:ln w="28575">
                <a:solidFill>
                  <a:srgbClr val="123D52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dirty="0">
                    <a:latin typeface="Abadi" panose="020B0604020104020204" pitchFamily="34" charset="0"/>
                  </a:rPr>
                  <a:t>Alocação Sequencial:</a:t>
                </a:r>
              </a:p>
              <a:p>
                <a:pPr algn="just"/>
                <a:endParaRPr lang="pt-BR" dirty="0">
                  <a:latin typeface="Abadi" panose="020B060402010402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badi" panose="020B0604020104020204" pitchFamily="34" charset="0"/>
                  </a:rPr>
                  <a:t>A lista já tem determinado o número disponíveis de itens que podem ocupar e os dados podem ser colocados em um local especifico da lista.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pt-BR" dirty="0">
                  <a:latin typeface="Abadi" panose="020B060402010402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badi" panose="020B0604020104020204" pitchFamily="34" charset="0"/>
                  </a:rPr>
                  <a:t>Vantagens: Acesso rápido a elementos (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) por meio de índices.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pt-BR" dirty="0">
                  <a:latin typeface="Abadi" panose="020B060402010402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badi" panose="020B0604020104020204" pitchFamily="34" charset="0"/>
                  </a:rPr>
                  <a:t>Desvantagens: Dificuldade em redimensionar; alto custo de inserção e remoção em posições intermediárias.</a:t>
                </a: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F0AA75C-D614-9876-7089-80B5F8CB2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7" y="969382"/>
                <a:ext cx="5713633" cy="3416320"/>
              </a:xfrm>
              <a:prstGeom prst="rect">
                <a:avLst/>
              </a:prstGeom>
              <a:blipFill>
                <a:blip r:embed="rId3"/>
                <a:stretch>
                  <a:fillRect l="-743" t="-531" r="-531" b="-1416"/>
                </a:stretch>
              </a:blipFill>
              <a:ln w="28575">
                <a:solidFill>
                  <a:srgbClr val="123D5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DC7140AD-45A1-93A5-68A1-B3029FE9D04A}"/>
                  </a:ext>
                </a:extLst>
              </p:cNvPr>
              <p:cNvSpPr txBox="1"/>
              <p:nvPr/>
            </p:nvSpPr>
            <p:spPr>
              <a:xfrm>
                <a:off x="6096000" y="969382"/>
                <a:ext cx="6018433" cy="3416320"/>
              </a:xfrm>
              <a:prstGeom prst="rect">
                <a:avLst/>
              </a:prstGeom>
              <a:noFill/>
              <a:ln w="28575">
                <a:solidFill>
                  <a:srgbClr val="123D52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dirty="0">
                    <a:latin typeface="Abadi" panose="020B0604020104020204" pitchFamily="34" charset="0"/>
                  </a:rPr>
                  <a:t>Alocação Encadeada:</a:t>
                </a:r>
              </a:p>
              <a:p>
                <a:pPr algn="just"/>
                <a:endParaRPr lang="pt-BR" dirty="0">
                  <a:latin typeface="Abadi" panose="020B060402010402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badi" panose="020B0604020104020204" pitchFamily="34" charset="0"/>
                  </a:rPr>
                  <a:t>A lista ao ser criada não define o limite de dados que podem ser inseridos, por tanto os dados devem ser encadeados de modo que um valor deve apontar para o próximo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pt-BR" dirty="0">
                  <a:latin typeface="Abadi" panose="020B060402010402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badi" panose="020B0604020104020204" pitchFamily="34" charset="0"/>
                  </a:rPr>
                  <a:t>Vantagens: Redimensionamento dinâmico; custo constante para inserção/remoção no início.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pt-BR" dirty="0">
                  <a:latin typeface="Abadi" panose="020B060402010402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badi" panose="020B0604020104020204" pitchFamily="34" charset="0"/>
                  </a:rPr>
                  <a:t>Desvantagens: Acesso sequencial mais lento (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) e maior uso de memória devido aos ponteiros.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DC7140AD-45A1-93A5-68A1-B3029FE9D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969382"/>
                <a:ext cx="6018433" cy="3416320"/>
              </a:xfrm>
              <a:prstGeom prst="rect">
                <a:avLst/>
              </a:prstGeom>
              <a:blipFill>
                <a:blip r:embed="rId4"/>
                <a:stretch>
                  <a:fillRect l="-605" t="-531" r="-504" b="-1416"/>
                </a:stretch>
              </a:blipFill>
              <a:ln w="28575">
                <a:solidFill>
                  <a:srgbClr val="123D5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ela 4">
            <a:extLst>
              <a:ext uri="{FF2B5EF4-FFF2-40B4-BE49-F238E27FC236}">
                <a16:creationId xmlns:a16="http://schemas.microsoft.com/office/drawing/2014/main" id="{B27E639F-396C-9026-3096-0F4587F91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308878"/>
              </p:ext>
            </p:extLst>
          </p:nvPr>
        </p:nvGraphicFramePr>
        <p:xfrm>
          <a:off x="1300008" y="4547627"/>
          <a:ext cx="3329872" cy="3938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5696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475696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  <a:gridCol w="475696">
                  <a:extLst>
                    <a:ext uri="{9D8B030D-6E8A-4147-A177-3AD203B41FA5}">
                      <a16:colId xmlns:a16="http://schemas.microsoft.com/office/drawing/2014/main" val="2163399860"/>
                    </a:ext>
                  </a:extLst>
                </a:gridCol>
                <a:gridCol w="475696">
                  <a:extLst>
                    <a:ext uri="{9D8B030D-6E8A-4147-A177-3AD203B41FA5}">
                      <a16:colId xmlns:a16="http://schemas.microsoft.com/office/drawing/2014/main" val="386008816"/>
                    </a:ext>
                  </a:extLst>
                </a:gridCol>
                <a:gridCol w="475696">
                  <a:extLst>
                    <a:ext uri="{9D8B030D-6E8A-4147-A177-3AD203B41FA5}">
                      <a16:colId xmlns:a16="http://schemas.microsoft.com/office/drawing/2014/main" val="3181661682"/>
                    </a:ext>
                  </a:extLst>
                </a:gridCol>
                <a:gridCol w="475696">
                  <a:extLst>
                    <a:ext uri="{9D8B030D-6E8A-4147-A177-3AD203B41FA5}">
                      <a16:colId xmlns:a16="http://schemas.microsoft.com/office/drawing/2014/main" val="574754337"/>
                    </a:ext>
                  </a:extLst>
                </a:gridCol>
                <a:gridCol w="475696">
                  <a:extLst>
                    <a:ext uri="{9D8B030D-6E8A-4147-A177-3AD203B41FA5}">
                      <a16:colId xmlns:a16="http://schemas.microsoft.com/office/drawing/2014/main" val="1251680691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F53ED033-EF5B-3AA7-87CC-7B0EB36867B6}"/>
              </a:ext>
            </a:extLst>
          </p:cNvPr>
          <p:cNvSpPr txBox="1"/>
          <p:nvPr/>
        </p:nvSpPr>
        <p:spPr>
          <a:xfrm>
            <a:off x="1016000" y="5120005"/>
            <a:ext cx="389788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//C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vetor[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D2BC1EC-23D5-9D17-3544-1BED2720CAD0}"/>
              </a:ext>
            </a:extLst>
          </p:cNvPr>
          <p:cNvSpPr/>
          <p:nvPr/>
        </p:nvSpPr>
        <p:spPr>
          <a:xfrm>
            <a:off x="7002130" y="4424514"/>
            <a:ext cx="792088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Início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227A6E5-4A46-0927-1308-5A989C2811A3}"/>
              </a:ext>
            </a:extLst>
          </p:cNvPr>
          <p:cNvSpPr/>
          <p:nvPr/>
        </p:nvSpPr>
        <p:spPr>
          <a:xfrm>
            <a:off x="8218233" y="4416101"/>
            <a:ext cx="377541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8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AEE80DE-5F99-BEDC-F095-19E222CA8723}"/>
              </a:ext>
            </a:extLst>
          </p:cNvPr>
          <p:cNvSpPr/>
          <p:nvPr/>
        </p:nvSpPr>
        <p:spPr>
          <a:xfrm>
            <a:off x="9039639" y="4423580"/>
            <a:ext cx="377541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53106EF-24C2-D3B3-E052-26B18B76B73D}"/>
              </a:ext>
            </a:extLst>
          </p:cNvPr>
          <p:cNvSpPr/>
          <p:nvPr/>
        </p:nvSpPr>
        <p:spPr>
          <a:xfrm>
            <a:off x="9721679" y="4407668"/>
            <a:ext cx="377541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9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C92267A-3B2E-D63E-AA84-74E9AD5FDA01}"/>
              </a:ext>
            </a:extLst>
          </p:cNvPr>
          <p:cNvSpPr/>
          <p:nvPr/>
        </p:nvSpPr>
        <p:spPr>
          <a:xfrm>
            <a:off x="10523548" y="4404625"/>
            <a:ext cx="648071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Fim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FF99326D-9C49-C5C3-F492-E64504134512}"/>
              </a:ext>
            </a:extLst>
          </p:cNvPr>
          <p:cNvCxnSpPr>
            <a:cxnSpLocks/>
          </p:cNvCxnSpPr>
          <p:nvPr/>
        </p:nvCxnSpPr>
        <p:spPr>
          <a:xfrm flipV="1">
            <a:off x="7794218" y="4629461"/>
            <a:ext cx="424015" cy="84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D99185DF-E52B-6643-367C-059684BA5B14}"/>
              </a:ext>
            </a:extLst>
          </p:cNvPr>
          <p:cNvCxnSpPr>
            <a:cxnSpLocks/>
          </p:cNvCxnSpPr>
          <p:nvPr/>
        </p:nvCxnSpPr>
        <p:spPr>
          <a:xfrm>
            <a:off x="8595774" y="4629461"/>
            <a:ext cx="443865" cy="74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5400ABC7-79A3-F5EF-76AD-8A975637D9C3}"/>
              </a:ext>
            </a:extLst>
          </p:cNvPr>
          <p:cNvCxnSpPr>
            <a:cxnSpLocks/>
          </p:cNvCxnSpPr>
          <p:nvPr/>
        </p:nvCxnSpPr>
        <p:spPr>
          <a:xfrm flipV="1">
            <a:off x="9417180" y="4621028"/>
            <a:ext cx="304499" cy="159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E6EA921-AB40-826F-7EB0-4C62F19192FC}"/>
              </a:ext>
            </a:extLst>
          </p:cNvPr>
          <p:cNvCxnSpPr>
            <a:cxnSpLocks/>
          </p:cNvCxnSpPr>
          <p:nvPr/>
        </p:nvCxnSpPr>
        <p:spPr>
          <a:xfrm flipV="1">
            <a:off x="10099220" y="4617985"/>
            <a:ext cx="424328" cy="30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E8F5A98-DA83-F464-2435-F00553B07EFE}"/>
              </a:ext>
            </a:extLst>
          </p:cNvPr>
          <p:cNvSpPr txBox="1"/>
          <p:nvPr/>
        </p:nvSpPr>
        <p:spPr>
          <a:xfrm>
            <a:off x="985438" y="5944842"/>
            <a:ext cx="389788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//Java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vetor = </a:t>
            </a:r>
            <a:r>
              <a:rPr lang="pt-B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vetor[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397EFAA-FCA8-7D5A-D168-0E66F7C1A221}"/>
              </a:ext>
            </a:extLst>
          </p:cNvPr>
          <p:cNvSpPr txBox="1"/>
          <p:nvPr/>
        </p:nvSpPr>
        <p:spPr>
          <a:xfrm>
            <a:off x="6420003" y="4821654"/>
            <a:ext cx="569443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//Java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lista = </a:t>
            </a:r>
            <a:r>
              <a:rPr lang="pt-B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lista.add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lista.add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CD901B5-41EF-110F-A762-DB9B8AE92A3B}"/>
              </a:ext>
            </a:extLst>
          </p:cNvPr>
          <p:cNvSpPr txBox="1"/>
          <p:nvPr/>
        </p:nvSpPr>
        <p:spPr>
          <a:xfrm>
            <a:off x="8309027" y="5622034"/>
            <a:ext cx="354228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//Python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lista = []</a:t>
            </a:r>
          </a:p>
          <a:p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lista.append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lista.append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22230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5580C-23A0-413B-D7AB-54B5E67E7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696A5001-806E-28CA-9B44-327B39F4A84E}"/>
              </a:ext>
            </a:extLst>
          </p:cNvPr>
          <p:cNvSpPr/>
          <p:nvPr/>
        </p:nvSpPr>
        <p:spPr>
          <a:xfrm rot="16200000">
            <a:off x="3336269" y="-3172924"/>
            <a:ext cx="649458" cy="7321988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2800" dirty="0">
                <a:latin typeface="Abadi" panose="020B0604020104020204" pitchFamily="34" charset="0"/>
              </a:rPr>
              <a:t>Alguns detalhes sobre as listas encadeadas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A700F9-C051-4787-BFEF-52685797E34A}"/>
              </a:ext>
            </a:extLst>
          </p:cNvPr>
          <p:cNvSpPr txBox="1"/>
          <p:nvPr/>
        </p:nvSpPr>
        <p:spPr>
          <a:xfrm>
            <a:off x="77567" y="969382"/>
            <a:ext cx="11898533" cy="1323439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Cada dado da lista é chamado de Nó e é composto por dois itens: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Os dados armazenado;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Um ponteiro apontando para o próximo nó na lista (Ou nulo caso não existe próximo valor)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</p:txBody>
      </p:sp>
      <p:graphicFrame>
        <p:nvGraphicFramePr>
          <p:cNvPr id="6" name="Tabela 4">
            <a:extLst>
              <a:ext uri="{FF2B5EF4-FFF2-40B4-BE49-F238E27FC236}">
                <a16:creationId xmlns:a16="http://schemas.microsoft.com/office/drawing/2014/main" id="{284C57D4-39AE-F665-500F-8CB1E8F47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105760"/>
              </p:ext>
            </p:extLst>
          </p:nvPr>
        </p:nvGraphicFramePr>
        <p:xfrm>
          <a:off x="1978091" y="3839285"/>
          <a:ext cx="3446059" cy="4723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1374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1624685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47239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{dados}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ponteiro</a:t>
                      </a:r>
                    </a:p>
                  </a:txBody>
                  <a:tcPr anchor="ctr"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BB9B91F1-0910-64AB-4817-9593CBE5242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424150" y="4075482"/>
            <a:ext cx="1245745" cy="0"/>
          </a:xfrm>
          <a:prstGeom prst="straightConnector1">
            <a:avLst/>
          </a:prstGeom>
          <a:ln w="28575"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B0FAEE8-7CAE-E0EE-9822-7B8AEAF683C7}"/>
              </a:ext>
            </a:extLst>
          </p:cNvPr>
          <p:cNvSpPr txBox="1"/>
          <p:nvPr/>
        </p:nvSpPr>
        <p:spPr>
          <a:xfrm>
            <a:off x="1325994" y="3226158"/>
            <a:ext cx="1304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u="sng" dirty="0">
                <a:latin typeface="Abadi" panose="020B0604020104020204" pitchFamily="34" charset="0"/>
              </a:rPr>
              <a:t>Nó 1</a:t>
            </a:r>
            <a:endParaRPr lang="pt-BR" sz="2400" u="sng" dirty="0"/>
          </a:p>
        </p:txBody>
      </p:sp>
      <p:graphicFrame>
        <p:nvGraphicFramePr>
          <p:cNvPr id="23" name="Tabela 4">
            <a:extLst>
              <a:ext uri="{FF2B5EF4-FFF2-40B4-BE49-F238E27FC236}">
                <a16:creationId xmlns:a16="http://schemas.microsoft.com/office/drawing/2014/main" id="{83425B13-7827-FBA3-2E1C-EDE7AE351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540402"/>
              </p:ext>
            </p:extLst>
          </p:nvPr>
        </p:nvGraphicFramePr>
        <p:xfrm>
          <a:off x="6669895" y="3839285"/>
          <a:ext cx="3446059" cy="4723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1374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1624685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47239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{dados}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ponteiro</a:t>
                      </a:r>
                    </a:p>
                  </a:txBody>
                  <a:tcPr anchor="ctr"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sp>
        <p:nvSpPr>
          <p:cNvPr id="24" name="CaixaDeTexto 23">
            <a:extLst>
              <a:ext uri="{FF2B5EF4-FFF2-40B4-BE49-F238E27FC236}">
                <a16:creationId xmlns:a16="http://schemas.microsoft.com/office/drawing/2014/main" id="{3F782739-C32F-0F7E-008F-D557BC2D9FF2}"/>
              </a:ext>
            </a:extLst>
          </p:cNvPr>
          <p:cNvSpPr txBox="1"/>
          <p:nvPr/>
        </p:nvSpPr>
        <p:spPr>
          <a:xfrm>
            <a:off x="6017798" y="3226158"/>
            <a:ext cx="1304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u="sng" dirty="0">
                <a:latin typeface="Abadi" panose="020B0604020104020204" pitchFamily="34" charset="0"/>
              </a:rPr>
              <a:t>Nó 2</a:t>
            </a:r>
            <a:endParaRPr lang="pt-BR" sz="2400" u="sng" dirty="0"/>
          </a:p>
        </p:txBody>
      </p:sp>
    </p:spTree>
    <p:extLst>
      <p:ext uri="{BB962C8B-B14F-4D97-AF65-F5344CB8AC3E}">
        <p14:creationId xmlns:p14="http://schemas.microsoft.com/office/powerpoint/2010/main" val="4293586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D0CF6-59D4-2886-0CF5-720F3EF55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1941E2E5-C2F0-E0B6-0CA3-1BEB71D77B44}"/>
              </a:ext>
            </a:extLst>
          </p:cNvPr>
          <p:cNvSpPr/>
          <p:nvPr/>
        </p:nvSpPr>
        <p:spPr>
          <a:xfrm>
            <a:off x="2029150" y="3187665"/>
            <a:ext cx="954323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BD8257FB-C5C3-D8BE-8170-B5343B33BC67}"/>
              </a:ext>
            </a:extLst>
          </p:cNvPr>
          <p:cNvSpPr/>
          <p:nvPr/>
        </p:nvSpPr>
        <p:spPr>
          <a:xfrm rot="16200000">
            <a:off x="3636118" y="-3472773"/>
            <a:ext cx="649458" cy="792168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2800" dirty="0">
                <a:latin typeface="Abadi" panose="020B0604020104020204" pitchFamily="34" charset="0"/>
              </a:rPr>
              <a:t>Listas Encadeadas: Simplesmente e Duplamente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B4DD19A-E79E-6880-9036-6F1AED97C210}"/>
              </a:ext>
            </a:extLst>
          </p:cNvPr>
          <p:cNvSpPr txBox="1"/>
          <p:nvPr/>
        </p:nvSpPr>
        <p:spPr>
          <a:xfrm>
            <a:off x="77567" y="969382"/>
            <a:ext cx="11898533" cy="1477328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Simplesmente Encadeada</a:t>
            </a:r>
            <a:r>
              <a:rPr lang="pt-BR" dirty="0">
                <a:latin typeface="Abadi" panose="020B0604020104020204" pitchFamily="34" charset="0"/>
              </a:rPr>
              <a:t>:</a:t>
            </a:r>
          </a:p>
          <a:p>
            <a:pPr algn="just"/>
            <a:endParaRPr lang="pt-BR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Cada nó tem apenas um ponteiro que referencia o próximo nó.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Aplicabilidade: Estruturas onde o acesso ocorre em uma direção, como implementação de pilhas.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E9268E9-45F3-47F3-B806-6152AF51B38B}"/>
              </a:ext>
            </a:extLst>
          </p:cNvPr>
          <p:cNvSpPr txBox="1"/>
          <p:nvPr/>
        </p:nvSpPr>
        <p:spPr>
          <a:xfrm>
            <a:off x="162195" y="3813437"/>
            <a:ext cx="11813905" cy="1477328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Duplamente Encadeada</a:t>
            </a:r>
            <a:r>
              <a:rPr lang="pt-BR" dirty="0">
                <a:latin typeface="Abadi" panose="020B0604020104020204" pitchFamily="34" charset="0"/>
              </a:rPr>
              <a:t>:</a:t>
            </a:r>
          </a:p>
          <a:p>
            <a:pPr algn="just"/>
            <a:endParaRPr lang="pt-BR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Cada nó possui dois ponteiros: um para o próximo e outro para o anterior.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Aplicabilidade: Cenários onde é necessário navegar em ambas as direções, como editores de texto ou playlists.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</p:txBody>
      </p:sp>
      <p:graphicFrame>
        <p:nvGraphicFramePr>
          <p:cNvPr id="6" name="Tabela 4">
            <a:extLst>
              <a:ext uri="{FF2B5EF4-FFF2-40B4-BE49-F238E27FC236}">
                <a16:creationId xmlns:a16="http://schemas.microsoft.com/office/drawing/2014/main" id="{0F6CDD77-FCC7-63CC-2F8A-12C86446A49A}"/>
              </a:ext>
            </a:extLst>
          </p:cNvPr>
          <p:cNvGraphicFramePr>
            <a:graphicFrameLocks noGrp="1"/>
          </p:cNvGraphicFramePr>
          <p:nvPr/>
        </p:nvGraphicFramePr>
        <p:xfrm>
          <a:off x="1689859" y="3149144"/>
          <a:ext cx="1483910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63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85647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{dados}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graphicFrame>
        <p:nvGraphicFramePr>
          <p:cNvPr id="3" name="Tabela 4">
            <a:extLst>
              <a:ext uri="{FF2B5EF4-FFF2-40B4-BE49-F238E27FC236}">
                <a16:creationId xmlns:a16="http://schemas.microsoft.com/office/drawing/2014/main" id="{A760654D-E922-456B-0BAD-460CFAC7C5AD}"/>
              </a:ext>
            </a:extLst>
          </p:cNvPr>
          <p:cNvGraphicFramePr>
            <a:graphicFrameLocks noGrp="1"/>
          </p:cNvGraphicFramePr>
          <p:nvPr/>
        </p:nvGraphicFramePr>
        <p:xfrm>
          <a:off x="590405" y="2547516"/>
          <a:ext cx="1132396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2396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Cabeça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20" name="Conector: Curvo 19">
            <a:extLst>
              <a:ext uri="{FF2B5EF4-FFF2-40B4-BE49-F238E27FC236}">
                <a16:creationId xmlns:a16="http://schemas.microsoft.com/office/drawing/2014/main" id="{CDAB5947-A709-5B2A-FA7D-259712249C08}"/>
              </a:ext>
            </a:extLst>
          </p:cNvPr>
          <p:cNvCxnSpPr>
            <a:cxnSpLocks/>
            <a:stCxn id="3" idx="2"/>
            <a:endCxn id="6" idx="1"/>
          </p:cNvCxnSpPr>
          <p:nvPr/>
        </p:nvCxnSpPr>
        <p:spPr>
          <a:xfrm rot="16200000" flipH="1">
            <a:off x="1220885" y="2877106"/>
            <a:ext cx="404692" cy="533256"/>
          </a:xfrm>
          <a:prstGeom prst="curvedConnector2">
            <a:avLst/>
          </a:prstGeom>
          <a:ln w="95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5BB89638-C044-DF3D-CFF7-84DE44954DD5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983473" y="3346081"/>
            <a:ext cx="938216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3559B39B-A8B4-79CC-4003-764ED6F2A704}"/>
              </a:ext>
            </a:extLst>
          </p:cNvPr>
          <p:cNvSpPr/>
          <p:nvPr/>
        </p:nvSpPr>
        <p:spPr>
          <a:xfrm>
            <a:off x="4263230" y="3187665"/>
            <a:ext cx="954323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graphicFrame>
        <p:nvGraphicFramePr>
          <p:cNvPr id="27" name="Tabela 4">
            <a:extLst>
              <a:ext uri="{FF2B5EF4-FFF2-40B4-BE49-F238E27FC236}">
                <a16:creationId xmlns:a16="http://schemas.microsoft.com/office/drawing/2014/main" id="{FB764D5F-798F-40E2-E38C-05CFACB2C848}"/>
              </a:ext>
            </a:extLst>
          </p:cNvPr>
          <p:cNvGraphicFramePr>
            <a:graphicFrameLocks noGrp="1"/>
          </p:cNvGraphicFramePr>
          <p:nvPr/>
        </p:nvGraphicFramePr>
        <p:xfrm>
          <a:off x="3923939" y="3149144"/>
          <a:ext cx="1483910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63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85647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{dados}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2BC201F3-B782-C22A-D053-AB4E30DE97EB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5217553" y="3346081"/>
            <a:ext cx="938216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 28">
            <a:extLst>
              <a:ext uri="{FF2B5EF4-FFF2-40B4-BE49-F238E27FC236}">
                <a16:creationId xmlns:a16="http://schemas.microsoft.com/office/drawing/2014/main" id="{C20C631A-249E-06FA-4906-291F0E843CA7}"/>
              </a:ext>
            </a:extLst>
          </p:cNvPr>
          <p:cNvSpPr/>
          <p:nvPr/>
        </p:nvSpPr>
        <p:spPr>
          <a:xfrm>
            <a:off x="6495060" y="3187666"/>
            <a:ext cx="954323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graphicFrame>
        <p:nvGraphicFramePr>
          <p:cNvPr id="30" name="Tabela 4">
            <a:extLst>
              <a:ext uri="{FF2B5EF4-FFF2-40B4-BE49-F238E27FC236}">
                <a16:creationId xmlns:a16="http://schemas.microsoft.com/office/drawing/2014/main" id="{7CCC4037-997B-9962-07E7-181D1DF48B68}"/>
              </a:ext>
            </a:extLst>
          </p:cNvPr>
          <p:cNvGraphicFramePr>
            <a:graphicFrameLocks noGrp="1"/>
          </p:cNvGraphicFramePr>
          <p:nvPr/>
        </p:nvGraphicFramePr>
        <p:xfrm>
          <a:off x="6155769" y="3149145"/>
          <a:ext cx="1483910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63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85647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{dados}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6210372-1278-098E-7B9A-0048B6F25CED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7449383" y="3346082"/>
            <a:ext cx="938216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>
            <a:extLst>
              <a:ext uri="{FF2B5EF4-FFF2-40B4-BE49-F238E27FC236}">
                <a16:creationId xmlns:a16="http://schemas.microsoft.com/office/drawing/2014/main" id="{5FEBFC3C-CCA2-C43D-65BE-519123B0EE67}"/>
              </a:ext>
            </a:extLst>
          </p:cNvPr>
          <p:cNvSpPr/>
          <p:nvPr/>
        </p:nvSpPr>
        <p:spPr>
          <a:xfrm>
            <a:off x="8724970" y="3184492"/>
            <a:ext cx="954323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graphicFrame>
        <p:nvGraphicFramePr>
          <p:cNvPr id="33" name="Tabela 4">
            <a:extLst>
              <a:ext uri="{FF2B5EF4-FFF2-40B4-BE49-F238E27FC236}">
                <a16:creationId xmlns:a16="http://schemas.microsoft.com/office/drawing/2014/main" id="{31E18966-2267-72C9-BC3E-E97751FAC899}"/>
              </a:ext>
            </a:extLst>
          </p:cNvPr>
          <p:cNvGraphicFramePr>
            <a:graphicFrameLocks noGrp="1"/>
          </p:cNvGraphicFramePr>
          <p:nvPr/>
        </p:nvGraphicFramePr>
        <p:xfrm>
          <a:off x="8385679" y="3145971"/>
          <a:ext cx="1483910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63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85647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{dados}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B0CE9C76-ACC6-A8AB-9BFB-C561669FEFDE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9679293" y="3342908"/>
            <a:ext cx="938216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2750B8E-2A2E-4024-17D4-F0638761F8C3}"/>
              </a:ext>
            </a:extLst>
          </p:cNvPr>
          <p:cNvSpPr txBox="1"/>
          <p:nvPr/>
        </p:nvSpPr>
        <p:spPr>
          <a:xfrm flipH="1">
            <a:off x="10577958" y="3158242"/>
            <a:ext cx="1014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NULL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A6E7F130-8454-3A8E-C451-61A5936B5AC2}"/>
              </a:ext>
            </a:extLst>
          </p:cNvPr>
          <p:cNvSpPr/>
          <p:nvPr/>
        </p:nvSpPr>
        <p:spPr>
          <a:xfrm>
            <a:off x="1311253" y="6108582"/>
            <a:ext cx="1660701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graphicFrame>
        <p:nvGraphicFramePr>
          <p:cNvPr id="37" name="Tabela 4">
            <a:extLst>
              <a:ext uri="{FF2B5EF4-FFF2-40B4-BE49-F238E27FC236}">
                <a16:creationId xmlns:a16="http://schemas.microsoft.com/office/drawing/2014/main" id="{0A89ACEC-C6DD-DB06-0BD3-4C2E4FB0DE3B}"/>
              </a:ext>
            </a:extLst>
          </p:cNvPr>
          <p:cNvGraphicFramePr>
            <a:graphicFrameLocks noGrp="1"/>
          </p:cNvGraphicFramePr>
          <p:nvPr/>
        </p:nvGraphicFramePr>
        <p:xfrm>
          <a:off x="1103263" y="6070061"/>
          <a:ext cx="1950531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479">
                  <a:extLst>
                    <a:ext uri="{9D8B030D-6E8A-4147-A177-3AD203B41FA5}">
                      <a16:colId xmlns:a16="http://schemas.microsoft.com/office/drawing/2014/main" val="1512825543"/>
                    </a:ext>
                  </a:extLst>
                </a:gridCol>
                <a:gridCol w="1281542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07510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{dados}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graphicFrame>
        <p:nvGraphicFramePr>
          <p:cNvPr id="38" name="Tabela 4">
            <a:extLst>
              <a:ext uri="{FF2B5EF4-FFF2-40B4-BE49-F238E27FC236}">
                <a16:creationId xmlns:a16="http://schemas.microsoft.com/office/drawing/2014/main" id="{EE2FB4EB-C076-BCCB-7936-AA06DA4EC36A}"/>
              </a:ext>
            </a:extLst>
          </p:cNvPr>
          <p:cNvGraphicFramePr>
            <a:graphicFrameLocks noGrp="1"/>
          </p:cNvGraphicFramePr>
          <p:nvPr/>
        </p:nvGraphicFramePr>
        <p:xfrm>
          <a:off x="237495" y="5459993"/>
          <a:ext cx="1132396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2396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Cabeça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39" name="Conector: Curvo 38">
            <a:extLst>
              <a:ext uri="{FF2B5EF4-FFF2-40B4-BE49-F238E27FC236}">
                <a16:creationId xmlns:a16="http://schemas.microsoft.com/office/drawing/2014/main" id="{02EB77B8-C405-DE53-AB88-E47C112CD134}"/>
              </a:ext>
            </a:extLst>
          </p:cNvPr>
          <p:cNvCxnSpPr>
            <a:cxnSpLocks/>
            <a:stCxn id="38" idx="2"/>
            <a:endCxn id="37" idx="1"/>
          </p:cNvCxnSpPr>
          <p:nvPr/>
        </p:nvCxnSpPr>
        <p:spPr>
          <a:xfrm rot="16200000" flipH="1">
            <a:off x="746912" y="5910646"/>
            <a:ext cx="413132" cy="299570"/>
          </a:xfrm>
          <a:prstGeom prst="curvedConnector2">
            <a:avLst/>
          </a:prstGeom>
          <a:ln w="95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3F4E31F3-A9FB-B09E-2249-65DE61C11C95}"/>
              </a:ext>
            </a:extLst>
          </p:cNvPr>
          <p:cNvCxnSpPr>
            <a:cxnSpLocks/>
          </p:cNvCxnSpPr>
          <p:nvPr/>
        </p:nvCxnSpPr>
        <p:spPr>
          <a:xfrm>
            <a:off x="2971954" y="6184448"/>
            <a:ext cx="938215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84087055-50B9-FA98-02CE-790285178AE4}"/>
              </a:ext>
            </a:extLst>
          </p:cNvPr>
          <p:cNvCxnSpPr>
            <a:cxnSpLocks/>
          </p:cNvCxnSpPr>
          <p:nvPr/>
        </p:nvCxnSpPr>
        <p:spPr>
          <a:xfrm flipH="1">
            <a:off x="803693" y="6368598"/>
            <a:ext cx="566198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tângulo 57">
            <a:extLst>
              <a:ext uri="{FF2B5EF4-FFF2-40B4-BE49-F238E27FC236}">
                <a16:creationId xmlns:a16="http://schemas.microsoft.com/office/drawing/2014/main" id="{1D68FA6E-DE7C-2695-7B14-3C1B7880D6EF}"/>
              </a:ext>
            </a:extLst>
          </p:cNvPr>
          <p:cNvSpPr/>
          <p:nvPr/>
        </p:nvSpPr>
        <p:spPr>
          <a:xfrm>
            <a:off x="4137003" y="6108582"/>
            <a:ext cx="1660701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graphicFrame>
        <p:nvGraphicFramePr>
          <p:cNvPr id="59" name="Tabela 4">
            <a:extLst>
              <a:ext uri="{FF2B5EF4-FFF2-40B4-BE49-F238E27FC236}">
                <a16:creationId xmlns:a16="http://schemas.microsoft.com/office/drawing/2014/main" id="{7EC4E898-1DCA-F773-86C6-82BC97E980B6}"/>
              </a:ext>
            </a:extLst>
          </p:cNvPr>
          <p:cNvGraphicFramePr>
            <a:graphicFrameLocks noGrp="1"/>
          </p:cNvGraphicFramePr>
          <p:nvPr/>
        </p:nvGraphicFramePr>
        <p:xfrm>
          <a:off x="3929013" y="6070061"/>
          <a:ext cx="1950531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479">
                  <a:extLst>
                    <a:ext uri="{9D8B030D-6E8A-4147-A177-3AD203B41FA5}">
                      <a16:colId xmlns:a16="http://schemas.microsoft.com/office/drawing/2014/main" val="1512825543"/>
                    </a:ext>
                  </a:extLst>
                </a:gridCol>
                <a:gridCol w="1281542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07510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{dados}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0BB86F02-E6E7-74A5-7F6B-50DC969B6B1E}"/>
              </a:ext>
            </a:extLst>
          </p:cNvPr>
          <p:cNvCxnSpPr>
            <a:cxnSpLocks/>
          </p:cNvCxnSpPr>
          <p:nvPr/>
        </p:nvCxnSpPr>
        <p:spPr>
          <a:xfrm>
            <a:off x="5797704" y="6184448"/>
            <a:ext cx="938215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30DEA1DD-203B-EBE2-7654-F8A425486F44}"/>
              </a:ext>
            </a:extLst>
          </p:cNvPr>
          <p:cNvCxnSpPr>
            <a:cxnSpLocks/>
          </p:cNvCxnSpPr>
          <p:nvPr/>
        </p:nvCxnSpPr>
        <p:spPr>
          <a:xfrm flipH="1">
            <a:off x="3291247" y="6368598"/>
            <a:ext cx="904394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tângulo 61">
            <a:extLst>
              <a:ext uri="{FF2B5EF4-FFF2-40B4-BE49-F238E27FC236}">
                <a16:creationId xmlns:a16="http://schemas.microsoft.com/office/drawing/2014/main" id="{982D60F8-ACC5-FACE-8F61-D3A83D321C4E}"/>
              </a:ext>
            </a:extLst>
          </p:cNvPr>
          <p:cNvSpPr/>
          <p:nvPr/>
        </p:nvSpPr>
        <p:spPr>
          <a:xfrm>
            <a:off x="6962753" y="6104151"/>
            <a:ext cx="1660701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graphicFrame>
        <p:nvGraphicFramePr>
          <p:cNvPr id="63" name="Tabela 4">
            <a:extLst>
              <a:ext uri="{FF2B5EF4-FFF2-40B4-BE49-F238E27FC236}">
                <a16:creationId xmlns:a16="http://schemas.microsoft.com/office/drawing/2014/main" id="{133C38A7-891C-AFCB-B01D-3633986B5D67}"/>
              </a:ext>
            </a:extLst>
          </p:cNvPr>
          <p:cNvGraphicFramePr>
            <a:graphicFrameLocks noGrp="1"/>
          </p:cNvGraphicFramePr>
          <p:nvPr/>
        </p:nvGraphicFramePr>
        <p:xfrm>
          <a:off x="6754763" y="6065630"/>
          <a:ext cx="1950531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479">
                  <a:extLst>
                    <a:ext uri="{9D8B030D-6E8A-4147-A177-3AD203B41FA5}">
                      <a16:colId xmlns:a16="http://schemas.microsoft.com/office/drawing/2014/main" val="1512825543"/>
                    </a:ext>
                  </a:extLst>
                </a:gridCol>
                <a:gridCol w="1281542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07510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{dados}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1024" name="Conector de Seta Reta 1023">
            <a:extLst>
              <a:ext uri="{FF2B5EF4-FFF2-40B4-BE49-F238E27FC236}">
                <a16:creationId xmlns:a16="http://schemas.microsoft.com/office/drawing/2014/main" id="{380C9D00-4B25-A88C-BCB3-5E97B50DFB97}"/>
              </a:ext>
            </a:extLst>
          </p:cNvPr>
          <p:cNvCxnSpPr>
            <a:cxnSpLocks/>
          </p:cNvCxnSpPr>
          <p:nvPr/>
        </p:nvCxnSpPr>
        <p:spPr>
          <a:xfrm>
            <a:off x="8623454" y="6180017"/>
            <a:ext cx="938215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Conector de Seta Reta 1024">
            <a:extLst>
              <a:ext uri="{FF2B5EF4-FFF2-40B4-BE49-F238E27FC236}">
                <a16:creationId xmlns:a16="http://schemas.microsoft.com/office/drawing/2014/main" id="{C63046D4-78B6-9B66-B436-AE9ACDCD3DB1}"/>
              </a:ext>
            </a:extLst>
          </p:cNvPr>
          <p:cNvCxnSpPr>
            <a:cxnSpLocks/>
          </p:cNvCxnSpPr>
          <p:nvPr/>
        </p:nvCxnSpPr>
        <p:spPr>
          <a:xfrm flipH="1">
            <a:off x="6116997" y="6364167"/>
            <a:ext cx="904394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Retângulo 1026">
            <a:extLst>
              <a:ext uri="{FF2B5EF4-FFF2-40B4-BE49-F238E27FC236}">
                <a16:creationId xmlns:a16="http://schemas.microsoft.com/office/drawing/2014/main" id="{0845C171-BA43-A059-C7D9-19EF20B33F8D}"/>
              </a:ext>
            </a:extLst>
          </p:cNvPr>
          <p:cNvSpPr/>
          <p:nvPr/>
        </p:nvSpPr>
        <p:spPr>
          <a:xfrm>
            <a:off x="9551050" y="6108582"/>
            <a:ext cx="1660701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graphicFrame>
        <p:nvGraphicFramePr>
          <p:cNvPr id="1028" name="Tabela 4">
            <a:extLst>
              <a:ext uri="{FF2B5EF4-FFF2-40B4-BE49-F238E27FC236}">
                <a16:creationId xmlns:a16="http://schemas.microsoft.com/office/drawing/2014/main" id="{3AB8225A-71B3-DCFE-501A-B8AADF4D70F1}"/>
              </a:ext>
            </a:extLst>
          </p:cNvPr>
          <p:cNvGraphicFramePr>
            <a:graphicFrameLocks noGrp="1"/>
          </p:cNvGraphicFramePr>
          <p:nvPr/>
        </p:nvGraphicFramePr>
        <p:xfrm>
          <a:off x="9343060" y="6070061"/>
          <a:ext cx="1950531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479">
                  <a:extLst>
                    <a:ext uri="{9D8B030D-6E8A-4147-A177-3AD203B41FA5}">
                      <a16:colId xmlns:a16="http://schemas.microsoft.com/office/drawing/2014/main" val="1512825543"/>
                    </a:ext>
                  </a:extLst>
                </a:gridCol>
                <a:gridCol w="1281542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07510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{dados}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1029" name="Conector de Seta Reta 1028">
            <a:extLst>
              <a:ext uri="{FF2B5EF4-FFF2-40B4-BE49-F238E27FC236}">
                <a16:creationId xmlns:a16="http://schemas.microsoft.com/office/drawing/2014/main" id="{062D5B2A-1D32-A9E0-BDB7-18F13C700217}"/>
              </a:ext>
            </a:extLst>
          </p:cNvPr>
          <p:cNvCxnSpPr>
            <a:cxnSpLocks/>
          </p:cNvCxnSpPr>
          <p:nvPr/>
        </p:nvCxnSpPr>
        <p:spPr>
          <a:xfrm flipV="1">
            <a:off x="11211751" y="6180017"/>
            <a:ext cx="326994" cy="4431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Conector de Seta Reta 1029">
            <a:extLst>
              <a:ext uri="{FF2B5EF4-FFF2-40B4-BE49-F238E27FC236}">
                <a16:creationId xmlns:a16="http://schemas.microsoft.com/office/drawing/2014/main" id="{1BE64B31-8321-FB33-D8F9-9880218BC1F5}"/>
              </a:ext>
            </a:extLst>
          </p:cNvPr>
          <p:cNvCxnSpPr>
            <a:cxnSpLocks/>
          </p:cNvCxnSpPr>
          <p:nvPr/>
        </p:nvCxnSpPr>
        <p:spPr>
          <a:xfrm flipH="1">
            <a:off x="8705294" y="6368598"/>
            <a:ext cx="904394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CaixaDeTexto 1031">
            <a:extLst>
              <a:ext uri="{FF2B5EF4-FFF2-40B4-BE49-F238E27FC236}">
                <a16:creationId xmlns:a16="http://schemas.microsoft.com/office/drawing/2014/main" id="{B301F207-0E99-43CB-6640-27BA82ADE6C2}"/>
              </a:ext>
            </a:extLst>
          </p:cNvPr>
          <p:cNvSpPr txBox="1"/>
          <p:nvPr/>
        </p:nvSpPr>
        <p:spPr>
          <a:xfrm flipH="1">
            <a:off x="11373292" y="5995351"/>
            <a:ext cx="1014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NULL</a:t>
            </a:r>
          </a:p>
        </p:txBody>
      </p:sp>
      <p:graphicFrame>
        <p:nvGraphicFramePr>
          <p:cNvPr id="1036" name="Tabela 4">
            <a:extLst>
              <a:ext uri="{FF2B5EF4-FFF2-40B4-BE49-F238E27FC236}">
                <a16:creationId xmlns:a16="http://schemas.microsoft.com/office/drawing/2014/main" id="{1E2E28E4-C88B-3D46-1477-4F9B12B07B54}"/>
              </a:ext>
            </a:extLst>
          </p:cNvPr>
          <p:cNvGraphicFramePr>
            <a:graphicFrameLocks noGrp="1"/>
          </p:cNvGraphicFramePr>
          <p:nvPr/>
        </p:nvGraphicFramePr>
        <p:xfrm>
          <a:off x="10853543" y="5459993"/>
          <a:ext cx="1132396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2396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Cauda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1037" name="Conector: Curvo 1036">
            <a:extLst>
              <a:ext uri="{FF2B5EF4-FFF2-40B4-BE49-F238E27FC236}">
                <a16:creationId xmlns:a16="http://schemas.microsoft.com/office/drawing/2014/main" id="{E717F1E1-4421-3CC4-D7E0-B04E91DF509D}"/>
              </a:ext>
            </a:extLst>
          </p:cNvPr>
          <p:cNvCxnSpPr>
            <a:cxnSpLocks/>
            <a:stCxn id="1036" idx="2"/>
          </p:cNvCxnSpPr>
          <p:nvPr/>
        </p:nvCxnSpPr>
        <p:spPr>
          <a:xfrm rot="5400000">
            <a:off x="11246854" y="5888638"/>
            <a:ext cx="207660" cy="138114"/>
          </a:xfrm>
          <a:prstGeom prst="curvedConnector3">
            <a:avLst>
              <a:gd name="adj1" fmla="val 50000"/>
            </a:avLst>
          </a:prstGeom>
          <a:ln w="95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CaixaDeTexto 1039">
            <a:extLst>
              <a:ext uri="{FF2B5EF4-FFF2-40B4-BE49-F238E27FC236}">
                <a16:creationId xmlns:a16="http://schemas.microsoft.com/office/drawing/2014/main" id="{53B62FE0-1780-6D0E-6E1E-754BD1E8F1E6}"/>
              </a:ext>
            </a:extLst>
          </p:cNvPr>
          <p:cNvSpPr txBox="1"/>
          <p:nvPr/>
        </p:nvSpPr>
        <p:spPr>
          <a:xfrm flipH="1">
            <a:off x="52674" y="6180017"/>
            <a:ext cx="883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273329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F17B0-ECD0-E42C-C70F-8A168CC9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CAF5F026-A04C-2A1E-EC7A-1FD4D7C43511}"/>
              </a:ext>
            </a:extLst>
          </p:cNvPr>
          <p:cNvSpPr/>
          <p:nvPr/>
        </p:nvSpPr>
        <p:spPr>
          <a:xfrm>
            <a:off x="9756330" y="5076497"/>
            <a:ext cx="954323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B7FF55A-DC64-95B4-F7D1-E86163FE6E90}"/>
              </a:ext>
            </a:extLst>
          </p:cNvPr>
          <p:cNvSpPr/>
          <p:nvPr/>
        </p:nvSpPr>
        <p:spPr>
          <a:xfrm>
            <a:off x="2869122" y="5120428"/>
            <a:ext cx="954323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871A8500-7428-DC36-BD58-C896B0AF2AD2}"/>
              </a:ext>
            </a:extLst>
          </p:cNvPr>
          <p:cNvSpPr/>
          <p:nvPr/>
        </p:nvSpPr>
        <p:spPr>
          <a:xfrm rot="16200000">
            <a:off x="1247481" y="-1084136"/>
            <a:ext cx="649458" cy="3144412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2800" dirty="0">
                <a:latin typeface="Abadi" panose="020B0604020104020204" pitchFamily="34" charset="0"/>
              </a:rPr>
              <a:t>Listas Circulares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381B58-C3F6-348A-EC5B-BC2F9021B516}"/>
              </a:ext>
            </a:extLst>
          </p:cNvPr>
          <p:cNvSpPr txBox="1"/>
          <p:nvPr/>
        </p:nvSpPr>
        <p:spPr>
          <a:xfrm>
            <a:off x="77567" y="969382"/>
            <a:ext cx="11898533" cy="3416320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latin typeface="Abadi" panose="020B0604020104020204" pitchFamily="34" charset="0"/>
              </a:rPr>
              <a:t>Simplesmente Encadeada</a:t>
            </a:r>
            <a:r>
              <a:rPr lang="pt-BR" dirty="0">
                <a:latin typeface="Abadi" panose="020B0604020104020204" pitchFamily="34" charset="0"/>
              </a:rPr>
              <a:t>:</a:t>
            </a:r>
          </a:p>
          <a:p>
            <a:pPr algn="just"/>
            <a:endParaRPr lang="pt-BR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latin typeface="Abadi" panose="020B0604020104020204" pitchFamily="34" charset="0"/>
              </a:rPr>
              <a:t>Definição:</a:t>
            </a:r>
            <a:endParaRPr lang="pt-BR" dirty="0"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Uma variação das listas encadeadas onde o último elemento referencia o primeiro, formando um ciclo.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latin typeface="Abadi" panose="020B0604020104020204" pitchFamily="34" charset="0"/>
              </a:rPr>
              <a:t>Tipos:</a:t>
            </a:r>
            <a:endParaRPr lang="pt-BR" dirty="0"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Simplesmente circular: Apenas um ponteiro para o próximo nó.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Duplamente circular: Ponteiros para o próximo e anterior.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latin typeface="Abadi" panose="020B0604020104020204" pitchFamily="34" charset="0"/>
              </a:rPr>
              <a:t>Aplicabilidade:</a:t>
            </a:r>
            <a:endParaRPr lang="pt-BR" dirty="0"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Modelagem de estruturas cíclicas, como buffers circulares ou filas de tarefas que reiniciam automaticamente.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</p:txBody>
      </p:sp>
      <p:graphicFrame>
        <p:nvGraphicFramePr>
          <p:cNvPr id="6" name="Tabela 4">
            <a:extLst>
              <a:ext uri="{FF2B5EF4-FFF2-40B4-BE49-F238E27FC236}">
                <a16:creationId xmlns:a16="http://schemas.microsoft.com/office/drawing/2014/main" id="{8AC94CED-11AF-68EB-BB31-C29CC7DA8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267687"/>
              </p:ext>
            </p:extLst>
          </p:nvPr>
        </p:nvGraphicFramePr>
        <p:xfrm>
          <a:off x="2529831" y="5081907"/>
          <a:ext cx="1483910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63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85647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{dados}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graphicFrame>
        <p:nvGraphicFramePr>
          <p:cNvPr id="3" name="Tabela 4">
            <a:extLst>
              <a:ext uri="{FF2B5EF4-FFF2-40B4-BE49-F238E27FC236}">
                <a16:creationId xmlns:a16="http://schemas.microsoft.com/office/drawing/2014/main" id="{493B662D-6A4C-C7C8-63E6-6B5A7896E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082188"/>
              </p:ext>
            </p:extLst>
          </p:nvPr>
        </p:nvGraphicFramePr>
        <p:xfrm>
          <a:off x="1430377" y="4480279"/>
          <a:ext cx="1132396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2396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Inicio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20" name="Conector: Curvo 19">
            <a:extLst>
              <a:ext uri="{FF2B5EF4-FFF2-40B4-BE49-F238E27FC236}">
                <a16:creationId xmlns:a16="http://schemas.microsoft.com/office/drawing/2014/main" id="{2FB7F09D-5E08-2BDD-95E9-2C39E00A34B7}"/>
              </a:ext>
            </a:extLst>
          </p:cNvPr>
          <p:cNvCxnSpPr>
            <a:cxnSpLocks/>
            <a:stCxn id="3" idx="2"/>
            <a:endCxn id="6" idx="1"/>
          </p:cNvCxnSpPr>
          <p:nvPr/>
        </p:nvCxnSpPr>
        <p:spPr>
          <a:xfrm rot="16200000" flipH="1">
            <a:off x="2060857" y="4809869"/>
            <a:ext cx="404692" cy="533256"/>
          </a:xfrm>
          <a:prstGeom prst="curvedConnector2">
            <a:avLst/>
          </a:prstGeom>
          <a:ln w="95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C2A226FC-74AA-1BD0-05E7-6FCDABF3F92B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3823445" y="5278844"/>
            <a:ext cx="938216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86A8A7EC-434C-1096-29B6-7CFCD1A8F1C3}"/>
              </a:ext>
            </a:extLst>
          </p:cNvPr>
          <p:cNvSpPr/>
          <p:nvPr/>
        </p:nvSpPr>
        <p:spPr>
          <a:xfrm>
            <a:off x="5103202" y="5120428"/>
            <a:ext cx="954323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graphicFrame>
        <p:nvGraphicFramePr>
          <p:cNvPr id="27" name="Tabela 4">
            <a:extLst>
              <a:ext uri="{FF2B5EF4-FFF2-40B4-BE49-F238E27FC236}">
                <a16:creationId xmlns:a16="http://schemas.microsoft.com/office/drawing/2014/main" id="{3B3FF0FC-652B-02C8-48A6-330449BC5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333620"/>
              </p:ext>
            </p:extLst>
          </p:nvPr>
        </p:nvGraphicFramePr>
        <p:xfrm>
          <a:off x="4763911" y="5081907"/>
          <a:ext cx="1483910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63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85647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{dados}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338EB495-A484-BD5C-E328-6F3DFE08127D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6057525" y="5278844"/>
            <a:ext cx="938216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 28">
            <a:extLst>
              <a:ext uri="{FF2B5EF4-FFF2-40B4-BE49-F238E27FC236}">
                <a16:creationId xmlns:a16="http://schemas.microsoft.com/office/drawing/2014/main" id="{2477DBF5-FCE0-567C-5A84-98F5EE23B375}"/>
              </a:ext>
            </a:extLst>
          </p:cNvPr>
          <p:cNvSpPr/>
          <p:nvPr/>
        </p:nvSpPr>
        <p:spPr>
          <a:xfrm>
            <a:off x="7335032" y="5120429"/>
            <a:ext cx="954323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graphicFrame>
        <p:nvGraphicFramePr>
          <p:cNvPr id="30" name="Tabela 4">
            <a:extLst>
              <a:ext uri="{FF2B5EF4-FFF2-40B4-BE49-F238E27FC236}">
                <a16:creationId xmlns:a16="http://schemas.microsoft.com/office/drawing/2014/main" id="{7DA80666-49BC-15F9-217D-BC8156034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807221"/>
              </p:ext>
            </p:extLst>
          </p:nvPr>
        </p:nvGraphicFramePr>
        <p:xfrm>
          <a:off x="6995741" y="5081908"/>
          <a:ext cx="1483910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63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85647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{dados}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E850D75F-FB77-593C-4B1F-D81F03DAA02E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8289355" y="5278845"/>
            <a:ext cx="938216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ela 4">
            <a:extLst>
              <a:ext uri="{FF2B5EF4-FFF2-40B4-BE49-F238E27FC236}">
                <a16:creationId xmlns:a16="http://schemas.microsoft.com/office/drawing/2014/main" id="{73A3A5B3-8446-BEEC-2166-C583D4DAF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376132"/>
              </p:ext>
            </p:extLst>
          </p:nvPr>
        </p:nvGraphicFramePr>
        <p:xfrm>
          <a:off x="9225651" y="5078734"/>
          <a:ext cx="1483910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63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85647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{dados}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7" name="Conector: Angulado 6">
            <a:extLst>
              <a:ext uri="{FF2B5EF4-FFF2-40B4-BE49-F238E27FC236}">
                <a16:creationId xmlns:a16="http://schemas.microsoft.com/office/drawing/2014/main" id="{F15A6CB0-BF9D-2E83-39FF-1B2C22E39442}"/>
              </a:ext>
            </a:extLst>
          </p:cNvPr>
          <p:cNvCxnSpPr>
            <a:cxnSpLocks/>
            <a:stCxn id="32" idx="3"/>
            <a:endCxn id="6" idx="1"/>
          </p:cNvCxnSpPr>
          <p:nvPr/>
        </p:nvCxnSpPr>
        <p:spPr>
          <a:xfrm flipH="1">
            <a:off x="2529831" y="5234913"/>
            <a:ext cx="8180822" cy="43930"/>
          </a:xfrm>
          <a:prstGeom prst="bentConnector5">
            <a:avLst>
              <a:gd name="adj1" fmla="val -2794"/>
              <a:gd name="adj2" fmla="val 1068668"/>
              <a:gd name="adj3" fmla="val 102794"/>
            </a:avLst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254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570B-19F7-9A12-D6AC-C3C742203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A796535F-6285-E609-268F-C32D4C6DAB7A}"/>
              </a:ext>
            </a:extLst>
          </p:cNvPr>
          <p:cNvSpPr/>
          <p:nvPr/>
        </p:nvSpPr>
        <p:spPr>
          <a:xfrm rot="16200000">
            <a:off x="1350118" y="-1186773"/>
            <a:ext cx="649458" cy="334968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2800" dirty="0">
                <a:latin typeface="Abadi" panose="020B0604020104020204" pitchFamily="34" charset="0"/>
              </a:rPr>
              <a:t>Listas Ordenadas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FC6B252-E44C-B95D-55DD-7225AA203DFB}"/>
              </a:ext>
            </a:extLst>
          </p:cNvPr>
          <p:cNvSpPr txBox="1"/>
          <p:nvPr/>
        </p:nvSpPr>
        <p:spPr>
          <a:xfrm>
            <a:off x="77567" y="969382"/>
            <a:ext cx="11898533" cy="286232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Abadi" panose="020B0604020104020204" pitchFamily="34" charset="0"/>
              </a:rPr>
              <a:t>Definição:</a:t>
            </a:r>
            <a:endParaRPr lang="pt-BR" dirty="0"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Uma lista linear onde os elementos são mantidos em ordem crescente ou decrescente.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Abadi" panose="020B0604020104020204" pitchFamily="34" charset="0"/>
              </a:rPr>
              <a:t>Operações Específicas:</a:t>
            </a:r>
            <a:endParaRPr lang="pt-BR" dirty="0"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Inserção: Deve respeitar a ordenação, com custo de Ô(n) na busca pela posição correta.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Busca: Possibilidade de usar técnicas otimizadas, como busca binária em alocação sequencial.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Abadi" panose="020B0604020104020204" pitchFamily="34" charset="0"/>
              </a:rPr>
              <a:t>Aplicabilidade:</a:t>
            </a:r>
            <a:endParaRPr lang="pt-BR" dirty="0"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Cenários que exigem organização natural dos dados, como tabelas de símbolos ou filas de prioridade.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3032FBD-298B-8BF9-552E-9E7CCD5CEDED}"/>
              </a:ext>
            </a:extLst>
          </p:cNvPr>
          <p:cNvSpPr/>
          <p:nvPr/>
        </p:nvSpPr>
        <p:spPr>
          <a:xfrm>
            <a:off x="2029150" y="4885836"/>
            <a:ext cx="954323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8895EFF-7206-5039-0217-AB5EBBD3F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775508"/>
              </p:ext>
            </p:extLst>
          </p:nvPr>
        </p:nvGraphicFramePr>
        <p:xfrm>
          <a:off x="1689859" y="4847315"/>
          <a:ext cx="1483910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63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85647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valor: “A”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2D4C7014-93ED-95C4-0048-D7CE6B177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580277"/>
              </p:ext>
            </p:extLst>
          </p:nvPr>
        </p:nvGraphicFramePr>
        <p:xfrm>
          <a:off x="590405" y="4245687"/>
          <a:ext cx="1132396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2396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Cabeça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10" name="Conector: Curvo 9">
            <a:extLst>
              <a:ext uri="{FF2B5EF4-FFF2-40B4-BE49-F238E27FC236}">
                <a16:creationId xmlns:a16="http://schemas.microsoft.com/office/drawing/2014/main" id="{AED6D2D9-1C0C-9268-FAFE-C453B5A03FCF}"/>
              </a:ext>
            </a:extLst>
          </p:cNvPr>
          <p:cNvCxnSpPr>
            <a:cxnSpLocks/>
            <a:stCxn id="8" idx="2"/>
            <a:endCxn id="5" idx="1"/>
          </p:cNvCxnSpPr>
          <p:nvPr/>
        </p:nvCxnSpPr>
        <p:spPr>
          <a:xfrm rot="16200000" flipH="1">
            <a:off x="1220885" y="4575277"/>
            <a:ext cx="404692" cy="533256"/>
          </a:xfrm>
          <a:prstGeom prst="curvedConnector2">
            <a:avLst/>
          </a:prstGeom>
          <a:ln w="95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9C1D565F-15DF-8106-3A0D-621A82D80942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983473" y="5044252"/>
            <a:ext cx="938216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2D8AD8BB-4883-9C8A-AE14-74D17722D682}"/>
              </a:ext>
            </a:extLst>
          </p:cNvPr>
          <p:cNvSpPr/>
          <p:nvPr/>
        </p:nvSpPr>
        <p:spPr>
          <a:xfrm>
            <a:off x="4263230" y="4885836"/>
            <a:ext cx="954323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graphicFrame>
        <p:nvGraphicFramePr>
          <p:cNvPr id="13" name="Tabela 4">
            <a:extLst>
              <a:ext uri="{FF2B5EF4-FFF2-40B4-BE49-F238E27FC236}">
                <a16:creationId xmlns:a16="http://schemas.microsoft.com/office/drawing/2014/main" id="{2EE93BE7-E494-6AF0-D4E8-9CB08B71F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241570"/>
              </p:ext>
            </p:extLst>
          </p:nvPr>
        </p:nvGraphicFramePr>
        <p:xfrm>
          <a:off x="3923939" y="4847315"/>
          <a:ext cx="1483910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63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85647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valor: “B”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F969379A-0C5E-D849-1246-EB91F69B552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217553" y="5044252"/>
            <a:ext cx="938216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831B651A-D4EE-FB35-B8C7-1F922B1EB91D}"/>
              </a:ext>
            </a:extLst>
          </p:cNvPr>
          <p:cNvSpPr/>
          <p:nvPr/>
        </p:nvSpPr>
        <p:spPr>
          <a:xfrm>
            <a:off x="6495060" y="4885837"/>
            <a:ext cx="954323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graphicFrame>
        <p:nvGraphicFramePr>
          <p:cNvPr id="16" name="Tabela 4">
            <a:extLst>
              <a:ext uri="{FF2B5EF4-FFF2-40B4-BE49-F238E27FC236}">
                <a16:creationId xmlns:a16="http://schemas.microsoft.com/office/drawing/2014/main" id="{672874D7-725C-C695-8ECC-5ED268F3E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281115"/>
              </p:ext>
            </p:extLst>
          </p:nvPr>
        </p:nvGraphicFramePr>
        <p:xfrm>
          <a:off x="6155769" y="4847316"/>
          <a:ext cx="1483910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63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85647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valor: “C”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48D49587-369B-8FB5-37C7-AE701A18C7DC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7449383" y="5044253"/>
            <a:ext cx="938216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A3FEFFE5-C51B-CFDE-F6EE-C075312227A3}"/>
              </a:ext>
            </a:extLst>
          </p:cNvPr>
          <p:cNvSpPr/>
          <p:nvPr/>
        </p:nvSpPr>
        <p:spPr>
          <a:xfrm>
            <a:off x="8724970" y="4882663"/>
            <a:ext cx="954323" cy="316831"/>
          </a:xfrm>
          <a:prstGeom prst="rect">
            <a:avLst/>
          </a:prstGeom>
          <a:solidFill>
            <a:srgbClr val="0C101C"/>
          </a:solidFill>
          <a:ln>
            <a:solidFill>
              <a:srgbClr val="0C10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badi" panose="020B0604020104020204" pitchFamily="34" charset="0"/>
            </a:endParaRPr>
          </a:p>
        </p:txBody>
      </p:sp>
      <p:graphicFrame>
        <p:nvGraphicFramePr>
          <p:cNvPr id="22" name="Tabela 4">
            <a:extLst>
              <a:ext uri="{FF2B5EF4-FFF2-40B4-BE49-F238E27FC236}">
                <a16:creationId xmlns:a16="http://schemas.microsoft.com/office/drawing/2014/main" id="{C6FC8A30-D45D-DCE2-8DF8-A562DC61F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070425"/>
              </p:ext>
            </p:extLst>
          </p:nvPr>
        </p:nvGraphicFramePr>
        <p:xfrm>
          <a:off x="8385679" y="4844142"/>
          <a:ext cx="1483910" cy="39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63">
                  <a:extLst>
                    <a:ext uri="{9D8B030D-6E8A-4147-A177-3AD203B41FA5}">
                      <a16:colId xmlns:a16="http://schemas.microsoft.com/office/drawing/2014/main" val="837554438"/>
                    </a:ext>
                  </a:extLst>
                </a:gridCol>
                <a:gridCol w="385647">
                  <a:extLst>
                    <a:ext uri="{9D8B030D-6E8A-4147-A177-3AD203B41FA5}">
                      <a16:colId xmlns:a16="http://schemas.microsoft.com/office/drawing/2014/main" val="3288356658"/>
                    </a:ext>
                  </a:extLst>
                </a:gridCol>
              </a:tblGrid>
              <a:tr h="39387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valor: “D”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3343"/>
                  </a:ext>
                </a:extLst>
              </a:tr>
            </a:tbl>
          </a:graphicData>
        </a:graphic>
      </p:graphicFrame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055F2B39-259E-32C1-412C-B814E6F7EAF4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679293" y="5041079"/>
            <a:ext cx="938216" cy="0"/>
          </a:xfrm>
          <a:prstGeom prst="straightConnector1">
            <a:avLst/>
          </a:prstGeom>
          <a:ln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B5017E8-9F35-6E08-B934-A9BBFDDB3C39}"/>
              </a:ext>
            </a:extLst>
          </p:cNvPr>
          <p:cNvSpPr txBox="1"/>
          <p:nvPr/>
        </p:nvSpPr>
        <p:spPr>
          <a:xfrm flipH="1">
            <a:off x="10577958" y="4856413"/>
            <a:ext cx="1014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642946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43EA4-65BF-5919-5BC7-110D7770A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D39BBF25-DC51-3114-1817-167C943F05D7}"/>
              </a:ext>
            </a:extLst>
          </p:cNvPr>
          <p:cNvSpPr/>
          <p:nvPr/>
        </p:nvSpPr>
        <p:spPr>
          <a:xfrm rot="16200000">
            <a:off x="2964314" y="-2800969"/>
            <a:ext cx="649458" cy="6578078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2800" dirty="0">
                <a:latin typeface="Abadi" panose="020B0604020104020204" pitchFamily="34" charset="0"/>
              </a:rPr>
              <a:t>Agora vamos para exemplos de código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2B29D02-B6B4-0058-61FA-7F64F5871F1C}"/>
              </a:ext>
            </a:extLst>
          </p:cNvPr>
          <p:cNvSpPr txBox="1"/>
          <p:nvPr/>
        </p:nvSpPr>
        <p:spPr>
          <a:xfrm>
            <a:off x="146733" y="962831"/>
            <a:ext cx="6192687" cy="646331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Em linguagens mais antigas como C, era normal criarmos todo a lógica das estruturas encadeadas: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192588-56B8-F985-608C-C45F539ADE74}"/>
              </a:ext>
            </a:extLst>
          </p:cNvPr>
          <p:cNvSpPr txBox="1"/>
          <p:nvPr/>
        </p:nvSpPr>
        <p:spPr>
          <a:xfrm>
            <a:off x="146733" y="1781486"/>
            <a:ext cx="6192688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//C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Lista {</a:t>
            </a:r>
          </a:p>
          <a:p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No *inicio;</a:t>
            </a:r>
          </a:p>
          <a:p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no *fim;</a:t>
            </a:r>
          </a:p>
          <a:p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No {</a:t>
            </a:r>
          </a:p>
          <a:p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valor;</a:t>
            </a:r>
          </a:p>
          <a:p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No *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proximo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inserirFinal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Lista *lista, </a:t>
            </a:r>
            <a:r>
              <a:rPr lang="pt-B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valor) {</a:t>
            </a:r>
          </a:p>
          <a:p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/*..código implementado pelo programador..*/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inserirInicio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Lista *lista, </a:t>
            </a:r>
            <a:r>
              <a:rPr lang="pt-B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valor) {</a:t>
            </a:r>
          </a:p>
          <a:p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/*..código implementado pelo programador..*/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07D50F4-2425-099F-E4E8-8D17971269A4}"/>
              </a:ext>
            </a:extLst>
          </p:cNvPr>
          <p:cNvSpPr txBox="1"/>
          <p:nvPr/>
        </p:nvSpPr>
        <p:spPr>
          <a:xfrm>
            <a:off x="6512767" y="1781486"/>
            <a:ext cx="5532499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#Python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lista = []</a:t>
            </a:r>
          </a:p>
          <a:p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#Adiciona valor na lista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lista.append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#Remove valor na lista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valorRemovido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lista.pop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2989982-592B-0D67-009E-C031E316998A}"/>
              </a:ext>
            </a:extLst>
          </p:cNvPr>
          <p:cNvSpPr txBox="1"/>
          <p:nvPr/>
        </p:nvSpPr>
        <p:spPr>
          <a:xfrm>
            <a:off x="6512767" y="3921307"/>
            <a:ext cx="55325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#Java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&gt; lista = new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#Adiciona valor na lista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lista.add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#Remove valor na lista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lista.remove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02139D6-8466-0647-3A1C-EE7532B34E2B}"/>
              </a:ext>
            </a:extLst>
          </p:cNvPr>
          <p:cNvSpPr txBox="1"/>
          <p:nvPr/>
        </p:nvSpPr>
        <p:spPr>
          <a:xfrm>
            <a:off x="6512767" y="962831"/>
            <a:ext cx="5532500" cy="646331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Já outras possuem métodos já prontos, como é o caso do Python e do Java: </a:t>
            </a:r>
          </a:p>
        </p:txBody>
      </p:sp>
    </p:spTree>
    <p:extLst>
      <p:ext uri="{BB962C8B-B14F-4D97-AF65-F5344CB8AC3E}">
        <p14:creationId xmlns:p14="http://schemas.microsoft.com/office/powerpoint/2010/main" val="3041726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ACD54F6-68C9-0431-1CF1-9509BC84B86E}"/>
              </a:ext>
            </a:extLst>
          </p:cNvPr>
          <p:cNvSpPr/>
          <p:nvPr/>
        </p:nvSpPr>
        <p:spPr>
          <a:xfrm>
            <a:off x="6447453" y="1096865"/>
            <a:ext cx="4049486" cy="1441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BB15B92-7FAB-1B91-B488-8C7FEFAAE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340468"/>
              </p:ext>
            </p:extLst>
          </p:nvPr>
        </p:nvGraphicFramePr>
        <p:xfrm>
          <a:off x="7083354" y="1514513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Conector angulado 7">
            <a:extLst>
              <a:ext uri="{FF2B5EF4-FFF2-40B4-BE49-F238E27FC236}">
                <a16:creationId xmlns:a16="http://schemas.microsoft.com/office/drawing/2014/main" id="{292C7283-6EE4-87D5-4836-3C8C7DE78293}"/>
              </a:ext>
            </a:extLst>
          </p:cNvPr>
          <p:cNvCxnSpPr>
            <a:cxnSpLocks/>
            <a:stCxn id="3" idx="1"/>
          </p:cNvCxnSpPr>
          <p:nvPr/>
        </p:nvCxnSpPr>
        <p:spPr>
          <a:xfrm rot="10800000" flipV="1">
            <a:off x="6802016" y="1699933"/>
            <a:ext cx="281338" cy="37084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" name="Conector angulado 13">
            <a:extLst>
              <a:ext uri="{FF2B5EF4-FFF2-40B4-BE49-F238E27FC236}">
                <a16:creationId xmlns:a16="http://schemas.microsoft.com/office/drawing/2014/main" id="{0811262E-F56E-8999-5DA3-3249BEFC6F35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9723376" y="1699933"/>
            <a:ext cx="281338" cy="37084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B21A0C5-D0AD-8B62-E943-8AD997550352}"/>
              </a:ext>
            </a:extLst>
          </p:cNvPr>
          <p:cNvSpPr txBox="1"/>
          <p:nvPr/>
        </p:nvSpPr>
        <p:spPr>
          <a:xfrm>
            <a:off x="7467464" y="1154473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</a:t>
            </a:r>
          </a:p>
        </p:txBody>
      </p:sp>
      <p:sp>
        <p:nvSpPr>
          <p:cNvPr id="16" name="Retângulo: Cantos Superiores Recortados 15">
            <a:extLst>
              <a:ext uri="{FF2B5EF4-FFF2-40B4-BE49-F238E27FC236}">
                <a16:creationId xmlns:a16="http://schemas.microsoft.com/office/drawing/2014/main" id="{DCFBE039-2D4F-3148-D5E9-4819961F0A6B}"/>
              </a:ext>
            </a:extLst>
          </p:cNvPr>
          <p:cNvSpPr/>
          <p:nvPr/>
        </p:nvSpPr>
        <p:spPr>
          <a:xfrm rot="16200000">
            <a:off x="1577198" y="-1413853"/>
            <a:ext cx="649458" cy="3803845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2800" dirty="0">
                <a:latin typeface="Abadi" panose="020B0604020104020204" pitchFamily="34" charset="0"/>
              </a:rPr>
              <a:t>Exemplo na prática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E08A45A-8772-8A57-20B2-E2E59A304BF4}"/>
              </a:ext>
            </a:extLst>
          </p:cNvPr>
          <p:cNvSpPr/>
          <p:nvPr/>
        </p:nvSpPr>
        <p:spPr>
          <a:xfrm>
            <a:off x="1473527" y="1220808"/>
            <a:ext cx="3340359" cy="13290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D4CEB7A5-78D0-382C-6CD6-C0BE6646E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99324"/>
              </p:ext>
            </p:extLst>
          </p:nvPr>
        </p:nvGraphicFramePr>
        <p:xfrm>
          <a:off x="2098680" y="1915951"/>
          <a:ext cx="1705169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27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Conector de seta reta 6">
            <a:extLst>
              <a:ext uri="{FF2B5EF4-FFF2-40B4-BE49-F238E27FC236}">
                <a16:creationId xmlns:a16="http://schemas.microsoft.com/office/drawing/2014/main" id="{D9597B9E-1372-D989-D924-8A165ECFD4AB}"/>
              </a:ext>
            </a:extLst>
          </p:cNvPr>
          <p:cNvCxnSpPr>
            <a:cxnSpLocks/>
          </p:cNvCxnSpPr>
          <p:nvPr/>
        </p:nvCxnSpPr>
        <p:spPr>
          <a:xfrm>
            <a:off x="3803849" y="2102125"/>
            <a:ext cx="4427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6735A51-243B-E37B-EC85-048DC7097D09}"/>
              </a:ext>
            </a:extLst>
          </p:cNvPr>
          <p:cNvSpPr txBox="1"/>
          <p:nvPr/>
        </p:nvSpPr>
        <p:spPr>
          <a:xfrm>
            <a:off x="1934100" y="1438113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Nó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E04A738-17B9-920F-2241-E76DFA66A003}"/>
              </a:ext>
            </a:extLst>
          </p:cNvPr>
          <p:cNvSpPr/>
          <p:nvPr/>
        </p:nvSpPr>
        <p:spPr>
          <a:xfrm>
            <a:off x="3265717" y="3510326"/>
            <a:ext cx="5327780" cy="2305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29" name="Tabela 28">
            <a:extLst>
              <a:ext uri="{FF2B5EF4-FFF2-40B4-BE49-F238E27FC236}">
                <a16:creationId xmlns:a16="http://schemas.microsoft.com/office/drawing/2014/main" id="{BBA224DA-FEB3-5E93-042E-9E6D9A954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127213"/>
              </p:ext>
            </p:extLst>
          </p:nvPr>
        </p:nvGraphicFramePr>
        <p:xfrm>
          <a:off x="4315275" y="4329412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Conector angulado 7">
            <a:extLst>
              <a:ext uri="{FF2B5EF4-FFF2-40B4-BE49-F238E27FC236}">
                <a16:creationId xmlns:a16="http://schemas.microsoft.com/office/drawing/2014/main" id="{F25A96D9-5963-5408-AAB8-56F32BEDB138}"/>
              </a:ext>
            </a:extLst>
          </p:cNvPr>
          <p:cNvCxnSpPr>
            <a:cxnSpLocks/>
            <a:stCxn id="29" idx="1"/>
            <a:endCxn id="33" idx="0"/>
          </p:cNvCxnSpPr>
          <p:nvPr/>
        </p:nvCxnSpPr>
        <p:spPr>
          <a:xfrm rot="10800000" flipH="1" flipV="1">
            <a:off x="4315274" y="4514832"/>
            <a:ext cx="1321193" cy="685504"/>
          </a:xfrm>
          <a:prstGeom prst="bentConnector4">
            <a:avLst>
              <a:gd name="adj1" fmla="val -17303"/>
              <a:gd name="adj2" fmla="val 63524"/>
            </a:avLst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Conector angulado 13">
            <a:extLst>
              <a:ext uri="{FF2B5EF4-FFF2-40B4-BE49-F238E27FC236}">
                <a16:creationId xmlns:a16="http://schemas.microsoft.com/office/drawing/2014/main" id="{81B1C29B-D14D-1E79-8D28-0E66B6D4A1DE}"/>
              </a:ext>
            </a:extLst>
          </p:cNvPr>
          <p:cNvCxnSpPr>
            <a:cxnSpLocks/>
            <a:stCxn id="29" idx="3"/>
            <a:endCxn id="33" idx="0"/>
          </p:cNvCxnSpPr>
          <p:nvPr/>
        </p:nvCxnSpPr>
        <p:spPr>
          <a:xfrm flipH="1">
            <a:off x="5636468" y="4514832"/>
            <a:ext cx="1318829" cy="685504"/>
          </a:xfrm>
          <a:prstGeom prst="bentConnector4">
            <a:avLst>
              <a:gd name="adj1" fmla="val -17334"/>
              <a:gd name="adj2" fmla="val 63524"/>
            </a:avLst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B0D8D5B-D8F3-70DE-F101-544423FCB6E7}"/>
              </a:ext>
            </a:extLst>
          </p:cNvPr>
          <p:cNvSpPr txBox="1"/>
          <p:nvPr/>
        </p:nvSpPr>
        <p:spPr>
          <a:xfrm>
            <a:off x="4699385" y="3969372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</a:t>
            </a:r>
          </a:p>
        </p:txBody>
      </p:sp>
      <p:graphicFrame>
        <p:nvGraphicFramePr>
          <p:cNvPr id="33" name="Tabela 32">
            <a:extLst>
              <a:ext uri="{FF2B5EF4-FFF2-40B4-BE49-F238E27FC236}">
                <a16:creationId xmlns:a16="http://schemas.microsoft.com/office/drawing/2014/main" id="{55EB833E-2705-526D-7429-8FD6162EF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897677"/>
              </p:ext>
            </p:extLst>
          </p:nvPr>
        </p:nvGraphicFramePr>
        <p:xfrm>
          <a:off x="4783884" y="5200336"/>
          <a:ext cx="1705169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27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" name="Conector de seta reta 6">
            <a:extLst>
              <a:ext uri="{FF2B5EF4-FFF2-40B4-BE49-F238E27FC236}">
                <a16:creationId xmlns:a16="http://schemas.microsoft.com/office/drawing/2014/main" id="{38BEFD7A-04A5-A47D-CD5B-8D057BF91E59}"/>
              </a:ext>
            </a:extLst>
          </p:cNvPr>
          <p:cNvCxnSpPr>
            <a:cxnSpLocks/>
          </p:cNvCxnSpPr>
          <p:nvPr/>
        </p:nvCxnSpPr>
        <p:spPr>
          <a:xfrm>
            <a:off x="6586135" y="5385756"/>
            <a:ext cx="4427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F8827B2-3696-BF4D-70DE-3A9A685D3967}"/>
              </a:ext>
            </a:extLst>
          </p:cNvPr>
          <p:cNvSpPr txBox="1"/>
          <p:nvPr/>
        </p:nvSpPr>
        <p:spPr>
          <a:xfrm>
            <a:off x="7125953" y="5200336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89D063D7-B786-8FB2-A6CD-3930F16C7FE0}"/>
              </a:ext>
            </a:extLst>
          </p:cNvPr>
          <p:cNvSpPr txBox="1"/>
          <p:nvPr/>
        </p:nvSpPr>
        <p:spPr>
          <a:xfrm>
            <a:off x="3265717" y="3103670"/>
            <a:ext cx="5327780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Inserir o Primeiro Valor:</a:t>
            </a:r>
          </a:p>
        </p:txBody>
      </p:sp>
    </p:spTree>
    <p:extLst>
      <p:ext uri="{BB962C8B-B14F-4D97-AF65-F5344CB8AC3E}">
        <p14:creationId xmlns:p14="http://schemas.microsoft.com/office/powerpoint/2010/main" val="118182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9" grpId="0" animBg="1"/>
      <p:bldP spid="25" grpId="0" animBg="1"/>
      <p:bldP spid="28" grpId="0" animBg="1"/>
      <p:bldP spid="32" grpId="0" animBg="1"/>
      <p:bldP spid="43" grpId="0" animBg="1"/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30D19-3D5B-1649-C1B5-A402D7F38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4C6FBAD-0007-7072-DB33-38858A8BAE7C}"/>
              </a:ext>
            </a:extLst>
          </p:cNvPr>
          <p:cNvSpPr/>
          <p:nvPr/>
        </p:nvSpPr>
        <p:spPr>
          <a:xfrm>
            <a:off x="525624" y="679006"/>
            <a:ext cx="6489830" cy="1441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7C57AB5-875E-69DE-9849-FBFC88BAF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490657"/>
              </p:ext>
            </p:extLst>
          </p:nvPr>
        </p:nvGraphicFramePr>
        <p:xfrm>
          <a:off x="1813756" y="1096654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C44F7E2-B576-9EAE-B825-2783AD31E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134441"/>
              </p:ext>
            </p:extLst>
          </p:nvPr>
        </p:nvGraphicFramePr>
        <p:xfrm>
          <a:off x="669640" y="1688284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Conector de seta reta 6">
            <a:extLst>
              <a:ext uri="{FF2B5EF4-FFF2-40B4-BE49-F238E27FC236}">
                <a16:creationId xmlns:a16="http://schemas.microsoft.com/office/drawing/2014/main" id="{80915887-CC33-F8DC-D2DA-3EEDB3747FB8}"/>
              </a:ext>
            </a:extLst>
          </p:cNvPr>
          <p:cNvCxnSpPr>
            <a:cxnSpLocks/>
          </p:cNvCxnSpPr>
          <p:nvPr/>
        </p:nvCxnSpPr>
        <p:spPr>
          <a:xfrm>
            <a:off x="1965784" y="1874458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" name="Conector angulado 7">
            <a:extLst>
              <a:ext uri="{FF2B5EF4-FFF2-40B4-BE49-F238E27FC236}">
                <a16:creationId xmlns:a16="http://schemas.microsoft.com/office/drawing/2014/main" id="{099050FF-DAAF-DF8E-8E42-28B01E18F22B}"/>
              </a:ext>
            </a:extLst>
          </p:cNvPr>
          <p:cNvCxnSpPr>
            <a:stCxn id="5" idx="1"/>
            <a:endCxn id="7" idx="0"/>
          </p:cNvCxnSpPr>
          <p:nvPr/>
        </p:nvCxnSpPr>
        <p:spPr>
          <a:xfrm rot="10800000" flipV="1">
            <a:off x="1293642" y="1282074"/>
            <a:ext cx="520114" cy="40621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EACBB552-09BC-8A1E-0FF8-37B688279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953569"/>
              </p:ext>
            </p:extLst>
          </p:nvPr>
        </p:nvGraphicFramePr>
        <p:xfrm>
          <a:off x="2373964" y="1683518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Conector de seta reta 9">
            <a:extLst>
              <a:ext uri="{FF2B5EF4-FFF2-40B4-BE49-F238E27FC236}">
                <a16:creationId xmlns:a16="http://schemas.microsoft.com/office/drawing/2014/main" id="{CB8471D5-DC40-ED5F-BB4D-A805AF0E0418}"/>
              </a:ext>
            </a:extLst>
          </p:cNvPr>
          <p:cNvCxnSpPr>
            <a:cxnSpLocks/>
          </p:cNvCxnSpPr>
          <p:nvPr/>
        </p:nvCxnSpPr>
        <p:spPr>
          <a:xfrm>
            <a:off x="3693976" y="1863658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1056D29D-5A3E-C523-3A7B-DF114B26E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752156"/>
              </p:ext>
            </p:extLst>
          </p:nvPr>
        </p:nvGraphicFramePr>
        <p:xfrm>
          <a:off x="4102156" y="1672718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Conector de seta reta 11">
            <a:extLst>
              <a:ext uri="{FF2B5EF4-FFF2-40B4-BE49-F238E27FC236}">
                <a16:creationId xmlns:a16="http://schemas.microsoft.com/office/drawing/2014/main" id="{435BE921-6E40-903C-7588-B778FE040FBE}"/>
              </a:ext>
            </a:extLst>
          </p:cNvPr>
          <p:cNvCxnSpPr>
            <a:cxnSpLocks/>
          </p:cNvCxnSpPr>
          <p:nvPr/>
        </p:nvCxnSpPr>
        <p:spPr>
          <a:xfrm>
            <a:off x="5386164" y="1863658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Conector angulado 13">
            <a:extLst>
              <a:ext uri="{FF2B5EF4-FFF2-40B4-BE49-F238E27FC236}">
                <a16:creationId xmlns:a16="http://schemas.microsoft.com/office/drawing/2014/main" id="{C6CFE715-1CEB-1245-2A70-E20DE1FEDDE4}"/>
              </a:ext>
            </a:extLst>
          </p:cNvPr>
          <p:cNvCxnSpPr>
            <a:cxnSpLocks/>
            <a:stCxn id="5" idx="3"/>
            <a:endCxn id="13" idx="0"/>
          </p:cNvCxnSpPr>
          <p:nvPr/>
        </p:nvCxnSpPr>
        <p:spPr>
          <a:xfrm>
            <a:off x="4453778" y="1282074"/>
            <a:ext cx="272380" cy="39064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7D2684F-2893-5EAD-1E16-6E7EF8E106AB}"/>
              </a:ext>
            </a:extLst>
          </p:cNvPr>
          <p:cNvSpPr txBox="1"/>
          <p:nvPr/>
        </p:nvSpPr>
        <p:spPr>
          <a:xfrm>
            <a:off x="5790567" y="1672718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F11F4D2-2C37-19E3-E0EC-3802B0DE830A}"/>
              </a:ext>
            </a:extLst>
          </p:cNvPr>
          <p:cNvSpPr txBox="1"/>
          <p:nvPr/>
        </p:nvSpPr>
        <p:spPr>
          <a:xfrm>
            <a:off x="2197866" y="736614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 Encadeada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6B5253A-5137-418F-D789-40FF1FA82B6A}"/>
              </a:ext>
            </a:extLst>
          </p:cNvPr>
          <p:cNvSpPr txBox="1"/>
          <p:nvPr/>
        </p:nvSpPr>
        <p:spPr>
          <a:xfrm>
            <a:off x="525624" y="211339"/>
            <a:ext cx="5327780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Inserir um valor no inicio:</a:t>
            </a:r>
          </a:p>
        </p:txBody>
      </p:sp>
      <p:graphicFrame>
        <p:nvGraphicFramePr>
          <p:cNvPr id="35" name="Tabela 34">
            <a:extLst>
              <a:ext uri="{FF2B5EF4-FFF2-40B4-BE49-F238E27FC236}">
                <a16:creationId xmlns:a16="http://schemas.microsoft.com/office/drawing/2014/main" id="{24ADCBDB-2844-5CC4-83C0-991E10110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301831"/>
              </p:ext>
            </p:extLst>
          </p:nvPr>
        </p:nvGraphicFramePr>
        <p:xfrm>
          <a:off x="7439692" y="1467494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CaixaDeTexto 37">
            <a:extLst>
              <a:ext uri="{FF2B5EF4-FFF2-40B4-BE49-F238E27FC236}">
                <a16:creationId xmlns:a16="http://schemas.microsoft.com/office/drawing/2014/main" id="{501476DA-CA2F-358A-083F-BFC7A28A44A6}"/>
              </a:ext>
            </a:extLst>
          </p:cNvPr>
          <p:cNvSpPr txBox="1"/>
          <p:nvPr/>
        </p:nvSpPr>
        <p:spPr>
          <a:xfrm>
            <a:off x="7439692" y="1030204"/>
            <a:ext cx="1293068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Novo Nó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49AF63D2-C7B0-354A-5FFF-0377CFD0FD46}"/>
              </a:ext>
            </a:extLst>
          </p:cNvPr>
          <p:cNvSpPr txBox="1"/>
          <p:nvPr/>
        </p:nvSpPr>
        <p:spPr>
          <a:xfrm>
            <a:off x="525623" y="2249270"/>
            <a:ext cx="9775373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Para assumir a primeira posição, o novo nó deve apontar para o atual inicio como seu </a:t>
            </a:r>
            <a:r>
              <a:rPr lang="pt-BR" b="1" dirty="0">
                <a:latin typeface="Abadi" panose="020B0604020104020204" pitchFamily="34" charset="0"/>
              </a:rPr>
              <a:t>PRÓXIMO:</a:t>
            </a:r>
            <a:r>
              <a:rPr lang="pt-BR" dirty="0">
                <a:latin typeface="Abadi" panose="020B0604020104020204" pitchFamily="34" charset="0"/>
              </a:rPr>
              <a:t> 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615D5890-053D-533C-40E5-964E8D24F98F}"/>
              </a:ext>
            </a:extLst>
          </p:cNvPr>
          <p:cNvSpPr/>
          <p:nvPr/>
        </p:nvSpPr>
        <p:spPr>
          <a:xfrm>
            <a:off x="525624" y="2688068"/>
            <a:ext cx="8682001" cy="1441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33A69E08-E80A-A3BB-2AB1-27C5C5E49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851933"/>
              </p:ext>
            </p:extLst>
          </p:nvPr>
        </p:nvGraphicFramePr>
        <p:xfrm>
          <a:off x="3544383" y="3105869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ela 47">
            <a:extLst>
              <a:ext uri="{FF2B5EF4-FFF2-40B4-BE49-F238E27FC236}">
                <a16:creationId xmlns:a16="http://schemas.microsoft.com/office/drawing/2014/main" id="{BC6A174C-294A-6536-B6D8-B7552B40C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295028"/>
              </p:ext>
            </p:extLst>
          </p:nvPr>
        </p:nvGraphicFramePr>
        <p:xfrm>
          <a:off x="2400267" y="3697499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9" name="Conector de seta reta 6">
            <a:extLst>
              <a:ext uri="{FF2B5EF4-FFF2-40B4-BE49-F238E27FC236}">
                <a16:creationId xmlns:a16="http://schemas.microsoft.com/office/drawing/2014/main" id="{28AE1D35-E451-8D49-E5AE-484A0B53119D}"/>
              </a:ext>
            </a:extLst>
          </p:cNvPr>
          <p:cNvCxnSpPr>
            <a:cxnSpLocks/>
          </p:cNvCxnSpPr>
          <p:nvPr/>
        </p:nvCxnSpPr>
        <p:spPr>
          <a:xfrm>
            <a:off x="3696411" y="3883673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0" name="Conector angulado 7">
            <a:extLst>
              <a:ext uri="{FF2B5EF4-FFF2-40B4-BE49-F238E27FC236}">
                <a16:creationId xmlns:a16="http://schemas.microsoft.com/office/drawing/2014/main" id="{943646EA-ACDD-B9C7-FE4F-F8801A0DB905}"/>
              </a:ext>
            </a:extLst>
          </p:cNvPr>
          <p:cNvCxnSpPr>
            <a:stCxn id="47" idx="1"/>
            <a:endCxn id="48" idx="0"/>
          </p:cNvCxnSpPr>
          <p:nvPr/>
        </p:nvCxnSpPr>
        <p:spPr>
          <a:xfrm rot="10800000" flipV="1">
            <a:off x="3024269" y="3291289"/>
            <a:ext cx="520114" cy="40621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51" name="Tabela 50">
            <a:extLst>
              <a:ext uri="{FF2B5EF4-FFF2-40B4-BE49-F238E27FC236}">
                <a16:creationId xmlns:a16="http://schemas.microsoft.com/office/drawing/2014/main" id="{43D97971-E654-91F7-0242-C0691CB6C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097467"/>
              </p:ext>
            </p:extLst>
          </p:nvPr>
        </p:nvGraphicFramePr>
        <p:xfrm>
          <a:off x="4104591" y="3692733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" name="Conector de seta reta 9">
            <a:extLst>
              <a:ext uri="{FF2B5EF4-FFF2-40B4-BE49-F238E27FC236}">
                <a16:creationId xmlns:a16="http://schemas.microsoft.com/office/drawing/2014/main" id="{E4820FA2-976C-3A61-DF41-2E48C8914519}"/>
              </a:ext>
            </a:extLst>
          </p:cNvPr>
          <p:cNvCxnSpPr>
            <a:cxnSpLocks/>
          </p:cNvCxnSpPr>
          <p:nvPr/>
        </p:nvCxnSpPr>
        <p:spPr>
          <a:xfrm>
            <a:off x="5424603" y="3872873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53" name="Tabela 52">
            <a:extLst>
              <a:ext uri="{FF2B5EF4-FFF2-40B4-BE49-F238E27FC236}">
                <a16:creationId xmlns:a16="http://schemas.microsoft.com/office/drawing/2014/main" id="{4A67D45C-D0DD-8DD4-B757-3E75BF8B3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429118"/>
              </p:ext>
            </p:extLst>
          </p:nvPr>
        </p:nvGraphicFramePr>
        <p:xfrm>
          <a:off x="5832783" y="3681933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" name="Conector de seta reta 11">
            <a:extLst>
              <a:ext uri="{FF2B5EF4-FFF2-40B4-BE49-F238E27FC236}">
                <a16:creationId xmlns:a16="http://schemas.microsoft.com/office/drawing/2014/main" id="{9D265FF3-916B-26EB-E1E6-9AA736A1BB27}"/>
              </a:ext>
            </a:extLst>
          </p:cNvPr>
          <p:cNvCxnSpPr>
            <a:cxnSpLocks/>
          </p:cNvCxnSpPr>
          <p:nvPr/>
        </p:nvCxnSpPr>
        <p:spPr>
          <a:xfrm>
            <a:off x="7116791" y="3872873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5" name="Conector angulado 13">
            <a:extLst>
              <a:ext uri="{FF2B5EF4-FFF2-40B4-BE49-F238E27FC236}">
                <a16:creationId xmlns:a16="http://schemas.microsoft.com/office/drawing/2014/main" id="{9328A9AE-66B2-1855-ABBF-48FBF82E0177}"/>
              </a:ext>
            </a:extLst>
          </p:cNvPr>
          <p:cNvCxnSpPr>
            <a:cxnSpLocks/>
            <a:stCxn id="47" idx="3"/>
            <a:endCxn id="53" idx="0"/>
          </p:cNvCxnSpPr>
          <p:nvPr/>
        </p:nvCxnSpPr>
        <p:spPr>
          <a:xfrm>
            <a:off x="6184405" y="3291289"/>
            <a:ext cx="272380" cy="39064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16ACABCE-9902-42CC-400E-61A116027FB7}"/>
              </a:ext>
            </a:extLst>
          </p:cNvPr>
          <p:cNvSpPr txBox="1"/>
          <p:nvPr/>
        </p:nvSpPr>
        <p:spPr>
          <a:xfrm>
            <a:off x="7521194" y="3681933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25E5F12-33EF-22D7-9DE7-7C6A61B3C072}"/>
              </a:ext>
            </a:extLst>
          </p:cNvPr>
          <p:cNvSpPr txBox="1"/>
          <p:nvPr/>
        </p:nvSpPr>
        <p:spPr>
          <a:xfrm>
            <a:off x="3928493" y="2745829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 Encadeada</a:t>
            </a:r>
          </a:p>
        </p:txBody>
      </p:sp>
      <p:graphicFrame>
        <p:nvGraphicFramePr>
          <p:cNvPr id="58" name="Tabela 57">
            <a:extLst>
              <a:ext uri="{FF2B5EF4-FFF2-40B4-BE49-F238E27FC236}">
                <a16:creationId xmlns:a16="http://schemas.microsoft.com/office/drawing/2014/main" id="{27099556-4B5A-1DF2-5FAE-8AEA89B89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543461"/>
              </p:ext>
            </p:extLst>
          </p:nvPr>
        </p:nvGraphicFramePr>
        <p:xfrm>
          <a:off x="695942" y="3698649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9" name="Conector de seta reta 6">
            <a:extLst>
              <a:ext uri="{FF2B5EF4-FFF2-40B4-BE49-F238E27FC236}">
                <a16:creationId xmlns:a16="http://schemas.microsoft.com/office/drawing/2014/main" id="{75AFD13E-0697-9E77-70BD-D4B965070B85}"/>
              </a:ext>
            </a:extLst>
          </p:cNvPr>
          <p:cNvCxnSpPr>
            <a:cxnSpLocks/>
          </p:cNvCxnSpPr>
          <p:nvPr/>
        </p:nvCxnSpPr>
        <p:spPr>
          <a:xfrm>
            <a:off x="1992087" y="3882204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C66563D6-6E11-B514-C725-E9042C458F7A}"/>
              </a:ext>
            </a:extLst>
          </p:cNvPr>
          <p:cNvSpPr txBox="1"/>
          <p:nvPr/>
        </p:nvSpPr>
        <p:spPr>
          <a:xfrm>
            <a:off x="525624" y="4257997"/>
            <a:ext cx="8682001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Depois, basta apontar o inicio para o novo nó:</a:t>
            </a: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B4B517A0-1B08-84C7-63EB-AB72190796E4}"/>
              </a:ext>
            </a:extLst>
          </p:cNvPr>
          <p:cNvSpPr/>
          <p:nvPr/>
        </p:nvSpPr>
        <p:spPr>
          <a:xfrm>
            <a:off x="525624" y="4696795"/>
            <a:ext cx="8682001" cy="1441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62" name="Tabela 61">
            <a:extLst>
              <a:ext uri="{FF2B5EF4-FFF2-40B4-BE49-F238E27FC236}">
                <a16:creationId xmlns:a16="http://schemas.microsoft.com/office/drawing/2014/main" id="{378033EA-7932-C99B-4A99-0433F32F9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5306"/>
              </p:ext>
            </p:extLst>
          </p:nvPr>
        </p:nvGraphicFramePr>
        <p:xfrm>
          <a:off x="2685963" y="5114596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" name="Tabela 62">
            <a:extLst>
              <a:ext uri="{FF2B5EF4-FFF2-40B4-BE49-F238E27FC236}">
                <a16:creationId xmlns:a16="http://schemas.microsoft.com/office/drawing/2014/main" id="{FC4B00EE-BE8D-790D-E305-6D926E05F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645144"/>
              </p:ext>
            </p:extLst>
          </p:nvPr>
        </p:nvGraphicFramePr>
        <p:xfrm>
          <a:off x="2400267" y="5706226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" name="Conector de seta reta 6">
            <a:extLst>
              <a:ext uri="{FF2B5EF4-FFF2-40B4-BE49-F238E27FC236}">
                <a16:creationId xmlns:a16="http://schemas.microsoft.com/office/drawing/2014/main" id="{A915B0A9-5EB4-4ABB-18A1-B903A7A6DFB6}"/>
              </a:ext>
            </a:extLst>
          </p:cNvPr>
          <p:cNvCxnSpPr>
            <a:cxnSpLocks/>
          </p:cNvCxnSpPr>
          <p:nvPr/>
        </p:nvCxnSpPr>
        <p:spPr>
          <a:xfrm>
            <a:off x="3696411" y="5892400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5" name="Conector angulado 7">
            <a:extLst>
              <a:ext uri="{FF2B5EF4-FFF2-40B4-BE49-F238E27FC236}">
                <a16:creationId xmlns:a16="http://schemas.microsoft.com/office/drawing/2014/main" id="{2A5C2F5C-3302-04C3-540A-8753725B802E}"/>
              </a:ext>
            </a:extLst>
          </p:cNvPr>
          <p:cNvCxnSpPr>
            <a:cxnSpLocks/>
            <a:stCxn id="62" idx="1"/>
            <a:endCxn id="73" idx="0"/>
          </p:cNvCxnSpPr>
          <p:nvPr/>
        </p:nvCxnSpPr>
        <p:spPr>
          <a:xfrm rot="10800000" flipV="1">
            <a:off x="1319945" y="5300016"/>
            <a:ext cx="1366019" cy="4073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66" name="Tabela 65">
            <a:extLst>
              <a:ext uri="{FF2B5EF4-FFF2-40B4-BE49-F238E27FC236}">
                <a16:creationId xmlns:a16="http://schemas.microsoft.com/office/drawing/2014/main" id="{84826C70-88E5-D088-51FC-E864CAC9C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956197"/>
              </p:ext>
            </p:extLst>
          </p:nvPr>
        </p:nvGraphicFramePr>
        <p:xfrm>
          <a:off x="4104591" y="5701460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" name="Conector de seta reta 9">
            <a:extLst>
              <a:ext uri="{FF2B5EF4-FFF2-40B4-BE49-F238E27FC236}">
                <a16:creationId xmlns:a16="http://schemas.microsoft.com/office/drawing/2014/main" id="{C66B11BA-9CE4-B1C5-5AAC-766B37F85F26}"/>
              </a:ext>
            </a:extLst>
          </p:cNvPr>
          <p:cNvCxnSpPr>
            <a:cxnSpLocks/>
          </p:cNvCxnSpPr>
          <p:nvPr/>
        </p:nvCxnSpPr>
        <p:spPr>
          <a:xfrm>
            <a:off x="5424603" y="5881600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68" name="Tabela 67">
            <a:extLst>
              <a:ext uri="{FF2B5EF4-FFF2-40B4-BE49-F238E27FC236}">
                <a16:creationId xmlns:a16="http://schemas.microsoft.com/office/drawing/2014/main" id="{4973ADC1-1F2F-7BD0-28B9-556432AA1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427129"/>
              </p:ext>
            </p:extLst>
          </p:nvPr>
        </p:nvGraphicFramePr>
        <p:xfrm>
          <a:off x="5832783" y="5690660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9" name="Conector de seta reta 11">
            <a:extLst>
              <a:ext uri="{FF2B5EF4-FFF2-40B4-BE49-F238E27FC236}">
                <a16:creationId xmlns:a16="http://schemas.microsoft.com/office/drawing/2014/main" id="{93CB6EFD-E4A7-8FB9-8465-37AB1EEB1869}"/>
              </a:ext>
            </a:extLst>
          </p:cNvPr>
          <p:cNvCxnSpPr>
            <a:cxnSpLocks/>
          </p:cNvCxnSpPr>
          <p:nvPr/>
        </p:nvCxnSpPr>
        <p:spPr>
          <a:xfrm>
            <a:off x="7116791" y="5881600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0" name="Conector angulado 13">
            <a:extLst>
              <a:ext uri="{FF2B5EF4-FFF2-40B4-BE49-F238E27FC236}">
                <a16:creationId xmlns:a16="http://schemas.microsoft.com/office/drawing/2014/main" id="{93754D9E-2E40-98F5-155C-240614C97CEB}"/>
              </a:ext>
            </a:extLst>
          </p:cNvPr>
          <p:cNvCxnSpPr>
            <a:cxnSpLocks/>
            <a:stCxn id="62" idx="3"/>
            <a:endCxn id="68" idx="0"/>
          </p:cNvCxnSpPr>
          <p:nvPr/>
        </p:nvCxnSpPr>
        <p:spPr>
          <a:xfrm>
            <a:off x="5325985" y="5300016"/>
            <a:ext cx="1130800" cy="39064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D6B974FC-80A7-DF56-D719-705BF8634F0F}"/>
              </a:ext>
            </a:extLst>
          </p:cNvPr>
          <p:cNvSpPr txBox="1"/>
          <p:nvPr/>
        </p:nvSpPr>
        <p:spPr>
          <a:xfrm>
            <a:off x="7521194" y="5690660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98AAE02A-DA55-55B2-27A0-097BC0FED98C}"/>
              </a:ext>
            </a:extLst>
          </p:cNvPr>
          <p:cNvSpPr txBox="1"/>
          <p:nvPr/>
        </p:nvSpPr>
        <p:spPr>
          <a:xfrm>
            <a:off x="3070073" y="4754556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 Encadeada</a:t>
            </a:r>
          </a:p>
        </p:txBody>
      </p:sp>
      <p:graphicFrame>
        <p:nvGraphicFramePr>
          <p:cNvPr id="73" name="Tabela 72">
            <a:extLst>
              <a:ext uri="{FF2B5EF4-FFF2-40B4-BE49-F238E27FC236}">
                <a16:creationId xmlns:a16="http://schemas.microsoft.com/office/drawing/2014/main" id="{74B401DE-D6DD-5003-728E-4B3918ED7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083845"/>
              </p:ext>
            </p:extLst>
          </p:nvPr>
        </p:nvGraphicFramePr>
        <p:xfrm>
          <a:off x="695942" y="5707376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4" name="Conector de seta reta 6">
            <a:extLst>
              <a:ext uri="{FF2B5EF4-FFF2-40B4-BE49-F238E27FC236}">
                <a16:creationId xmlns:a16="http://schemas.microsoft.com/office/drawing/2014/main" id="{5D9D1502-E14A-9701-5413-8C7AC37C66FE}"/>
              </a:ext>
            </a:extLst>
          </p:cNvPr>
          <p:cNvCxnSpPr>
            <a:cxnSpLocks/>
          </p:cNvCxnSpPr>
          <p:nvPr/>
        </p:nvCxnSpPr>
        <p:spPr>
          <a:xfrm>
            <a:off x="1992087" y="5890931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5811617A-6409-43DB-59C3-6776F2ECB66F}"/>
              </a:ext>
            </a:extLst>
          </p:cNvPr>
          <p:cNvSpPr txBox="1"/>
          <p:nvPr/>
        </p:nvSpPr>
        <p:spPr>
          <a:xfrm>
            <a:off x="523393" y="6474948"/>
            <a:ext cx="8682001" cy="369332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pt-BR" u="sng" dirty="0">
                <a:solidFill>
                  <a:srgbClr val="FFFF00"/>
                </a:solidFill>
                <a:latin typeface="Abadi" panose="020B0604020104020204" pitchFamily="34" charset="0"/>
              </a:rPr>
              <a:t>Essa ordem é importante para não perdemos quem é o inicio!</a:t>
            </a:r>
          </a:p>
        </p:txBody>
      </p:sp>
    </p:spTree>
    <p:extLst>
      <p:ext uri="{BB962C8B-B14F-4D97-AF65-F5344CB8AC3E}">
        <p14:creationId xmlns:p14="http://schemas.microsoft.com/office/powerpoint/2010/main" val="302410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6" grpId="0" animBg="1"/>
      <p:bldP spid="56" grpId="0" animBg="1"/>
      <p:bldP spid="57" grpId="0" animBg="1"/>
      <p:bldP spid="60" grpId="0" animBg="1"/>
      <p:bldP spid="61" grpId="0" animBg="1"/>
      <p:bldP spid="71" grpId="0" animBg="1"/>
      <p:bldP spid="72" grpId="0" animBg="1"/>
      <p:bldP spid="7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833F9-4727-0B72-56B4-00C5BB7B0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EC11119-2E6A-907B-BA27-20FFE8F3177D}"/>
              </a:ext>
            </a:extLst>
          </p:cNvPr>
          <p:cNvSpPr/>
          <p:nvPr/>
        </p:nvSpPr>
        <p:spPr>
          <a:xfrm>
            <a:off x="525624" y="679006"/>
            <a:ext cx="6489830" cy="1441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DF2B19DD-EAC5-7170-3632-69C237A5CAE4}"/>
              </a:ext>
            </a:extLst>
          </p:cNvPr>
          <p:cNvGraphicFramePr>
            <a:graphicFrameLocks noGrp="1"/>
          </p:cNvGraphicFramePr>
          <p:nvPr/>
        </p:nvGraphicFramePr>
        <p:xfrm>
          <a:off x="1813756" y="1096654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C4823E01-C903-B10A-2EEC-80308662F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270388"/>
              </p:ext>
            </p:extLst>
          </p:nvPr>
        </p:nvGraphicFramePr>
        <p:xfrm>
          <a:off x="669640" y="1688284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Conector de seta reta 6">
            <a:extLst>
              <a:ext uri="{FF2B5EF4-FFF2-40B4-BE49-F238E27FC236}">
                <a16:creationId xmlns:a16="http://schemas.microsoft.com/office/drawing/2014/main" id="{81E63EDD-9E68-79D8-A5BE-BC60831EF0A0}"/>
              </a:ext>
            </a:extLst>
          </p:cNvPr>
          <p:cNvCxnSpPr>
            <a:cxnSpLocks/>
          </p:cNvCxnSpPr>
          <p:nvPr/>
        </p:nvCxnSpPr>
        <p:spPr>
          <a:xfrm>
            <a:off x="1965784" y="1874458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" name="Conector angulado 7">
            <a:extLst>
              <a:ext uri="{FF2B5EF4-FFF2-40B4-BE49-F238E27FC236}">
                <a16:creationId xmlns:a16="http://schemas.microsoft.com/office/drawing/2014/main" id="{B872D51A-78FE-CC97-3004-48EC267DD7A1}"/>
              </a:ext>
            </a:extLst>
          </p:cNvPr>
          <p:cNvCxnSpPr>
            <a:stCxn id="5" idx="1"/>
            <a:endCxn id="7" idx="0"/>
          </p:cNvCxnSpPr>
          <p:nvPr/>
        </p:nvCxnSpPr>
        <p:spPr>
          <a:xfrm rot="10800000" flipV="1">
            <a:off x="1293642" y="1282074"/>
            <a:ext cx="520114" cy="40621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BCC1F2AD-1F6A-C0E2-6C89-94F63E1C3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71363"/>
              </p:ext>
            </p:extLst>
          </p:nvPr>
        </p:nvGraphicFramePr>
        <p:xfrm>
          <a:off x="2373964" y="1683518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Conector de seta reta 9">
            <a:extLst>
              <a:ext uri="{FF2B5EF4-FFF2-40B4-BE49-F238E27FC236}">
                <a16:creationId xmlns:a16="http://schemas.microsoft.com/office/drawing/2014/main" id="{6EBBD8C8-AA44-EC9F-BA26-D2B9B792E21C}"/>
              </a:ext>
            </a:extLst>
          </p:cNvPr>
          <p:cNvCxnSpPr>
            <a:cxnSpLocks/>
          </p:cNvCxnSpPr>
          <p:nvPr/>
        </p:nvCxnSpPr>
        <p:spPr>
          <a:xfrm>
            <a:off x="3693976" y="1863658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802C6477-AB7F-C28D-10F3-585E7EB08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387050"/>
              </p:ext>
            </p:extLst>
          </p:nvPr>
        </p:nvGraphicFramePr>
        <p:xfrm>
          <a:off x="4102156" y="1672718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Conector de seta reta 11">
            <a:extLst>
              <a:ext uri="{FF2B5EF4-FFF2-40B4-BE49-F238E27FC236}">
                <a16:creationId xmlns:a16="http://schemas.microsoft.com/office/drawing/2014/main" id="{BBB909DE-2903-A7C0-5B28-C72D61F97FDC}"/>
              </a:ext>
            </a:extLst>
          </p:cNvPr>
          <p:cNvCxnSpPr>
            <a:cxnSpLocks/>
          </p:cNvCxnSpPr>
          <p:nvPr/>
        </p:nvCxnSpPr>
        <p:spPr>
          <a:xfrm>
            <a:off x="5386164" y="1863658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Conector angulado 13">
            <a:extLst>
              <a:ext uri="{FF2B5EF4-FFF2-40B4-BE49-F238E27FC236}">
                <a16:creationId xmlns:a16="http://schemas.microsoft.com/office/drawing/2014/main" id="{27CBD49C-DD31-E0EB-4CD6-3316A2626C61}"/>
              </a:ext>
            </a:extLst>
          </p:cNvPr>
          <p:cNvCxnSpPr>
            <a:cxnSpLocks/>
            <a:stCxn id="5" idx="3"/>
            <a:endCxn id="13" idx="0"/>
          </p:cNvCxnSpPr>
          <p:nvPr/>
        </p:nvCxnSpPr>
        <p:spPr>
          <a:xfrm>
            <a:off x="4453778" y="1282074"/>
            <a:ext cx="272380" cy="39064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01A44C7-0109-73CB-1162-921A7283EA2A}"/>
              </a:ext>
            </a:extLst>
          </p:cNvPr>
          <p:cNvSpPr txBox="1"/>
          <p:nvPr/>
        </p:nvSpPr>
        <p:spPr>
          <a:xfrm>
            <a:off x="5790567" y="1672718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20A14BD-A7C4-A349-DAEA-E3F61FEB7EBC}"/>
              </a:ext>
            </a:extLst>
          </p:cNvPr>
          <p:cNvSpPr txBox="1"/>
          <p:nvPr/>
        </p:nvSpPr>
        <p:spPr>
          <a:xfrm>
            <a:off x="2197866" y="736614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 Encadeada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2312B79-DB08-5F83-4BC4-2FA2EC7022B6}"/>
              </a:ext>
            </a:extLst>
          </p:cNvPr>
          <p:cNvSpPr txBox="1"/>
          <p:nvPr/>
        </p:nvSpPr>
        <p:spPr>
          <a:xfrm>
            <a:off x="525624" y="211339"/>
            <a:ext cx="5327780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Inserir um valor </a:t>
            </a:r>
            <a:r>
              <a:rPr lang="pt-BR">
                <a:latin typeface="Abadi" panose="020B0604020104020204" pitchFamily="34" charset="0"/>
              </a:rPr>
              <a:t>no fim:</a:t>
            </a:r>
            <a:endParaRPr lang="pt-BR" dirty="0">
              <a:latin typeface="Abadi" panose="020B0604020104020204" pitchFamily="34" charset="0"/>
            </a:endParaRPr>
          </a:p>
        </p:txBody>
      </p:sp>
      <p:graphicFrame>
        <p:nvGraphicFramePr>
          <p:cNvPr id="35" name="Tabela 34">
            <a:extLst>
              <a:ext uri="{FF2B5EF4-FFF2-40B4-BE49-F238E27FC236}">
                <a16:creationId xmlns:a16="http://schemas.microsoft.com/office/drawing/2014/main" id="{B6C10532-E077-7399-DABC-F0ED653F8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145507"/>
              </p:ext>
            </p:extLst>
          </p:nvPr>
        </p:nvGraphicFramePr>
        <p:xfrm>
          <a:off x="7439692" y="1467494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CaixaDeTexto 37">
            <a:extLst>
              <a:ext uri="{FF2B5EF4-FFF2-40B4-BE49-F238E27FC236}">
                <a16:creationId xmlns:a16="http://schemas.microsoft.com/office/drawing/2014/main" id="{047AC9F1-2D59-127E-23DF-6EC767E526C2}"/>
              </a:ext>
            </a:extLst>
          </p:cNvPr>
          <p:cNvSpPr txBox="1"/>
          <p:nvPr/>
        </p:nvSpPr>
        <p:spPr>
          <a:xfrm>
            <a:off x="7439692" y="1030204"/>
            <a:ext cx="1293068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Novo Nó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2083598-2AFE-5DF8-50AD-EFC446069458}"/>
              </a:ext>
            </a:extLst>
          </p:cNvPr>
          <p:cNvSpPr txBox="1"/>
          <p:nvPr/>
        </p:nvSpPr>
        <p:spPr>
          <a:xfrm>
            <a:off x="525625" y="2249270"/>
            <a:ext cx="9159552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Para assumir a ultima posição, o novo nó deve ser apontando como </a:t>
            </a:r>
            <a:r>
              <a:rPr lang="pt-BR" b="1" dirty="0">
                <a:latin typeface="Abadi" panose="020B0604020104020204" pitchFamily="34" charset="0"/>
              </a:rPr>
              <a:t>PRÓXIMO</a:t>
            </a:r>
            <a:r>
              <a:rPr lang="pt-BR" dirty="0">
                <a:latin typeface="Abadi" panose="020B0604020104020204" pitchFamily="34" charset="0"/>
              </a:rPr>
              <a:t> do último</a:t>
            </a:r>
            <a:r>
              <a:rPr lang="pt-BR" b="1" dirty="0">
                <a:latin typeface="Abadi" panose="020B0604020104020204" pitchFamily="34" charset="0"/>
              </a:rPr>
              <a:t>:</a:t>
            </a:r>
            <a:r>
              <a:rPr lang="pt-BR" dirty="0">
                <a:latin typeface="Abadi" panose="020B0604020104020204" pitchFamily="34" charset="0"/>
              </a:rPr>
              <a:t> 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5B30426F-960A-032A-05DC-3ECC0F5347EF}"/>
              </a:ext>
            </a:extLst>
          </p:cNvPr>
          <p:cNvSpPr/>
          <p:nvPr/>
        </p:nvSpPr>
        <p:spPr>
          <a:xfrm>
            <a:off x="525624" y="2688068"/>
            <a:ext cx="8682001" cy="1441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7FB43EC9-3151-2CB6-4C22-E48C1F7D5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077279"/>
              </p:ext>
            </p:extLst>
          </p:nvPr>
        </p:nvGraphicFramePr>
        <p:xfrm>
          <a:off x="1799556" y="3105869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ela 47">
            <a:extLst>
              <a:ext uri="{FF2B5EF4-FFF2-40B4-BE49-F238E27FC236}">
                <a16:creationId xmlns:a16="http://schemas.microsoft.com/office/drawing/2014/main" id="{0DA839D3-690C-F857-FE00-3D9910C5F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36073"/>
              </p:ext>
            </p:extLst>
          </p:nvPr>
        </p:nvGraphicFramePr>
        <p:xfrm>
          <a:off x="2400267" y="3697499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9" name="Conector de seta reta 6">
            <a:extLst>
              <a:ext uri="{FF2B5EF4-FFF2-40B4-BE49-F238E27FC236}">
                <a16:creationId xmlns:a16="http://schemas.microsoft.com/office/drawing/2014/main" id="{F10ED5DB-9085-E7FB-7553-C62386ADC280}"/>
              </a:ext>
            </a:extLst>
          </p:cNvPr>
          <p:cNvCxnSpPr>
            <a:cxnSpLocks/>
          </p:cNvCxnSpPr>
          <p:nvPr/>
        </p:nvCxnSpPr>
        <p:spPr>
          <a:xfrm>
            <a:off x="3696411" y="3883673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0" name="Conector angulado 7">
            <a:extLst>
              <a:ext uri="{FF2B5EF4-FFF2-40B4-BE49-F238E27FC236}">
                <a16:creationId xmlns:a16="http://schemas.microsoft.com/office/drawing/2014/main" id="{5F1026E4-6938-8C45-4AE7-702E786EAEB3}"/>
              </a:ext>
            </a:extLst>
          </p:cNvPr>
          <p:cNvCxnSpPr>
            <a:cxnSpLocks/>
            <a:stCxn id="47" idx="1"/>
            <a:endCxn id="58" idx="0"/>
          </p:cNvCxnSpPr>
          <p:nvPr/>
        </p:nvCxnSpPr>
        <p:spPr>
          <a:xfrm rot="10800000" flipV="1">
            <a:off x="1319944" y="3291289"/>
            <a:ext cx="479612" cy="4073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51" name="Tabela 50">
            <a:extLst>
              <a:ext uri="{FF2B5EF4-FFF2-40B4-BE49-F238E27FC236}">
                <a16:creationId xmlns:a16="http://schemas.microsoft.com/office/drawing/2014/main" id="{58BE5161-EEE9-1BC7-B85C-0A5A57378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659240"/>
              </p:ext>
            </p:extLst>
          </p:nvPr>
        </p:nvGraphicFramePr>
        <p:xfrm>
          <a:off x="4104591" y="3692733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" name="Conector de seta reta 9">
            <a:extLst>
              <a:ext uri="{FF2B5EF4-FFF2-40B4-BE49-F238E27FC236}">
                <a16:creationId xmlns:a16="http://schemas.microsoft.com/office/drawing/2014/main" id="{85417D13-437A-3339-6E7D-23CBA78B4382}"/>
              </a:ext>
            </a:extLst>
          </p:cNvPr>
          <p:cNvCxnSpPr>
            <a:cxnSpLocks/>
          </p:cNvCxnSpPr>
          <p:nvPr/>
        </p:nvCxnSpPr>
        <p:spPr>
          <a:xfrm>
            <a:off x="5424603" y="3872873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53" name="Tabela 52">
            <a:extLst>
              <a:ext uri="{FF2B5EF4-FFF2-40B4-BE49-F238E27FC236}">
                <a16:creationId xmlns:a16="http://schemas.microsoft.com/office/drawing/2014/main" id="{DCB78059-528B-54DA-3BCF-E3DBF1E6F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255365"/>
              </p:ext>
            </p:extLst>
          </p:nvPr>
        </p:nvGraphicFramePr>
        <p:xfrm>
          <a:off x="5832783" y="3681933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" name="Conector de seta reta 11">
            <a:extLst>
              <a:ext uri="{FF2B5EF4-FFF2-40B4-BE49-F238E27FC236}">
                <a16:creationId xmlns:a16="http://schemas.microsoft.com/office/drawing/2014/main" id="{75D70B6E-AD44-A2BB-3FBC-924494EA333F}"/>
              </a:ext>
            </a:extLst>
          </p:cNvPr>
          <p:cNvCxnSpPr>
            <a:cxnSpLocks/>
          </p:cNvCxnSpPr>
          <p:nvPr/>
        </p:nvCxnSpPr>
        <p:spPr>
          <a:xfrm>
            <a:off x="7116791" y="3872873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5" name="Conector angulado 13">
            <a:extLst>
              <a:ext uri="{FF2B5EF4-FFF2-40B4-BE49-F238E27FC236}">
                <a16:creationId xmlns:a16="http://schemas.microsoft.com/office/drawing/2014/main" id="{832E2BFC-505C-D8C2-A239-CF8AC210B56D}"/>
              </a:ext>
            </a:extLst>
          </p:cNvPr>
          <p:cNvCxnSpPr>
            <a:cxnSpLocks/>
            <a:stCxn id="47" idx="3"/>
            <a:endCxn id="51" idx="0"/>
          </p:cNvCxnSpPr>
          <p:nvPr/>
        </p:nvCxnSpPr>
        <p:spPr>
          <a:xfrm>
            <a:off x="4439578" y="3291289"/>
            <a:ext cx="289015" cy="40144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9E9FFCEC-DD1E-4295-D0E1-E96938F0E903}"/>
              </a:ext>
            </a:extLst>
          </p:cNvPr>
          <p:cNvSpPr txBox="1"/>
          <p:nvPr/>
        </p:nvSpPr>
        <p:spPr>
          <a:xfrm>
            <a:off x="7521194" y="3681933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A140C44-3994-D570-57AB-C26203B17473}"/>
              </a:ext>
            </a:extLst>
          </p:cNvPr>
          <p:cNvSpPr txBox="1"/>
          <p:nvPr/>
        </p:nvSpPr>
        <p:spPr>
          <a:xfrm>
            <a:off x="2183666" y="2745829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 Encadeada</a:t>
            </a:r>
          </a:p>
        </p:txBody>
      </p:sp>
      <p:graphicFrame>
        <p:nvGraphicFramePr>
          <p:cNvPr id="58" name="Tabela 57">
            <a:extLst>
              <a:ext uri="{FF2B5EF4-FFF2-40B4-BE49-F238E27FC236}">
                <a16:creationId xmlns:a16="http://schemas.microsoft.com/office/drawing/2014/main" id="{59868FD1-6EE7-0F25-EAF0-FD8093879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393713"/>
              </p:ext>
            </p:extLst>
          </p:nvPr>
        </p:nvGraphicFramePr>
        <p:xfrm>
          <a:off x="695942" y="3698649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9" name="Conector de seta reta 6">
            <a:extLst>
              <a:ext uri="{FF2B5EF4-FFF2-40B4-BE49-F238E27FC236}">
                <a16:creationId xmlns:a16="http://schemas.microsoft.com/office/drawing/2014/main" id="{03B70AEF-0F71-46E5-5168-656A0D5C3CB4}"/>
              </a:ext>
            </a:extLst>
          </p:cNvPr>
          <p:cNvCxnSpPr>
            <a:cxnSpLocks/>
          </p:cNvCxnSpPr>
          <p:nvPr/>
        </p:nvCxnSpPr>
        <p:spPr>
          <a:xfrm>
            <a:off x="1992087" y="3882204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0455AE27-3AC5-E4D9-DA67-D326F8AC9A33}"/>
              </a:ext>
            </a:extLst>
          </p:cNvPr>
          <p:cNvSpPr txBox="1"/>
          <p:nvPr/>
        </p:nvSpPr>
        <p:spPr>
          <a:xfrm>
            <a:off x="525624" y="4257997"/>
            <a:ext cx="8682001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Depois, basta apontar o fim para o novo nó:</a:t>
            </a: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5CC09F90-76ED-4517-5E6D-1B24D4F4DE2F}"/>
              </a:ext>
            </a:extLst>
          </p:cNvPr>
          <p:cNvSpPr/>
          <p:nvPr/>
        </p:nvSpPr>
        <p:spPr>
          <a:xfrm>
            <a:off x="525624" y="4696795"/>
            <a:ext cx="8682001" cy="1441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62" name="Tabela 61">
            <a:extLst>
              <a:ext uri="{FF2B5EF4-FFF2-40B4-BE49-F238E27FC236}">
                <a16:creationId xmlns:a16="http://schemas.microsoft.com/office/drawing/2014/main" id="{634F642C-F068-C0BC-AB84-7A18A9601EDA}"/>
              </a:ext>
            </a:extLst>
          </p:cNvPr>
          <p:cNvGraphicFramePr>
            <a:graphicFrameLocks noGrp="1"/>
          </p:cNvGraphicFramePr>
          <p:nvPr/>
        </p:nvGraphicFramePr>
        <p:xfrm>
          <a:off x="2685963" y="5114596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" name="Tabela 62">
            <a:extLst>
              <a:ext uri="{FF2B5EF4-FFF2-40B4-BE49-F238E27FC236}">
                <a16:creationId xmlns:a16="http://schemas.microsoft.com/office/drawing/2014/main" id="{114AFBF3-56A0-53C5-5A60-6FD670778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841034"/>
              </p:ext>
            </p:extLst>
          </p:nvPr>
        </p:nvGraphicFramePr>
        <p:xfrm>
          <a:off x="2400267" y="5706226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" name="Conector de seta reta 6">
            <a:extLst>
              <a:ext uri="{FF2B5EF4-FFF2-40B4-BE49-F238E27FC236}">
                <a16:creationId xmlns:a16="http://schemas.microsoft.com/office/drawing/2014/main" id="{1CB45D25-6B8F-56E6-06D2-3A054C1F601D}"/>
              </a:ext>
            </a:extLst>
          </p:cNvPr>
          <p:cNvCxnSpPr>
            <a:cxnSpLocks/>
          </p:cNvCxnSpPr>
          <p:nvPr/>
        </p:nvCxnSpPr>
        <p:spPr>
          <a:xfrm>
            <a:off x="3696411" y="5892400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5" name="Conector angulado 7">
            <a:extLst>
              <a:ext uri="{FF2B5EF4-FFF2-40B4-BE49-F238E27FC236}">
                <a16:creationId xmlns:a16="http://schemas.microsoft.com/office/drawing/2014/main" id="{88D16CA4-C36F-BEBA-B609-499862A57C98}"/>
              </a:ext>
            </a:extLst>
          </p:cNvPr>
          <p:cNvCxnSpPr>
            <a:cxnSpLocks/>
            <a:stCxn id="62" idx="1"/>
            <a:endCxn id="73" idx="0"/>
          </p:cNvCxnSpPr>
          <p:nvPr/>
        </p:nvCxnSpPr>
        <p:spPr>
          <a:xfrm rot="10800000" flipV="1">
            <a:off x="1319945" y="5300016"/>
            <a:ext cx="1366019" cy="4073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66" name="Tabela 65">
            <a:extLst>
              <a:ext uri="{FF2B5EF4-FFF2-40B4-BE49-F238E27FC236}">
                <a16:creationId xmlns:a16="http://schemas.microsoft.com/office/drawing/2014/main" id="{F4A47DF1-76D2-EDB3-F1D7-351F037EA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74785"/>
              </p:ext>
            </p:extLst>
          </p:nvPr>
        </p:nvGraphicFramePr>
        <p:xfrm>
          <a:off x="4104591" y="5701460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" name="Conector de seta reta 9">
            <a:extLst>
              <a:ext uri="{FF2B5EF4-FFF2-40B4-BE49-F238E27FC236}">
                <a16:creationId xmlns:a16="http://schemas.microsoft.com/office/drawing/2014/main" id="{12BE503F-ACFE-5E66-9326-A91A53938B13}"/>
              </a:ext>
            </a:extLst>
          </p:cNvPr>
          <p:cNvCxnSpPr>
            <a:cxnSpLocks/>
          </p:cNvCxnSpPr>
          <p:nvPr/>
        </p:nvCxnSpPr>
        <p:spPr>
          <a:xfrm>
            <a:off x="5424603" y="5881600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68" name="Tabela 67">
            <a:extLst>
              <a:ext uri="{FF2B5EF4-FFF2-40B4-BE49-F238E27FC236}">
                <a16:creationId xmlns:a16="http://schemas.microsoft.com/office/drawing/2014/main" id="{7EEAB216-237F-0828-8E57-63950CE33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622627"/>
              </p:ext>
            </p:extLst>
          </p:nvPr>
        </p:nvGraphicFramePr>
        <p:xfrm>
          <a:off x="5832783" y="5690660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9" name="Conector de seta reta 11">
            <a:extLst>
              <a:ext uri="{FF2B5EF4-FFF2-40B4-BE49-F238E27FC236}">
                <a16:creationId xmlns:a16="http://schemas.microsoft.com/office/drawing/2014/main" id="{B42F9AC9-AB4C-5773-25C2-989FA3945227}"/>
              </a:ext>
            </a:extLst>
          </p:cNvPr>
          <p:cNvCxnSpPr>
            <a:cxnSpLocks/>
          </p:cNvCxnSpPr>
          <p:nvPr/>
        </p:nvCxnSpPr>
        <p:spPr>
          <a:xfrm>
            <a:off x="7116791" y="5881600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0" name="Conector angulado 13">
            <a:extLst>
              <a:ext uri="{FF2B5EF4-FFF2-40B4-BE49-F238E27FC236}">
                <a16:creationId xmlns:a16="http://schemas.microsoft.com/office/drawing/2014/main" id="{D3904ED0-161B-FF04-1549-1AB3BFD963EB}"/>
              </a:ext>
            </a:extLst>
          </p:cNvPr>
          <p:cNvCxnSpPr>
            <a:cxnSpLocks/>
            <a:stCxn id="62" idx="3"/>
            <a:endCxn id="68" idx="0"/>
          </p:cNvCxnSpPr>
          <p:nvPr/>
        </p:nvCxnSpPr>
        <p:spPr>
          <a:xfrm>
            <a:off x="5325985" y="5300016"/>
            <a:ext cx="1130800" cy="39064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E745875F-A6B7-208E-4B42-FC8F5738F10A}"/>
              </a:ext>
            </a:extLst>
          </p:cNvPr>
          <p:cNvSpPr txBox="1"/>
          <p:nvPr/>
        </p:nvSpPr>
        <p:spPr>
          <a:xfrm>
            <a:off x="7521194" y="5690660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D9D52203-3E31-9761-4899-5FA3BB0D13A6}"/>
              </a:ext>
            </a:extLst>
          </p:cNvPr>
          <p:cNvSpPr txBox="1"/>
          <p:nvPr/>
        </p:nvSpPr>
        <p:spPr>
          <a:xfrm>
            <a:off x="3070073" y="4754556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 Encadeada</a:t>
            </a:r>
          </a:p>
        </p:txBody>
      </p:sp>
      <p:graphicFrame>
        <p:nvGraphicFramePr>
          <p:cNvPr id="73" name="Tabela 72">
            <a:extLst>
              <a:ext uri="{FF2B5EF4-FFF2-40B4-BE49-F238E27FC236}">
                <a16:creationId xmlns:a16="http://schemas.microsoft.com/office/drawing/2014/main" id="{EA556AC8-56A6-CBE3-6C9B-FE68A7B02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757021"/>
              </p:ext>
            </p:extLst>
          </p:nvPr>
        </p:nvGraphicFramePr>
        <p:xfrm>
          <a:off x="695942" y="5707376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4" name="Conector de seta reta 6">
            <a:extLst>
              <a:ext uri="{FF2B5EF4-FFF2-40B4-BE49-F238E27FC236}">
                <a16:creationId xmlns:a16="http://schemas.microsoft.com/office/drawing/2014/main" id="{7FCC2A75-F285-1647-815B-84AC344473B2}"/>
              </a:ext>
            </a:extLst>
          </p:cNvPr>
          <p:cNvCxnSpPr>
            <a:cxnSpLocks/>
          </p:cNvCxnSpPr>
          <p:nvPr/>
        </p:nvCxnSpPr>
        <p:spPr>
          <a:xfrm>
            <a:off x="1992087" y="5890931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2EBA7089-0BF0-8A70-0E56-2E00A335ED06}"/>
              </a:ext>
            </a:extLst>
          </p:cNvPr>
          <p:cNvSpPr txBox="1"/>
          <p:nvPr/>
        </p:nvSpPr>
        <p:spPr>
          <a:xfrm>
            <a:off x="523393" y="6474948"/>
            <a:ext cx="8682001" cy="369332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pt-BR" u="sng" dirty="0">
                <a:solidFill>
                  <a:srgbClr val="FFFF00"/>
                </a:solidFill>
                <a:latin typeface="Abadi" panose="020B0604020104020204" pitchFamily="34" charset="0"/>
              </a:rPr>
              <a:t>Essa ordem é importante para não perdemos quem é o fim!</a:t>
            </a:r>
          </a:p>
        </p:txBody>
      </p:sp>
    </p:spTree>
    <p:extLst>
      <p:ext uri="{BB962C8B-B14F-4D97-AF65-F5344CB8AC3E}">
        <p14:creationId xmlns:p14="http://schemas.microsoft.com/office/powerpoint/2010/main" val="4276180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6" grpId="0" animBg="1"/>
      <p:bldP spid="56" grpId="0" animBg="1"/>
      <p:bldP spid="57" grpId="0" animBg="1"/>
      <p:bldP spid="60" grpId="0" animBg="1"/>
      <p:bldP spid="61" grpId="0" animBg="1"/>
      <p:bldP spid="71" grpId="0" animBg="1"/>
      <p:bldP spid="72" grpId="0" animBg="1"/>
      <p:bldP spid="75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2">
      <a:dk1>
        <a:srgbClr val="0C101C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C67361DBE7D944AD858223D4CAF603" ma:contentTypeVersion="3" ma:contentTypeDescription="Crie um novo documento." ma:contentTypeScope="" ma:versionID="b2c010e37c8d437adfa72cc06fc89f10">
  <xsd:schema xmlns:xsd="http://www.w3.org/2001/XMLSchema" xmlns:xs="http://www.w3.org/2001/XMLSchema" xmlns:p="http://schemas.microsoft.com/office/2006/metadata/properties" xmlns:ns2="7b76103c-d6e0-4e2e-819a-fe104c886131" targetNamespace="http://schemas.microsoft.com/office/2006/metadata/properties" ma:root="true" ma:fieldsID="430cfa03dd1b8b020d8472fbc3b2d459" ns2:_="">
    <xsd:import namespace="7b76103c-d6e0-4e2e-819a-fe104c886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76103c-d6e0-4e2e-819a-fe104c8861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348DCC1-66A7-46BD-9CAC-CB18C6C18403}"/>
</file>

<file path=customXml/itemProps2.xml><?xml version="1.0" encoding="utf-8"?>
<ds:datastoreItem xmlns:ds="http://schemas.openxmlformats.org/officeDocument/2006/customXml" ds:itemID="{78A0B2F4-8026-4E2B-B6A3-637D388E2D91}"/>
</file>

<file path=customXml/itemProps3.xml><?xml version="1.0" encoding="utf-8"?>
<ds:datastoreItem xmlns:ds="http://schemas.openxmlformats.org/officeDocument/2006/customXml" ds:itemID="{9466A59C-4AFD-44C1-88CC-D0777C982009}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12684</TotalTime>
  <Words>1181</Words>
  <Application>Microsoft Office PowerPoint</Application>
  <PresentationFormat>Widescreen</PresentationFormat>
  <Paragraphs>288</Paragraphs>
  <Slides>13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1" baseType="lpstr">
      <vt:lpstr>Abadi</vt:lpstr>
      <vt:lpstr>Arial</vt:lpstr>
      <vt:lpstr>Calibri</vt:lpstr>
      <vt:lpstr>Calibri Light</vt:lpstr>
      <vt:lpstr>Cambria Math</vt:lpstr>
      <vt:lpstr>Consolas</vt:lpstr>
      <vt:lpstr>Wingdings</vt:lpstr>
      <vt:lpstr>Tema do Office</vt:lpstr>
      <vt:lpstr>Estrutura de Dados Aula 6: Listas lineares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Vinícius José Lopes Cursino</dc:creator>
  <cp:lastModifiedBy>Vinícius José Lopes Cursino</cp:lastModifiedBy>
  <cp:revision>153</cp:revision>
  <dcterms:created xsi:type="dcterms:W3CDTF">2024-11-05T22:56:10Z</dcterms:created>
  <dcterms:modified xsi:type="dcterms:W3CDTF">2026-02-24T18:10:00Z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0x01010068C67361DBE7D944AD858223D4CAF603</vt:lpwstr>
  </property>
</Properties>
</file>