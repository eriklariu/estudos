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44"/>
  </p:notesMasterIdLst>
  <p:sldIdLst>
    <p:sldId id="256" r:id="rId5"/>
    <p:sldId id="257" r:id="rId6"/>
    <p:sldId id="267" r:id="rId7"/>
    <p:sldId id="304" r:id="rId8"/>
    <p:sldId id="266" r:id="rId9"/>
    <p:sldId id="271" r:id="rId10"/>
    <p:sldId id="268" r:id="rId11"/>
    <p:sldId id="272" r:id="rId12"/>
    <p:sldId id="274" r:id="rId13"/>
    <p:sldId id="269" r:id="rId14"/>
    <p:sldId id="273" r:id="rId15"/>
    <p:sldId id="275" r:id="rId16"/>
    <p:sldId id="277" r:id="rId17"/>
    <p:sldId id="278" r:id="rId18"/>
    <p:sldId id="279" r:id="rId19"/>
    <p:sldId id="280" r:id="rId20"/>
    <p:sldId id="281" r:id="rId21"/>
    <p:sldId id="282" r:id="rId22"/>
    <p:sldId id="305" r:id="rId23"/>
    <p:sldId id="290" r:id="rId24"/>
    <p:sldId id="292" r:id="rId25"/>
    <p:sldId id="291" r:id="rId26"/>
    <p:sldId id="283" r:id="rId27"/>
    <p:sldId id="293" r:id="rId28"/>
    <p:sldId id="294" r:id="rId29"/>
    <p:sldId id="284" r:id="rId30"/>
    <p:sldId id="295" r:id="rId31"/>
    <p:sldId id="296" r:id="rId32"/>
    <p:sldId id="297" r:id="rId33"/>
    <p:sldId id="298" r:id="rId34"/>
    <p:sldId id="285" r:id="rId35"/>
    <p:sldId id="299" r:id="rId36"/>
    <p:sldId id="300" r:id="rId37"/>
    <p:sldId id="287" r:id="rId38"/>
    <p:sldId id="301" r:id="rId39"/>
    <p:sldId id="302" r:id="rId40"/>
    <p:sldId id="288" r:id="rId41"/>
    <p:sldId id="289" r:id="rId42"/>
    <p:sldId id="303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01C"/>
    <a:srgbClr val="181717"/>
    <a:srgbClr val="123D52"/>
    <a:srgbClr val="CFFEFF"/>
    <a:srgbClr val="1F6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B7344-8758-4923-BF9D-B590D61918F1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EDD73-88FC-478A-9AB9-3EF3A97C1D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70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212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0FC30-7917-6195-F821-A4EC1C7E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6E4824C-FC7F-AA91-3A94-CE14B9EDE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B342D19-70B6-A101-66DA-39A6FCCB1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017B19-AC3F-B4F1-A724-567CBA505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283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4583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947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CCC1F-8984-EBF1-C115-F6E2AEC2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C96EBB-62DE-411A-C49B-4E8675BD6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D2A203-FA1A-B406-B4F4-66AA57910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1F0DC9-ED21-3343-734D-36A8CAD65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EDD73-88FC-478A-9AB9-3EF3A97C1DDD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307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78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7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82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60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58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46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26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1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36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97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99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5F5F1-592D-4F5E-BEF8-26440F16569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926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ADF5B1-E9DA-EEF5-C245-EE90098EC5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7" b="6865"/>
          <a:stretch/>
        </p:blipFill>
        <p:spPr bwMode="auto">
          <a:xfrm>
            <a:off x="-129540" y="0"/>
            <a:ext cx="123215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920C71-0C6B-67A1-FA2E-EB93D6115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3429000"/>
            <a:ext cx="10272205" cy="2387600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Estrutura de Dados</a:t>
            </a:r>
            <a:br>
              <a:rPr lang="pt-BR" dirty="0">
                <a:latin typeface="Abadi" panose="020B0604020104020204" pitchFamily="34" charset="0"/>
              </a:rPr>
            </a:br>
            <a:r>
              <a:rPr lang="pt-BR" dirty="0">
                <a:latin typeface="Abadi" panose="020B0604020104020204" pitchFamily="34" charset="0"/>
              </a:rPr>
              <a:t>Aula 4: Complexidade: Parte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51ADBE-F611-60E0-63DF-674DC817D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5908675"/>
            <a:ext cx="7484705" cy="40079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Professor: Vinicius Cursino</a:t>
            </a:r>
          </a:p>
        </p:txBody>
      </p:sp>
    </p:spTree>
    <p:extLst>
      <p:ext uri="{BB962C8B-B14F-4D97-AF65-F5344CB8AC3E}">
        <p14:creationId xmlns:p14="http://schemas.microsoft.com/office/powerpoint/2010/main" val="20289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1822AD41-7E25-8658-28D6-7CDEC8D98F35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O que é a complexidade de um algoritmo?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307461-92DB-4E34-0A22-84CE9440B4D7}"/>
              </a:ext>
            </a:extLst>
          </p:cNvPr>
          <p:cNvSpPr txBox="1"/>
          <p:nvPr/>
        </p:nvSpPr>
        <p:spPr>
          <a:xfrm>
            <a:off x="102637" y="1006786"/>
            <a:ext cx="6186196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dirty="0">
                <a:latin typeface="Abadi" panose="020B0604020104020204" pitchFamily="34" charset="0"/>
              </a:rPr>
              <a:t>Quando estamos programando muitas vezes podemos questionar </a:t>
            </a:r>
            <a:r>
              <a:rPr lang="pt-BR" dirty="0">
                <a:solidFill>
                  <a:srgbClr val="FF0000"/>
                </a:solidFill>
                <a:latin typeface="Abadi" panose="020B0604020104020204" pitchFamily="34" charset="0"/>
              </a:rPr>
              <a:t>como o algoritmo poderia estar melhor? </a:t>
            </a:r>
            <a:r>
              <a:rPr lang="pt-BR" dirty="0">
                <a:latin typeface="Abadi" panose="020B0604020104020204" pitchFamily="34" charset="0"/>
              </a:rPr>
              <a:t>Mas antes mesmo de responder essa pergunta precisamos entender </a:t>
            </a:r>
            <a:r>
              <a:rPr lang="pt-BR" dirty="0">
                <a:solidFill>
                  <a:srgbClr val="FF0000"/>
                </a:solidFill>
                <a:latin typeface="Abadi" panose="020B0604020104020204" pitchFamily="34" charset="0"/>
              </a:rPr>
              <a:t>o que define</a:t>
            </a:r>
            <a:r>
              <a:rPr lang="pt-BR" dirty="0">
                <a:latin typeface="Abadi" panose="020B0604020104020204" pitchFamily="34" charset="0"/>
              </a:rPr>
              <a:t> um algoritmo </a:t>
            </a:r>
            <a:r>
              <a:rPr lang="pt-BR" dirty="0">
                <a:solidFill>
                  <a:srgbClr val="FF0000"/>
                </a:solidFill>
                <a:latin typeface="Abadi" panose="020B0604020104020204" pitchFamily="34" charset="0"/>
              </a:rPr>
              <a:t>“pior”</a:t>
            </a:r>
            <a:r>
              <a:rPr lang="pt-BR" dirty="0">
                <a:latin typeface="Abadi" panose="020B0604020104020204" pitchFamily="34" charset="0"/>
              </a:rPr>
              <a:t> ou </a:t>
            </a:r>
            <a:r>
              <a:rPr lang="pt-BR" dirty="0">
                <a:solidFill>
                  <a:srgbClr val="FF0000"/>
                </a:solidFill>
                <a:latin typeface="Abadi" panose="020B0604020104020204" pitchFamily="34" charset="0"/>
              </a:rPr>
              <a:t>“melhor”</a:t>
            </a:r>
            <a:r>
              <a:rPr lang="pt-BR" dirty="0">
                <a:latin typeface="Abadi" panose="020B0604020104020204" pitchFamily="34" charset="0"/>
              </a:rPr>
              <a:t>, o conceito de complexidade de algoritmo vem para conseguirmos estimar isso.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dirty="0">
              <a:latin typeface="Abadi" panose="020B0604020104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dirty="0">
                <a:latin typeface="Abadi" panose="020B0604020104020204" pitchFamily="34" charset="0"/>
              </a:rPr>
              <a:t>A complexidade de código refere-se ao nível de </a:t>
            </a:r>
            <a:r>
              <a:rPr lang="pt-BR" dirty="0">
                <a:solidFill>
                  <a:srgbClr val="FF0000"/>
                </a:solidFill>
                <a:latin typeface="Abadi" panose="020B0604020104020204" pitchFamily="34" charset="0"/>
              </a:rPr>
              <a:t>dificuldade</a:t>
            </a:r>
            <a:r>
              <a:rPr lang="pt-BR" dirty="0">
                <a:latin typeface="Abadi" panose="020B0604020104020204" pitchFamily="34" charset="0"/>
              </a:rPr>
              <a:t> envolvido em </a:t>
            </a:r>
            <a:r>
              <a:rPr lang="pt-BR" dirty="0">
                <a:solidFill>
                  <a:srgbClr val="FF0000"/>
                </a:solidFill>
                <a:latin typeface="Abadi" panose="020B0604020104020204" pitchFamily="34" charset="0"/>
              </a:rPr>
              <a:t>entender</a:t>
            </a:r>
            <a:r>
              <a:rPr lang="pt-BR" dirty="0">
                <a:latin typeface="Abadi" panose="020B0604020104020204" pitchFamily="34" charset="0"/>
              </a:rPr>
              <a:t>, </a:t>
            </a:r>
            <a:r>
              <a:rPr lang="pt-BR" dirty="0">
                <a:solidFill>
                  <a:srgbClr val="FF0000"/>
                </a:solidFill>
                <a:latin typeface="Abadi" panose="020B0604020104020204" pitchFamily="34" charset="0"/>
              </a:rPr>
              <a:t>manter</a:t>
            </a:r>
            <a:r>
              <a:rPr lang="pt-BR" dirty="0">
                <a:latin typeface="Abadi" panose="020B0604020104020204" pitchFamily="34" charset="0"/>
              </a:rPr>
              <a:t> e </a:t>
            </a:r>
            <a:r>
              <a:rPr lang="pt-BR" dirty="0">
                <a:solidFill>
                  <a:srgbClr val="FF0000"/>
                </a:solidFill>
                <a:latin typeface="Abadi" panose="020B0604020104020204" pitchFamily="34" charset="0"/>
              </a:rPr>
              <a:t>modificar</a:t>
            </a:r>
            <a:r>
              <a:rPr lang="pt-BR" dirty="0">
                <a:latin typeface="Abadi" panose="020B0604020104020204" pitchFamily="34" charset="0"/>
              </a:rPr>
              <a:t> um código.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dirty="0">
              <a:latin typeface="Abadi" panose="020B0604020104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dirty="0">
                <a:latin typeface="Abadi" panose="020B0604020104020204" pitchFamily="34" charset="0"/>
              </a:rPr>
              <a:t>Ela é uma métrica que avalia os recursos necessários para trabalhar no código, considerando fatores como o número de linhas, a profundidade de estruturas de controle aninhadas, a quantidade de loops e condicionais, e a complexidade dos algoritmos e estruturas de dados empregados. Esses elementos impactam diretamente na clareza e na facilidade de manutenção do sistema.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</p:txBody>
      </p:sp>
      <p:pic>
        <p:nvPicPr>
          <p:cNvPr id="1026" name="Picture 2" descr="What is Code Complexity and How Is It Measured?">
            <a:extLst>
              <a:ext uri="{FF2B5EF4-FFF2-40B4-BE49-F238E27FC236}">
                <a16:creationId xmlns:a16="http://schemas.microsoft.com/office/drawing/2014/main" id="{B93EA088-C44E-2800-C8FF-88BBED950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974" y="842331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383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D7E06-18AF-512E-0F7E-57B89D736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C585CD18-CB58-ECCD-5F3A-659E782A0A3A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Quais os tipos de complexidade?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BF3BAD4-D503-1A28-C5E4-06E31FFE2F10}"/>
              </a:ext>
            </a:extLst>
          </p:cNvPr>
          <p:cNvSpPr txBox="1"/>
          <p:nvPr/>
        </p:nvSpPr>
        <p:spPr>
          <a:xfrm>
            <a:off x="147735" y="872466"/>
            <a:ext cx="1189653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badi" panose="020B0604020104020204" pitchFamily="34" charset="0"/>
              </a:rPr>
              <a:t>Quando falamos de complexidade de código, estamos nos referindo a diferentes aspectos que influenciam a eficiência e a qualidade de um algoritmo. Esses aspectos podem ser classificados em tipos de complexidade, cada um abordando um aspecto específico do desempenho do código.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</p:txBody>
      </p:sp>
      <p:pic>
        <p:nvPicPr>
          <p:cNvPr id="1028" name="Picture 4" descr="Part 5 — Managing Growth — Space Stone">
            <a:extLst>
              <a:ext uri="{FF2B5EF4-FFF2-40B4-BE49-F238E27FC236}">
                <a16:creationId xmlns:a16="http://schemas.microsoft.com/office/drawing/2014/main" id="{38419F7F-D7B0-E16B-EA82-CB79AF94C4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7"/>
          <a:stretch/>
        </p:blipFill>
        <p:spPr bwMode="auto">
          <a:xfrm>
            <a:off x="6202732" y="3651480"/>
            <a:ext cx="5755435" cy="313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3B5BAA3-C757-4196-91A5-2AD71E7B959B}"/>
              </a:ext>
            </a:extLst>
          </p:cNvPr>
          <p:cNvSpPr txBox="1"/>
          <p:nvPr/>
        </p:nvSpPr>
        <p:spPr>
          <a:xfrm>
            <a:off x="334172" y="2330525"/>
            <a:ext cx="54744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b="1" dirty="0">
                <a:latin typeface="Abadi" panose="020B0604020104020204" pitchFamily="34" charset="0"/>
              </a:rPr>
              <a:t>Complexidade de </a:t>
            </a:r>
            <a:r>
              <a:rPr lang="pt-BR" b="1" dirty="0">
                <a:solidFill>
                  <a:srgbClr val="00B050"/>
                </a:solidFill>
                <a:latin typeface="Abadi" panose="020B0604020104020204" pitchFamily="34" charset="0"/>
              </a:rPr>
              <a:t>Tempo</a:t>
            </a:r>
            <a:r>
              <a:rPr lang="pt-BR" dirty="0">
                <a:latin typeface="Abadi" panose="020B0604020104020204" pitchFamily="34" charset="0"/>
              </a:rPr>
              <a:t>: Mede quanto tempo o algoritmo leva para executar, dependendo do tamanho da entrada. É essencial para avaliar a velocidade e o desempenho.</a:t>
            </a:r>
            <a:endParaRPr lang="pt-BR" dirty="0"/>
          </a:p>
        </p:txBody>
      </p:sp>
      <p:pic>
        <p:nvPicPr>
          <p:cNvPr id="1030" name="Picture 6" descr="Time Stone | Marvel Cinematic Universe Wiki | Fandom">
            <a:extLst>
              <a:ext uri="{FF2B5EF4-FFF2-40B4-BE49-F238E27FC236}">
                <a16:creationId xmlns:a16="http://schemas.microsoft.com/office/drawing/2014/main" id="{DA68DF6A-CAEF-26D9-62C0-5DB79D178B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7"/>
          <a:stretch/>
        </p:blipFill>
        <p:spPr bwMode="auto">
          <a:xfrm>
            <a:off x="334173" y="3651480"/>
            <a:ext cx="5474453" cy="313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73D20B9-E87F-F5DC-03CC-1432B8059356}"/>
              </a:ext>
            </a:extLst>
          </p:cNvPr>
          <p:cNvSpPr txBox="1"/>
          <p:nvPr/>
        </p:nvSpPr>
        <p:spPr>
          <a:xfrm>
            <a:off x="6056799" y="2330525"/>
            <a:ext cx="6047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b="1" dirty="0">
                <a:latin typeface="Abadi" panose="020B0604020104020204" pitchFamily="34" charset="0"/>
              </a:rPr>
              <a:t>Complexidade de </a:t>
            </a:r>
            <a:r>
              <a:rPr lang="pt-BR" b="1" dirty="0">
                <a:solidFill>
                  <a:srgbClr val="0070C0"/>
                </a:solidFill>
                <a:latin typeface="Abadi" panose="020B0604020104020204" pitchFamily="34" charset="0"/>
              </a:rPr>
              <a:t>Espaço</a:t>
            </a:r>
            <a:r>
              <a:rPr lang="pt-BR" dirty="0">
                <a:latin typeface="Abadi" panose="020B0604020104020204" pitchFamily="34" charset="0"/>
              </a:rPr>
              <a:t>: Mede a quantidade de memória ou recursos utilizados pelo algoritmo durante sua execução, um fator importante para sistemas com recursos limitados.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060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71CC-4C86-2F58-0EFC-4ED6A30A5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95D407F5-9EB9-1611-1524-A54B9EB3DB95}"/>
              </a:ext>
            </a:extLst>
          </p:cNvPr>
          <p:cNvSpPr/>
          <p:nvPr/>
        </p:nvSpPr>
        <p:spPr>
          <a:xfrm rot="16200000">
            <a:off x="2413391" y="-2250049"/>
            <a:ext cx="649458" cy="5476239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Tempo de execução (</a:t>
            </a:r>
            <a:r>
              <a:rPr lang="pt-BR" sz="3000" dirty="0" err="1">
                <a:latin typeface="Abadi" panose="020B0604020104020204" pitchFamily="34" charset="0"/>
              </a:rPr>
              <a:t>Runtime</a:t>
            </a:r>
            <a:r>
              <a:rPr lang="pt-BR" sz="3000" dirty="0">
                <a:latin typeface="Abadi" panose="020B0604020104020204" pitchFamily="34" charset="0"/>
              </a:rPr>
              <a:t>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F914D4-76DE-86A8-5388-6DA0BE9A095E}"/>
              </a:ext>
            </a:extLst>
          </p:cNvPr>
          <p:cNvSpPr txBox="1"/>
          <p:nvPr/>
        </p:nvSpPr>
        <p:spPr>
          <a:xfrm>
            <a:off x="147734" y="1106146"/>
            <a:ext cx="569426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Para entender completamente os algoritmos, precisamos entender como avaliar o tempo que um algoritmo precisa para fazer seu trabalho, o tempo de execução (</a:t>
            </a:r>
            <a:r>
              <a:rPr lang="pt-BR" dirty="0" err="1">
                <a:latin typeface="Abadi" panose="020B0604020104020204" pitchFamily="34" charset="0"/>
              </a:rPr>
              <a:t>runtime</a:t>
            </a:r>
            <a:r>
              <a:rPr lang="pt-BR" dirty="0">
                <a:latin typeface="Abadi" panose="020B0604020104020204" pitchFamily="34" charset="0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Explorar o tempo de execução dos algoritmos é importante porque usar um algoritmo ineficiente pode tornar nosso programa </a:t>
            </a:r>
            <a:r>
              <a:rPr lang="pt-BR" u="sng" dirty="0">
                <a:latin typeface="Abadi" panose="020B0604020104020204" pitchFamily="34" charset="0"/>
              </a:rPr>
              <a:t>lento</a:t>
            </a:r>
            <a:r>
              <a:rPr lang="pt-BR" dirty="0">
                <a:latin typeface="Abadi" panose="020B0604020104020204" pitchFamily="34" charset="0"/>
              </a:rPr>
              <a:t> ou até mesmo </a:t>
            </a:r>
            <a:r>
              <a:rPr lang="pt-BR" u="sng" dirty="0">
                <a:latin typeface="Abadi" panose="020B0604020104020204" pitchFamily="34" charset="0"/>
              </a:rPr>
              <a:t>inviável</a:t>
            </a:r>
            <a:r>
              <a:rPr lang="pt-BR" dirty="0">
                <a:latin typeface="Abadi" panose="020B0604020104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Ao entender o tempo de execução do algoritmo, podemos escolher o algoritmo certo para nossa necessidade e podemos fazer nossos programas rodarem mais rápido e lidar com maiores quantidades de dados de forma eficaz.</a:t>
            </a:r>
            <a:endParaRPr lang="pt-BR" sz="2000" dirty="0">
              <a:latin typeface="Abadi" panose="020B060402010402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5519E3D-1691-8C92-B1C3-394F87045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r="19667"/>
          <a:stretch/>
        </p:blipFill>
        <p:spPr>
          <a:xfrm>
            <a:off x="6350003" y="1106146"/>
            <a:ext cx="5505982" cy="513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134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20D0-EDF5-999D-78C2-765392BAA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AE328CCA-4821-4582-3731-F785120CA6A7}"/>
              </a:ext>
            </a:extLst>
          </p:cNvPr>
          <p:cNvSpPr/>
          <p:nvPr/>
        </p:nvSpPr>
        <p:spPr>
          <a:xfrm rot="16200000">
            <a:off x="3188249" y="-3024906"/>
            <a:ext cx="649458" cy="7025952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Tempo de execução (</a:t>
            </a:r>
            <a:r>
              <a:rPr lang="pt-BR" sz="3000" dirty="0" err="1">
                <a:latin typeface="Abadi" panose="020B0604020104020204" pitchFamily="34" charset="0"/>
              </a:rPr>
              <a:t>Runtime</a:t>
            </a:r>
            <a:r>
              <a:rPr lang="pt-BR" sz="3000" dirty="0">
                <a:latin typeface="Abadi" panose="020B0604020104020204" pitchFamily="34" charset="0"/>
              </a:rPr>
              <a:t>) exemplo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6C4689E-B0A8-6BC5-DCB1-B7B8CAE78756}"/>
                  </a:ext>
                </a:extLst>
              </p:cNvPr>
              <p:cNvSpPr txBox="1"/>
              <p:nvPr/>
            </p:nvSpPr>
            <p:spPr>
              <a:xfrm>
                <a:off x="147734" y="1106146"/>
                <a:ext cx="6487109" cy="4630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Se cada dado demorar 1 segundo para ser processado e há 1 milhão de dados, o tempo total será: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pt-BR" dirty="0">
                  <a:latin typeface="Abadi" panose="020B0604020104020204" pitchFamily="34" charset="0"/>
                </a:endParaRPr>
              </a:p>
              <a:p>
                <a:pPr lvl="1" algn="ctr"/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1.000.000×1=1.000.000</m:t>
                    </m:r>
                  </m:oMath>
                </a14:m>
                <a:r>
                  <a:rPr lang="pt-BR" sz="2000" dirty="0">
                    <a:latin typeface="Abadi" panose="020B0604020104020204" pitchFamily="34" charset="0"/>
                  </a:rPr>
                  <a:t> segundos</a:t>
                </a:r>
              </a:p>
              <a:p>
                <a:pPr lvl="1" algn="ctr"/>
                <a:endParaRPr lang="pt-BR" sz="2000" dirty="0">
                  <a:latin typeface="Abadi" panose="020B060402010402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Convertendo para outras unidades: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pt-BR" dirty="0">
                  <a:latin typeface="Abadi" panose="020B0604020104020204" pitchFamily="34" charset="0"/>
                </a:endParaRPr>
              </a:p>
              <a:p>
                <a:pPr lvl="1" algn="ctr"/>
                <a:r>
                  <a:rPr lang="pt-BR" sz="2000" dirty="0">
                    <a:latin typeface="Abadi" panose="020B0604020104020204" pitchFamily="34" charset="0"/>
                  </a:rPr>
                  <a:t>Minutos:</a:t>
                </a:r>
              </a:p>
              <a:p>
                <a:pPr lvl="1" algn="ctr"/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1.000.000÷60≈16.667 </m:t>
                    </m:r>
                  </m:oMath>
                </a14:m>
                <a:r>
                  <a:rPr lang="pt-BR" sz="2000" dirty="0">
                    <a:latin typeface="Abadi" panose="020B0604020104020204" pitchFamily="34" charset="0"/>
                  </a:rPr>
                  <a:t>minutos</a:t>
                </a:r>
              </a:p>
              <a:p>
                <a:pPr lvl="1" algn="ctr"/>
                <a:endParaRPr lang="pt-BR" sz="2000" dirty="0">
                  <a:latin typeface="Abadi" panose="020B0604020104020204" pitchFamily="34" charset="0"/>
                </a:endParaRPr>
              </a:p>
              <a:p>
                <a:pPr lvl="1" algn="ctr"/>
                <a:r>
                  <a:rPr lang="pt-BR" sz="2000" dirty="0">
                    <a:latin typeface="Abadi" panose="020B0604020104020204" pitchFamily="34" charset="0"/>
                  </a:rPr>
                  <a:t>Horas:</a:t>
                </a:r>
              </a:p>
              <a:p>
                <a:pPr lvl="1" algn="ctr"/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16.667÷60≈277,78 </m:t>
                    </m:r>
                  </m:oMath>
                </a14:m>
                <a:r>
                  <a:rPr lang="pt-BR" sz="2000" dirty="0">
                    <a:latin typeface="Abadi" panose="020B0604020104020204" pitchFamily="34" charset="0"/>
                  </a:rPr>
                  <a:t>horas</a:t>
                </a:r>
              </a:p>
              <a:p>
                <a:pPr lvl="1" algn="ctr"/>
                <a:endParaRPr lang="pt-BR" sz="2000" dirty="0">
                  <a:latin typeface="Abadi" panose="020B0604020104020204" pitchFamily="34" charset="0"/>
                </a:endParaRPr>
              </a:p>
              <a:p>
                <a:pPr lvl="1" algn="ctr"/>
                <a:r>
                  <a:rPr lang="pt-BR" sz="2000" dirty="0">
                    <a:latin typeface="Abadi" panose="020B0604020104020204" pitchFamily="34" charset="0"/>
                  </a:rPr>
                  <a:t>Dias:</a:t>
                </a:r>
              </a:p>
              <a:p>
                <a:pPr lvl="1" algn="ctr"/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277,78÷24≈11,57 </m:t>
                    </m:r>
                  </m:oMath>
                </a14:m>
                <a:r>
                  <a:rPr lang="pt-BR" sz="2000" dirty="0">
                    <a:latin typeface="Abadi" panose="020B0604020104020204" pitchFamily="34" charset="0"/>
                  </a:rPr>
                  <a:t>dias</a:t>
                </a: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6C4689E-B0A8-6BC5-DCB1-B7B8CAE78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4" y="1106146"/>
                <a:ext cx="6487109" cy="4630242"/>
              </a:xfrm>
              <a:prstGeom prst="rect">
                <a:avLst/>
              </a:prstGeom>
              <a:blipFill>
                <a:blip r:embed="rId2"/>
                <a:stretch>
                  <a:fillRect l="-564" t="-658" r="-846" b="-22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F0258ECC-3547-9FC7-D0FC-FFB66B8BD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447" y="972370"/>
            <a:ext cx="4897794" cy="4897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826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180B8-291A-4EEF-C333-501D420B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832C0BDD-D360-03E3-31C3-D4FBA906E806}"/>
              </a:ext>
            </a:extLst>
          </p:cNvPr>
          <p:cNvSpPr/>
          <p:nvPr/>
        </p:nvSpPr>
        <p:spPr>
          <a:xfrm rot="16200000">
            <a:off x="2723272" y="-2559930"/>
            <a:ext cx="649458" cy="6095999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O verdadeiro Tempo de execução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CDE64C8-1EB3-754E-BBF6-0624BBFE532E}"/>
              </a:ext>
            </a:extLst>
          </p:cNvPr>
          <p:cNvSpPr txBox="1"/>
          <p:nvPr/>
        </p:nvSpPr>
        <p:spPr>
          <a:xfrm>
            <a:off x="180547" y="974066"/>
            <a:ext cx="756137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badi" panose="020B0604020104020204" pitchFamily="34" charset="0"/>
              </a:rPr>
              <a:t>Ao considerar o tempo de execução para diferentes algoritmos, não veremos o tempo real que um algoritmo implementado usa para ser executado, e aqui está o porquê.</a:t>
            </a:r>
          </a:p>
          <a:p>
            <a:pPr algn="just"/>
            <a:endParaRPr lang="pt-BR" dirty="0">
              <a:latin typeface="Abadi" panose="020B0604020104020204" pitchFamily="34" charset="0"/>
            </a:endParaRPr>
          </a:p>
          <a:p>
            <a:pPr algn="just"/>
            <a:r>
              <a:rPr lang="pt-BR" dirty="0">
                <a:latin typeface="Abadi" panose="020B0604020104020204" pitchFamily="34" charset="0"/>
              </a:rPr>
              <a:t>Se implementarmos um algoritmo em uma linguagem de programação e executarmos esse programa, o tempo real que ele usará dependerá de muitos fatores: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A linguagem de programação usada para implementar o algoritmo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u="sng" dirty="0">
                <a:solidFill>
                  <a:srgbClr val="FF0000"/>
                </a:solidFill>
                <a:latin typeface="Abadi" panose="020B0604020104020204" pitchFamily="34" charset="0"/>
              </a:rPr>
              <a:t>Como o programador escreve o programa para o algoritmo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O compilador ou interpretador usado para que o algoritmo implementado possa ser executado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O hardware no computador em que o algoritmo está sendo executado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O sistema operacional e outras tarefas em andamento no computador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A quantidade de dados em que o algoritmo está trabalhando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  <a:p>
            <a:pPr algn="just"/>
            <a:r>
              <a:rPr lang="pt-BR" dirty="0">
                <a:latin typeface="Abadi" panose="020B0604020104020204" pitchFamily="34" charset="0"/>
              </a:rPr>
              <a:t>Com todos esses fatores diferentes desempenhando um papel no tempo de execução real de um algoritmo, como podemos saber se um algoritmo é mais rápido do que outro? Precisamos encontrar uma medida melhor de tempo de execução.</a:t>
            </a:r>
            <a:endParaRPr lang="pt-BR" sz="2000" dirty="0">
              <a:latin typeface="Abadi" panose="020B0604020104020204" pitchFamily="34" charset="0"/>
            </a:endParaRPr>
          </a:p>
        </p:txBody>
      </p:sp>
      <p:pic>
        <p:nvPicPr>
          <p:cNvPr id="5122" name="Picture 2" descr="Tool predicts how fast code will run on a chip | MIT News | Massachusetts  Institute of Technology">
            <a:extLst>
              <a:ext uri="{FF2B5EF4-FFF2-40B4-BE49-F238E27FC236}">
                <a16:creationId xmlns:a16="http://schemas.microsoft.com/office/drawing/2014/main" id="{352B4ACC-5FF1-A7F4-AA30-0324B128F9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89" r="16815"/>
          <a:stretch/>
        </p:blipFill>
        <p:spPr bwMode="auto">
          <a:xfrm>
            <a:off x="7881667" y="1056640"/>
            <a:ext cx="4150106" cy="5095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83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0328F-4377-0A7B-EA5E-C3FB115B6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43B8EDE3-3D8B-1C2B-B189-F8270949D682}"/>
              </a:ext>
            </a:extLst>
          </p:cNvPr>
          <p:cNvSpPr/>
          <p:nvPr/>
        </p:nvSpPr>
        <p:spPr>
          <a:xfrm rot="16200000">
            <a:off x="2241190" y="-2077847"/>
            <a:ext cx="649458" cy="513183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Complexidade de Tempo </a:t>
            </a:r>
            <a:r>
              <a:rPr lang="pt-BR" sz="1050" dirty="0">
                <a:latin typeface="Abadi" panose="020B0604020104020204" pitchFamily="34" charset="0"/>
              </a:rPr>
              <a:t>(Pt.1)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F7B9376-7D46-A2BF-6390-D948A91F11F7}"/>
              </a:ext>
            </a:extLst>
          </p:cNvPr>
          <p:cNvSpPr txBox="1"/>
          <p:nvPr/>
        </p:nvSpPr>
        <p:spPr>
          <a:xfrm>
            <a:off x="180547" y="974066"/>
            <a:ext cx="1169141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badi" panose="020B0604020104020204" pitchFamily="34" charset="0"/>
              </a:rPr>
              <a:t>Para avaliar e comparar diferentes algoritmos, em vez de olhar para o tempo de execução real de um algoritmo, faz mais sentido usar algo chamado complexidade de tempo.</a:t>
            </a:r>
          </a:p>
          <a:p>
            <a:pPr algn="just"/>
            <a:endParaRPr lang="pt-BR" dirty="0">
              <a:latin typeface="Abadi" panose="020B0604020104020204" pitchFamily="34" charset="0"/>
            </a:endParaRPr>
          </a:p>
          <a:p>
            <a:pPr algn="just"/>
            <a:r>
              <a:rPr lang="pt-BR" dirty="0">
                <a:latin typeface="Abadi" panose="020B0604020104020204" pitchFamily="34" charset="0"/>
              </a:rPr>
              <a:t>A complexidade de tempo é mais abstrata do que o tempo de execução real e não considera fatores como linguagem de programação ou hardware.</a:t>
            </a:r>
          </a:p>
          <a:p>
            <a:pPr algn="just"/>
            <a:endParaRPr lang="pt-BR" dirty="0">
              <a:latin typeface="Abadi" panose="020B0604020104020204" pitchFamily="34" charset="0"/>
            </a:endParaRPr>
          </a:p>
          <a:p>
            <a:pPr algn="just"/>
            <a:r>
              <a:rPr lang="pt-BR" dirty="0">
                <a:latin typeface="Abadi" panose="020B0604020104020204" pitchFamily="34" charset="0"/>
              </a:rPr>
              <a:t>A complexidade de tempo </a:t>
            </a:r>
            <a:r>
              <a:rPr lang="pt-BR" u="sng" dirty="0">
                <a:latin typeface="Abadi" panose="020B0604020104020204" pitchFamily="34" charset="0"/>
              </a:rPr>
              <a:t>é o número de operações necessárias para executar um algoritmo </a:t>
            </a:r>
            <a:r>
              <a:rPr lang="pt-BR" dirty="0">
                <a:latin typeface="Abadi" panose="020B0604020104020204" pitchFamily="34" charset="0"/>
              </a:rPr>
              <a:t>em grandes quantidades de dados. E o número de operações pode ser considerado como tempo porque </a:t>
            </a:r>
            <a:r>
              <a:rPr lang="pt-BR" u="sng" dirty="0">
                <a:latin typeface="Abadi" panose="020B0604020104020204" pitchFamily="34" charset="0"/>
              </a:rPr>
              <a:t>o computador usa algum tempo para cada operação</a:t>
            </a:r>
            <a:r>
              <a:rPr lang="pt-BR" dirty="0">
                <a:latin typeface="Abadi" panose="020B0604020104020204" pitchFamily="34" charset="0"/>
              </a:rPr>
              <a:t>.</a:t>
            </a:r>
            <a:endParaRPr lang="pt-BR" sz="2000" dirty="0">
              <a:latin typeface="Abadi" panose="020B0604020104020204" pitchFamily="34" charset="0"/>
            </a:endParaRPr>
          </a:p>
        </p:txBody>
      </p:sp>
      <p:pic>
        <p:nvPicPr>
          <p:cNvPr id="3074" name="Picture 2" descr="How to find time complexity of an algorithm? | Adrian Mejia Blog">
            <a:extLst>
              <a:ext uri="{FF2B5EF4-FFF2-40B4-BE49-F238E27FC236}">
                <a16:creationId xmlns:a16="http://schemas.microsoft.com/office/drawing/2014/main" id="{D9E82AE4-06C4-FB51-0628-B5E9CE80E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0" t="1587" r="13550" b="36837"/>
          <a:stretch/>
        </p:blipFill>
        <p:spPr bwMode="auto">
          <a:xfrm>
            <a:off x="2802526" y="3720654"/>
            <a:ext cx="6447453" cy="2982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93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68F3-51E7-78C5-F29B-CFAA1EA77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951BEA88-8522-A680-179A-EF1BD1A233DC}"/>
              </a:ext>
            </a:extLst>
          </p:cNvPr>
          <p:cNvSpPr/>
          <p:nvPr/>
        </p:nvSpPr>
        <p:spPr>
          <a:xfrm rot="16200000">
            <a:off x="2241190" y="-2077847"/>
            <a:ext cx="649458" cy="513183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Complexidade de Tempo </a:t>
            </a:r>
            <a:r>
              <a:rPr lang="pt-BR" sz="1050" dirty="0">
                <a:latin typeface="Abadi" panose="020B0604020104020204" pitchFamily="34" charset="0"/>
              </a:rPr>
              <a:t>(Pt.2)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6CA4882-0DB9-06B7-93F8-F05EB1DD4C38}"/>
              </a:ext>
            </a:extLst>
          </p:cNvPr>
          <p:cNvSpPr txBox="1"/>
          <p:nvPr/>
        </p:nvSpPr>
        <p:spPr>
          <a:xfrm>
            <a:off x="180547" y="974066"/>
            <a:ext cx="580970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Por exemplo, no algoritmo que encontra o menor valor em um </a:t>
            </a:r>
            <a:r>
              <a:rPr lang="pt-BR" sz="2000" dirty="0" err="1">
                <a:latin typeface="Abadi" panose="020B0604020104020204" pitchFamily="34" charset="0"/>
              </a:rPr>
              <a:t>array</a:t>
            </a:r>
            <a:r>
              <a:rPr lang="pt-BR" sz="2000" dirty="0">
                <a:latin typeface="Abadi" panose="020B0604020104020204" pitchFamily="34" charset="0"/>
              </a:rPr>
              <a:t>, cada valor no </a:t>
            </a:r>
            <a:r>
              <a:rPr lang="pt-BR" sz="2000" dirty="0" err="1">
                <a:latin typeface="Abadi" panose="020B0604020104020204" pitchFamily="34" charset="0"/>
              </a:rPr>
              <a:t>array</a:t>
            </a:r>
            <a:r>
              <a:rPr lang="pt-BR" sz="2000" dirty="0">
                <a:latin typeface="Abadi" panose="020B0604020104020204" pitchFamily="34" charset="0"/>
              </a:rPr>
              <a:t> deve ser comparado uma vez. Cada comparação pode ser considerada uma operação, e cada operação leva um certo tempo. 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dirty="0">
                <a:latin typeface="Abadi" panose="020B0604020104020204" pitchFamily="34" charset="0"/>
              </a:rPr>
              <a:t>Então o tempo total que o algoritmo precisa para encontrar o menor valor depende do número de valores no </a:t>
            </a:r>
            <a:r>
              <a:rPr lang="pt-BR" sz="2000" dirty="0" err="1">
                <a:latin typeface="Abadi" panose="020B0604020104020204" pitchFamily="34" charset="0"/>
              </a:rPr>
              <a:t>array</a:t>
            </a:r>
            <a:r>
              <a:rPr lang="pt-BR" sz="2000" dirty="0">
                <a:latin typeface="Abadi" panose="020B0604020104020204" pitchFamily="34" charset="0"/>
              </a:rPr>
              <a:t>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dirty="0">
                <a:latin typeface="Abadi" panose="020B0604020104020204" pitchFamily="34" charset="0"/>
              </a:rPr>
              <a:t>O tempo que leva para encontrar o menor valor é, portanto, linear com o número de valores. 100 valores resultam em 100 comparações, e 5000 valores resultam em 5000 comparações.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dirty="0">
                <a:latin typeface="Abadi" panose="020B0604020104020204" pitchFamily="34" charset="0"/>
              </a:rPr>
              <a:t>A relação entre o tempo e o número de valores no </a:t>
            </a:r>
            <a:r>
              <a:rPr lang="pt-BR" sz="2000" dirty="0" err="1">
                <a:latin typeface="Abadi" panose="020B0604020104020204" pitchFamily="34" charset="0"/>
              </a:rPr>
              <a:t>array</a:t>
            </a:r>
            <a:r>
              <a:rPr lang="pt-BR" sz="2000" dirty="0">
                <a:latin typeface="Abadi" panose="020B0604020104020204" pitchFamily="34" charset="0"/>
              </a:rPr>
              <a:t> é linear, e pode ser exibida em um gráfico como este:</a:t>
            </a:r>
            <a:endParaRPr lang="pt-BR" sz="2400" dirty="0">
              <a:latin typeface="Abadi" panose="020B0604020104020204" pitchFamily="34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37FBC0D-D493-8293-90CF-4C490E8D6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891" y="2546519"/>
            <a:ext cx="3991056" cy="388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CC00993-D9C5-3248-1D61-CED901AF5629}"/>
              </a:ext>
            </a:extLst>
          </p:cNvPr>
          <p:cNvSpPr txBox="1"/>
          <p:nvPr/>
        </p:nvSpPr>
        <p:spPr>
          <a:xfrm>
            <a:off x="6175567" y="607527"/>
            <a:ext cx="580970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dirty="0" err="1">
                <a:latin typeface="Abadi" panose="020B0604020104020204" pitchFamily="34" charset="0"/>
              </a:rPr>
              <a:t>Array</a:t>
            </a:r>
            <a:r>
              <a:rPr lang="pt-BR" sz="2000" dirty="0">
                <a:latin typeface="Abadi" panose="020B0604020104020204" pitchFamily="34" charset="0"/>
              </a:rPr>
              <a:t> 1: {6, 7, 8, 9, 10, 75, 8, 65, 40, 70}</a:t>
            </a:r>
          </a:p>
          <a:p>
            <a:pPr algn="ctr"/>
            <a:endParaRPr lang="pt-BR" sz="2000" dirty="0">
              <a:latin typeface="Abadi" panose="020B0604020104020204" pitchFamily="34" charset="0"/>
            </a:endParaRPr>
          </a:p>
          <a:p>
            <a:pPr algn="ctr"/>
            <a:r>
              <a:rPr lang="pt-BR" sz="2000" dirty="0" err="1">
                <a:latin typeface="Abadi" panose="020B0604020104020204" pitchFamily="34" charset="0"/>
              </a:rPr>
              <a:t>Array</a:t>
            </a:r>
            <a:r>
              <a:rPr lang="pt-BR" sz="2000" dirty="0">
                <a:latin typeface="Abadi" panose="020B0604020104020204" pitchFamily="34" charset="0"/>
              </a:rPr>
              <a:t> 2: {55, 54, 53, 9, 10, 5, 2, 1, 2, 95}</a:t>
            </a:r>
          </a:p>
          <a:p>
            <a:pPr algn="ctr"/>
            <a:endParaRPr lang="pt-BR" sz="2000" dirty="0">
              <a:latin typeface="Abadi" panose="020B0604020104020204" pitchFamily="34" charset="0"/>
            </a:endParaRPr>
          </a:p>
          <a:p>
            <a:pPr algn="ctr"/>
            <a:r>
              <a:rPr lang="pt-BR" sz="2000" dirty="0" err="1">
                <a:latin typeface="Abadi" panose="020B0604020104020204" pitchFamily="34" charset="0"/>
              </a:rPr>
              <a:t>Array</a:t>
            </a:r>
            <a:r>
              <a:rPr lang="pt-BR" sz="2000" dirty="0">
                <a:latin typeface="Abadi" panose="020B0604020104020204" pitchFamily="34" charset="0"/>
              </a:rPr>
              <a:t> 3: {1, 2, 3, 4, 5, 6, 7, 8, 9, 10, -101}</a:t>
            </a:r>
          </a:p>
          <a:p>
            <a:pPr algn="ctr"/>
            <a:endParaRPr lang="pt-BR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308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CDE18-7DAC-0DFC-DBAB-B993B3B35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BC5A166A-0EB4-E05A-D70E-72D038FF8A92}"/>
              </a:ext>
            </a:extLst>
          </p:cNvPr>
          <p:cNvSpPr/>
          <p:nvPr/>
        </p:nvSpPr>
        <p:spPr>
          <a:xfrm rot="16200000">
            <a:off x="2128913" y="-1965570"/>
            <a:ext cx="649458" cy="4907282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“Uma Operação"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BDD926C-9651-A97D-33BC-7FEEFEAD96D8}"/>
              </a:ext>
            </a:extLst>
          </p:cNvPr>
          <p:cNvSpPr txBox="1"/>
          <p:nvPr/>
        </p:nvSpPr>
        <p:spPr>
          <a:xfrm>
            <a:off x="180546" y="974066"/>
            <a:ext cx="1173464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u="sng" dirty="0">
                <a:latin typeface="Abadi" panose="020B0604020104020204" pitchFamily="34" charset="0"/>
              </a:rPr>
              <a:t>Uma operação </a:t>
            </a:r>
            <a:r>
              <a:rPr lang="pt-BR" sz="2000" dirty="0">
                <a:latin typeface="Abadi" panose="020B0604020104020204" pitchFamily="34" charset="0"/>
              </a:rPr>
              <a:t>pode ser entendida como uma </a:t>
            </a:r>
            <a:r>
              <a:rPr lang="pt-BR" sz="2000" u="sng" dirty="0">
                <a:latin typeface="Abadi" panose="020B0604020104020204" pitchFamily="34" charset="0"/>
              </a:rPr>
              <a:t>ação individual que o algoritmo realiza</a:t>
            </a:r>
            <a:r>
              <a:rPr lang="pt-BR" sz="2000" dirty="0">
                <a:latin typeface="Abadi" panose="020B0604020104020204" pitchFamily="34" charset="0"/>
              </a:rPr>
              <a:t>, como comparar dois elementos ou trocar seus valores.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Não importa se uma operação leva exatamente um ou vários ciclos de CPU; o importante é que essas ações podem ser abstraídas para facilitar o entendimento de como o algoritmo funciona.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Uma operação é considerada de </a:t>
            </a:r>
            <a:r>
              <a:rPr lang="pt-BR" sz="2000" u="sng" dirty="0">
                <a:latin typeface="Abadi" panose="020B0604020104020204" pitchFamily="34" charset="0"/>
              </a:rPr>
              <a:t>tempo constante</a:t>
            </a:r>
            <a:r>
              <a:rPr lang="pt-BR" sz="2000" dirty="0">
                <a:latin typeface="Abadi" panose="020B0604020104020204" pitchFamily="34" charset="0"/>
              </a:rPr>
              <a:t> se o tempo que ela leva não depende da quantidade de dados sendo processada (n).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Por exemplo, comparar dois elementos de um </a:t>
            </a:r>
            <a:r>
              <a:rPr lang="pt-BR" sz="2000" dirty="0" err="1">
                <a:latin typeface="Abadi" panose="020B0604020104020204" pitchFamily="34" charset="0"/>
              </a:rPr>
              <a:t>array</a:t>
            </a:r>
            <a:r>
              <a:rPr lang="pt-BR" sz="2000" dirty="0">
                <a:latin typeface="Abadi" panose="020B0604020104020204" pitchFamily="34" charset="0"/>
              </a:rPr>
              <a:t> ou trocá-los é uma operação de tempo constante porque leva o mesmo tempo, independentemente do tamanho do </a:t>
            </a:r>
            <a:r>
              <a:rPr lang="pt-BR" sz="2000" dirty="0" err="1">
                <a:latin typeface="Abadi" panose="020B0604020104020204" pitchFamily="34" charset="0"/>
              </a:rPr>
              <a:t>array</a:t>
            </a:r>
            <a:r>
              <a:rPr lang="pt-BR" sz="2000" dirty="0">
                <a:latin typeface="Abadi" panose="020B0604020104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Quando analisamos a complexidade de tempo de um algoritmo, não nos preocupamos com os detalhes de quantos ciclos uma operação específica leva. </a:t>
            </a:r>
            <a:r>
              <a:rPr lang="pt-BR" sz="2000" u="sng" dirty="0">
                <a:latin typeface="Abadi" panose="020B0604020104020204" pitchFamily="34" charset="0"/>
              </a:rPr>
              <a:t>O foco é no crescimento do número de operações à medida que o tamanho dos dados aumenta</a:t>
            </a:r>
            <a:r>
              <a:rPr lang="pt-BR" sz="2000" dirty="0">
                <a:latin typeface="Abadi" panose="020B06040201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5492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CDE18-7DAC-0DFC-DBAB-B993B3B35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BC5A166A-0EB4-E05A-D70E-72D038FF8A92}"/>
              </a:ext>
            </a:extLst>
          </p:cNvPr>
          <p:cNvSpPr/>
          <p:nvPr/>
        </p:nvSpPr>
        <p:spPr>
          <a:xfrm rot="16200000">
            <a:off x="2128913" y="-1965570"/>
            <a:ext cx="649458" cy="4907282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Notação Big 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BDD926C-9651-A97D-33BC-7FEEFEAD96D8}"/>
              </a:ext>
            </a:extLst>
          </p:cNvPr>
          <p:cNvSpPr txBox="1"/>
          <p:nvPr/>
        </p:nvSpPr>
        <p:spPr>
          <a:xfrm>
            <a:off x="180546" y="899418"/>
            <a:ext cx="117346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A notação Big O, também conhecida como notação assintótica, é uma ferramenta matemática que d</a:t>
            </a:r>
            <a:r>
              <a:rPr lang="pt-BR" u="sng" dirty="0">
                <a:latin typeface="Abadi" panose="020B0604020104020204" pitchFamily="34" charset="0"/>
              </a:rPr>
              <a:t>escreve a complexidade de um algoritmo</a:t>
            </a:r>
            <a:r>
              <a:rPr lang="pt-BR" dirty="0">
                <a:latin typeface="Abadi" panose="020B0604020104020204" pitchFamily="34" charset="0"/>
              </a:rPr>
              <a:t> ou a </a:t>
            </a:r>
            <a:r>
              <a:rPr lang="pt-BR" u="sng" dirty="0">
                <a:latin typeface="Abadi" panose="020B0604020104020204" pitchFamily="34" charset="0"/>
              </a:rPr>
              <a:t>eficiência</a:t>
            </a:r>
            <a:r>
              <a:rPr lang="pt-BR" dirty="0">
                <a:latin typeface="Abadi" panose="020B0604020104020204" pitchFamily="34" charset="0"/>
              </a:rPr>
              <a:t> de um código </a:t>
            </a:r>
            <a:r>
              <a:rPr lang="pt-BR" u="sng" dirty="0">
                <a:latin typeface="Abadi" panose="020B0604020104020204" pitchFamily="34" charset="0"/>
              </a:rPr>
              <a:t>em termos de tempo de execução e espaço</a:t>
            </a:r>
            <a:r>
              <a:rPr lang="pt-BR" dirty="0">
                <a:latin typeface="Abadi" panose="020B0604020104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Em ciência da computação, a notação Big O é usada mais especificamente para encontrar a </a:t>
            </a:r>
            <a:r>
              <a:rPr lang="pt-BR" u="sng" dirty="0">
                <a:latin typeface="Abadi" panose="020B0604020104020204" pitchFamily="34" charset="0"/>
              </a:rPr>
              <a:t>pior complexidade de tempo para um algoritmo.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A notação Big O usa uma letra maiúscula 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pt-BR" dirty="0">
                <a:latin typeface="Abadi" panose="020B0604020104020204" pitchFamily="34" charset="0"/>
              </a:rPr>
              <a:t> com parênteses 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O()</a:t>
            </a:r>
            <a:r>
              <a:rPr lang="pt-BR" dirty="0">
                <a:latin typeface="Abadi" panose="020B0604020104020204" pitchFamily="34" charset="0"/>
              </a:rPr>
              <a:t>, e dentro do parênteses há uma expressão que indica o tempo de execução do algoritmo.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O tempo de execução é geralmente expresso usando 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pt-BR" dirty="0">
                <a:latin typeface="Abadi" panose="020B0604020104020204" pitchFamily="34" charset="0"/>
              </a:rPr>
              <a:t>, que é o número de valores no conjunto de dados em que o algoritmo está trabalhando.</a:t>
            </a:r>
          </a:p>
        </p:txBody>
      </p:sp>
      <p:pic>
        <p:nvPicPr>
          <p:cNvPr id="1033" name="Picture 9" descr="Understanding Big O Notation">
            <a:extLst>
              <a:ext uri="{FF2B5EF4-FFF2-40B4-BE49-F238E27FC236}">
                <a16:creationId xmlns:a16="http://schemas.microsoft.com/office/drawing/2014/main" id="{68A5B8AA-84DA-01FE-30D4-518DB6FC7D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12"/>
          <a:stretch/>
        </p:blipFill>
        <p:spPr bwMode="auto">
          <a:xfrm>
            <a:off x="3320143" y="4272676"/>
            <a:ext cx="5551714" cy="258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3649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33B20-7923-CFA0-2B66-5A79DF94A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4C751449-117D-87C2-D976-0C60A8550174}"/>
              </a:ext>
            </a:extLst>
          </p:cNvPr>
          <p:cNvSpPr/>
          <p:nvPr/>
        </p:nvSpPr>
        <p:spPr>
          <a:xfrm rot="16200000">
            <a:off x="2852345" y="-2689002"/>
            <a:ext cx="649458" cy="635414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Tip</a:t>
            </a:r>
            <a:r>
              <a:rPr lang="pt-BR" sz="3000" dirty="0">
                <a:latin typeface="Abadi" panose="020B0604020104020204" pitchFamily="34" charset="0"/>
              </a:rPr>
              <a:t>os de Big O: 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pt-BR" sz="3000" dirty="0">
                <a:latin typeface="Abadi" panose="020B0604020104020204" pitchFamily="34" charset="0"/>
              </a:rPr>
              <a:t>(1)</a:t>
            </a:r>
            <a:r>
              <a:rPr lang="pt-BR" sz="1100" dirty="0">
                <a:latin typeface="Abadi" panose="020B0604020104020204" pitchFamily="34" charset="0"/>
              </a:rPr>
              <a:t> 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5BC3D72-12A8-855A-B518-C7279C5E5DE7}"/>
              </a:ext>
            </a:extLst>
          </p:cNvPr>
          <p:cNvSpPr txBox="1"/>
          <p:nvPr/>
        </p:nvSpPr>
        <p:spPr>
          <a:xfrm>
            <a:off x="180546" y="899418"/>
            <a:ext cx="11837283" cy="1846659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Definição: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O(1)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, ou tempo constante, é uma classificação da complexidade de tempo de um algoritmo que indica que ele sempre leva o mesmo tempo para ser executado, independentemente do tamanho da entrada (n).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Isso significa que o número de operações realizadas pelo algoritmo não depende do tamanho dos dados de entrada.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2D15ACE-BDCB-DE38-B30C-302939753531}"/>
              </a:ext>
            </a:extLst>
          </p:cNvPr>
          <p:cNvSpPr txBox="1"/>
          <p:nvPr/>
        </p:nvSpPr>
        <p:spPr>
          <a:xfrm>
            <a:off x="180546" y="3003927"/>
            <a:ext cx="11837283" cy="2954655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Características: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Tamanho da entrada não afeta o tempo de execução:</a:t>
            </a:r>
          </a:p>
          <a:p>
            <a:pPr lvl="1" algn="just"/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Se o algoritmo processar 10, 1000 ou 1 milhão de elementos, o tempo de execução será igual.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Execução é previsível:</a:t>
            </a:r>
          </a:p>
          <a:p>
            <a:pPr lvl="1" algn="just"/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 número de passos realizados pelo algoritmo é constante, fixo, e não cresce com o aumento de n.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Exemplo visual: Imagine uma gaveta com documentos.</a:t>
            </a:r>
          </a:p>
          <a:p>
            <a:pPr lvl="1" algn="just"/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Tempo constante (O(1)): Abrir a gaveta e pegar um documento específico, que sempre está na mesma posição, leva o mesmo tempo, não importa quantos documentos estejam lá.</a:t>
            </a:r>
            <a:endParaRPr lang="pt-BR" sz="1400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29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94C9-0F44-F446-17C6-3C388FB1F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16BEEE3E-2640-01AA-DDDE-7213C74A6DF0}"/>
              </a:ext>
            </a:extLst>
          </p:cNvPr>
          <p:cNvSpPr/>
          <p:nvPr/>
        </p:nvSpPr>
        <p:spPr>
          <a:xfrm rot="16200000">
            <a:off x="2852345" y="-2689002"/>
            <a:ext cx="649458" cy="635414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Exemplos de 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pt-BR" sz="3000" dirty="0">
                <a:latin typeface="Abadi" panose="020B0604020104020204" pitchFamily="34" charset="0"/>
              </a:rPr>
              <a:t>(1)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D0E9371-D418-5FFD-0BE7-726F51031E19}"/>
              </a:ext>
            </a:extLst>
          </p:cNvPr>
          <p:cNvSpPr txBox="1"/>
          <p:nvPr/>
        </p:nvSpPr>
        <p:spPr>
          <a:xfrm>
            <a:off x="174170" y="3312893"/>
            <a:ext cx="11837283" cy="2677656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pt-BR" sz="2400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algn="just"/>
            <a:endParaRPr lang="pt-BR" sz="2400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algn="just"/>
            <a:endParaRPr lang="pt-BR" sz="2400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algn="just"/>
            <a:endParaRPr lang="pt-BR" sz="2400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algn="just"/>
            <a:endParaRPr lang="pt-BR" sz="2400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algn="just"/>
            <a:endParaRPr lang="pt-BR" sz="2400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algn="just"/>
            <a:endParaRPr lang="pt-BR" sz="2400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526D068-2890-D774-9C61-9CC4099F76CB}"/>
              </a:ext>
            </a:extLst>
          </p:cNvPr>
          <p:cNvSpPr txBox="1"/>
          <p:nvPr/>
        </p:nvSpPr>
        <p:spPr>
          <a:xfrm>
            <a:off x="180546" y="899418"/>
            <a:ext cx="11837283" cy="2123658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Exemplos práticos de O(1):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Acessar um elemento de um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array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:</a:t>
            </a:r>
          </a:p>
          <a:p>
            <a:pPr lvl="1" algn="just"/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Quando você acessa o elemento </a:t>
            </a:r>
            <a:r>
              <a:rPr lang="pt-BR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array</a:t>
            </a:r>
            <a:r>
              <a:rPr lang="pt-BR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[5]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, o programa vai diretamente para a posição desejada, sem necessidade de percorrer o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array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. Essa operação é feita em tempo constante.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Atribuição de um valor a uma variável:</a:t>
            </a:r>
          </a:p>
          <a:p>
            <a:pPr lvl="1" algn="just"/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Operações como x = 5 ou y = x + 2 sempre levam o mesmo tempo, independentemente da entrada.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ED58D9A-ACF6-5514-860F-97F0B7EA7513}"/>
              </a:ext>
            </a:extLst>
          </p:cNvPr>
          <p:cNvSpPr txBox="1"/>
          <p:nvPr/>
        </p:nvSpPr>
        <p:spPr>
          <a:xfrm>
            <a:off x="180547" y="3774558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Acessar um elemento de um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array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43B60FA-5AF4-A860-11DA-87F49090E021}"/>
              </a:ext>
            </a:extLst>
          </p:cNvPr>
          <p:cNvSpPr txBox="1"/>
          <p:nvPr/>
        </p:nvSpPr>
        <p:spPr>
          <a:xfrm>
            <a:off x="180546" y="3312893"/>
            <a:ext cx="6181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Exemplos de código: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F13F82C-7112-4BA7-F19F-55D54A9BC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6" y="4194690"/>
            <a:ext cx="5793534" cy="171422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270C5BD-AB3A-9DD1-FB62-11B0F278A92E}"/>
              </a:ext>
            </a:extLst>
          </p:cNvPr>
          <p:cNvSpPr txBox="1"/>
          <p:nvPr/>
        </p:nvSpPr>
        <p:spPr>
          <a:xfrm>
            <a:off x="6200346" y="3774558"/>
            <a:ext cx="5817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 startAt="2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Verificar se um número é par: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018F2DA-72B0-CAEE-74C9-CFAE5715C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345" y="4172600"/>
            <a:ext cx="5558266" cy="17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57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9851D-27B2-ADC0-88FA-A12E7E647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211297C-7FED-64EC-A79F-DCF716D667E9}"/>
              </a:ext>
            </a:extLst>
          </p:cNvPr>
          <p:cNvSpPr/>
          <p:nvPr/>
        </p:nvSpPr>
        <p:spPr>
          <a:xfrm>
            <a:off x="0" y="1046480"/>
            <a:ext cx="12192000" cy="5811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426F2BF5-CC6D-AFDD-EA39-E3AD59DFD912}"/>
              </a:ext>
            </a:extLst>
          </p:cNvPr>
          <p:cNvSpPr/>
          <p:nvPr/>
        </p:nvSpPr>
        <p:spPr>
          <a:xfrm rot="16200000">
            <a:off x="2852345" y="-2689002"/>
            <a:ext cx="649458" cy="635414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Gráfico do</a:t>
            </a:r>
            <a:r>
              <a:rPr lang="pt-BR" sz="3000" dirty="0">
                <a:latin typeface="Abadi" panose="020B0604020104020204" pitchFamily="34" charset="0"/>
              </a:rPr>
              <a:t> 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pt-BR" sz="3000" dirty="0">
                <a:latin typeface="Abadi" panose="020B0604020104020204" pitchFamily="34" charset="0"/>
              </a:rPr>
              <a:t>(1)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9DCF736-0094-AA8F-D21A-8F1E924AD4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72" r="15305"/>
          <a:stretch/>
        </p:blipFill>
        <p:spPr>
          <a:xfrm>
            <a:off x="1739330" y="1046480"/>
            <a:ext cx="8713340" cy="579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945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1097F-AF65-244F-C884-652288EB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DF8851A5-DC2C-795B-AC1E-E0975E72D88B}"/>
              </a:ext>
            </a:extLst>
          </p:cNvPr>
          <p:cNvSpPr/>
          <p:nvPr/>
        </p:nvSpPr>
        <p:spPr>
          <a:xfrm rot="16200000">
            <a:off x="2852345" y="-2689002"/>
            <a:ext cx="649458" cy="635414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Tip</a:t>
            </a:r>
            <a:r>
              <a:rPr lang="pt-BR" sz="3000" dirty="0">
                <a:latin typeface="Abadi" panose="020B0604020104020204" pitchFamily="34" charset="0"/>
              </a:rPr>
              <a:t>os de Big O: 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pt-BR" sz="3000" dirty="0">
                <a:latin typeface="Abadi" panose="020B0604020104020204" pitchFamily="34" charset="0"/>
              </a:rPr>
              <a:t>(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pt-BR" sz="3000" dirty="0">
                <a:latin typeface="Abadi" panose="020B0604020104020204" pitchFamily="34" charset="0"/>
              </a:rPr>
              <a:t>)</a:t>
            </a:r>
            <a:r>
              <a:rPr lang="pt-BR" sz="1100" dirty="0">
                <a:latin typeface="Abadi" panose="020B0604020104020204" pitchFamily="34" charset="0"/>
              </a:rPr>
              <a:t> 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0662A10-F59B-D4EA-F7B6-F823FC30369A}"/>
              </a:ext>
            </a:extLst>
          </p:cNvPr>
          <p:cNvSpPr txBox="1"/>
          <p:nvPr/>
        </p:nvSpPr>
        <p:spPr>
          <a:xfrm>
            <a:off x="180546" y="899418"/>
            <a:ext cx="11837283" cy="1846659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Definição: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O(</a:t>
            </a:r>
            <a:r>
              <a:rPr lang="pt-BR" dirty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)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, ou tempo linear, é uma classificação da complexidade de tempo de um algoritmo que indica que o tempo de execução cresce proporcionalmente ao tamanho da entrada (</a:t>
            </a:r>
            <a:r>
              <a:rPr lang="pt-BR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Isso significa que, se o tamanho da entrada dobra, o número de operações realizadas pelo algoritmo também dobra.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627D56-3990-5E88-A7E7-82E8680FB4B4}"/>
              </a:ext>
            </a:extLst>
          </p:cNvPr>
          <p:cNvSpPr txBox="1"/>
          <p:nvPr/>
        </p:nvSpPr>
        <p:spPr>
          <a:xfrm>
            <a:off x="177358" y="2942967"/>
            <a:ext cx="11837283" cy="3508653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Características: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Crescimento proporcional: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 número de operações realizadas pelo algoritmo aumenta de forma linear com o tamanho da entrada.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Se a entrada tiver 10 elementos, serão feitas 10 operações; com 100 elementos, serão 100 operações, e assim por diante.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Iteração única sobre a entrada: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Algoritmos O(n) geralmente percorrem cada elemento da entrada exatamente uma vez.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Exemplo visual: Imagine que você tem um arquivo com várias páginas.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Tempo linear (O(n)): Ler todas as páginas do arquivo uma a uma. Quanto mais páginas houver, mais tempo levará.</a:t>
            </a:r>
            <a:endParaRPr lang="pt-BR" sz="1400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221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BFD80-F218-8497-6034-1BACB248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6A49C0E0-52B2-2066-57ED-C65215B2BD4F}"/>
                  </a:ext>
                </a:extLst>
              </p:cNvPr>
              <p:cNvSpPr/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Exemplos de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6A49C0E0-52B2-2066-57ED-C65215B2B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2483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0D462FE7-299D-0F0F-0B3E-DF3D542ED0A6}"/>
              </a:ext>
            </a:extLst>
          </p:cNvPr>
          <p:cNvSpPr txBox="1"/>
          <p:nvPr/>
        </p:nvSpPr>
        <p:spPr>
          <a:xfrm>
            <a:off x="180546" y="899418"/>
            <a:ext cx="11837283" cy="2677656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Exemplos práticos de O(n):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Somar os elementos de um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array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Para calcular a soma, você precisa visitar cada elemento uma vez, independentemente do tamanho do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array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Encontrar o maior (ou menor) valor em uma lista: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é necessário comparar cada elemento para determinar o maior ou menor valor.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Percorrer uma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string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para contar caracteres: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Cada caractere precisa ser verificado, o que leva tempo proporcional ao tamanho da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string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6099AE-C0BE-C90F-90EA-86F374D40D38}"/>
              </a:ext>
            </a:extLst>
          </p:cNvPr>
          <p:cNvSpPr txBox="1"/>
          <p:nvPr/>
        </p:nvSpPr>
        <p:spPr>
          <a:xfrm>
            <a:off x="177358" y="3729704"/>
            <a:ext cx="11837283" cy="2123658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Por que O(n) é importante?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Comum em problemas do dia a dia:</a:t>
            </a:r>
          </a:p>
          <a:p>
            <a:pPr lvl="1" algn="just"/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Muitos problemas práticos, como somar valores, pesquisar em listas ou processar dados, exigem algoritmos lineares.</a:t>
            </a:r>
          </a:p>
          <a:p>
            <a:pPr algn="just"/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Eficiência razoável: </a:t>
            </a:r>
          </a:p>
          <a:p>
            <a:pPr lvl="1" algn="just"/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O(n) é escalável e pode ser processado rapidamente, desde que n não seja extremamente grande.</a:t>
            </a:r>
          </a:p>
        </p:txBody>
      </p:sp>
    </p:spTree>
    <p:extLst>
      <p:ext uri="{BB962C8B-B14F-4D97-AF65-F5344CB8AC3E}">
        <p14:creationId xmlns:p14="http://schemas.microsoft.com/office/powerpoint/2010/main" val="2918185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677D-73CB-312F-8E9B-BA22E8C37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43163B90-5E38-156E-94CB-AFC6D2B74031}"/>
              </a:ext>
            </a:extLst>
          </p:cNvPr>
          <p:cNvSpPr/>
          <p:nvPr/>
        </p:nvSpPr>
        <p:spPr>
          <a:xfrm rot="16200000">
            <a:off x="2852345" y="-2689002"/>
            <a:ext cx="649458" cy="635414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Exemplos de código de 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pt-BR" sz="3000" dirty="0">
                <a:latin typeface="Abadi" panose="020B0604020104020204" pitchFamily="34" charset="0"/>
              </a:rPr>
              <a:t>(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pt-BR" sz="3000" dirty="0">
                <a:latin typeface="Abadi" panose="020B0604020104020204" pitchFamily="34" charset="0"/>
              </a:rPr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1964D1-6680-DE63-E356-316B3CD9DE52}"/>
              </a:ext>
            </a:extLst>
          </p:cNvPr>
          <p:cNvSpPr txBox="1"/>
          <p:nvPr/>
        </p:nvSpPr>
        <p:spPr>
          <a:xfrm>
            <a:off x="292125" y="856869"/>
            <a:ext cx="601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Acessar um elemento de um </a:t>
            </a:r>
            <a:r>
              <a:rPr lang="pt-BR" sz="2400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array</a:t>
            </a:r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347B3C-9442-6ACB-BBD2-ED03F3610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25" y="1257032"/>
            <a:ext cx="6657315" cy="207263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BF4A6E1-3911-FDE6-3653-4411BD90ED64}"/>
              </a:ext>
            </a:extLst>
          </p:cNvPr>
          <p:cNvSpPr txBox="1"/>
          <p:nvPr/>
        </p:nvSpPr>
        <p:spPr>
          <a:xfrm>
            <a:off x="7833359" y="1693186"/>
            <a:ext cx="4273151" cy="1200329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badi" panose="020B0604020104020204" pitchFamily="34" charset="0"/>
              </a:rPr>
              <a:t>Por que é O(n)?</a:t>
            </a:r>
          </a:p>
          <a:p>
            <a:pPr algn="just"/>
            <a:r>
              <a:rPr lang="pt-BR" dirty="0">
                <a:latin typeface="Abadi" panose="020B0604020104020204" pitchFamily="34" charset="0"/>
              </a:rPr>
              <a:t>Cada elemento do </a:t>
            </a:r>
            <a:r>
              <a:rPr lang="pt-BR" dirty="0" err="1">
                <a:latin typeface="Abadi" panose="020B0604020104020204" pitchFamily="34" charset="0"/>
              </a:rPr>
              <a:t>array</a:t>
            </a:r>
            <a:r>
              <a:rPr lang="pt-BR" dirty="0">
                <a:latin typeface="Abadi" panose="020B0604020104020204" pitchFamily="34" charset="0"/>
              </a:rPr>
              <a:t> é visitado uma vez. Se o </a:t>
            </a:r>
            <a:r>
              <a:rPr lang="pt-BR" dirty="0" err="1">
                <a:latin typeface="Abadi" panose="020B0604020104020204" pitchFamily="34" charset="0"/>
              </a:rPr>
              <a:t>array</a:t>
            </a:r>
            <a:r>
              <a:rPr lang="pt-BR" dirty="0">
                <a:latin typeface="Abadi" panose="020B0604020104020204" pitchFamily="34" charset="0"/>
              </a:rPr>
              <a:t> tiver n elementos, o loop executará n iterações.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A8EC261E-CA6F-68B3-DDA3-FC66624C0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25" y="3978107"/>
            <a:ext cx="7358355" cy="2681064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6911244-4C60-E4E2-3B7E-71304E4E0F85}"/>
              </a:ext>
            </a:extLst>
          </p:cNvPr>
          <p:cNvSpPr txBox="1"/>
          <p:nvPr/>
        </p:nvSpPr>
        <p:spPr>
          <a:xfrm>
            <a:off x="7833359" y="4579975"/>
            <a:ext cx="4273151" cy="1477328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badi" panose="020B0604020104020204" pitchFamily="34" charset="0"/>
              </a:rPr>
              <a:t>Por que é O(n)?</a:t>
            </a:r>
          </a:p>
          <a:p>
            <a:pPr algn="just"/>
            <a:r>
              <a:rPr lang="pt-BR" dirty="0">
                <a:latin typeface="Abadi" panose="020B0604020104020204" pitchFamily="34" charset="0"/>
              </a:rPr>
              <a:t>O algoritmo compara cada elemento do </a:t>
            </a:r>
            <a:r>
              <a:rPr lang="pt-BR" dirty="0" err="1">
                <a:latin typeface="Abadi" panose="020B0604020104020204" pitchFamily="34" charset="0"/>
              </a:rPr>
              <a:t>array</a:t>
            </a:r>
            <a:r>
              <a:rPr lang="pt-BR" dirty="0">
                <a:latin typeface="Abadi" panose="020B0604020104020204" pitchFamily="34" charset="0"/>
              </a:rPr>
              <a:t> para encontrar o maior, e o número de comparações cresce linearmente com o tamanho do </a:t>
            </a:r>
            <a:r>
              <a:rPr lang="pt-BR" dirty="0" err="1">
                <a:latin typeface="Abadi" panose="020B0604020104020204" pitchFamily="34" charset="0"/>
              </a:rPr>
              <a:t>array</a:t>
            </a:r>
            <a:r>
              <a:rPr lang="pt-BR" dirty="0">
                <a:latin typeface="Abadi" panose="020B0604020104020204" pitchFamily="34" charset="0"/>
              </a:rPr>
              <a:t>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67B6BDD-B288-F932-1C1C-815A3BBED337}"/>
              </a:ext>
            </a:extLst>
          </p:cNvPr>
          <p:cNvSpPr txBox="1"/>
          <p:nvPr/>
        </p:nvSpPr>
        <p:spPr>
          <a:xfrm>
            <a:off x="334347" y="3528330"/>
            <a:ext cx="601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 startAt="2"/>
            </a:pPr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Encontrar o maior valor em um </a:t>
            </a:r>
            <a:r>
              <a:rPr lang="pt-BR" sz="2400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array</a:t>
            </a:r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2719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7BDE2-A0C2-7F3D-6646-97AB4300B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A2443D87-094E-BE7B-BD80-B7DE72EB8FD9}"/>
              </a:ext>
            </a:extLst>
          </p:cNvPr>
          <p:cNvSpPr/>
          <p:nvPr/>
        </p:nvSpPr>
        <p:spPr>
          <a:xfrm>
            <a:off x="0" y="1046480"/>
            <a:ext cx="12192000" cy="5811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4B8A241A-28C3-15B7-B052-EDB919580AD5}"/>
              </a:ext>
            </a:extLst>
          </p:cNvPr>
          <p:cNvSpPr/>
          <p:nvPr/>
        </p:nvSpPr>
        <p:spPr>
          <a:xfrm rot="16200000">
            <a:off x="2852345" y="-2689002"/>
            <a:ext cx="649458" cy="635414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Gráfico do</a:t>
            </a:r>
            <a:r>
              <a:rPr lang="pt-BR" sz="3000" dirty="0">
                <a:latin typeface="Abadi" panose="020B0604020104020204" pitchFamily="34" charset="0"/>
              </a:rPr>
              <a:t> 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pt-BR" sz="3000" dirty="0">
                <a:latin typeface="Abadi" panose="020B0604020104020204" pitchFamily="34" charset="0"/>
              </a:rPr>
              <a:t>(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pt-BR" sz="3000" dirty="0">
                <a:latin typeface="Abadi" panose="020B0604020104020204" pitchFamily="34" charset="0"/>
              </a:rPr>
              <a:t>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6DCCB24-2C02-3256-C106-B536523302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05" r="15458"/>
          <a:stretch/>
        </p:blipFill>
        <p:spPr>
          <a:xfrm>
            <a:off x="1797499" y="1086883"/>
            <a:ext cx="8597001" cy="574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82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09723-E00F-1647-F540-E0D2B294D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645B321C-87AE-C1F2-21A2-B1D970311183}"/>
                  </a:ext>
                </a:extLst>
              </p:cNvPr>
              <p:cNvSpPr/>
              <p:nvPr/>
            </p:nvSpPr>
            <p:spPr>
              <a:xfrm rot="16200000">
                <a:off x="1961272" y="-1797929"/>
                <a:ext cx="649458" cy="4571999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Tip</a:t>
                </a:r>
                <a:r>
                  <a:rPr lang="pt-BR" sz="3000" dirty="0">
                    <a:latin typeface="Abadi" panose="020B0604020104020204" pitchFamily="34" charset="0"/>
                  </a:rPr>
                  <a:t>os de Big O: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</m:t>
                    </m:r>
                    <m: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  <a:r>
                  <a:rPr lang="pt-BR" sz="1100" dirty="0">
                    <a:latin typeface="Abadi" panose="020B0604020104020204" pitchFamily="34" charset="0"/>
                  </a:rPr>
                  <a:t> </a:t>
                </a:r>
                <a:endParaRPr lang="pt-BR" sz="3000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645B321C-87AE-C1F2-21A2-B1D9703111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961272" y="-1797929"/>
                <a:ext cx="649458" cy="4571999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3444" t="-4505" r="-26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04F22093-FD0E-1F14-0E85-A5FF04992A5E}"/>
              </a:ext>
            </a:extLst>
          </p:cNvPr>
          <p:cNvSpPr txBox="1"/>
          <p:nvPr/>
        </p:nvSpPr>
        <p:spPr>
          <a:xfrm>
            <a:off x="99266" y="2733608"/>
            <a:ext cx="11915375" cy="4062651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Características: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Diminuição rápida da entrada: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Algoritmos O(log n) normalmente trabalham reduzindo o problema pela metade ou outra fração constante a cada etapa. Isso é típico em algoritmos que particionam os dados repetidamente.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Escalabilidade eficiente: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Um algoritmo logarítmico é extremamente eficiente para grandes conjuntos de dados, porque o número de operações cresce muito devagar.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Exemplo visual: Imagine que você tem um livro com 1024 páginas e está procurando por uma palavra em um índice organizado alfabeticamente: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Tempo logarítmico (O(log n)): Você abre o livro no meio, decide se a palavra está antes ou depois, e continua dividindo até encontrar a página. A cada passo, o número de páginas restantes a verificar é reduzido pela metade.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8E3F2D-8AC3-50F6-5E69-0F36B27DE479}"/>
              </a:ext>
            </a:extLst>
          </p:cNvPr>
          <p:cNvSpPr txBox="1"/>
          <p:nvPr/>
        </p:nvSpPr>
        <p:spPr>
          <a:xfrm>
            <a:off x="99266" y="886949"/>
            <a:ext cx="11915375" cy="1846659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Definição: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O(log n)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, ou tempo logarítmico, é uma classificação da complexidade de tempo de algoritmos onde o número de operações cresce de forma proporcional ao logaritmo do tamanho da entrada (n).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Isso significa que, à medida que o tamanho dos dados aumenta, o número de passos necessários cresce mais lentamente do que linearmente.</a:t>
            </a:r>
            <a:endParaRPr lang="pt-BR" sz="1400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994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A93F-BE2A-D13A-D2D2-5AEE99807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930C9C7F-25D4-809F-C683-0BF1E92F6EB9}"/>
                  </a:ext>
                </a:extLst>
              </p:cNvPr>
              <p:cNvSpPr/>
              <p:nvPr/>
            </p:nvSpPr>
            <p:spPr>
              <a:xfrm rot="16200000">
                <a:off x="1961272" y="-1797929"/>
                <a:ext cx="649458" cy="4571999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Tip</a:t>
                </a:r>
                <a:r>
                  <a:rPr lang="pt-BR" sz="3000" dirty="0">
                    <a:latin typeface="Abadi" panose="020B0604020104020204" pitchFamily="34" charset="0"/>
                  </a:rPr>
                  <a:t>os de Big O: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</m:t>
                    </m:r>
                    <m: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  <a:r>
                  <a:rPr lang="pt-BR" sz="1100" dirty="0">
                    <a:latin typeface="Abadi" panose="020B0604020104020204" pitchFamily="34" charset="0"/>
                  </a:rPr>
                  <a:t> </a:t>
                </a:r>
                <a:endParaRPr lang="pt-BR" sz="3000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645B321C-87AE-C1F2-21A2-B1D9703111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961272" y="-1797929"/>
                <a:ext cx="649458" cy="4571999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3"/>
                <a:stretch>
                  <a:fillRect l="-3444" t="-4505" r="-26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C4124DFF-0A3A-0C88-8BC4-8902DA6767B8}"/>
              </a:ext>
            </a:extLst>
          </p:cNvPr>
          <p:cNvSpPr txBox="1"/>
          <p:nvPr/>
        </p:nvSpPr>
        <p:spPr>
          <a:xfrm>
            <a:off x="99266" y="2733608"/>
            <a:ext cx="11915375" cy="4062651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Características: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Diminuição rápida da entrada: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Algoritmos O(log n) normalmente trabalham reduzindo o problema pela metade ou outra fração constante a cada etapa. Isso é típico em algoritmos que particionam os dados repetidamente.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Escalabilidade eficiente: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Um algoritmo logarítmico é extremamente eficiente para grandes conjuntos de dados, porque o número de operações cresce muito devagar.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Exemplo visual: Imagine que você tem um livro com 1024 páginas e está procurando por uma palavra em um índice organizado alfabeticamente: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Tempo logarítmico (O(log n)): Você abre o livro no meio, decide se a palavra está antes ou depois, e continua dividindo até encontrar a página. A cada passo, o número de páginas restantes a verificar é reduzido pela metade.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6B5D9F1-295A-022C-D32B-61A1FF33ACDB}"/>
              </a:ext>
            </a:extLst>
          </p:cNvPr>
          <p:cNvSpPr txBox="1"/>
          <p:nvPr/>
        </p:nvSpPr>
        <p:spPr>
          <a:xfrm>
            <a:off x="99266" y="886949"/>
            <a:ext cx="11915375" cy="1846659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Definição: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O(log n)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, ou tempo logarítmico, é uma classificação da complexidade de tempo de algoritmos onde o número de operações cresce de forma proporcional ao logaritmo do tamanho da entrada (n).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Isso significa que, à medida que o tamanho dos dados aumenta, o número de passos necessários cresce mais lentamente do que linearmente.</a:t>
            </a:r>
            <a:endParaRPr lang="pt-BR" sz="1400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84E0C2B-87B6-9906-8635-18601EE788CE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101C">
              <a:alpha val="8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9C0F7952-7B71-0EE3-E0BE-107604E79FE8}"/>
                  </a:ext>
                </a:extLst>
              </p:cNvPr>
              <p:cNvSpPr/>
              <p:nvPr/>
            </p:nvSpPr>
            <p:spPr>
              <a:xfrm>
                <a:off x="785156" y="711464"/>
                <a:ext cx="10543591" cy="5763981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i="1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5≈0,699</m:t>
                      </m:r>
                    </m:oMath>
                  </m:oMathPara>
                </a14:m>
                <a:endParaRPr lang="pt-BR" sz="2400" dirty="0">
                  <a:latin typeface="Abadi" panose="020B0604020104020204" pitchFamily="34" charset="0"/>
                </a:endParaRPr>
              </a:p>
              <a:p>
                <a:pPr algn="ctr"/>
                <a:endParaRPr lang="pt-BR" sz="2400" dirty="0">
                  <a:latin typeface="Abadi" panose="020B0604020104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i="1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⁡10=1</m:t>
                      </m:r>
                    </m:oMath>
                  </m:oMathPara>
                </a14:m>
                <a:endParaRPr lang="pt-BR" sz="2400" dirty="0">
                  <a:latin typeface="Abadi" panose="020B0604020104020204" pitchFamily="34" charset="0"/>
                </a:endParaRPr>
              </a:p>
              <a:p>
                <a:pPr algn="ctr"/>
                <a:endParaRPr lang="pt-BR" sz="2400" dirty="0">
                  <a:latin typeface="Abadi" panose="020B0604020104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i="1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⁡25≈1,398</m:t>
                      </m:r>
                    </m:oMath>
                  </m:oMathPara>
                </a14:m>
                <a:endParaRPr lang="pt-BR" sz="2400" dirty="0">
                  <a:latin typeface="Abadi" panose="020B0604020104020204" pitchFamily="34" charset="0"/>
                </a:endParaRPr>
              </a:p>
              <a:p>
                <a:pPr algn="ctr"/>
                <a:endParaRPr lang="pt-BR" sz="2400" dirty="0">
                  <a:latin typeface="Abadi" panose="020B0604020104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i="1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⁡100=2</m:t>
                      </m:r>
                    </m:oMath>
                  </m:oMathPara>
                </a14:m>
                <a:endParaRPr lang="pt-BR" sz="2400" dirty="0">
                  <a:latin typeface="Abadi" panose="020B0604020104020204" pitchFamily="34" charset="0"/>
                </a:endParaRPr>
              </a:p>
              <a:p>
                <a:pPr algn="ctr"/>
                <a:endParaRPr lang="pt-BR" sz="2400" dirty="0">
                  <a:latin typeface="Abadi" panose="020B0604020104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1500</m:t>
                          </m:r>
                        </m:e>
                      </m:func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≈3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176</m:t>
                      </m:r>
                    </m:oMath>
                  </m:oMathPara>
                </a14:m>
                <a:endParaRPr lang="pt-BR" sz="2400" dirty="0">
                  <a:latin typeface="Abadi" panose="020B0604020104020204" pitchFamily="34" charset="0"/>
                </a:endParaRPr>
              </a:p>
              <a:p>
                <a:pPr algn="ctr"/>
                <a:endParaRPr lang="pt-BR" dirty="0">
                  <a:latin typeface="Abadi" panose="020B0604020104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𝐿𝑜𝑔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000" dirty="0">
                    <a:latin typeface="Abadi" panose="020B0604020104020204" pitchFamily="34" charset="0"/>
                  </a:rPr>
                  <a:t> é sempre menor que N</a:t>
                </a:r>
              </a:p>
            </p:txBody>
          </p:sp>
        </mc:Choice>
        <mc:Fallback xmlns=""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9C0F7952-7B71-0EE3-E0BE-107604E79F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56" y="711464"/>
                <a:ext cx="10543591" cy="57639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tângulo: Cantos Superiores Recortados 6">
            <a:extLst>
              <a:ext uri="{FF2B5EF4-FFF2-40B4-BE49-F238E27FC236}">
                <a16:creationId xmlns:a16="http://schemas.microsoft.com/office/drawing/2014/main" id="{2DDF7606-DC1C-B4DA-56BB-A2C81697C2FC}"/>
              </a:ext>
            </a:extLst>
          </p:cNvPr>
          <p:cNvSpPr/>
          <p:nvPr/>
        </p:nvSpPr>
        <p:spPr>
          <a:xfrm rot="16200000">
            <a:off x="2960341" y="-1399226"/>
            <a:ext cx="649458" cy="4999827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0C101C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Mas de onde vem o Log?</a:t>
            </a:r>
            <a:endParaRPr lang="pt-BR" sz="3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00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E56D4-35C8-0EB2-88B4-7428BEB27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0522D279-53E7-258A-2BD8-6A51F5961A03}"/>
              </a:ext>
            </a:extLst>
          </p:cNvPr>
          <p:cNvSpPr/>
          <p:nvPr/>
        </p:nvSpPr>
        <p:spPr>
          <a:xfrm rot="16200000">
            <a:off x="1690684" y="-1527341"/>
            <a:ext cx="649458" cy="4030823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Exemplos de 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pt-BR" sz="3000" dirty="0">
                <a:latin typeface="Abadi" panose="020B0604020104020204" pitchFamily="34" charset="0"/>
              </a:rPr>
              <a:t>(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log n</a:t>
            </a:r>
            <a:r>
              <a:rPr lang="pt-BR" sz="3000" dirty="0">
                <a:latin typeface="Abadi" panose="020B0604020104020204" pitchFamily="34" charset="0"/>
              </a:rPr>
              <a:t>)</a:t>
            </a:r>
            <a:r>
              <a:rPr lang="pt-BR" sz="1100" dirty="0">
                <a:latin typeface="Abadi" panose="020B0604020104020204" pitchFamily="34" charset="0"/>
              </a:rPr>
              <a:t> 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7124901-FD64-68D0-9977-6CB4D22E9703}"/>
              </a:ext>
            </a:extLst>
          </p:cNvPr>
          <p:cNvSpPr txBox="1"/>
          <p:nvPr/>
        </p:nvSpPr>
        <p:spPr>
          <a:xfrm>
            <a:off x="180546" y="899418"/>
            <a:ext cx="11837283" cy="2677656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Exemplos práticos de O(log n):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Somar os elementos de um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array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Para calcular a soma, você precisa visitar cada elemento uma vez, independentemente do tamanho do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array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Encontrar o maior (ou menor) valor em uma lista: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é necessário comparar cada elemento para determinar o maior ou menor valor.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Percorrer uma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string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para contar caracteres: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Cada caractere precisa ser verificado, o que leva tempo proporcional ao tamanho da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string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971307-1734-0188-D19B-889E46371477}"/>
              </a:ext>
            </a:extLst>
          </p:cNvPr>
          <p:cNvSpPr txBox="1"/>
          <p:nvPr/>
        </p:nvSpPr>
        <p:spPr>
          <a:xfrm>
            <a:off x="177358" y="3729704"/>
            <a:ext cx="11837283" cy="2123658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Por que O(log n) é importante?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Comum em problemas do dia a dia:</a:t>
            </a:r>
          </a:p>
          <a:p>
            <a:pPr lvl="1" algn="just"/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Muitos problemas práticos, como somar valores, pesquisar em listas ou processar dados, exigem algoritmos lineares.</a:t>
            </a:r>
          </a:p>
          <a:p>
            <a:pPr algn="just"/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Eficiência razoável: </a:t>
            </a:r>
          </a:p>
          <a:p>
            <a:pPr lvl="1" algn="just"/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O(n) é escalável e pode ser processado rapidamente, desde que n não seja extremamente grande.</a:t>
            </a:r>
          </a:p>
        </p:txBody>
      </p:sp>
    </p:spTree>
    <p:extLst>
      <p:ext uri="{BB962C8B-B14F-4D97-AF65-F5344CB8AC3E}">
        <p14:creationId xmlns:p14="http://schemas.microsoft.com/office/powerpoint/2010/main" val="3567877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880FD-E581-3C65-1877-07C9FDE99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420BAE44-8BB9-AB59-BE40-3BAE64E167FC}"/>
              </a:ext>
            </a:extLst>
          </p:cNvPr>
          <p:cNvSpPr/>
          <p:nvPr/>
        </p:nvSpPr>
        <p:spPr>
          <a:xfrm rot="16200000">
            <a:off x="2964312" y="-2800970"/>
            <a:ext cx="649458" cy="6578081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Exemplos de código de 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pt-BR" sz="3000" dirty="0">
                <a:latin typeface="Abadi" panose="020B0604020104020204" pitchFamily="34" charset="0"/>
              </a:rPr>
              <a:t>(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log n</a:t>
            </a:r>
            <a:r>
              <a:rPr lang="pt-BR" sz="3000" dirty="0">
                <a:latin typeface="Abadi" panose="020B0604020104020204" pitchFamily="34" charset="0"/>
              </a:rPr>
              <a:t>)</a:t>
            </a:r>
            <a:r>
              <a:rPr lang="pt-BR" sz="3200" dirty="0">
                <a:latin typeface="Abadi" panose="020B0604020104020204" pitchFamily="34" charset="0"/>
              </a:rPr>
              <a:t> </a:t>
            </a:r>
            <a:r>
              <a:rPr lang="pt-BR" sz="1400" dirty="0">
                <a:latin typeface="Abadi" panose="020B0604020104020204" pitchFamily="34" charset="0"/>
              </a:rPr>
              <a:t>(Pt.1)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0DA3FCD-482D-38F2-E303-DAFDC47039CF}"/>
              </a:ext>
            </a:extLst>
          </p:cNvPr>
          <p:cNvSpPr txBox="1"/>
          <p:nvPr/>
        </p:nvSpPr>
        <p:spPr>
          <a:xfrm>
            <a:off x="292125" y="856869"/>
            <a:ext cx="91131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Encontrar o Maior Divisor de Dois Números (Algoritmo de Euclides)</a:t>
            </a:r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7980CE1-727B-54D5-5D9C-7C2B4159D773}"/>
              </a:ext>
            </a:extLst>
          </p:cNvPr>
          <p:cNvSpPr txBox="1"/>
          <p:nvPr/>
        </p:nvSpPr>
        <p:spPr>
          <a:xfrm>
            <a:off x="7799912" y="1362603"/>
            <a:ext cx="4199256" cy="1200329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badi" panose="020B0604020104020204" pitchFamily="34" charset="0"/>
              </a:rPr>
              <a:t>Por que é O(log n)?</a:t>
            </a:r>
          </a:p>
          <a:p>
            <a:pPr algn="just"/>
            <a:r>
              <a:rPr lang="pt-BR" dirty="0">
                <a:latin typeface="Abadi" panose="020B0604020104020204" pitchFamily="34" charset="0"/>
              </a:rPr>
              <a:t>A cada iteração, o tamanho do número b (o menor dos dois) é reduzido aproximadamente pela metade.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65F4036-6910-F708-EF6E-CFA41EB29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25" y="1362603"/>
            <a:ext cx="7405630" cy="509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47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225B-0349-7605-B51F-D68C58669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Superiores Recortados 8">
            <a:extLst>
              <a:ext uri="{FF2B5EF4-FFF2-40B4-BE49-F238E27FC236}">
                <a16:creationId xmlns:a16="http://schemas.microsoft.com/office/drawing/2014/main" id="{0B18BDAF-9625-D8C9-D272-97CAD6A759B3}"/>
              </a:ext>
            </a:extLst>
          </p:cNvPr>
          <p:cNvSpPr/>
          <p:nvPr/>
        </p:nvSpPr>
        <p:spPr>
          <a:xfrm rot="16200000">
            <a:off x="2936320" y="-2772978"/>
            <a:ext cx="649458" cy="6522097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Exemplos de código de 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pt-BR" sz="3000" dirty="0">
                <a:latin typeface="Abadi" panose="020B0604020104020204" pitchFamily="34" charset="0"/>
              </a:rPr>
              <a:t>(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log n</a:t>
            </a:r>
            <a:r>
              <a:rPr lang="pt-BR" sz="3000" dirty="0">
                <a:latin typeface="Abadi" panose="020B0604020104020204" pitchFamily="34" charset="0"/>
              </a:rPr>
              <a:t>) </a:t>
            </a:r>
            <a:r>
              <a:rPr lang="pt-BR" sz="1400" dirty="0">
                <a:latin typeface="Abadi" panose="020B0604020104020204" pitchFamily="34" charset="0"/>
              </a:rPr>
              <a:t>(Pt.2)</a:t>
            </a:r>
            <a:endParaRPr lang="pt-BR" sz="3000" dirty="0">
              <a:latin typeface="Abadi" panose="020B0604020104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CB0A001-769F-461D-3318-7D0C6ABB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5" y="1362602"/>
            <a:ext cx="5628243" cy="315341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E60EB58-B335-FF5D-19E2-DE5B4182B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310" y="1341279"/>
            <a:ext cx="6254622" cy="535338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58F4371-6C64-8B90-06FF-C252C2006EC9}"/>
              </a:ext>
            </a:extLst>
          </p:cNvPr>
          <p:cNvSpPr txBox="1"/>
          <p:nvPr/>
        </p:nvSpPr>
        <p:spPr>
          <a:xfrm>
            <a:off x="292125" y="856869"/>
            <a:ext cx="601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 startAt="2"/>
            </a:pPr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Busca Binária: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A76A71B-8F80-5BB8-7BFD-480AD16BEBA2}"/>
              </a:ext>
            </a:extLst>
          </p:cNvPr>
          <p:cNvSpPr txBox="1"/>
          <p:nvPr/>
        </p:nvSpPr>
        <p:spPr>
          <a:xfrm>
            <a:off x="792620" y="4560083"/>
            <a:ext cx="4273151" cy="923330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badi" panose="020B0604020104020204" pitchFamily="34" charset="0"/>
              </a:rPr>
              <a:t>Por que é O(log n)?</a:t>
            </a:r>
          </a:p>
          <a:p>
            <a:pPr algn="just"/>
            <a:r>
              <a:rPr lang="pt-BR" dirty="0">
                <a:latin typeface="Abadi" panose="020B0604020104020204" pitchFamily="34" charset="0"/>
              </a:rPr>
              <a:t>A cada iteração, o tamanho do problema é reduzido pela metade.</a:t>
            </a:r>
          </a:p>
        </p:txBody>
      </p:sp>
    </p:spTree>
    <p:extLst>
      <p:ext uri="{BB962C8B-B14F-4D97-AF65-F5344CB8AC3E}">
        <p14:creationId xmlns:p14="http://schemas.microsoft.com/office/powerpoint/2010/main" val="2547723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B2F549C-914A-082B-F8BE-20F813C63FC5}"/>
              </a:ext>
            </a:extLst>
          </p:cNvPr>
          <p:cNvSpPr/>
          <p:nvPr/>
        </p:nvSpPr>
        <p:spPr>
          <a:xfrm>
            <a:off x="0" y="1046480"/>
            <a:ext cx="12192000" cy="5811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Superiores Recortados 4">
            <a:extLst>
              <a:ext uri="{FF2B5EF4-FFF2-40B4-BE49-F238E27FC236}">
                <a16:creationId xmlns:a16="http://schemas.microsoft.com/office/drawing/2014/main" id="{FC98C4A1-6695-5120-3FD9-D3A9509CCA1B}"/>
              </a:ext>
            </a:extLst>
          </p:cNvPr>
          <p:cNvSpPr/>
          <p:nvPr/>
        </p:nvSpPr>
        <p:spPr>
          <a:xfrm rot="16200000">
            <a:off x="2852345" y="-2689002"/>
            <a:ext cx="649458" cy="635414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Gráfico do</a:t>
            </a:r>
            <a:r>
              <a:rPr lang="pt-BR" sz="3000" dirty="0">
                <a:latin typeface="Abadi" panose="020B0604020104020204" pitchFamily="34" charset="0"/>
              </a:rPr>
              <a:t> 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pt-BR" sz="3000" dirty="0">
                <a:latin typeface="Abadi" panose="020B0604020104020204" pitchFamily="34" charset="0"/>
              </a:rPr>
              <a:t>(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log n</a:t>
            </a:r>
            <a:r>
              <a:rPr lang="pt-BR" sz="3000" dirty="0">
                <a:latin typeface="Abadi" panose="020B0604020104020204" pitchFamily="34" charset="0"/>
              </a:rPr>
              <a:t>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4D5D944-B619-18B8-B210-E0AEA8E04B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81" r="15664"/>
          <a:stretch/>
        </p:blipFill>
        <p:spPr>
          <a:xfrm>
            <a:off x="1819469" y="1081894"/>
            <a:ext cx="8543110" cy="577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939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9249-CAF1-1A9B-60D2-F20D0418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E4BFA306-8BEF-2F27-82DE-5FC212EF6DE1}"/>
                  </a:ext>
                </a:extLst>
              </p:cNvPr>
              <p:cNvSpPr/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Tip</a:t>
                </a:r>
                <a:r>
                  <a:rPr lang="pt-BR" sz="3000" dirty="0">
                    <a:latin typeface="Abadi" panose="020B0604020104020204" pitchFamily="34" charset="0"/>
                  </a:rPr>
                  <a:t>os de Big O: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</m:t>
                    </m:r>
                    <m:r>
                      <a:rPr lang="pt-BR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  <a:r>
                  <a:rPr lang="pt-BR" sz="1100" dirty="0">
                    <a:latin typeface="Abadi" panose="020B0604020104020204" pitchFamily="34" charset="0"/>
                  </a:rPr>
                  <a:t> </a:t>
                </a:r>
                <a:endParaRPr lang="pt-BR" sz="3000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E4BFA306-8BEF-2F27-82DE-5FC212EF6D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2483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A90DEEEC-6DAD-5841-F6C7-791726C73B90}"/>
              </a:ext>
            </a:extLst>
          </p:cNvPr>
          <p:cNvSpPr txBox="1"/>
          <p:nvPr/>
        </p:nvSpPr>
        <p:spPr>
          <a:xfrm>
            <a:off x="99266" y="886949"/>
            <a:ext cx="11915375" cy="2954655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Definição: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O(n log n)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é uma classe de complexidade de tempo que descreve algoritmos cuja execução envolve duas etapas principais: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Uma parte linear (O(n)), que geralmente envolve iterar por todos os elementos de um conjunto de dados.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Uma parte logarítmica (O(log n)), que frequentemente aparece quando o problema é dividido em partes menores, como ocorre em algoritmos de divisão e conquista.</a:t>
            </a:r>
          </a:p>
          <a:p>
            <a:pPr marL="800100" lvl="1" indent="-342900" algn="just">
              <a:buFont typeface="+mj-lt"/>
              <a:buAutoNum type="arabicPeriod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Essa complexidade é comum em algoritmos de ordenação eficientes e é considerada o limite inferior teórico para algoritmos baseados em comparação.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8C12B21-9B59-3B03-ECB2-1DC2A305BF1D}"/>
              </a:ext>
            </a:extLst>
          </p:cNvPr>
          <p:cNvSpPr txBox="1"/>
          <p:nvPr/>
        </p:nvSpPr>
        <p:spPr>
          <a:xfrm>
            <a:off x="99265" y="4030563"/>
            <a:ext cx="11915375" cy="2677656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Características: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Escalabilidade razoável: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É mais eficiente que O(n²) para grandes volumes de dados.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Comum em algoritmos de ordenação e processamento hierárquico: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Exemplos incluem Merge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Sort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,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Heap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Sort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e Quick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Sort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no melhor e caso médio.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Estruturas de dados que envolvem árvores balanceadas: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Operações em árvores AVL ou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heaps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podem ter comportamento O(n log n) em situações específicas.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470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03B39-9670-4AC3-ADFB-17E03EC87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2E75E037-07F6-59EF-DAC1-BEFEEAFD8A62}"/>
                  </a:ext>
                </a:extLst>
              </p:cNvPr>
              <p:cNvSpPr/>
              <p:nvPr/>
            </p:nvSpPr>
            <p:spPr>
              <a:xfrm rot="16200000">
                <a:off x="2786772" y="-2623429"/>
                <a:ext cx="649458" cy="6222999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Exemplos de código de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t-BR" sz="3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3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</m:t>
                    </m:r>
                    <m:r>
                      <a:rPr lang="pt-BR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2E75E037-07F6-59EF-DAC1-BEFEEAFD8A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786772" y="-2623429"/>
                <a:ext cx="649458" cy="6222999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2534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>
            <a:extLst>
              <a:ext uri="{FF2B5EF4-FFF2-40B4-BE49-F238E27FC236}">
                <a16:creationId xmlns:a16="http://schemas.microsoft.com/office/drawing/2014/main" id="{F4291C59-78E8-C38D-2338-7A177BF4E412}"/>
              </a:ext>
            </a:extLst>
          </p:cNvPr>
          <p:cNvSpPr txBox="1"/>
          <p:nvPr/>
        </p:nvSpPr>
        <p:spPr>
          <a:xfrm>
            <a:off x="292124" y="856869"/>
            <a:ext cx="11187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Ordenação de pilha de documentos em ordem alfabética otimizada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D8F58C2-FDB0-A0F9-1B3F-C00EE228207F}"/>
              </a:ext>
            </a:extLst>
          </p:cNvPr>
          <p:cNvSpPr txBox="1"/>
          <p:nvPr/>
        </p:nvSpPr>
        <p:spPr>
          <a:xfrm>
            <a:off x="879820" y="2604797"/>
            <a:ext cx="10686361" cy="2585323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badi" panose="020B0604020104020204" pitchFamily="34" charset="0"/>
              </a:rPr>
              <a:t>Por que é O(n log n)?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Divisão Recursiva: O </a:t>
            </a:r>
            <a:r>
              <a:rPr lang="pt-BR" dirty="0" err="1">
                <a:latin typeface="Abadi" panose="020B0604020104020204" pitchFamily="34" charset="0"/>
              </a:rPr>
              <a:t>array</a:t>
            </a:r>
            <a:r>
              <a:rPr lang="pt-BR" dirty="0">
                <a:latin typeface="Abadi" panose="020B0604020104020204" pitchFamily="34" charset="0"/>
              </a:rPr>
              <a:t> é dividido ao meio repetidamente até que cada </a:t>
            </a:r>
            <a:r>
              <a:rPr lang="pt-BR" dirty="0" err="1">
                <a:latin typeface="Abadi" panose="020B0604020104020204" pitchFamily="34" charset="0"/>
              </a:rPr>
              <a:t>subarray</a:t>
            </a:r>
            <a:r>
              <a:rPr lang="pt-BR" dirty="0">
                <a:latin typeface="Abadi" panose="020B0604020104020204" pitchFamily="34" charset="0"/>
              </a:rPr>
              <a:t> contenha um único elemento (caso base da recursão).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latin typeface="Abadi" panose="020B0604020104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Combinação: Os </a:t>
            </a:r>
            <a:r>
              <a:rPr lang="pt-BR" dirty="0" err="1">
                <a:latin typeface="Abadi" panose="020B0604020104020204" pitchFamily="34" charset="0"/>
              </a:rPr>
              <a:t>subarrays</a:t>
            </a:r>
            <a:r>
              <a:rPr lang="pt-BR" dirty="0">
                <a:latin typeface="Abadi" panose="020B0604020104020204" pitchFamily="34" charset="0"/>
              </a:rPr>
              <a:t> menores são combinados em ordem crescente, formando </a:t>
            </a:r>
            <a:r>
              <a:rPr lang="pt-BR" dirty="0" err="1">
                <a:latin typeface="Abadi" panose="020B0604020104020204" pitchFamily="34" charset="0"/>
              </a:rPr>
              <a:t>subarrays</a:t>
            </a:r>
            <a:r>
              <a:rPr lang="pt-BR" dirty="0">
                <a:latin typeface="Abadi" panose="020B0604020104020204" pitchFamily="34" charset="0"/>
              </a:rPr>
              <a:t> maiores ordenados.</a:t>
            </a:r>
          </a:p>
          <a:p>
            <a:pPr marL="342900" indent="-342900" algn="just">
              <a:buFont typeface="+mj-lt"/>
              <a:buAutoNum type="arabicPeriod"/>
            </a:pPr>
            <a:endParaRPr lang="pt-BR" dirty="0">
              <a:latin typeface="Abadi" panose="020B0604020104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Complexidade: Cada divisão leva 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Log n</a:t>
            </a:r>
            <a:r>
              <a:rPr lang="pt-BR" dirty="0">
                <a:latin typeface="Abadi" panose="020B0604020104020204" pitchFamily="34" charset="0"/>
              </a:rPr>
              <a:t> passos, e cada combinação percorre os elementos do </a:t>
            </a:r>
            <a:r>
              <a:rPr lang="pt-BR" dirty="0" err="1">
                <a:latin typeface="Abadi" panose="020B0604020104020204" pitchFamily="34" charset="0"/>
              </a:rPr>
              <a:t>array</a:t>
            </a:r>
            <a:r>
              <a:rPr lang="pt-BR" dirty="0">
                <a:latin typeface="Abadi" panose="020B0604020104020204" pitchFamily="34" charset="0"/>
              </a:rPr>
              <a:t> (O(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n)</a:t>
            </a:r>
            <a:r>
              <a:rPr lang="pt-BR" dirty="0">
                <a:latin typeface="Abadi" panose="020B0604020104020204" pitchFamily="34" charset="0"/>
              </a:rPr>
              <a:t>). Portanto, a complexidade geral é O(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n Log n</a:t>
            </a:r>
            <a:r>
              <a:rPr lang="pt-BR" dirty="0">
                <a:latin typeface="Abadi" panose="020B0604020104020204" pitchFamily="34" charset="0"/>
              </a:rPr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404CE5E-D7A6-DF14-0D99-4C4E808DF257}"/>
                  </a:ext>
                </a:extLst>
              </p:cNvPr>
              <p:cNvSpPr txBox="1"/>
              <p:nvPr/>
            </p:nvSpPr>
            <p:spPr>
              <a:xfrm>
                <a:off x="253660" y="1269168"/>
                <a:ext cx="1168467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dirty="0">
                    <a:latin typeface="Abadi" panose="020B0604020104020204" pitchFamily="34" charset="0"/>
                  </a:rPr>
                  <a:t>Um exemplo clássico de um algoritmo com complexidade O(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𝐿𝑜𝑔</m:t>
                    </m:r>
                    <m:r>
                      <a:rPr lang="pt-B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⁡</m:t>
                    </m:r>
                    <m:r>
                      <a:rPr lang="pt-B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)  é o </a:t>
                </a:r>
                <a:r>
                  <a:rPr lang="pt-BR" u="sng" dirty="0">
                    <a:latin typeface="Abadi" panose="020B0604020104020204" pitchFamily="34" charset="0"/>
                  </a:rPr>
                  <a:t>Merge </a:t>
                </a:r>
                <a:r>
                  <a:rPr lang="pt-BR" u="sng" dirty="0" err="1">
                    <a:latin typeface="Abadi" panose="020B0604020104020204" pitchFamily="34" charset="0"/>
                  </a:rPr>
                  <a:t>Sort</a:t>
                </a:r>
                <a:r>
                  <a:rPr lang="pt-BR" dirty="0">
                    <a:latin typeface="Abadi" panose="020B0604020104020204" pitchFamily="34" charset="0"/>
                  </a:rPr>
                  <a:t>, que é usado para ordenar elementos. Podemos associá-lo a um cenário do mundo real, como organizar uma pilha de documentos em ordem alfabética.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404CE5E-D7A6-DF14-0D99-4C4E808DF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60" y="1269168"/>
                <a:ext cx="11684679" cy="923330"/>
              </a:xfrm>
              <a:prstGeom prst="rect">
                <a:avLst/>
              </a:prstGeom>
              <a:blipFill>
                <a:blip r:embed="rId3"/>
                <a:stretch>
                  <a:fillRect l="-470" t="-3289" r="-470" b="-9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1736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3AF6-BBBF-8765-1AE4-D5EFB060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F6BE833F-214A-27AA-D78E-4C27DD2D2915}"/>
              </a:ext>
            </a:extLst>
          </p:cNvPr>
          <p:cNvSpPr/>
          <p:nvPr/>
        </p:nvSpPr>
        <p:spPr>
          <a:xfrm>
            <a:off x="0" y="1046480"/>
            <a:ext cx="12192000" cy="5811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: Cantos Superiores Recortados 4">
                <a:extLst>
                  <a:ext uri="{FF2B5EF4-FFF2-40B4-BE49-F238E27FC236}">
                    <a16:creationId xmlns:a16="http://schemas.microsoft.com/office/drawing/2014/main" id="{B59E3C72-37F7-A763-4684-9424B704E127}"/>
                  </a:ext>
                </a:extLst>
              </p:cNvPr>
              <p:cNvSpPr/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Gráfico do</a:t>
                </a:r>
                <a:r>
                  <a:rPr lang="pt-BR" sz="3000" dirty="0">
                    <a:latin typeface="Abadi" panose="020B0604020104020204" pitchFamily="34" charset="0"/>
                  </a:rPr>
                  <a:t>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t-BR" sz="3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3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pt-BR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</m:t>
                    </m:r>
                    <m:r>
                      <a:rPr lang="pt-BR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Retângulo: Cantos Superiores Recortados 4">
                <a:extLst>
                  <a:ext uri="{FF2B5EF4-FFF2-40B4-BE49-F238E27FC236}">
                    <a16:creationId xmlns:a16="http://schemas.microsoft.com/office/drawing/2014/main" id="{B59E3C72-37F7-A763-4684-9424B704E1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2483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87630AE4-8195-89C6-E195-BAC827074A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22" t="438" r="15545"/>
          <a:stretch/>
        </p:blipFill>
        <p:spPr>
          <a:xfrm>
            <a:off x="1465716" y="1046480"/>
            <a:ext cx="8947247" cy="580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16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E43F6-FB30-4BAA-9268-EDA33A9B2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35C0809F-1D59-12C6-C0F9-F25CC81C5A91}"/>
                  </a:ext>
                </a:extLst>
              </p:cNvPr>
              <p:cNvSpPr/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Tip</a:t>
                </a:r>
                <a:r>
                  <a:rPr lang="pt-BR" sz="3000" dirty="0">
                    <a:latin typeface="Abadi" panose="020B0604020104020204" pitchFamily="34" charset="0"/>
                  </a:rPr>
                  <a:t>os de Big O: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  <a:r>
                  <a:rPr lang="pt-BR" sz="1100" dirty="0">
                    <a:latin typeface="Abadi" panose="020B0604020104020204" pitchFamily="34" charset="0"/>
                  </a:rPr>
                  <a:t> </a:t>
                </a:r>
                <a:endParaRPr lang="pt-BR" sz="3000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35C0809F-1D59-12C6-C0F9-F25CC81C5A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2483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EC70570-493F-A9FD-9792-47F4CF761353}"/>
                  </a:ext>
                </a:extLst>
              </p:cNvPr>
              <p:cNvSpPr txBox="1"/>
              <p:nvPr/>
            </p:nvSpPr>
            <p:spPr>
              <a:xfrm>
                <a:off x="99266" y="886949"/>
                <a:ext cx="11915375" cy="1569660"/>
              </a:xfrm>
              <a:prstGeom prst="rect">
                <a:avLst/>
              </a:prstGeom>
              <a:noFill/>
              <a:ln w="28575">
                <a:solidFill>
                  <a:srgbClr val="123D52"/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/>
                <a:r>
                  <a:rPr lang="pt-BR" sz="2400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Definição: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 A complexidade O</a:t>
                </a: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) também chamada de quadrática, descreve algoritmos cujo tempo de execução aumenta proporcionalmente ao quadrado do tamanho da entrada. Isso ocorre quando há dois loops aninhados iterando sobre a mesma entrada ou quando cada elemento precisa interagir com todos os outros elementos.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tx1"/>
                  </a:solidFill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EC70570-493F-A9FD-9792-47F4CF761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66" y="886949"/>
                <a:ext cx="11915375" cy="1569660"/>
              </a:xfrm>
              <a:prstGeom prst="rect">
                <a:avLst/>
              </a:prstGeom>
              <a:blipFill>
                <a:blip r:embed="rId3"/>
                <a:stretch>
                  <a:fillRect l="-663" t="-2281" r="-255"/>
                </a:stretch>
              </a:blipFill>
              <a:ln w="28575">
                <a:solidFill>
                  <a:srgbClr val="123D5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4F181E98-2CF9-FFEE-5945-8941CFE4275C}"/>
                  </a:ext>
                </a:extLst>
              </p:cNvPr>
              <p:cNvSpPr txBox="1"/>
              <p:nvPr/>
            </p:nvSpPr>
            <p:spPr>
              <a:xfrm>
                <a:off x="86565" y="2629274"/>
                <a:ext cx="11915375" cy="3785652"/>
              </a:xfrm>
              <a:prstGeom prst="rect">
                <a:avLst/>
              </a:prstGeom>
              <a:noFill/>
              <a:ln w="28575">
                <a:solidFill>
                  <a:srgbClr val="123D52"/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/>
                <a:r>
                  <a:rPr lang="pt-BR" sz="2400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Características:</a:t>
                </a:r>
                <a:endParaRPr lang="pt-BR" dirty="0">
                  <a:solidFill>
                    <a:schemeClr val="tx1"/>
                  </a:solidFill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Crescimento exponencial do tempo: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Pequenos aumentos no tamanho da entrada causam grandes aumentos no tempo de execução.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Exemplo: Para 10 elementos, o  algoritmo realiza 10 x 10 = 100 operações; Para cada 100 elementos, realiza 100 x 100 = 10000.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Cenários típicos: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Processamento ou comparação de todos os pares de elementos.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Operações sobre matrizes quadradas (n x n).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Ordenação como algoritmos simples, como Bubble </a:t>
                </a:r>
                <a:r>
                  <a:rPr lang="pt-BR" dirty="0" err="1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Sort</a:t>
                </a: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, </a:t>
                </a:r>
                <a:r>
                  <a:rPr lang="pt-BR" dirty="0" err="1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Insertion</a:t>
                </a: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pt-BR" dirty="0" err="1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Sort</a:t>
                </a: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 ou </a:t>
                </a:r>
                <a:r>
                  <a:rPr lang="pt-BR" dirty="0" err="1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Selection</a:t>
                </a: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pt-BR" dirty="0" err="1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Sort</a:t>
                </a: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Limitação Prática: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Algoritmos </a:t>
                </a:r>
                <a:r>
                  <a:rPr lang="pt-BR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18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18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)</a:t>
                </a:r>
                <a:r>
                  <a:rPr lang="pt-BR" sz="8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</a:t>
                </a:r>
                <a:r>
                  <a:rPr lang="pt-BR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</a:t>
                </a: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são viáveis para entradas pequenas, mas rapidamente tornam-se lentos à medida que n cresce. Para entradas grande sé essencial buscar soluções mais eficientes como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𝐿𝑜𝑔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⁡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18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ou </a:t>
                </a:r>
                <a14:m>
                  <m:oMath xmlns:m="http://schemas.openxmlformats.org/officeDocument/2006/math">
                    <m:r>
                      <a:rPr lang="pt-B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18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tx1"/>
                  </a:solidFill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4F181E98-2CF9-FFEE-5945-8941CFE42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5" y="2629274"/>
                <a:ext cx="11915375" cy="3785652"/>
              </a:xfrm>
              <a:prstGeom prst="rect">
                <a:avLst/>
              </a:prstGeom>
              <a:blipFill>
                <a:blip r:embed="rId4"/>
                <a:stretch>
                  <a:fillRect l="-663" t="-958" r="-255"/>
                </a:stretch>
              </a:blipFill>
              <a:ln w="28575">
                <a:solidFill>
                  <a:srgbClr val="123D5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2344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64314-45B1-0F9E-33A4-81FD174A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51EFB51C-F514-0F3D-A571-B49599A715E2}"/>
                  </a:ext>
                </a:extLst>
              </p:cNvPr>
              <p:cNvSpPr/>
              <p:nvPr/>
            </p:nvSpPr>
            <p:spPr>
              <a:xfrm rot="16200000">
                <a:off x="1580271" y="-1416929"/>
                <a:ext cx="649458" cy="3810000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Exemplos de</a:t>
                </a:r>
                <a:r>
                  <a:rPr lang="pt-BR" sz="3000" dirty="0">
                    <a:latin typeface="Abadi" panose="020B0604020104020204" pitchFamily="34" charset="0"/>
                  </a:rPr>
                  <a:t>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  <a:r>
                  <a:rPr lang="pt-BR" sz="1100" dirty="0">
                    <a:latin typeface="Abadi" panose="020B0604020104020204" pitchFamily="34" charset="0"/>
                  </a:rPr>
                  <a:t> </a:t>
                </a:r>
                <a:endParaRPr lang="pt-BR" sz="3000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51EFB51C-F514-0F3D-A571-B49599A715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580271" y="-1416929"/>
                <a:ext cx="649458" cy="3810000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4127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0A25FAA4-4375-F0FE-269A-6317A24346F4}"/>
                  </a:ext>
                </a:extLst>
              </p:cNvPr>
              <p:cNvSpPr txBox="1"/>
              <p:nvPr/>
            </p:nvSpPr>
            <p:spPr>
              <a:xfrm>
                <a:off x="138312" y="990974"/>
                <a:ext cx="11915375" cy="2954655"/>
              </a:xfrm>
              <a:prstGeom prst="rect">
                <a:avLst/>
              </a:prstGeom>
              <a:noFill/>
              <a:ln w="28575">
                <a:solidFill>
                  <a:srgbClr val="123D52"/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/>
                <a:r>
                  <a:rPr lang="pt-BR" sz="2400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Exemplos do mundo real:</a:t>
                </a:r>
                <a:endParaRPr lang="pt-BR" dirty="0">
                  <a:solidFill>
                    <a:schemeClr val="tx1"/>
                  </a:solidFill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Comparar todos os alunos em uma sala para formar grupos: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Se você tem n alunos e precisa formar pares de cada aluno com todos os outros, você faz n x (n – 1)/2 comparações, que cresce como </a:t>
                </a:r>
                <a:r>
                  <a:rPr lang="pt-BR" sz="18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18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)</a:t>
                </a:r>
                <a:r>
                  <a:rPr lang="pt-BR" sz="8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.</a:t>
                </a:r>
                <a:endParaRPr lang="pt-BR" dirty="0">
                  <a:solidFill>
                    <a:schemeClr val="tx1"/>
                  </a:solidFill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Simulação de forças gravitacionais entre planetas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Em um sistema com n corpos </a:t>
                </a:r>
                <a:r>
                  <a:rPr lang="pt-BR" dirty="0" err="1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celestres</a:t>
                </a: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, calcular as forças entre todos os pares de planetas requer n x n cálculos.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Verificar todas as combinações possíveis: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Encontrar dois produtos em uma lista que somem um valor especifico.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sz="1800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Simular todos os movimentos possíveis em um jogo de </a:t>
                </a:r>
                <a:r>
                  <a:rPr lang="pt-BR" sz="1800" dirty="0" err="1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tabulerio</a:t>
                </a:r>
                <a:r>
                  <a:rPr lang="pt-BR" sz="1800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.</a:t>
                </a:r>
                <a:endParaRPr lang="pt-BR" sz="1800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0A25FAA4-4375-F0FE-269A-6317A2434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12" y="990974"/>
                <a:ext cx="11915375" cy="2954655"/>
              </a:xfrm>
              <a:prstGeom prst="rect">
                <a:avLst/>
              </a:prstGeom>
              <a:blipFill>
                <a:blip r:embed="rId3"/>
                <a:stretch>
                  <a:fillRect l="-715" t="-1227" r="-255" b="-1840"/>
                </a:stretch>
              </a:blipFill>
              <a:ln w="28575">
                <a:solidFill>
                  <a:srgbClr val="123D5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2305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BAC0C-2A66-B8CB-BC45-3D9C465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1B181F95-45D0-30BB-7BEE-F639249D63D6}"/>
                  </a:ext>
                </a:extLst>
              </p:cNvPr>
              <p:cNvSpPr/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Exemplos de código de</a:t>
                </a:r>
                <a:r>
                  <a:rPr lang="pt-BR" sz="3000" dirty="0">
                    <a:latin typeface="Abadi" panose="020B0604020104020204" pitchFamily="34" charset="0"/>
                  </a:rPr>
                  <a:t>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  <a:r>
                  <a:rPr lang="pt-BR" sz="1100" dirty="0">
                    <a:latin typeface="Abadi" panose="020B0604020104020204" pitchFamily="34" charset="0"/>
                  </a:rPr>
                  <a:t> </a:t>
                </a:r>
                <a:endParaRPr lang="pt-BR" sz="3000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1B181F95-45D0-30BB-7BEE-F639249D63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2483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A305FFFF-3596-E225-206C-CDB426BD8910}"/>
              </a:ext>
            </a:extLst>
          </p:cNvPr>
          <p:cNvSpPr txBox="1"/>
          <p:nvPr/>
        </p:nvSpPr>
        <p:spPr>
          <a:xfrm>
            <a:off x="292124" y="856869"/>
            <a:ext cx="8470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Encontrar pares cuja soma seja igual a um valor específico: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C4171E6-5614-D409-D264-28C92F0E9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24" y="1318533"/>
            <a:ext cx="7672045" cy="34603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D895084-688C-3FCA-1F09-BA8DB739832F}"/>
                  </a:ext>
                </a:extLst>
              </p:cNvPr>
              <p:cNvSpPr txBox="1"/>
              <p:nvPr/>
            </p:nvSpPr>
            <p:spPr>
              <a:xfrm>
                <a:off x="8140700" y="1362603"/>
                <a:ext cx="3858468" cy="3416320"/>
              </a:xfrm>
              <a:prstGeom prst="rect">
                <a:avLst/>
              </a:prstGeom>
              <a:noFill/>
              <a:ln w="28575">
                <a:solidFill>
                  <a:srgbClr val="123D52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dirty="0">
                    <a:latin typeface="Abadi" panose="020B0604020104020204" pitchFamily="34" charset="0"/>
                  </a:rPr>
                  <a:t>Por que é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)?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Para cada elemento no </a:t>
                </a:r>
                <a:r>
                  <a:rPr lang="pt-BR" dirty="0" err="1">
                    <a:latin typeface="Abadi" panose="020B0604020104020204" pitchFamily="34" charset="0"/>
                  </a:rPr>
                  <a:t>array</a:t>
                </a:r>
                <a:r>
                  <a:rPr lang="pt-BR" dirty="0">
                    <a:latin typeface="Abadi" panose="020B0604020104020204" pitchFamily="34" charset="0"/>
                  </a:rPr>
                  <a:t> (loop externo), o algoritmo percorre os elementos restantes (loop interno)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Assim o total de operações é proporcional ao produto dos dois loops: aproximadamente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pt-BR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dirty="0">
                  <a:latin typeface="Abadi" panose="020B060402010402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Mesmo que o </a:t>
                </a:r>
                <a:r>
                  <a:rPr lang="pt-BR" dirty="0" err="1">
                    <a:latin typeface="Abadi" panose="020B0604020104020204" pitchFamily="34" charset="0"/>
                  </a:rPr>
                  <a:t>array</a:t>
                </a:r>
                <a:r>
                  <a:rPr lang="pt-BR" dirty="0">
                    <a:latin typeface="Abadi" panose="020B0604020104020204" pitchFamily="34" charset="0"/>
                  </a:rPr>
                  <a:t> tenha só 4 elementos no exemplo, para </a:t>
                </a:r>
                <a:r>
                  <a:rPr lang="pt-BR" dirty="0" err="1">
                    <a:latin typeface="Abadi" panose="020B0604020104020204" pitchFamily="34" charset="0"/>
                  </a:rPr>
                  <a:t>arrays</a:t>
                </a:r>
                <a:r>
                  <a:rPr lang="pt-BR" dirty="0">
                    <a:latin typeface="Abadi" panose="020B0604020104020204" pitchFamily="34" charset="0"/>
                  </a:rPr>
                  <a:t> maiores esse crescimento quadrático se trona evidente.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D895084-688C-3FCA-1F09-BA8DB7398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700" y="1362603"/>
                <a:ext cx="3858468" cy="3416320"/>
              </a:xfrm>
              <a:prstGeom prst="rect">
                <a:avLst/>
              </a:prstGeom>
              <a:blipFill>
                <a:blip r:embed="rId4"/>
                <a:stretch>
                  <a:fillRect l="-940" t="-531" r="-940" b="-1416"/>
                </a:stretch>
              </a:blipFill>
              <a:ln w="28575">
                <a:solidFill>
                  <a:srgbClr val="123D5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605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6DF3A-80EB-CA29-183A-474989543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07F654FD-13B4-4F13-3E49-424266E521CE}"/>
                  </a:ext>
                </a:extLst>
              </p:cNvPr>
              <p:cNvSpPr/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Exemplos de código de</a:t>
                </a:r>
                <a:r>
                  <a:rPr lang="pt-BR" sz="3000" dirty="0">
                    <a:latin typeface="Abadi" panose="020B0604020104020204" pitchFamily="34" charset="0"/>
                  </a:rPr>
                  <a:t>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  <a:r>
                  <a:rPr lang="pt-BR" sz="1100" dirty="0">
                    <a:latin typeface="Abadi" panose="020B0604020104020204" pitchFamily="34" charset="0"/>
                  </a:rPr>
                  <a:t> </a:t>
                </a:r>
                <a:endParaRPr lang="pt-BR" sz="3000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07F654FD-13B4-4F13-3E49-424266E521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2483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07BA1D3E-985E-43D1-E9F2-4CCBF3FB74EF}"/>
              </a:ext>
            </a:extLst>
          </p:cNvPr>
          <p:cNvSpPr txBox="1"/>
          <p:nvPr/>
        </p:nvSpPr>
        <p:spPr>
          <a:xfrm>
            <a:off x="292124" y="856869"/>
            <a:ext cx="8470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Encontrar pares cuja soma seja igual a um valor específico: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39F0FBB-B065-1B30-2652-6EBF8702845C}"/>
                  </a:ext>
                </a:extLst>
              </p:cNvPr>
              <p:cNvSpPr txBox="1"/>
              <p:nvPr/>
            </p:nvSpPr>
            <p:spPr>
              <a:xfrm>
                <a:off x="314324" y="5258327"/>
                <a:ext cx="11684844" cy="1200329"/>
              </a:xfrm>
              <a:prstGeom prst="rect">
                <a:avLst/>
              </a:prstGeom>
              <a:noFill/>
              <a:ln w="28575">
                <a:solidFill>
                  <a:srgbClr val="123D52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dirty="0">
                    <a:latin typeface="Abadi" panose="020B0604020104020204" pitchFamily="34" charset="0"/>
                  </a:rPr>
                  <a:t>Por que é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)?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O loop externo percorre cada elemento do </a:t>
                </a:r>
                <a:r>
                  <a:rPr lang="pt-BR" dirty="0" err="1">
                    <a:latin typeface="Abadi" panose="020B0604020104020204" pitchFamily="34" charset="0"/>
                  </a:rPr>
                  <a:t>arrray</a:t>
                </a:r>
                <a:r>
                  <a:rPr lang="pt-BR" dirty="0">
                    <a:latin typeface="Abadi" panose="020B0604020104020204" pitchFamily="34" charset="0"/>
                  </a:rPr>
                  <a:t> (i).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O loop interno percorre o elemento atual (i) com todos os outros elementos do </a:t>
                </a:r>
                <a:r>
                  <a:rPr lang="pt-BR" dirty="0" err="1">
                    <a:latin typeface="Abadi" panose="020B0604020104020204" pitchFamily="34" charset="0"/>
                  </a:rPr>
                  <a:t>array</a:t>
                </a:r>
                <a:r>
                  <a:rPr lang="pt-BR" dirty="0">
                    <a:latin typeface="Abadi" panose="020B0604020104020204" pitchFamily="34" charset="0"/>
                  </a:rPr>
                  <a:t> (j)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Abadi" panose="020B0604020104020204" pitchFamily="34" charset="0"/>
                  </a:rPr>
                  <a:t>O isso resulta em n x n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 comparações para um </a:t>
                </a:r>
                <a:r>
                  <a:rPr lang="pt-BR" dirty="0" err="1">
                    <a:latin typeface="Abadi" panose="020B0604020104020204" pitchFamily="34" charset="0"/>
                  </a:rPr>
                  <a:t>array</a:t>
                </a:r>
                <a:r>
                  <a:rPr lang="pt-BR" dirty="0">
                    <a:latin typeface="Abadi" panose="020B0604020104020204" pitchFamily="34" charset="0"/>
                  </a:rPr>
                  <a:t> de tamanho n.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39F0FBB-B065-1B30-2652-6EBF87028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4" y="5258327"/>
                <a:ext cx="11684844" cy="1200329"/>
              </a:xfrm>
              <a:prstGeom prst="rect">
                <a:avLst/>
              </a:prstGeom>
              <a:blipFill>
                <a:blip r:embed="rId3"/>
                <a:stretch>
                  <a:fillRect l="-364" t="-1493" b="-6468"/>
                </a:stretch>
              </a:blipFill>
              <a:ln w="28575">
                <a:solidFill>
                  <a:srgbClr val="123D5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0ECE6886-7D15-719D-FE23-57786619D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4" y="1362602"/>
            <a:ext cx="84486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59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695FE-18BD-7CE7-E24F-5BEBCC97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6A46182-6115-5F4A-4A7F-331D9EC89FC6}"/>
              </a:ext>
            </a:extLst>
          </p:cNvPr>
          <p:cNvSpPr/>
          <p:nvPr/>
        </p:nvSpPr>
        <p:spPr>
          <a:xfrm>
            <a:off x="0" y="1046480"/>
            <a:ext cx="12192000" cy="5811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: Cantos Superiores Recortados 4">
                <a:extLst>
                  <a:ext uri="{FF2B5EF4-FFF2-40B4-BE49-F238E27FC236}">
                    <a16:creationId xmlns:a16="http://schemas.microsoft.com/office/drawing/2014/main" id="{DE55B7F5-3567-B007-EBA5-51FB78B6CA82}"/>
                  </a:ext>
                </a:extLst>
              </p:cNvPr>
              <p:cNvSpPr/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Gráfico do</a:t>
                </a:r>
                <a:r>
                  <a:rPr lang="pt-BR" sz="3000" dirty="0">
                    <a:latin typeface="Abadi" panose="020B0604020104020204" pitchFamily="34" charset="0"/>
                  </a:rPr>
                  <a:t>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sz="3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Retângulo: Cantos Superiores Recortados 4">
                <a:extLst>
                  <a:ext uri="{FF2B5EF4-FFF2-40B4-BE49-F238E27FC236}">
                    <a16:creationId xmlns:a16="http://schemas.microsoft.com/office/drawing/2014/main" id="{DE55B7F5-3567-B007-EBA5-51FB78B6CA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2483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2544D6C8-3C9D-616D-8506-D28BD632CD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00" t="1320" r="16276"/>
          <a:stretch/>
        </p:blipFill>
        <p:spPr>
          <a:xfrm>
            <a:off x="1754156" y="1046479"/>
            <a:ext cx="8542734" cy="572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8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E5FB7-D0EE-E3DA-844D-38925782E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12D226A2-6690-1329-3373-C9474AF6A24C}"/>
                  </a:ext>
                </a:extLst>
              </p:cNvPr>
              <p:cNvSpPr/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Tip</a:t>
                </a:r>
                <a:r>
                  <a:rPr lang="pt-BR" sz="3000" dirty="0">
                    <a:latin typeface="Abadi" panose="020B0604020104020204" pitchFamily="34" charset="0"/>
                  </a:rPr>
                  <a:t>os de Big O: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  <a:r>
                  <a:rPr lang="pt-BR" sz="1100" dirty="0">
                    <a:latin typeface="Abadi" panose="020B0604020104020204" pitchFamily="34" charset="0"/>
                  </a:rPr>
                  <a:t> </a:t>
                </a:r>
                <a:endParaRPr lang="pt-BR" sz="3000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12D226A2-6690-1329-3373-C9474AF6A2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2483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3B2E4521-40DE-FB38-6DF0-53FF86BCDF8B}"/>
                  </a:ext>
                </a:extLst>
              </p:cNvPr>
              <p:cNvSpPr txBox="1"/>
              <p:nvPr/>
            </p:nvSpPr>
            <p:spPr>
              <a:xfrm>
                <a:off x="99266" y="886949"/>
                <a:ext cx="11915375" cy="1292662"/>
              </a:xfrm>
              <a:prstGeom prst="rect">
                <a:avLst/>
              </a:prstGeom>
              <a:noFill/>
              <a:ln w="28575">
                <a:solidFill>
                  <a:srgbClr val="123D52"/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/>
                <a:r>
                  <a:rPr lang="pt-BR" sz="2400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Definição: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A complexidade </a:t>
                </a:r>
                <a:r>
                  <a:rPr lang="pt-BR" dirty="0">
                    <a:solidFill>
                      <a:srgbClr val="FFFF00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O(2ⁿ) </a:t>
                </a: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é uma das classes mais "explosivas" em termos de crescimento e representa algoritmos que dobram o número de operações para cada incremento na entrada. Em outras palavras, o custo computacional cresce exponencialmente em relação ao tamanho da entrada (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3B2E4521-40DE-FB38-6DF0-53FF86BCD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66" y="886949"/>
                <a:ext cx="11915375" cy="1292662"/>
              </a:xfrm>
              <a:prstGeom prst="rect">
                <a:avLst/>
              </a:prstGeom>
              <a:blipFill>
                <a:blip r:embed="rId3"/>
                <a:stretch>
                  <a:fillRect l="-663" t="-2752" r="-255" b="-4587"/>
                </a:stretch>
              </a:blipFill>
              <a:ln w="28575">
                <a:solidFill>
                  <a:srgbClr val="123D5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DCF0689-1B7B-667C-B776-94541FE775AD}"/>
                  </a:ext>
                </a:extLst>
              </p:cNvPr>
              <p:cNvSpPr txBox="1"/>
              <p:nvPr/>
            </p:nvSpPr>
            <p:spPr>
              <a:xfrm>
                <a:off x="86565" y="2629274"/>
                <a:ext cx="11915375" cy="4062651"/>
              </a:xfrm>
              <a:prstGeom prst="rect">
                <a:avLst/>
              </a:prstGeom>
              <a:noFill/>
              <a:ln w="28575">
                <a:solidFill>
                  <a:srgbClr val="123D52"/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/>
                <a:r>
                  <a:rPr lang="pt-BR" sz="2400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Características:</a:t>
                </a:r>
                <a:endParaRPr lang="pt-BR" dirty="0">
                  <a:solidFill>
                    <a:schemeClr val="tx1"/>
                  </a:solidFill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Crescimento exponencial: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Para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5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, temos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 = 32 operações.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Para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10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, temos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 = 1.024 operações.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Para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20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, temos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 = 1.048.576 operações.</a:t>
                </a:r>
              </a:p>
              <a:p>
                <a:pPr lvl="1" algn="just"/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Ou seja, o número de operações se torna rapidamente impraticável para entradas grandes.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Onde aparece?: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Resolver o problema do subconjunto da soma.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Enumerar todos os subconjuntos possíveis de um conjunto.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Resolver problemas de tomada de decisão em árvores de decisão não otimizadas.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Limitação Prática: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Algoritmos </a:t>
                </a:r>
                <a:r>
                  <a:rPr lang="pt-BR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18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) são frequentemente impraticáveis para entradas maiores do que 20 ou 30 elementos, exigindo otimizações como programação dinâmica.</a:t>
                </a:r>
                <a:endParaRPr lang="pt-BR" sz="1800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tx1"/>
                  </a:solidFill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DCF0689-1B7B-667C-B776-94541FE77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5" y="2629274"/>
                <a:ext cx="11915375" cy="4062651"/>
              </a:xfrm>
              <a:prstGeom prst="rect">
                <a:avLst/>
              </a:prstGeom>
              <a:blipFill>
                <a:blip r:embed="rId4"/>
                <a:stretch>
                  <a:fillRect l="-663" t="-893" r="-255"/>
                </a:stretch>
              </a:blipFill>
              <a:ln w="28575">
                <a:solidFill>
                  <a:srgbClr val="123D5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1826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8FA9C-F862-FC06-5A8B-E95816FC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2055677D-44AC-3D83-37FE-8401DA9F0822}"/>
                  </a:ext>
                </a:extLst>
              </p:cNvPr>
              <p:cNvSpPr/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Exemplos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  <a:r>
                  <a:rPr lang="pt-BR" sz="1100" dirty="0">
                    <a:latin typeface="Abadi" panose="020B0604020104020204" pitchFamily="34" charset="0"/>
                  </a:rPr>
                  <a:t> </a:t>
                </a:r>
                <a:endParaRPr lang="pt-BR" sz="3000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2055677D-44AC-3D83-37FE-8401DA9F08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2483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C70C606A-E361-756C-608D-7817DF7BBA08}"/>
              </a:ext>
            </a:extLst>
          </p:cNvPr>
          <p:cNvSpPr txBox="1"/>
          <p:nvPr/>
        </p:nvSpPr>
        <p:spPr>
          <a:xfrm>
            <a:off x="99266" y="886949"/>
            <a:ext cx="11915375" cy="1846659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Exemplos gerais: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Resolver o problema do viajante (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travelling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salesman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problem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 - TSP) por força bruta é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O(2ⁿ) </a:t>
            </a: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porque precisa calcular todas as permutações possíveis de caminhos para encontrar o menor custo.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Outro exemplo é a resolução de problemas com árvores de decisão, como a sequência de Fibonacci com cálculos repetidos, quando feita de maneira ingênua.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8A1AC60-C7C8-FADF-B3E0-4473EA235390}"/>
              </a:ext>
            </a:extLst>
          </p:cNvPr>
          <p:cNvSpPr txBox="1"/>
          <p:nvPr/>
        </p:nvSpPr>
        <p:spPr>
          <a:xfrm>
            <a:off x="138313" y="2924064"/>
            <a:ext cx="7951328" cy="2677656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Exemplo de código simples:</a:t>
            </a: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Um exemplo clássico de O(2ⁿ)  é a geração de todos os subconjuntos de um conjunto dado.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Abadi" panose="020B0604020104020204" pitchFamily="34" charset="0"/>
              <a:ea typeface="Cambria Math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Mas por que a complexidade é O(2ⁿ)?</a:t>
            </a:r>
          </a:p>
          <a:p>
            <a:pPr lvl="1" algn="just"/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Para cada elemento, temos duas escolhas: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Incluir o elemento no subconjunto.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Não incluir o elemento no subconjunto.</a:t>
            </a:r>
          </a:p>
          <a:p>
            <a:pPr lvl="1" algn="just"/>
            <a:r>
              <a:rPr lang="pt-BR" dirty="0">
                <a:solidFill>
                  <a:schemeClr val="tx1"/>
                </a:solidFill>
                <a:latin typeface="Abadi" panose="020B0604020104020204" pitchFamily="34" charset="0"/>
                <a:ea typeface="Cambria Math" panose="02040503050406030204" pitchFamily="18" charset="0"/>
              </a:rPr>
              <a:t>Isso resulta em 2ⁿ n  subconjuntos para um conjunto de tamanho 𝑛.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8187F93-2118-57C2-EBF2-F502AD710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141" y="2924064"/>
            <a:ext cx="328612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74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FC1DE-9033-BEFB-47E7-4BE782C46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FCA1266-7189-12B3-4596-4D76D1EA63C7}"/>
              </a:ext>
            </a:extLst>
          </p:cNvPr>
          <p:cNvSpPr/>
          <p:nvPr/>
        </p:nvSpPr>
        <p:spPr>
          <a:xfrm>
            <a:off x="0" y="1046480"/>
            <a:ext cx="12192000" cy="5811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: Cantos Superiores Recortados 4">
                <a:extLst>
                  <a:ext uri="{FF2B5EF4-FFF2-40B4-BE49-F238E27FC236}">
                    <a16:creationId xmlns:a16="http://schemas.microsoft.com/office/drawing/2014/main" id="{537C8225-EA06-3666-3003-AF71F222600A}"/>
                  </a:ext>
                </a:extLst>
              </p:cNvPr>
              <p:cNvSpPr/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Gráfico do</a:t>
                </a:r>
                <a:r>
                  <a:rPr lang="pt-BR" sz="3000" dirty="0">
                    <a:latin typeface="Abadi" panose="020B0604020104020204" pitchFamily="34" charset="0"/>
                  </a:rPr>
                  <a:t>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Retângulo: Cantos Superiores Recortados 4">
                <a:extLst>
                  <a:ext uri="{FF2B5EF4-FFF2-40B4-BE49-F238E27FC236}">
                    <a16:creationId xmlns:a16="http://schemas.microsoft.com/office/drawing/2014/main" id="{537C8225-EA06-3666-3003-AF71F22260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2483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DC3B1EDF-BE43-74B9-450B-3BB57E2AB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82" r="16276"/>
          <a:stretch/>
        </p:blipFill>
        <p:spPr>
          <a:xfrm>
            <a:off x="1824199" y="1045210"/>
            <a:ext cx="8480995" cy="581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535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5B9C1-639B-97C8-EDBC-4017C32D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DFC1F3C8-4A4E-C446-55BC-035A11C8E9F2}"/>
                  </a:ext>
                </a:extLst>
              </p:cNvPr>
              <p:cNvSpPr/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Tip</a:t>
                </a:r>
                <a:r>
                  <a:rPr lang="pt-BR" sz="3000" dirty="0">
                    <a:latin typeface="Abadi" panose="020B0604020104020204" pitchFamily="34" charset="0"/>
                  </a:rPr>
                  <a:t>os de Big O: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/>
                  <a:t>(</a:t>
                </a:r>
                <a14:m>
                  <m:oMath xmlns:m="http://schemas.openxmlformats.org/officeDocument/2006/math">
                    <m:r>
                      <a:rPr lang="pt-BR" sz="3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3000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  <a:r>
                  <a:rPr lang="pt-BR" sz="1100" dirty="0">
                    <a:latin typeface="Abadi" panose="020B0604020104020204" pitchFamily="34" charset="0"/>
                  </a:rPr>
                  <a:t> </a:t>
                </a:r>
                <a:endParaRPr lang="pt-BR" sz="3000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DFC1F3C8-4A4E-C446-55BC-035A11C8E9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2483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5F6374C-51B8-5DBC-6DB0-190781CEDEFD}"/>
                  </a:ext>
                </a:extLst>
              </p:cNvPr>
              <p:cNvSpPr txBox="1"/>
              <p:nvPr/>
            </p:nvSpPr>
            <p:spPr>
              <a:xfrm>
                <a:off x="99266" y="886949"/>
                <a:ext cx="11915375" cy="1661993"/>
              </a:xfrm>
              <a:prstGeom prst="rect">
                <a:avLst/>
              </a:prstGeom>
              <a:noFill/>
              <a:ln w="28575">
                <a:solidFill>
                  <a:srgbClr val="123D52"/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/>
                <a:r>
                  <a:rPr lang="pt-BR" sz="2400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Definição: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A complexidade </a:t>
                </a:r>
                <a:r>
                  <a:rPr lang="pt-BR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18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pt-BR" sz="18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)</a:t>
                </a: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(fatorial) é uma das mais caras e cresce de maneira extremamente rápida à medida que o tamanho da entrada (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) aumenta. Isso ocorre porque o número de operações é proporcional ao </a:t>
                </a:r>
                <a:r>
                  <a:rPr lang="pt-BR" u="sng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fatorial do tamanho da entrada</a:t>
                </a: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, definido como: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 = 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−1) 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– 2) 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… 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pt-BR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</m:t>
                      </m:r>
                    </m:oMath>
                  </m:oMathPara>
                </a14:m>
                <a:endParaRPr lang="pt-BR" sz="2400" dirty="0">
                  <a:solidFill>
                    <a:schemeClr val="tx1"/>
                  </a:solidFill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5F6374C-51B8-5DBC-6DB0-190781CED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66" y="886949"/>
                <a:ext cx="11915375" cy="1661993"/>
              </a:xfrm>
              <a:prstGeom prst="rect">
                <a:avLst/>
              </a:prstGeom>
              <a:blipFill>
                <a:blip r:embed="rId3"/>
                <a:stretch>
                  <a:fillRect l="-663" t="-2158" b="-2878"/>
                </a:stretch>
              </a:blipFill>
              <a:ln w="28575">
                <a:solidFill>
                  <a:srgbClr val="123D5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0B0957FB-911A-8D01-E68A-431A5FAD932E}"/>
                  </a:ext>
                </a:extLst>
              </p:cNvPr>
              <p:cNvSpPr txBox="1"/>
              <p:nvPr/>
            </p:nvSpPr>
            <p:spPr>
              <a:xfrm>
                <a:off x="86565" y="2629274"/>
                <a:ext cx="11915375" cy="4062651"/>
              </a:xfrm>
              <a:prstGeom prst="rect">
                <a:avLst/>
              </a:prstGeom>
              <a:noFill/>
              <a:ln w="28575">
                <a:solidFill>
                  <a:srgbClr val="123D52"/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/>
                <a:r>
                  <a:rPr lang="pt-BR" sz="2400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Características:</a:t>
                </a:r>
                <a:endParaRPr lang="pt-BR" dirty="0">
                  <a:solidFill>
                    <a:schemeClr val="tx1"/>
                  </a:solidFill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Crescimento exponencial: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Para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5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:,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5! = 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120 operações.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Para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10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10! </m:t>
                    </m:r>
                    <m:r>
                      <a:rPr lang="pt-B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3.628.800 operações.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Para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20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20! ≈ 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2,4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 operações.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endParaRPr lang="pt-BR" dirty="0">
                  <a:solidFill>
                    <a:schemeClr val="tx1"/>
                  </a:solidFill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Onde aparece?: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Problema do Caieiro Viajante (TSP) por força bruta.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Permutação de </a:t>
                </a:r>
                <a:r>
                  <a:rPr lang="pt-BR" dirty="0" err="1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Strings</a:t>
                </a:r>
                <a:endParaRPr lang="pt-BR" dirty="0">
                  <a:solidFill>
                    <a:schemeClr val="tx1"/>
                  </a:solidFill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Resolver quebra-cabeças ou problemas de otimização de maneira ingênua.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tx1"/>
                  </a:solidFill>
                  <a:latin typeface="Abadi" panose="020B0604020104020204" pitchFamily="34" charset="0"/>
                  <a:ea typeface="Cambria Math" panose="02040503050406030204" pitchFamily="18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Impacto Prática: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Algoritmos </a:t>
                </a:r>
                <a:r>
                  <a:rPr lang="pt-BR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18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) são impraticáveis para entradas maiores do que 10 ou 12 elementos, devido ao </a:t>
                </a:r>
                <a:r>
                  <a:rPr lang="pt-BR" dirty="0" err="1">
                    <a:solidFill>
                      <a:schemeClr val="tx1"/>
                    </a:solidFill>
                    <a:latin typeface="Abadi" panose="020B0604020104020204" pitchFamily="34" charset="0"/>
                  </a:rPr>
                  <a:t>cresimento</a:t>
                </a: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exponencial extremo.</a:t>
                </a:r>
                <a:endParaRPr lang="pt-BR" sz="1800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0B0957FB-911A-8D01-E68A-431A5FAD9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5" y="2629274"/>
                <a:ext cx="11915375" cy="4062651"/>
              </a:xfrm>
              <a:prstGeom prst="rect">
                <a:avLst/>
              </a:prstGeom>
              <a:blipFill>
                <a:blip r:embed="rId4"/>
                <a:stretch>
                  <a:fillRect l="-663" t="-893" r="-255" b="-893"/>
                </a:stretch>
              </a:blipFill>
              <a:ln w="28575">
                <a:solidFill>
                  <a:srgbClr val="123D5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0670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93D14-9BFA-193A-CD63-6133D012E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0AD5E5A3-7423-B31E-8FA5-0258EED0477E}"/>
                  </a:ext>
                </a:extLst>
              </p:cNvPr>
              <p:cNvSpPr/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solidFill>
                <a:srgbClr val="123D52"/>
              </a:solidFill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pt-BR" sz="30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Exemplos de</a:t>
                </a:r>
                <a:r>
                  <a:rPr lang="pt-BR" sz="3000" dirty="0">
                    <a:latin typeface="Abadi" panose="020B0604020104020204" pitchFamily="34" charset="0"/>
                  </a:rPr>
                  <a:t> </a:t>
                </a:r>
                <a:r>
                  <a:rPr lang="pt-BR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pt-BR" sz="3000" dirty="0"/>
                  <a:t>(</a:t>
                </a:r>
                <a14:m>
                  <m:oMath xmlns:m="http://schemas.openxmlformats.org/officeDocument/2006/math">
                    <m:r>
                      <a:rPr lang="pt-BR" sz="3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3000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pt-BR" sz="3000" dirty="0">
                    <a:latin typeface="Abadi" panose="020B0604020104020204" pitchFamily="34" charset="0"/>
                  </a:rPr>
                  <a:t>)</a:t>
                </a:r>
                <a:r>
                  <a:rPr lang="pt-BR" sz="1100" dirty="0">
                    <a:latin typeface="Abadi" panose="020B0604020104020204" pitchFamily="34" charset="0"/>
                  </a:rPr>
                  <a:t> </a:t>
                </a:r>
                <a:endParaRPr lang="pt-BR" sz="3000" dirty="0"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9" name="Retângulo: Cantos Superiores Recortados 8">
                <a:extLst>
                  <a:ext uri="{FF2B5EF4-FFF2-40B4-BE49-F238E27FC236}">
                    <a16:creationId xmlns:a16="http://schemas.microsoft.com/office/drawing/2014/main" id="{0AD5E5A3-7423-B31E-8FA5-0258EED047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852345" y="-2689002"/>
                <a:ext cx="649458" cy="6354146"/>
              </a:xfrm>
              <a:prstGeom prst="snip2SameRect">
                <a:avLst>
                  <a:gd name="adj1" fmla="val 0"/>
                  <a:gd name="adj2" fmla="val 15195"/>
                </a:avLst>
              </a:prstGeom>
              <a:blipFill>
                <a:blip r:embed="rId2"/>
                <a:stretch>
                  <a:fillRect l="-2483" t="-4505" b="-18919"/>
                </a:stretch>
              </a:blipFill>
              <a:ln w="28575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8211CF3-360F-7D25-25B0-41C4E4EBC548}"/>
                  </a:ext>
                </a:extLst>
              </p:cNvPr>
              <p:cNvSpPr txBox="1"/>
              <p:nvPr/>
            </p:nvSpPr>
            <p:spPr>
              <a:xfrm>
                <a:off x="99267" y="886949"/>
                <a:ext cx="7243926" cy="2585323"/>
              </a:xfrm>
              <a:prstGeom prst="rect">
                <a:avLst/>
              </a:prstGeom>
              <a:noFill/>
              <a:ln w="28575">
                <a:solidFill>
                  <a:srgbClr val="123D52"/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/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Exemplos: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Um exemplo clássico é o cálculo de todas as permutações possíveis de uma lista de números.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Mas por que a complexidade é O(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)?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No primeiro passo, há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 escolhas possíveis.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No segundo passo,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 1 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escolhas.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No terceiro,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– 2</m:t>
                    </m:r>
                  </m:oMath>
                </a14:m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, e assim por diante.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/>
                    </a:solidFill>
                    <a:latin typeface="Abadi" panose="020B0604020104020204" pitchFamily="34" charset="0"/>
                    <a:ea typeface="Cambria Math" panose="02040503050406030204" pitchFamily="18" charset="0"/>
                  </a:rPr>
                  <a:t>Isso resulta em n! permutações possíveis.</a:t>
                </a: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8211CF3-360F-7D25-25B0-41C4E4EBC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67" y="886949"/>
                <a:ext cx="7243926" cy="2585323"/>
              </a:xfrm>
              <a:prstGeom prst="rect">
                <a:avLst/>
              </a:prstGeom>
              <a:blipFill>
                <a:blip r:embed="rId3"/>
                <a:stretch>
                  <a:fillRect l="-503" t="-698" b="-1860"/>
                </a:stretch>
              </a:blipFill>
              <a:ln w="28575">
                <a:solidFill>
                  <a:srgbClr val="123D52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2B0D850C-B594-7FA3-C4FD-37DCC1D14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480" y="980880"/>
            <a:ext cx="30956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319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28A41-2EE4-398A-6DDC-43B541544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A1FC1CEE-10C3-BD10-E1A9-CAEC86567D63}"/>
              </a:ext>
            </a:extLst>
          </p:cNvPr>
          <p:cNvSpPr/>
          <p:nvPr/>
        </p:nvSpPr>
        <p:spPr>
          <a:xfrm>
            <a:off x="0" y="1046480"/>
            <a:ext cx="12192000" cy="5811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Superiores Recortados 4">
            <a:extLst>
              <a:ext uri="{FF2B5EF4-FFF2-40B4-BE49-F238E27FC236}">
                <a16:creationId xmlns:a16="http://schemas.microsoft.com/office/drawing/2014/main" id="{483630F8-241B-D190-1797-6AB9ADB665F7}"/>
              </a:ext>
            </a:extLst>
          </p:cNvPr>
          <p:cNvSpPr/>
          <p:nvPr/>
        </p:nvSpPr>
        <p:spPr>
          <a:xfrm rot="16200000">
            <a:off x="2852345" y="-2689002"/>
            <a:ext cx="649458" cy="635414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Gráfico do</a:t>
            </a:r>
            <a:r>
              <a:rPr lang="pt-BR" sz="3000" dirty="0">
                <a:latin typeface="Abadi" panose="020B0604020104020204" pitchFamily="34" charset="0"/>
              </a:rPr>
              <a:t> 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pt-BR" sz="3000" dirty="0">
                <a:latin typeface="Abadi" panose="020B0604020104020204" pitchFamily="34" charset="0"/>
              </a:rPr>
              <a:t>(n!)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EA74935-66A4-DF14-08EA-9AA4206A78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40" t="495" r="16276" b="-1"/>
          <a:stretch/>
        </p:blipFill>
        <p:spPr>
          <a:xfrm>
            <a:off x="1726163" y="1046479"/>
            <a:ext cx="8584163" cy="569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013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69B5C-B59B-0CA0-B1E4-AA50C67D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Superiores Recortados 4">
            <a:extLst>
              <a:ext uri="{FF2B5EF4-FFF2-40B4-BE49-F238E27FC236}">
                <a16:creationId xmlns:a16="http://schemas.microsoft.com/office/drawing/2014/main" id="{873CFDF9-C504-13A0-4E52-5620983412CA}"/>
              </a:ext>
            </a:extLst>
          </p:cNvPr>
          <p:cNvSpPr/>
          <p:nvPr/>
        </p:nvSpPr>
        <p:spPr>
          <a:xfrm rot="16200000">
            <a:off x="3706098" y="-3542755"/>
            <a:ext cx="649458" cy="8061651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Resumo de tipos de complexidade de tempo</a:t>
            </a:r>
            <a:endParaRPr lang="pt-BR" sz="3000" dirty="0"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539A46A3-FD05-2540-98FE-171027F7FF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4800386"/>
                  </p:ext>
                </p:extLst>
              </p:nvPr>
            </p:nvGraphicFramePr>
            <p:xfrm>
              <a:off x="0" y="1017347"/>
              <a:ext cx="12192000" cy="5713757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98171">
                      <a:extLst>
                        <a:ext uri="{9D8B030D-6E8A-4147-A177-3AD203B41FA5}">
                          <a16:colId xmlns:a16="http://schemas.microsoft.com/office/drawing/2014/main" val="152084202"/>
                        </a:ext>
                      </a:extLst>
                    </a:gridCol>
                    <a:gridCol w="4397829">
                      <a:extLst>
                        <a:ext uri="{9D8B030D-6E8A-4147-A177-3AD203B41FA5}">
                          <a16:colId xmlns:a16="http://schemas.microsoft.com/office/drawing/2014/main" val="797316878"/>
                        </a:ext>
                      </a:extLst>
                    </a:gridCol>
                    <a:gridCol w="2852057">
                      <a:extLst>
                        <a:ext uri="{9D8B030D-6E8A-4147-A177-3AD203B41FA5}">
                          <a16:colId xmlns:a16="http://schemas.microsoft.com/office/drawing/2014/main" val="1845160105"/>
                        </a:ext>
                      </a:extLst>
                    </a:gridCol>
                    <a:gridCol w="3243943">
                      <a:extLst>
                        <a:ext uri="{9D8B030D-6E8A-4147-A177-3AD203B41FA5}">
                          <a16:colId xmlns:a16="http://schemas.microsoft.com/office/drawing/2014/main" val="2774254758"/>
                        </a:ext>
                      </a:extLst>
                    </a:gridCol>
                  </a:tblGrid>
                  <a:tr h="410237">
                    <a:tc>
                      <a:txBody>
                        <a:bodyPr/>
                        <a:lstStyle/>
                        <a:p>
                          <a:r>
                            <a:rPr lang="pt-BR" sz="2000" dirty="0"/>
                            <a:t>Complexidade</a:t>
                          </a:r>
                        </a:p>
                      </a:txBody>
                      <a:tcPr>
                        <a:solidFill>
                          <a:srgbClr val="123D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2000" dirty="0"/>
                            <a:t>Descrição</a:t>
                          </a:r>
                        </a:p>
                      </a:txBody>
                      <a:tcPr>
                        <a:solidFill>
                          <a:srgbClr val="123D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2000" dirty="0"/>
                            <a:t>Exemplo Real</a:t>
                          </a:r>
                        </a:p>
                      </a:txBody>
                      <a:tcPr>
                        <a:solidFill>
                          <a:srgbClr val="123D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2000" dirty="0"/>
                            <a:t>Crescimento</a:t>
                          </a:r>
                        </a:p>
                      </a:txBody>
                      <a:tcPr>
                        <a:solidFill>
                          <a:srgbClr val="123D5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3427007"/>
                      </a:ext>
                    </a:extLst>
                  </a:tr>
                  <a:tr h="61576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pt-BR" sz="1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Constante: o tempo de execução não depende do tamanho da entrada (n)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Acessa um elemento específico de um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array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Sempre constante,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ex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: 1, 1, 1.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8552481"/>
                      </a:ext>
                    </a:extLst>
                  </a:tr>
                  <a:tr h="61576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oMath>
                          </a14:m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Logarítmica: reduz pela metade o tamanho do problema a cada iteração.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Busca binária em um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array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 ordenado.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Lento no crescimento.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9461039"/>
                      </a:ext>
                    </a:extLst>
                  </a:tr>
                  <a:tr h="61576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pt-BR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Linear: o tempo cresce proporcional ao tamanho da entrada (n)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Percorrer todos os elementos de um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array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Ex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: 1, 10, 100.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35459"/>
                      </a:ext>
                    </a:extLst>
                  </a:tr>
                  <a:tr h="61576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pt-BR" sz="18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func>
                                <m:func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oMath>
                          </a14:m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Linear-logarítmica: cominação de linear e logarítmica.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Algoritmos de ordenação eficientes (merge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sort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Crescimento intermediário.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460046"/>
                      </a:ext>
                    </a:extLst>
                  </a:tr>
                  <a:tr h="61576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pt-BR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Quadrática: loops aninhados iterando sobre todos os pares.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Comparação de todos os pares de um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array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 (Bubble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Sort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Cresce rapidamente.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679420"/>
                      </a:ext>
                    </a:extLst>
                  </a:tr>
                  <a:tr h="61576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pt-BR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Exponencial: dobra o número de operações para cada incremento na entrada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Subconjuntos de um conjunto (Problema da Mochila)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Crescimento muito rápido.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8685616"/>
                      </a:ext>
                    </a:extLst>
                  </a:tr>
                  <a:tr h="61576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pt-BR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1800" i="1" dirty="0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oMath>
                          </a14:m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Fatorial: avalia todas as permutações possíveis de elementos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Resolver o problema do caixeiro viajante por força bruta.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Crescimento impraticável.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43744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539A46A3-FD05-2540-98FE-171027F7FF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4800386"/>
                  </p:ext>
                </p:extLst>
              </p:nvPr>
            </p:nvGraphicFramePr>
            <p:xfrm>
              <a:off x="0" y="1017347"/>
              <a:ext cx="12192000" cy="5713757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98171">
                      <a:extLst>
                        <a:ext uri="{9D8B030D-6E8A-4147-A177-3AD203B41FA5}">
                          <a16:colId xmlns:a16="http://schemas.microsoft.com/office/drawing/2014/main" val="152084202"/>
                        </a:ext>
                      </a:extLst>
                    </a:gridCol>
                    <a:gridCol w="4397829">
                      <a:extLst>
                        <a:ext uri="{9D8B030D-6E8A-4147-A177-3AD203B41FA5}">
                          <a16:colId xmlns:a16="http://schemas.microsoft.com/office/drawing/2014/main" val="797316878"/>
                        </a:ext>
                      </a:extLst>
                    </a:gridCol>
                    <a:gridCol w="2852057">
                      <a:extLst>
                        <a:ext uri="{9D8B030D-6E8A-4147-A177-3AD203B41FA5}">
                          <a16:colId xmlns:a16="http://schemas.microsoft.com/office/drawing/2014/main" val="1845160105"/>
                        </a:ext>
                      </a:extLst>
                    </a:gridCol>
                    <a:gridCol w="3243943">
                      <a:extLst>
                        <a:ext uri="{9D8B030D-6E8A-4147-A177-3AD203B41FA5}">
                          <a16:colId xmlns:a16="http://schemas.microsoft.com/office/drawing/2014/main" val="2774254758"/>
                        </a:ext>
                      </a:extLst>
                    </a:gridCol>
                  </a:tblGrid>
                  <a:tr h="410237">
                    <a:tc>
                      <a:txBody>
                        <a:bodyPr/>
                        <a:lstStyle/>
                        <a:p>
                          <a:r>
                            <a:rPr lang="pt-BR" sz="2000" dirty="0"/>
                            <a:t>Complexidade</a:t>
                          </a:r>
                        </a:p>
                      </a:txBody>
                      <a:tcPr>
                        <a:solidFill>
                          <a:srgbClr val="123D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2000" dirty="0"/>
                            <a:t>Descrição</a:t>
                          </a:r>
                        </a:p>
                      </a:txBody>
                      <a:tcPr>
                        <a:solidFill>
                          <a:srgbClr val="123D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2000" dirty="0"/>
                            <a:t>Exemplo Real</a:t>
                          </a:r>
                        </a:p>
                      </a:txBody>
                      <a:tcPr>
                        <a:solidFill>
                          <a:srgbClr val="123D5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2000" dirty="0"/>
                            <a:t>Crescimento</a:t>
                          </a:r>
                        </a:p>
                      </a:txBody>
                      <a:tcPr>
                        <a:solidFill>
                          <a:srgbClr val="123D5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342700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7" t="-67925" r="-618638" b="-7367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Constante: o tempo de execução não depende do tamanho da entrada (n)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Acessa um elemento específico de um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array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Sempre constante,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ex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: 1, 1, 1.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855248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7" t="-169524" r="-618638" b="-64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Logarítmica: reduz pela metade o tamanho do problema a cada iteração.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Busca binária em um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array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 ordenado.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Lento no crescimento.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946103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7" t="-269524" r="-618638" b="-54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Linear: o tempo cresce proporcional ao tamanho da entrada (n)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Percorrer todos os elementos de um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array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Ex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: 1, 10, 100.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63545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7" t="-369524" r="-618638" b="-44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Linear-logarítmica: cominação de linear e logarítmica.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Algoritmos de ordenação eficientes (merge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sort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Crescimento intermediário.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460046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7" t="-328667" r="-618638" b="-2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Quadrática: loops aninhados iterando sobre todos os pares.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Comparação de todos os pares de um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array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 (Bubble </a:t>
                          </a:r>
                          <a:r>
                            <a:rPr lang="pt-BR" sz="1800" dirty="0" err="1">
                              <a:latin typeface="Abadi" panose="020B0604020104020204" pitchFamily="34" charset="0"/>
                            </a:rPr>
                            <a:t>Sort</a:t>
                          </a:r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Cresce rapidamente.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67942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7" t="-425828" r="-618638" b="-1092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Exponencial: dobra o número de operações para cada incremento na entrada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Subconjuntos de um conjunto (Problema da Mochila)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Crescimento muito rápido.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8685616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7" t="-529333" r="-618638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Fatorial: avalia todas as permutações possíveis de elementos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Resolver o problema do caixeiro viajante por força bruta.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800" dirty="0">
                              <a:latin typeface="Abadi" panose="020B0604020104020204" pitchFamily="34" charset="0"/>
                            </a:rPr>
                            <a:t>Crescimento impraticável.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43744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14556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CDFE6-E92C-4E11-9DB8-66C700919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DDF1A6D-99BA-2F12-AE65-A1F8A96E0B90}"/>
              </a:ext>
            </a:extLst>
          </p:cNvPr>
          <p:cNvSpPr/>
          <p:nvPr/>
        </p:nvSpPr>
        <p:spPr>
          <a:xfrm>
            <a:off x="0" y="1046480"/>
            <a:ext cx="12192000" cy="5811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Superiores Recortados 4">
            <a:extLst>
              <a:ext uri="{FF2B5EF4-FFF2-40B4-BE49-F238E27FC236}">
                <a16:creationId xmlns:a16="http://schemas.microsoft.com/office/drawing/2014/main" id="{B94248D2-C33F-2EDB-6492-8EFC7A18FC17}"/>
              </a:ext>
            </a:extLst>
          </p:cNvPr>
          <p:cNvSpPr/>
          <p:nvPr/>
        </p:nvSpPr>
        <p:spPr>
          <a:xfrm rot="16200000">
            <a:off x="2852345" y="-2689002"/>
            <a:ext cx="649458" cy="635414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chemeClr val="tx1"/>
                </a:solidFill>
                <a:latin typeface="Abadi" panose="020B0604020104020204" pitchFamily="34" charset="0"/>
              </a:rPr>
              <a:t>Gráfico do</a:t>
            </a:r>
            <a:r>
              <a:rPr lang="pt-BR" sz="3000" dirty="0">
                <a:latin typeface="Abadi" panose="020B0604020104020204" pitchFamily="34" charset="0"/>
              </a:rPr>
              <a:t> Big </a:t>
            </a:r>
            <a:r>
              <a:rPr lang="pt-BR" sz="30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endParaRPr lang="pt-BR" sz="3000" dirty="0">
              <a:latin typeface="Abadi" panose="020B060402010402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7B25BDA-79D8-3B19-DA72-CAF922AA08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82" t="762" r="16276"/>
          <a:stretch/>
        </p:blipFill>
        <p:spPr>
          <a:xfrm>
            <a:off x="1851949" y="1046479"/>
            <a:ext cx="8433247" cy="568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086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2">
      <a:dk1>
        <a:srgbClr val="0C101C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C67361DBE7D944AD858223D4CAF603" ma:contentTypeVersion="3" ma:contentTypeDescription="Crie um novo documento." ma:contentTypeScope="" ma:versionID="b2c010e37c8d437adfa72cc06fc89f10">
  <xsd:schema xmlns:xsd="http://www.w3.org/2001/XMLSchema" xmlns:xs="http://www.w3.org/2001/XMLSchema" xmlns:p="http://schemas.microsoft.com/office/2006/metadata/properties" xmlns:ns2="7b76103c-d6e0-4e2e-819a-fe104c886131" targetNamespace="http://schemas.microsoft.com/office/2006/metadata/properties" ma:root="true" ma:fieldsID="430cfa03dd1b8b020d8472fbc3b2d459" ns2:_="">
    <xsd:import namespace="7b76103c-d6e0-4e2e-819a-fe104c886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76103c-d6e0-4e2e-819a-fe104c8861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454887-EDBD-4052-8149-80D9542572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039EC1-27E6-4514-8F7E-D2D7BA67543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3FBC7AD-13D4-43E0-869A-83CC0152DEEB}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7160</TotalTime>
  <Words>4157</Words>
  <Application>Microsoft Office PowerPoint</Application>
  <PresentationFormat>Widescreen</PresentationFormat>
  <Paragraphs>374</Paragraphs>
  <Slides>39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6" baseType="lpstr">
      <vt:lpstr>Abadi</vt:lpstr>
      <vt:lpstr>Arial</vt:lpstr>
      <vt:lpstr>Calibri</vt:lpstr>
      <vt:lpstr>Calibri Light</vt:lpstr>
      <vt:lpstr>Cambria Math</vt:lpstr>
      <vt:lpstr>Wingdings</vt:lpstr>
      <vt:lpstr>Tema do Office</vt:lpstr>
      <vt:lpstr>Estrutura de Dados Aula 4: Complexidade: Parte 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Vinícius José Lopes Cursino</dc:creator>
  <cp:lastModifiedBy>Vinícius José Lopes Cursino</cp:lastModifiedBy>
  <cp:revision>86</cp:revision>
  <dcterms:created xsi:type="dcterms:W3CDTF">2024-11-05T22:56:10Z</dcterms:created>
  <dcterms:modified xsi:type="dcterms:W3CDTF">2026-02-10T23:27:13Z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0x01010068C67361DBE7D944AD858223D4CAF603</vt:lpwstr>
  </property>
</Properties>
</file>