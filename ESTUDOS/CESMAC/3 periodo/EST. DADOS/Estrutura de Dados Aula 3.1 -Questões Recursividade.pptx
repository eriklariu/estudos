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6" r:id="rId2"/>
    <p:sldId id="270" r:id="rId3"/>
    <p:sldId id="267" r:id="rId4"/>
    <p:sldId id="266" r:id="rId5"/>
    <p:sldId id="268" r:id="rId6"/>
    <p:sldId id="265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D52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AA2E4-5A71-4580-B341-179DF791E3A3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BD80F-1B31-4556-BF79-C374EFA18D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52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BD80F-1B31-4556-BF79-C374EFA18DF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41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BD80F-1B31-4556-BF79-C374EFA18DF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82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BBD80F-1B31-4556-BF79-C374EFA18DF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61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1148391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>
                <a:latin typeface="Abadi" panose="020B0604020104020204" pitchFamily="34" charset="0"/>
              </a:rPr>
              <a:t>Aula 3.1</a:t>
            </a:r>
            <a:r>
              <a:rPr lang="pt-BR" dirty="0">
                <a:latin typeface="Abadi" panose="020B0604020104020204" pitchFamily="34" charset="0"/>
              </a:rPr>
              <a:t>: Questões de Recursividade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Superiores Recortados 3">
            <a:extLst>
              <a:ext uri="{FF2B5EF4-FFF2-40B4-BE49-F238E27FC236}">
                <a16:creationId xmlns:a16="http://schemas.microsoft.com/office/drawing/2014/main" id="{D8CC97EA-2C9E-AB07-0FE1-AF08962A3B04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0FBFE2-D7A8-3816-82A3-1D62F7A69398}"/>
              </a:ext>
            </a:extLst>
          </p:cNvPr>
          <p:cNvSpPr txBox="1"/>
          <p:nvPr/>
        </p:nvSpPr>
        <p:spPr>
          <a:xfrm>
            <a:off x="363840" y="942310"/>
            <a:ext cx="48583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>
                <a:latin typeface="Abadi" panose="020B0604020104020204" pitchFamily="34" charset="0"/>
              </a:rPr>
              <a:t>Soma dos Dígitos de um Número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 número inteiro positivo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latin typeface="Abadi" panose="020B0604020104020204" pitchFamily="34" charset="0"/>
              </a:rPr>
              <a:t> e retorne a soma dos seus dígitos.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B1DCEFE-514A-007C-89AB-9FB85A142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111972"/>
              </p:ext>
            </p:extLst>
          </p:nvPr>
        </p:nvGraphicFramePr>
        <p:xfrm>
          <a:off x="5376557" y="942310"/>
          <a:ext cx="6451602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277606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277606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277606"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252580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277606">
                <a:tc>
                  <a:txBody>
                    <a:bodyPr/>
                    <a:lstStyle/>
                    <a:p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1789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EFDAE9C5-5463-FD81-B83B-CAD85B06033F}"/>
              </a:ext>
            </a:extLst>
          </p:cNvPr>
          <p:cNvSpPr txBox="1"/>
          <p:nvPr/>
        </p:nvSpPr>
        <p:spPr>
          <a:xfrm>
            <a:off x="263200" y="2500521"/>
            <a:ext cx="11665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A resolução se baseia na lógica matemática se baseando na decomposição de um número em seus dígitos e na soma desses dígitos usando a divisão e o módulo.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9C1429B-F65C-49C4-6D0D-47DF138FC955}"/>
              </a:ext>
            </a:extLst>
          </p:cNvPr>
          <p:cNvSpPr txBox="1"/>
          <p:nvPr/>
        </p:nvSpPr>
        <p:spPr>
          <a:xfrm>
            <a:off x="744893" y="3377973"/>
            <a:ext cx="5351108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1ª chamada: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(1234)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1234 / 10 = 123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1234 % 10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Retorna: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(123)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FF0BACC-07E3-A4B2-E1F7-973C60049B59}"/>
              </a:ext>
            </a:extLst>
          </p:cNvPr>
          <p:cNvSpPr txBox="1"/>
          <p:nvPr/>
        </p:nvSpPr>
        <p:spPr>
          <a:xfrm>
            <a:off x="6285720" y="3377973"/>
            <a:ext cx="5427307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2ª chamada: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(123)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123 / 10 = 12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123 % 10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Retorna: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(12)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784DFA-2C75-ED3D-C7AE-A1D1DA5CE935}"/>
              </a:ext>
            </a:extLst>
          </p:cNvPr>
          <p:cNvSpPr txBox="1"/>
          <p:nvPr/>
        </p:nvSpPr>
        <p:spPr>
          <a:xfrm>
            <a:off x="744892" y="4715361"/>
            <a:ext cx="5351108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3ª chamada: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(1234)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 / 10 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12 % 10 =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Retorna: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(1) +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A90D49-11E3-6877-F188-FE5310A840E5}"/>
              </a:ext>
            </a:extLst>
          </p:cNvPr>
          <p:cNvSpPr txBox="1"/>
          <p:nvPr/>
        </p:nvSpPr>
        <p:spPr>
          <a:xfrm>
            <a:off x="6285719" y="4715361"/>
            <a:ext cx="5427307" cy="1200329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4ª chamada: </a:t>
            </a:r>
            <a:r>
              <a:rPr lang="pt-BR" dirty="0" err="1">
                <a:latin typeface="Abadi" panose="020B0604020104020204" pitchFamily="34" charset="0"/>
              </a:rPr>
              <a:t>somarDigitos</a:t>
            </a:r>
            <a:r>
              <a:rPr lang="pt-BR" dirty="0">
                <a:latin typeface="Abadi" panose="020B0604020104020204" pitchFamily="34" charset="0"/>
              </a:rPr>
              <a:t>(1) (Caso Base):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Como 1 &lt; 10,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dirty="0">
              <a:latin typeface="Abadi" panose="020B0604020104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Retorna: </a:t>
            </a:r>
            <a:r>
              <a:rPr lang="pt-BR" dirty="0">
                <a:solidFill>
                  <a:srgbClr val="FFFF00"/>
                </a:solidFill>
                <a:latin typeface="Abadi" panose="020B0604020104020204" pitchFamily="34" charset="0"/>
              </a:rPr>
              <a:t>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4040E25-6944-17AF-C12F-CA6EFD8DF79C}"/>
              </a:ext>
            </a:extLst>
          </p:cNvPr>
          <p:cNvSpPr txBox="1"/>
          <p:nvPr/>
        </p:nvSpPr>
        <p:spPr>
          <a:xfrm>
            <a:off x="3040223" y="6202137"/>
            <a:ext cx="611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pt-BR" sz="2400" dirty="0">
                <a:latin typeface="Abadi" panose="020B0604020104020204" pitchFamily="34" charset="0"/>
              </a:rPr>
              <a:t>Logo, </a:t>
            </a:r>
            <a:r>
              <a:rPr lang="pt-BR" sz="2400" dirty="0">
                <a:solidFill>
                  <a:srgbClr val="FFFF00"/>
                </a:solidFill>
                <a:latin typeface="Abadi" panose="020B0604020104020204" pitchFamily="34" charset="0"/>
              </a:rPr>
              <a:t>4 </a:t>
            </a:r>
            <a:r>
              <a:rPr lang="pt-BR" sz="2400" dirty="0">
                <a:latin typeface="Abadi" panose="020B0604020104020204" pitchFamily="34" charset="0"/>
              </a:rPr>
              <a:t>+</a:t>
            </a:r>
            <a:r>
              <a:rPr lang="pt-BR" sz="2400" dirty="0">
                <a:solidFill>
                  <a:srgbClr val="FFFF00"/>
                </a:solidFill>
                <a:latin typeface="Abadi" panose="020B0604020104020204" pitchFamily="34" charset="0"/>
              </a:rPr>
              <a:t> 3 </a:t>
            </a:r>
            <a:r>
              <a:rPr lang="pt-BR" sz="2400" dirty="0">
                <a:latin typeface="Abadi" panose="020B0604020104020204" pitchFamily="34" charset="0"/>
              </a:rPr>
              <a:t>+</a:t>
            </a:r>
            <a:r>
              <a:rPr lang="pt-BR" sz="2400" dirty="0">
                <a:solidFill>
                  <a:srgbClr val="FFFF00"/>
                </a:solidFill>
                <a:latin typeface="Abadi" panose="020B0604020104020204" pitchFamily="34" charset="0"/>
              </a:rPr>
              <a:t> 2 </a:t>
            </a:r>
            <a:r>
              <a:rPr lang="pt-BR" sz="2400" dirty="0">
                <a:latin typeface="Abadi" panose="020B0604020104020204" pitchFamily="34" charset="0"/>
              </a:rPr>
              <a:t>+</a:t>
            </a:r>
            <a:r>
              <a:rPr lang="pt-BR" sz="2400" dirty="0">
                <a:solidFill>
                  <a:srgbClr val="FFFF00"/>
                </a:solidFill>
                <a:latin typeface="Abadi" panose="020B0604020104020204" pitchFamily="34" charset="0"/>
              </a:rPr>
              <a:t> 1 </a:t>
            </a:r>
            <a:r>
              <a:rPr lang="pt-BR" sz="2400" dirty="0">
                <a:latin typeface="Abadi" panose="020B0604020104020204" pitchFamily="34" charset="0"/>
              </a:rPr>
              <a:t>=</a:t>
            </a:r>
            <a:r>
              <a:rPr lang="pt-BR" sz="2400" dirty="0">
                <a:solidFill>
                  <a:srgbClr val="FFFF00"/>
                </a:solidFill>
                <a:latin typeface="Abadi" panose="020B0604020104020204" pitchFamily="34" charset="0"/>
              </a:rPr>
              <a:t> 10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F1BEFDE-84E3-9584-F612-309829799799}"/>
              </a:ext>
            </a:extLst>
          </p:cNvPr>
          <p:cNvCxnSpPr>
            <a:cxnSpLocks/>
          </p:cNvCxnSpPr>
          <p:nvPr/>
        </p:nvCxnSpPr>
        <p:spPr>
          <a:xfrm>
            <a:off x="263200" y="2469123"/>
            <a:ext cx="11665598" cy="0"/>
          </a:xfrm>
          <a:prstGeom prst="line">
            <a:avLst/>
          </a:prstGeom>
          <a:ln w="19050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14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 animBg="1"/>
      <p:bldP spid="13" grpId="0" animBg="1"/>
      <p:bldP spid="14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A5CF-CEDA-0750-20D2-F1D51C6F5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A97B6F13-5E8D-EA99-3C73-AD5CC48D4B3B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C1810C-2D04-2512-EB0B-C3064DAF043B}"/>
              </a:ext>
            </a:extLst>
          </p:cNvPr>
          <p:cNvSpPr txBox="1"/>
          <p:nvPr/>
        </p:nvSpPr>
        <p:spPr>
          <a:xfrm>
            <a:off x="263200" y="1010317"/>
            <a:ext cx="426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b="1" dirty="0">
                <a:latin typeface="Abadi" panose="020B0604020104020204" pitchFamily="34" charset="0"/>
              </a:rPr>
              <a:t>Soma dos Dígitos de um Número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que receba um número inteiro positivo </a:t>
            </a:r>
            <a:r>
              <a:rPr lang="pt-BR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pt-BR" dirty="0">
                <a:latin typeface="Abadi" panose="020B0604020104020204" pitchFamily="34" charset="0"/>
              </a:rPr>
              <a:t> e retorne a soma dos seus dígitos.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4A06C0F-2189-9351-2B74-86CC6536A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038813"/>
              </p:ext>
            </p:extLst>
          </p:nvPr>
        </p:nvGraphicFramePr>
        <p:xfrm>
          <a:off x="7667344" y="878961"/>
          <a:ext cx="414107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537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2070537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18459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18459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18459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252580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18459">
                <a:tc>
                  <a:txBody>
                    <a:bodyPr/>
                    <a:lstStyle/>
                    <a:p>
                      <a:r>
                        <a:rPr lang="pt-BR" sz="18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1789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2409090-567C-7412-121C-74CB5DDF36E5}"/>
              </a:ext>
            </a:extLst>
          </p:cNvPr>
          <p:cNvCxnSpPr>
            <a:cxnSpLocks/>
          </p:cNvCxnSpPr>
          <p:nvPr/>
        </p:nvCxnSpPr>
        <p:spPr>
          <a:xfrm>
            <a:off x="263200" y="2469123"/>
            <a:ext cx="11665598" cy="0"/>
          </a:xfrm>
          <a:prstGeom prst="line">
            <a:avLst/>
          </a:prstGeom>
          <a:ln w="28575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AF317D2-8640-DE9A-BF7C-B6397FF05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2862771"/>
            <a:ext cx="90678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9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0E193-820B-063E-9566-8AD1945D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A93DB1EC-B9FE-6DE4-80B7-F511D46E0B62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751F46E-4918-A6D6-E353-EED58353F05F}"/>
                  </a:ext>
                </a:extLst>
              </p:cNvPr>
              <p:cNvSpPr txBox="1"/>
              <p:nvPr/>
            </p:nvSpPr>
            <p:spPr>
              <a:xfrm>
                <a:off x="363840" y="898906"/>
                <a:ext cx="485839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pt-BR" b="1" dirty="0">
                    <a:latin typeface="Abadi" panose="020B0604020104020204" pitchFamily="34" charset="0"/>
                  </a:rPr>
                  <a:t>Potência de um Número</a:t>
                </a:r>
              </a:p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Escreva uma função recursiva que calcule a potência de um número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pt-BR" dirty="0">
                    <a:latin typeface="Abadi" panose="020B0604020104020204" pitchFamily="34" charset="0"/>
                  </a:rPr>
                  <a:t> elevado a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, ou seja,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. Suponha que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 seja um número inteiro não-negativo.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751F46E-4918-A6D6-E353-EED58353F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40" y="898906"/>
                <a:ext cx="4858398" cy="1477328"/>
              </a:xfrm>
              <a:prstGeom prst="rect">
                <a:avLst/>
              </a:prstGeom>
              <a:blipFill>
                <a:blip r:embed="rId3"/>
                <a:stretch>
                  <a:fillRect l="-1129" t="-2058" r="-1004" b="-53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3462D058-D397-C6E4-AFF6-FEB0F811E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15302"/>
              </p:ext>
            </p:extLst>
          </p:nvPr>
        </p:nvGraphicFramePr>
        <p:xfrm>
          <a:off x="5376556" y="898906"/>
          <a:ext cx="6451602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18782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18782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x = 2, y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18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latin typeface="Abadi" panose="020B0604020104020204" pitchFamily="34" charset="0"/>
                        </a:rPr>
                        <a:t>x = 3, y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18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>
                          <a:latin typeface="Abadi" panose="020B0604020104020204" pitchFamily="34" charset="0"/>
                        </a:rPr>
                        <a:t>x = 4, y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1048576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FDE21FC-376F-4677-8CFE-41933BE2FFE6}"/>
                  </a:ext>
                </a:extLst>
              </p:cNvPr>
              <p:cNvSpPr txBox="1"/>
              <p:nvPr/>
            </p:nvSpPr>
            <p:spPr>
              <a:xfrm>
                <a:off x="363840" y="2562013"/>
                <a:ext cx="6111550" cy="1211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latin typeface="Abadi" panose="020B0604020104020204" pitchFamily="34" charset="0"/>
                  </a:rPr>
                  <a:t>Definição Matemática:</a:t>
                </a:r>
              </a:p>
              <a:p>
                <a:r>
                  <a:rPr lang="pt-BR" dirty="0">
                    <a:latin typeface="Abadi" panose="020B0604020104020204" pitchFamily="34" charset="0"/>
                  </a:rPr>
                  <a:t>	Podemos definir a potência de forma recursiva assim: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×</m:t>
                    </m:r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−1)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se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&gt;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 = 1 (caso base)</a:t>
                </a: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FDE21FC-376F-4677-8CFE-41933BE2F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40" y="2562013"/>
                <a:ext cx="6111550" cy="1211807"/>
              </a:xfrm>
              <a:prstGeom prst="rect">
                <a:avLst/>
              </a:prstGeom>
              <a:blipFill>
                <a:blip r:embed="rId4"/>
                <a:stretch>
                  <a:fillRect l="-898" t="-2513" b="-70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84A81C6-6B83-5ECE-DB94-255E4830AFE2}"/>
              </a:ext>
            </a:extLst>
          </p:cNvPr>
          <p:cNvCxnSpPr>
            <a:cxnSpLocks/>
          </p:cNvCxnSpPr>
          <p:nvPr/>
        </p:nvCxnSpPr>
        <p:spPr>
          <a:xfrm>
            <a:off x="263200" y="2469123"/>
            <a:ext cx="11665598" cy="0"/>
          </a:xfrm>
          <a:prstGeom prst="line">
            <a:avLst/>
          </a:prstGeom>
          <a:ln w="28575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62B5A2A9-7909-38FE-BF08-4784D59AEC63}"/>
              </a:ext>
            </a:extLst>
          </p:cNvPr>
          <p:cNvSpPr/>
          <p:nvPr/>
        </p:nvSpPr>
        <p:spPr>
          <a:xfrm>
            <a:off x="6440009" y="2562013"/>
            <a:ext cx="5453408" cy="40533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Abadi" panose="020B0604020104020204" pitchFamily="34" charset="0"/>
              </a:rPr>
              <a:t>A função chamada seria: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3) → 2 * potencia(2, 2)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2) → 2 * potencia(2, 1)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1) → 2 * potencia(2, 0)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0) → 1  (caso base)</a:t>
            </a:r>
          </a:p>
          <a:p>
            <a:pPr lvl="1"/>
            <a:endParaRPr lang="pt-BR" dirty="0">
              <a:latin typeface="Abadi" panose="020B0604020104020204" pitchFamily="34" charset="0"/>
            </a:endParaRPr>
          </a:p>
          <a:p>
            <a:r>
              <a:rPr lang="pt-BR" dirty="0">
                <a:latin typeface="Abadi" panose="020B0604020104020204" pitchFamily="34" charset="0"/>
              </a:rPr>
              <a:t>Agora, resolvendo de trás para frente: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0) = 1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1) = 2 * 1 = 2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2) = 2 * 2 = 4</a:t>
            </a:r>
          </a:p>
          <a:p>
            <a:pPr lvl="1"/>
            <a:r>
              <a:rPr lang="pt-BR" dirty="0">
                <a:latin typeface="Abadi" panose="020B0604020104020204" pitchFamily="34" charset="0"/>
              </a:rPr>
              <a:t>potencia(2, 3) = 2 * 4 = 8</a:t>
            </a:r>
          </a:p>
          <a:p>
            <a:pPr lvl="1"/>
            <a:endParaRPr lang="pt-BR" dirty="0">
              <a:latin typeface="Abadi" panose="020B0604020104020204" pitchFamily="34" charset="0"/>
            </a:endParaRPr>
          </a:p>
          <a:p>
            <a:r>
              <a:rPr lang="pt-BR" dirty="0">
                <a:latin typeface="Abadi" panose="020B0604020104020204" pitchFamily="34" charset="0"/>
              </a:rPr>
              <a:t>Ou seja, o resultado final é 8, que é o esperado.</a:t>
            </a:r>
          </a:p>
          <a:p>
            <a:endParaRPr lang="pt-BR" dirty="0">
              <a:latin typeface="Abadi" panose="020B0604020104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0ECC8D-A408-7295-B050-4E5585944A93}"/>
              </a:ext>
            </a:extLst>
          </p:cNvPr>
          <p:cNvSpPr txBox="1"/>
          <p:nvPr/>
        </p:nvSpPr>
        <p:spPr>
          <a:xfrm>
            <a:off x="363840" y="4204768"/>
            <a:ext cx="5732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Precisamos de uma função que: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Se y for 0, retornamos 1 (pois qualquer número elevado a 0 é 1).</a:t>
            </a:r>
          </a:p>
          <a:p>
            <a:pPr marL="742950" lvl="1" indent="-285750" algn="just">
              <a:buFont typeface="+mj-lt"/>
              <a:buAutoNum type="arabicPeriod"/>
            </a:pPr>
            <a:endParaRPr lang="pt-BR" dirty="0">
              <a:latin typeface="Abadi" panose="020B060402010402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Se y for maior que 0, multiplicamos x pelo resultado da mesma função chamada com y−1, até que y chegue a 0.</a:t>
            </a:r>
          </a:p>
        </p:txBody>
      </p:sp>
    </p:spTree>
    <p:extLst>
      <p:ext uri="{BB962C8B-B14F-4D97-AF65-F5344CB8AC3E}">
        <p14:creationId xmlns:p14="http://schemas.microsoft.com/office/powerpoint/2010/main" val="428632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A479-8639-BFEA-8298-CD6609F2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23A3ED1A-EE5E-0659-29E5-FF2B5D794F9E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1D3C00E-08B6-DC12-76F4-71B153F8EC34}"/>
                  </a:ext>
                </a:extLst>
              </p:cNvPr>
              <p:cNvSpPr txBox="1"/>
              <p:nvPr/>
            </p:nvSpPr>
            <p:spPr>
              <a:xfrm>
                <a:off x="363840" y="898906"/>
                <a:ext cx="485839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pt-BR" b="1" dirty="0">
                    <a:latin typeface="Abadi" panose="020B0604020104020204" pitchFamily="34" charset="0"/>
                  </a:rPr>
                  <a:t>Potência de um Número</a:t>
                </a:r>
              </a:p>
              <a:p>
                <a:pPr algn="just"/>
                <a:r>
                  <a:rPr lang="pt-BR" dirty="0">
                    <a:latin typeface="Abadi" panose="020B0604020104020204" pitchFamily="34" charset="0"/>
                  </a:rPr>
                  <a:t>Escreva uma função recursiva que calcule a potência de um número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pt-BR" dirty="0">
                    <a:latin typeface="Abadi" panose="020B0604020104020204" pitchFamily="34" charset="0"/>
                  </a:rPr>
                  <a:t> elevado a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, ou seja,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pt-BR" dirty="0">
                    <a:latin typeface="Abadi" panose="020B0604020104020204" pitchFamily="34" charset="0"/>
                  </a:rPr>
                  <a:t>. Suponha que </a:t>
                </a:r>
                <a:r>
                  <a:rPr lang="pt-B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pt-BR" dirty="0">
                    <a:latin typeface="Abadi" panose="020B0604020104020204" pitchFamily="34" charset="0"/>
                  </a:rPr>
                  <a:t> seja um número inteiro não-negativo.</a:t>
                </a: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1D3C00E-08B6-DC12-76F4-71B153F8E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40" y="898906"/>
                <a:ext cx="4858398" cy="1477328"/>
              </a:xfrm>
              <a:prstGeom prst="rect">
                <a:avLst/>
              </a:prstGeom>
              <a:blipFill>
                <a:blip r:embed="rId2"/>
                <a:stretch>
                  <a:fillRect l="-1129" t="-2058" r="-1004" b="-53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68957AF-44ED-6C15-EB13-4168A0EC8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537312"/>
              </p:ext>
            </p:extLst>
          </p:nvPr>
        </p:nvGraphicFramePr>
        <p:xfrm>
          <a:off x="6405048" y="929625"/>
          <a:ext cx="4215314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7657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2107657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x = 2, y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Abadi" panose="020B0604020104020204" pitchFamily="34" charset="0"/>
                        </a:rPr>
                        <a:t>x = 3, y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Abadi" panose="020B0604020104020204" pitchFamily="34" charset="0"/>
                        </a:rPr>
                        <a:t>x = 4, y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1048576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E239A0A-7E89-7EA0-F604-F5D9629D9D8E}"/>
              </a:ext>
            </a:extLst>
          </p:cNvPr>
          <p:cNvCxnSpPr>
            <a:cxnSpLocks/>
          </p:cNvCxnSpPr>
          <p:nvPr/>
        </p:nvCxnSpPr>
        <p:spPr>
          <a:xfrm>
            <a:off x="263200" y="2469123"/>
            <a:ext cx="11665598" cy="0"/>
          </a:xfrm>
          <a:prstGeom prst="line">
            <a:avLst/>
          </a:prstGeom>
          <a:ln w="28575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876CEC60-1296-F8E1-442E-53EBC3E3B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4" y="2868597"/>
            <a:ext cx="74485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16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4E9C-EFD8-5F13-4BC1-7457102D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A7F1721-AAAE-1B54-26AF-295213A44CAE}"/>
              </a:ext>
            </a:extLst>
          </p:cNvPr>
          <p:cNvSpPr txBox="1"/>
          <p:nvPr/>
        </p:nvSpPr>
        <p:spPr>
          <a:xfrm>
            <a:off x="618929" y="2551837"/>
            <a:ext cx="48954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A sequência de Fibonacci é uma sequência matemática onde cada número (a partir do terceiro) é a soma dos dois anteriores. Os dois primeiros termos são 0 e 1.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A sequência começa assim: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ctr"/>
            <a:r>
              <a:rPr lang="pt-BR" dirty="0">
                <a:latin typeface="Abadi" panose="020B0604020104020204" pitchFamily="34" charset="0"/>
              </a:rPr>
              <a:t>0,1,1,2,3,5,8,13,21,34,55,...</a:t>
            </a:r>
          </a:p>
        </p:txBody>
      </p:sp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8FBA6A57-A709-C590-46E3-9E29F2FB34E5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63F901-99F5-6B2D-2F00-B0025567FC01}"/>
              </a:ext>
            </a:extLst>
          </p:cNvPr>
          <p:cNvSpPr/>
          <p:nvPr/>
        </p:nvSpPr>
        <p:spPr>
          <a:xfrm>
            <a:off x="307856" y="2575444"/>
            <a:ext cx="5365156" cy="29534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Abadi" panose="020B0604020104020204" pitchFamily="34" charset="0"/>
              </a:rPr>
              <a:t>Se chamarmos a função </a:t>
            </a:r>
            <a:r>
              <a:rPr lang="pt-BR" dirty="0" err="1">
                <a:latin typeface="Abadi" panose="020B0604020104020204" pitchFamily="34" charset="0"/>
              </a:rPr>
              <a:t>fibonacci</a:t>
            </a:r>
            <a:r>
              <a:rPr lang="pt-BR" dirty="0">
                <a:latin typeface="Abadi" panose="020B0604020104020204" pitchFamily="34" charset="0"/>
              </a:rPr>
              <a:t>(6), ela funcionará assim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fibonacci(6) = fibonacci(5) + fibonacci(4)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fibonacci(5) = fibonacci(4) + fibonacci(3)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fibonacci(4) = fibonacci(3) + fibonacci(2)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fibonacci(3) = fibonacci(2) + fibonacci(1)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fibonacci(2) = fibonacci(1) + fibonacci(0)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fibonacci(1) = 1 e fibonacci(0) = 0</a:t>
            </a:r>
            <a:endParaRPr lang="pt-BR" dirty="0">
              <a:latin typeface="Abadi" panose="020B0604020104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68EB73E-8394-8388-ED19-D1D506594DF9}"/>
              </a:ext>
            </a:extLst>
          </p:cNvPr>
          <p:cNvSpPr/>
          <p:nvPr/>
        </p:nvSpPr>
        <p:spPr>
          <a:xfrm>
            <a:off x="5817248" y="2575445"/>
            <a:ext cx="6111550" cy="29578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>
                <a:latin typeface="Abadi" panose="020B0604020104020204" pitchFamily="34" charset="0"/>
              </a:rPr>
              <a:t>Se quisermos calcular o </a:t>
            </a:r>
            <a:r>
              <a:rPr lang="pt-BR" b="1" dirty="0">
                <a:latin typeface="Abadi" panose="020B0604020104020204" pitchFamily="34" charset="0"/>
              </a:rPr>
              <a:t>6º termo</a:t>
            </a:r>
            <a:r>
              <a:rPr lang="pt-BR" dirty="0">
                <a:latin typeface="Abadi" panose="020B0604020104020204" pitchFamily="34" charset="0"/>
              </a:rPr>
              <a:t>, seguimos esta lógica:</a:t>
            </a:r>
          </a:p>
          <a:p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começo </a:t>
            </a:r>
            <a:r>
              <a:rPr lang="pt-BR" dirty="0">
                <a:latin typeface="Abadi" panose="020B0604020104020204" pitchFamily="34" charset="0"/>
              </a:rPr>
              <a:t>é </a:t>
            </a:r>
            <a:r>
              <a:rPr lang="pt-BR" b="1" dirty="0">
                <a:latin typeface="Abadi" panose="020B0604020104020204" pitchFamily="34" charset="0"/>
              </a:rPr>
              <a:t>0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1º termo</a:t>
            </a:r>
            <a:r>
              <a:rPr lang="pt-BR" dirty="0">
                <a:latin typeface="Abadi" panose="020B0604020104020204" pitchFamily="34" charset="0"/>
              </a:rPr>
              <a:t> é </a:t>
            </a:r>
            <a:r>
              <a:rPr lang="pt-BR" b="1" dirty="0">
                <a:latin typeface="Abadi" panose="020B0604020104020204" pitchFamily="34" charset="0"/>
              </a:rPr>
              <a:t>1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2º termo</a:t>
            </a:r>
            <a:r>
              <a:rPr lang="pt-BR" dirty="0">
                <a:latin typeface="Abadi" panose="020B0604020104020204" pitchFamily="34" charset="0"/>
              </a:rPr>
              <a:t> é a soma dos dois anteriores: </a:t>
            </a:r>
            <a:r>
              <a:rPr lang="pt-BR" b="1" dirty="0">
                <a:latin typeface="Abadi" panose="020B0604020104020204" pitchFamily="34" charset="0"/>
              </a:rPr>
              <a:t>0 + 1 = 1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3º termo</a:t>
            </a:r>
            <a:r>
              <a:rPr lang="pt-BR" dirty="0">
                <a:latin typeface="Abadi" panose="020B0604020104020204" pitchFamily="34" charset="0"/>
              </a:rPr>
              <a:t> é a soma dos dois anteriores: </a:t>
            </a:r>
            <a:r>
              <a:rPr lang="pt-BR" b="1" dirty="0">
                <a:latin typeface="Abadi" panose="020B0604020104020204" pitchFamily="34" charset="0"/>
              </a:rPr>
              <a:t>1 + 1 = 2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4º termo</a:t>
            </a:r>
            <a:r>
              <a:rPr lang="pt-BR" dirty="0">
                <a:latin typeface="Abadi" panose="020B0604020104020204" pitchFamily="34" charset="0"/>
              </a:rPr>
              <a:t> é a soma dos dois anteriores: </a:t>
            </a:r>
            <a:r>
              <a:rPr lang="pt-BR" b="1" dirty="0">
                <a:latin typeface="Abadi" panose="020B0604020104020204" pitchFamily="34" charset="0"/>
              </a:rPr>
              <a:t>1 + 2 = 3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5º termo</a:t>
            </a:r>
            <a:r>
              <a:rPr lang="pt-BR" dirty="0">
                <a:latin typeface="Abadi" panose="020B0604020104020204" pitchFamily="34" charset="0"/>
              </a:rPr>
              <a:t> é a soma dos dois anteriores: </a:t>
            </a:r>
            <a:r>
              <a:rPr lang="pt-BR" b="1" dirty="0">
                <a:latin typeface="Abadi" panose="020B0604020104020204" pitchFamily="34" charset="0"/>
              </a:rPr>
              <a:t>2 + 3 = 5</a:t>
            </a:r>
            <a:endParaRPr lang="pt-BR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dirty="0">
                <a:latin typeface="Abadi" panose="020B0604020104020204" pitchFamily="34" charset="0"/>
              </a:rPr>
              <a:t>O </a:t>
            </a:r>
            <a:r>
              <a:rPr lang="pt-BR" b="1" dirty="0">
                <a:latin typeface="Abadi" panose="020B0604020104020204" pitchFamily="34" charset="0"/>
              </a:rPr>
              <a:t>6º termo</a:t>
            </a:r>
            <a:r>
              <a:rPr lang="pt-BR" dirty="0">
                <a:latin typeface="Abadi" panose="020B0604020104020204" pitchFamily="34" charset="0"/>
              </a:rPr>
              <a:t> seria </a:t>
            </a:r>
            <a:r>
              <a:rPr lang="pt-BR" b="1" dirty="0">
                <a:latin typeface="Abadi" panose="020B0604020104020204" pitchFamily="34" charset="0"/>
              </a:rPr>
              <a:t>3 + 5 = 8</a:t>
            </a:r>
            <a:r>
              <a:rPr lang="pt-BR" dirty="0">
                <a:latin typeface="Abadi" panose="020B0604020104020204" pitchFamily="34" charset="0"/>
              </a:rPr>
              <a:t> e assim por diante.</a:t>
            </a:r>
          </a:p>
          <a:p>
            <a:endParaRPr lang="pt-BR" dirty="0">
              <a:latin typeface="Abadi" panose="020B0604020104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6E31E78-846C-F299-6344-564C8D4D98D3}"/>
              </a:ext>
            </a:extLst>
          </p:cNvPr>
          <p:cNvSpPr txBox="1"/>
          <p:nvPr/>
        </p:nvSpPr>
        <p:spPr>
          <a:xfrm>
            <a:off x="307856" y="880481"/>
            <a:ext cx="485839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pt-BR" sz="1600" b="1" dirty="0">
                <a:latin typeface="Abadi" panose="020B0604020104020204" pitchFamily="34" charset="0"/>
              </a:rPr>
              <a:t>Série de Fibonacci</a:t>
            </a:r>
          </a:p>
          <a:p>
            <a:pPr algn="just"/>
            <a:r>
              <a:rPr lang="pt-BR" sz="1700" dirty="0">
                <a:latin typeface="Abadi" panose="020B0604020104020204" pitchFamily="34" charset="0"/>
              </a:rPr>
              <a:t>Escreva uma função recursiva para calcular o enésimo termo da sequência de Fibonacci. Na sequência de Fibonacci, cada termo é a soma dos dois anteriores, com os primeiros termos sendo 0 e 1.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155943F-6A81-2DA5-8F74-28E694E1A5BE}"/>
              </a:ext>
            </a:extLst>
          </p:cNvPr>
          <p:cNvSpPr/>
          <p:nvPr/>
        </p:nvSpPr>
        <p:spPr>
          <a:xfrm>
            <a:off x="5817248" y="2575445"/>
            <a:ext cx="6111550" cy="29534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it-IT" dirty="0">
              <a:latin typeface="Abadi" panose="020B0604020104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fibonacci(2) = 1 + 0 = 1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fibonacci(3) = 1 + 1 = 2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fibonacci(4) = 2 + 1 = 3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fibonacci(5) = 3 + 2 = 5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Abadi" panose="020B0604020104020204" pitchFamily="34" charset="0"/>
              </a:rPr>
              <a:t>fibonacci(6) = 5 + 3 = 8</a:t>
            </a:r>
            <a:endParaRPr lang="pt-BR" dirty="0">
              <a:latin typeface="Abadi" panose="020B0604020104020204" pitchFamily="34" charset="0"/>
            </a:endParaRP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B44A618-4FBA-8187-1E42-60EDA8CD3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969521"/>
              </p:ext>
            </p:extLst>
          </p:nvPr>
        </p:nvGraphicFramePr>
        <p:xfrm>
          <a:off x="5320573" y="862800"/>
          <a:ext cx="6451602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5801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3225801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296989"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296989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296989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296989"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Abadi" panose="020B0604020104020204" pitchFamily="34" charset="0"/>
                        </a:rPr>
                        <a:t>46368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549ABF0-6669-FC64-2686-1E43EE80920E}"/>
              </a:ext>
            </a:extLst>
          </p:cNvPr>
          <p:cNvCxnSpPr>
            <a:cxnSpLocks/>
          </p:cNvCxnSpPr>
          <p:nvPr/>
        </p:nvCxnSpPr>
        <p:spPr>
          <a:xfrm>
            <a:off x="263200" y="2469123"/>
            <a:ext cx="11665598" cy="0"/>
          </a:xfrm>
          <a:prstGeom prst="line">
            <a:avLst/>
          </a:prstGeom>
          <a:ln w="28575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9C8142AC-7A92-CAFA-4CE3-EA762465395A}"/>
              </a:ext>
            </a:extLst>
          </p:cNvPr>
          <p:cNvCxnSpPr>
            <a:cxnSpLocks/>
          </p:cNvCxnSpPr>
          <p:nvPr/>
        </p:nvCxnSpPr>
        <p:spPr>
          <a:xfrm flipV="1">
            <a:off x="4161453" y="3610947"/>
            <a:ext cx="1671204" cy="1418253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F6CBDA5C-ED46-CFEE-3644-18E978A34940}"/>
              </a:ext>
            </a:extLst>
          </p:cNvPr>
          <p:cNvSpPr/>
          <p:nvPr/>
        </p:nvSpPr>
        <p:spPr>
          <a:xfrm>
            <a:off x="618929" y="4888154"/>
            <a:ext cx="3542524" cy="2797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8FB3C61-8CF5-A182-6E3D-B5261B068441}"/>
                  </a:ext>
                </a:extLst>
              </p:cNvPr>
              <p:cNvSpPr txBox="1"/>
              <p:nvPr/>
            </p:nvSpPr>
            <p:spPr>
              <a:xfrm>
                <a:off x="3441777" y="5747357"/>
                <a:ext cx="4703017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(0)=0</m:t>
                      </m:r>
                    </m:oMath>
                  </m:oMathPara>
                </a14:m>
                <a:endParaRPr lang="pt-B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(1)=1</m:t>
                      </m:r>
                    </m:oMath>
                  </m:oMathPara>
                </a14:m>
                <a:endParaRPr lang="pt-BR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−1)+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−2) </m:t>
                    </m:r>
                  </m:oMath>
                </a14:m>
                <a:r>
                  <a:rPr lang="pt-BR" dirty="0"/>
                  <a:t>para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68FB3C61-8CF5-A182-6E3D-B5261B068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777" y="5747357"/>
                <a:ext cx="4703017" cy="923330"/>
              </a:xfrm>
              <a:prstGeom prst="rect">
                <a:avLst/>
              </a:prstGeom>
              <a:blipFill>
                <a:blip r:embed="rId3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ixaDeTexto 23">
            <a:extLst>
              <a:ext uri="{FF2B5EF4-FFF2-40B4-BE49-F238E27FC236}">
                <a16:creationId xmlns:a16="http://schemas.microsoft.com/office/drawing/2014/main" id="{E9BFFB75-F1AB-F64E-4832-05F906D0AAF5}"/>
              </a:ext>
            </a:extLst>
          </p:cNvPr>
          <p:cNvSpPr txBox="1"/>
          <p:nvPr/>
        </p:nvSpPr>
        <p:spPr>
          <a:xfrm>
            <a:off x="1198985" y="5549924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latin typeface="Abadi" panose="020B0604020104020204" pitchFamily="34" charset="0"/>
              </a:rPr>
              <a:t>Logo...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097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8" grpId="0" animBg="1"/>
      <p:bldP spid="11" grpId="0" animBg="1"/>
      <p:bldP spid="17" grpId="0" animBg="1"/>
      <p:bldP spid="21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686B-D6A6-DF32-49CF-A9EFBC2B4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0405BC90-91D5-863C-7D76-7B61621E67D9}"/>
              </a:ext>
            </a:extLst>
          </p:cNvPr>
          <p:cNvSpPr/>
          <p:nvPr/>
        </p:nvSpPr>
        <p:spPr>
          <a:xfrm>
            <a:off x="0" y="0"/>
            <a:ext cx="12192000" cy="751840"/>
          </a:xfrm>
          <a:prstGeom prst="snip2SameRect">
            <a:avLst>
              <a:gd name="adj1" fmla="val 0"/>
              <a:gd name="adj2" fmla="val 10502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atin typeface="Abadi" panose="020B0604020104020204" pitchFamily="34" charset="0"/>
              </a:rPr>
              <a:t>Questões para casa...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BC930B-B539-1CC3-14F3-ECF9BF57AEB9}"/>
              </a:ext>
            </a:extLst>
          </p:cNvPr>
          <p:cNvSpPr txBox="1"/>
          <p:nvPr/>
        </p:nvSpPr>
        <p:spPr>
          <a:xfrm>
            <a:off x="307856" y="880481"/>
            <a:ext cx="4858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pt-BR" b="1" dirty="0">
                <a:latin typeface="Abadi" panose="020B0604020104020204" pitchFamily="34" charset="0"/>
              </a:rPr>
              <a:t>Série de Fibonacci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Escreva uma função recursiva para calcular o enésimo termo da sequência de Fibonacci. Na sequência de Fibonacci, cada termo é a soma dos dois anteriores, com os primeiros termos sendo 0 e 1.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63D662A8-ACDB-8263-0F64-BF950E369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87784"/>
              </p:ext>
            </p:extLst>
          </p:nvPr>
        </p:nvGraphicFramePr>
        <p:xfrm>
          <a:off x="7025748" y="1015964"/>
          <a:ext cx="428062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0314">
                  <a:extLst>
                    <a:ext uri="{9D8B030D-6E8A-4147-A177-3AD203B41FA5}">
                      <a16:colId xmlns:a16="http://schemas.microsoft.com/office/drawing/2014/main" val="306612559"/>
                    </a:ext>
                  </a:extLst>
                </a:gridCol>
                <a:gridCol w="2140314">
                  <a:extLst>
                    <a:ext uri="{9D8B030D-6E8A-4147-A177-3AD203B41FA5}">
                      <a16:colId xmlns:a16="http://schemas.microsoft.com/office/drawing/2014/main" val="3645440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Exemplo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Abadi" panose="020B0604020104020204" pitchFamily="34" charset="0"/>
                        </a:rPr>
                        <a:t>Saída Esperada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523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74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latin typeface="Abadi" panose="020B0604020104020204" pitchFamily="34" charset="0"/>
                        </a:rPr>
                        <a:t>46368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358221"/>
                  </a:ext>
                </a:extLst>
              </a:tr>
            </a:tbl>
          </a:graphicData>
        </a:graphic>
      </p:graphicFrame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5EDAC3D-C50C-CB82-6330-730834C1E334}"/>
              </a:ext>
            </a:extLst>
          </p:cNvPr>
          <p:cNvCxnSpPr>
            <a:cxnSpLocks/>
          </p:cNvCxnSpPr>
          <p:nvPr/>
        </p:nvCxnSpPr>
        <p:spPr>
          <a:xfrm>
            <a:off x="263200" y="2613506"/>
            <a:ext cx="11665598" cy="0"/>
          </a:xfrm>
          <a:prstGeom prst="line">
            <a:avLst/>
          </a:prstGeom>
          <a:ln w="28575">
            <a:solidFill>
              <a:srgbClr val="123D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FFC47CB3-F4B6-23B4-C7F9-43857C6B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508" y="2763448"/>
            <a:ext cx="8514981" cy="392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8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0" ma:contentTypeDescription="Crie um novo documento." ma:contentTypeScope="" ma:versionID="c9dec7fe9ee32fa528428c7fb066817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684F98-D4B4-409C-AE98-7CD9D42972BC}"/>
</file>

<file path=customXml/itemProps2.xml><?xml version="1.0" encoding="utf-8"?>
<ds:datastoreItem xmlns:ds="http://schemas.openxmlformats.org/officeDocument/2006/customXml" ds:itemID="{C379EBB1-61D9-4D09-BCEE-FE73BFEC7DD2}"/>
</file>

<file path=customXml/itemProps3.xml><?xml version="1.0" encoding="utf-8"?>
<ds:datastoreItem xmlns:ds="http://schemas.openxmlformats.org/officeDocument/2006/customXml" ds:itemID="{B94D40F0-FCDE-4DBB-AA89-331F7F1A2FA2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2011</TotalTime>
  <Words>986</Words>
  <Application>Microsoft Office PowerPoint</Application>
  <PresentationFormat>Widescreen</PresentationFormat>
  <Paragraphs>141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Abadi</vt:lpstr>
      <vt:lpstr>Arial</vt:lpstr>
      <vt:lpstr>Calibri</vt:lpstr>
      <vt:lpstr>Calibri Light</vt:lpstr>
      <vt:lpstr>Cambria Math</vt:lpstr>
      <vt:lpstr>Tema do Office</vt:lpstr>
      <vt:lpstr>Estrutura de Dados Aula 3.1: Questões de Recursividade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50</cp:revision>
  <dcterms:created xsi:type="dcterms:W3CDTF">2024-11-05T22:56:10Z</dcterms:created>
  <dcterms:modified xsi:type="dcterms:W3CDTF">2026-02-05T23:20:08Z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