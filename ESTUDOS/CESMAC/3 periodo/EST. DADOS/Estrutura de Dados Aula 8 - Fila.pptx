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306" r:id="rId3"/>
    <p:sldId id="307" r:id="rId4"/>
    <p:sldId id="309" r:id="rId5"/>
    <p:sldId id="308" r:id="rId6"/>
    <p:sldId id="310" r:id="rId7"/>
    <p:sldId id="311" r:id="rId8"/>
    <p:sldId id="312" r:id="rId9"/>
    <p:sldId id="360" r:id="rId10"/>
    <p:sldId id="362" r:id="rId11"/>
    <p:sldId id="31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D52"/>
    <a:srgbClr val="E7E7E7"/>
    <a:srgbClr val="0C101C"/>
    <a:srgbClr val="CFFEFF"/>
    <a:srgbClr val="1F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9" autoAdjust="0"/>
    <p:restoredTop sz="94737" autoAdjust="0"/>
  </p:normalViewPr>
  <p:slideViewPr>
    <p:cSldViewPr snapToGrid="0" showGuides="1">
      <p:cViewPr varScale="1">
        <p:scale>
          <a:sx n="108" d="100"/>
          <a:sy n="108" d="100"/>
        </p:scale>
        <p:origin x="5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B7344-8758-4923-BF9D-B590D61918F1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DD73-88FC-478A-9AB9-3EF3A97C1D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3429000"/>
            <a:ext cx="10272205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 dirty="0">
                <a:latin typeface="Abadi" panose="020B0604020104020204" pitchFamily="34" charset="0"/>
              </a:rPr>
              <a:t>Aula 8: Fila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0BC632AA-D863-B24F-9495-11B1F293125E}"/>
              </a:ext>
            </a:extLst>
          </p:cNvPr>
          <p:cNvSpPr/>
          <p:nvPr/>
        </p:nvSpPr>
        <p:spPr>
          <a:xfrm rot="16200000">
            <a:off x="3715428" y="-3552084"/>
            <a:ext cx="649458" cy="808030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O que é uma fila? (...em estrutura de dados)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F015990-6900-A43A-4D0D-549BF395068F}"/>
              </a:ext>
            </a:extLst>
          </p:cNvPr>
          <p:cNvSpPr txBox="1"/>
          <p:nvPr/>
        </p:nvSpPr>
        <p:spPr>
          <a:xfrm>
            <a:off x="209180" y="922774"/>
            <a:ext cx="11773640" cy="1631216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Uma fila é uma estrutura de dados linear, semelhante a uma lista, mas com regras específicas.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Em uma fila, os valores são armazenados de forma que </a:t>
            </a:r>
            <a:r>
              <a:rPr lang="pt-BR" sz="2000" u="sng" dirty="0">
                <a:latin typeface="Abadi" panose="020B0604020104020204" pitchFamily="34" charset="0"/>
              </a:rPr>
              <a:t>um novo elemento é sempre adicionado ao final</a:t>
            </a:r>
            <a:r>
              <a:rPr lang="pt-BR" sz="2000" dirty="0">
                <a:latin typeface="Abadi" panose="020B0604020104020204" pitchFamily="34" charset="0"/>
              </a:rPr>
              <a:t>, e </a:t>
            </a:r>
            <a:r>
              <a:rPr lang="pt-BR" sz="2000" u="sng" dirty="0">
                <a:latin typeface="Abadi" panose="020B0604020104020204" pitchFamily="34" charset="0"/>
              </a:rPr>
              <a:t>o próximo valor a ser removido é o primeiro que foi inserido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B45B795-57DA-EDBC-F9A8-AB300A0192BB}"/>
              </a:ext>
            </a:extLst>
          </p:cNvPr>
          <p:cNvSpPr txBox="1"/>
          <p:nvPr/>
        </p:nvSpPr>
        <p:spPr>
          <a:xfrm>
            <a:off x="209180" y="2885490"/>
            <a:ext cx="5687767" cy="2923877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400" b="1" dirty="0">
                <a:latin typeface="Abadi" panose="020B0604020104020204" pitchFamily="34" charset="0"/>
              </a:rPr>
              <a:t>Onde podemos usar?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Programa para criar a fila de um banco ou atendimento em um fastfood;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Fila de impressão;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Fila de processo;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Fila de acesso a informações no Banco de Dados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Fila com as teclas digitados.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681D855-3C60-4B0F-8830-15E7288AB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678" y="2763206"/>
            <a:ext cx="3002905" cy="300290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C813E52-14C7-FB71-66D8-DDD5557EA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583" y="2763205"/>
            <a:ext cx="3002906" cy="3002906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B37CDD8-8B3E-F1AC-8F72-709A09544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3046" y="3592286"/>
            <a:ext cx="933061" cy="93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999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4AEC-F574-CB4A-71E0-6F88EFB4A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: Cantos Superiores Recortados 28">
            <a:extLst>
              <a:ext uri="{FF2B5EF4-FFF2-40B4-BE49-F238E27FC236}">
                <a16:creationId xmlns:a16="http://schemas.microsoft.com/office/drawing/2014/main" id="{8393D50F-4F77-7FA8-95B8-39C15417A198}"/>
              </a:ext>
            </a:extLst>
          </p:cNvPr>
          <p:cNvSpPr/>
          <p:nvPr/>
        </p:nvSpPr>
        <p:spPr>
          <a:xfrm rot="16200000">
            <a:off x="403061" y="-239717"/>
            <a:ext cx="649458" cy="1455572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>
                <a:latin typeface="Abadi" panose="020B0604020104020204" pitchFamily="34" charset="0"/>
              </a:rPr>
              <a:t>FIFO</a:t>
            </a:r>
            <a:endParaRPr lang="pt-BR" sz="3000" dirty="0">
              <a:latin typeface="Abadi" panose="020B0604020104020204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DC24773-9A30-4A4F-57BC-996EEC1771DD}"/>
              </a:ext>
            </a:extLst>
          </p:cNvPr>
          <p:cNvSpPr txBox="1"/>
          <p:nvPr/>
        </p:nvSpPr>
        <p:spPr>
          <a:xfrm>
            <a:off x="209180" y="922774"/>
            <a:ext cx="11773640" cy="1631216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Uma fila é representada pela regra FIFO: </a:t>
            </a:r>
            <a:r>
              <a:rPr lang="pt-BR" sz="2000" dirty="0" err="1">
                <a:latin typeface="Abadi" panose="020B0604020104020204" pitchFamily="34" charset="0"/>
              </a:rPr>
              <a:t>First</a:t>
            </a:r>
            <a:r>
              <a:rPr lang="pt-BR" sz="2000" dirty="0">
                <a:latin typeface="Abadi" panose="020B0604020104020204" pitchFamily="34" charset="0"/>
              </a:rPr>
              <a:t>-In, </a:t>
            </a:r>
            <a:r>
              <a:rPr lang="pt-BR" sz="2000" dirty="0" err="1">
                <a:latin typeface="Abadi" panose="020B0604020104020204" pitchFamily="34" charset="0"/>
              </a:rPr>
              <a:t>First</a:t>
            </a:r>
            <a:r>
              <a:rPr lang="pt-BR" sz="2000" dirty="0">
                <a:latin typeface="Abadi" panose="020B0604020104020204" pitchFamily="34" charset="0"/>
              </a:rPr>
              <a:t>-Out (Primeiro a Entrar, Primeiro a Sair).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dirty="0">
                <a:latin typeface="Abadi" panose="020B0604020104020204" pitchFamily="34" charset="0"/>
              </a:rPr>
              <a:t>Esse conceito é amplamente utilizado em ciência da computação e em várias áreas práticas, representando uma estrutura de dados ou lógica de organização onde o primeiro elemento inserido é o primeiro a ser removido.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07532D4-2572-83B9-DE45-D4B340B19C89}"/>
              </a:ext>
            </a:extLst>
          </p:cNvPr>
          <p:cNvSpPr txBox="1"/>
          <p:nvPr/>
        </p:nvSpPr>
        <p:spPr>
          <a:xfrm>
            <a:off x="209180" y="3120898"/>
            <a:ext cx="7889792" cy="2554545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Numa fila um novo elemento SEMPRE vai para o final da fila. Esse processo é chamado de ENQUEUE;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Numa fila o elemento que será removido SEMPRE será o mais antigo, ou seja, o que está no começo da fila. Esse processo é chamado de DEQUEUE.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9DAFA5F-AB9F-DC49-832C-C18B8D797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972" y="2907991"/>
            <a:ext cx="3666931" cy="366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93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735C9-BDB3-3AF8-78E7-5CDB7152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ela 4">
                <a:extLst>
                  <a:ext uri="{FF2B5EF4-FFF2-40B4-BE49-F238E27FC236}">
                    <a16:creationId xmlns:a16="http://schemas.microsoft.com/office/drawing/2014/main" id="{4D1AFF0B-83E2-89F6-691F-577E9796191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55757" y="3232970"/>
              <a:ext cx="848068" cy="1554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39387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ela 4">
                <a:extLst>
                  <a:ext uri="{FF2B5EF4-FFF2-40B4-BE49-F238E27FC236}">
                    <a16:creationId xmlns:a16="http://schemas.microsoft.com/office/drawing/2014/main" id="{FFA94A3C-8DB2-14C4-6271-EE80B33F68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0200246"/>
                  </p:ext>
                </p:extLst>
              </p:nvPr>
            </p:nvGraphicFramePr>
            <p:xfrm>
              <a:off x="1155757" y="3232970"/>
              <a:ext cx="848068" cy="1554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714" t="-1176" r="-1429" b="-20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714" t="-100000" r="-1429" b="-1011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96589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2"/>
                          <a:stretch>
                            <a:fillRect l="-714" t="-202353" r="-1429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714178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Conector: Curvo 4">
            <a:extLst>
              <a:ext uri="{FF2B5EF4-FFF2-40B4-BE49-F238E27FC236}">
                <a16:creationId xmlns:a16="http://schemas.microsoft.com/office/drawing/2014/main" id="{BC3B7BC6-0BE3-1C8B-2903-2B70E1F6C04A}"/>
              </a:ext>
            </a:extLst>
          </p:cNvPr>
          <p:cNvCxnSpPr>
            <a:cxnSpLocks/>
            <a:stCxn id="8" idx="1"/>
            <a:endCxn id="3" idx="0"/>
          </p:cNvCxnSpPr>
          <p:nvPr/>
        </p:nvCxnSpPr>
        <p:spPr>
          <a:xfrm rot="10800000" flipV="1">
            <a:off x="1579791" y="2524462"/>
            <a:ext cx="424034" cy="708508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ela 4">
                <a:extLst>
                  <a:ext uri="{FF2B5EF4-FFF2-40B4-BE49-F238E27FC236}">
                    <a16:creationId xmlns:a16="http://schemas.microsoft.com/office/drawing/2014/main" id="{88029936-D6D9-982A-6FB8-F0186A2D2FF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03825" y="226538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ela 4">
                <a:extLst>
                  <a:ext uri="{FF2B5EF4-FFF2-40B4-BE49-F238E27FC236}">
                    <a16:creationId xmlns:a16="http://schemas.microsoft.com/office/drawing/2014/main" id="{C8C8B429-68D2-76CD-8894-913C944DA2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8557524"/>
                  </p:ext>
                </p:extLst>
              </p:nvPr>
            </p:nvGraphicFramePr>
            <p:xfrm>
              <a:off x="2003825" y="2265382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3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ela 4">
                <a:extLst>
                  <a:ext uri="{FF2B5EF4-FFF2-40B4-BE49-F238E27FC236}">
                    <a16:creationId xmlns:a16="http://schemas.microsoft.com/office/drawing/2014/main" id="{B52AE6FC-BA16-9137-DF69-262A2745BD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03825" y="5236878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39387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ela 4">
                <a:extLst>
                  <a:ext uri="{FF2B5EF4-FFF2-40B4-BE49-F238E27FC236}">
                    <a16:creationId xmlns:a16="http://schemas.microsoft.com/office/drawing/2014/main" id="{66C0ECA2-E69A-3D08-6928-6A9EF74362B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5295986"/>
                  </p:ext>
                </p:extLst>
              </p:nvPr>
            </p:nvGraphicFramePr>
            <p:xfrm>
              <a:off x="2003825" y="5236878"/>
              <a:ext cx="848068" cy="5181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48068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4"/>
                          <a:stretch>
                            <a:fillRect l="-714" t="-1163" r="-1429" b="-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Conector: Curvo 12">
            <a:extLst>
              <a:ext uri="{FF2B5EF4-FFF2-40B4-BE49-F238E27FC236}">
                <a16:creationId xmlns:a16="http://schemas.microsoft.com/office/drawing/2014/main" id="{47692F9D-96B4-9834-974A-822B70C6ECAB}"/>
              </a:ext>
            </a:extLst>
          </p:cNvPr>
          <p:cNvCxnSpPr>
            <a:cxnSpLocks/>
            <a:stCxn id="3" idx="2"/>
            <a:endCxn id="12" idx="1"/>
          </p:cNvCxnSpPr>
          <p:nvPr/>
        </p:nvCxnSpPr>
        <p:spPr>
          <a:xfrm rot="16200000" flipH="1">
            <a:off x="1437554" y="4929687"/>
            <a:ext cx="708508" cy="424034"/>
          </a:xfrm>
          <a:prstGeom prst="curvedConnector2">
            <a:avLst/>
          </a:prstGeom>
          <a:ln w="9525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ela 4">
                <a:extLst>
                  <a:ext uri="{FF2B5EF4-FFF2-40B4-BE49-F238E27FC236}">
                    <a16:creationId xmlns:a16="http://schemas.microsoft.com/office/drawing/2014/main" id="{6BE240A0-1B46-9569-ECAB-ED3D0E42DDA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10359" y="3414995"/>
              <a:ext cx="3688705" cy="6188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7741">
                      <a:extLst>
                        <a:ext uri="{9D8B030D-6E8A-4147-A177-3AD203B41FA5}">
                          <a16:colId xmlns:a16="http://schemas.microsoft.com/office/drawing/2014/main" val="2426898780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2162528254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026560027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994572052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618846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pt-BR" sz="2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pt-BR" sz="2800" b="0" i="0" smtClean="0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ela 4">
                <a:extLst>
                  <a:ext uri="{FF2B5EF4-FFF2-40B4-BE49-F238E27FC236}">
                    <a16:creationId xmlns:a16="http://schemas.microsoft.com/office/drawing/2014/main" id="{ECD65EA0-0001-3670-6572-B0713BE69A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54307601"/>
                  </p:ext>
                </p:extLst>
              </p:nvPr>
            </p:nvGraphicFramePr>
            <p:xfrm>
              <a:off x="6810359" y="3414995"/>
              <a:ext cx="3688705" cy="6188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7741">
                      <a:extLst>
                        <a:ext uri="{9D8B030D-6E8A-4147-A177-3AD203B41FA5}">
                          <a16:colId xmlns:a16="http://schemas.microsoft.com/office/drawing/2014/main" val="2426898780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2162528254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026560027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994572052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61884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826" t="-980" r="-402479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00826" t="-980" r="-302479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199180" t="-980" r="-200000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301653" t="-980" r="-101653" b="-19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blipFill>
                          <a:blip r:embed="rId5"/>
                          <a:stretch>
                            <a:fillRect l="-401653" t="-980" r="-1653" b="-19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Tabela 4">
                <a:extLst>
                  <a:ext uri="{FF2B5EF4-FFF2-40B4-BE49-F238E27FC236}">
                    <a16:creationId xmlns:a16="http://schemas.microsoft.com/office/drawing/2014/main" id="{4A77A8D4-71C7-F582-F219-5100EEC010B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10356" y="4064821"/>
              <a:ext cx="3688705" cy="6188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7741">
                      <a:extLst>
                        <a:ext uri="{9D8B030D-6E8A-4147-A177-3AD203B41FA5}">
                          <a16:colId xmlns:a16="http://schemas.microsoft.com/office/drawing/2014/main" val="2426898780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2162528254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026560027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994572052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618846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280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pt-BR" sz="2800" i="0" smtClean="0"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</m:oMath>
                            </m:oMathPara>
                          </a14:m>
                          <a:endParaRPr lang="pt-BR" sz="2800" i="0" dirty="0">
                            <a:latin typeface="Abadi" panose="020B0604020104020204" pitchFamily="34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3" name="Tabela 4">
                <a:extLst>
                  <a:ext uri="{FF2B5EF4-FFF2-40B4-BE49-F238E27FC236}">
                    <a16:creationId xmlns:a16="http://schemas.microsoft.com/office/drawing/2014/main" id="{42111DCC-2B17-1DEC-6C08-D72E4B5DAAA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9445462"/>
                  </p:ext>
                </p:extLst>
              </p:nvPr>
            </p:nvGraphicFramePr>
            <p:xfrm>
              <a:off x="6810356" y="4064821"/>
              <a:ext cx="3688705" cy="61884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37741">
                      <a:extLst>
                        <a:ext uri="{9D8B030D-6E8A-4147-A177-3AD203B41FA5}">
                          <a16:colId xmlns:a16="http://schemas.microsoft.com/office/drawing/2014/main" val="2426898780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2162528254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026560027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1994572052"/>
                        </a:ext>
                      </a:extLst>
                    </a:gridCol>
                    <a:gridCol w="737741">
                      <a:extLst>
                        <a:ext uri="{9D8B030D-6E8A-4147-A177-3AD203B41FA5}">
                          <a16:colId xmlns:a16="http://schemas.microsoft.com/office/drawing/2014/main" val="837554438"/>
                        </a:ext>
                      </a:extLst>
                    </a:gridCol>
                  </a:tblGrid>
                  <a:tr h="618846"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4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000" r="-3008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98361" r="-1983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00826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4008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37333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5" name="CaixaDeTexto 24">
            <a:extLst>
              <a:ext uri="{FF2B5EF4-FFF2-40B4-BE49-F238E27FC236}">
                <a16:creationId xmlns:a16="http://schemas.microsoft.com/office/drawing/2014/main" id="{A5B6E79E-0E82-66D4-73E3-11667BCAC3B5}"/>
              </a:ext>
            </a:extLst>
          </p:cNvPr>
          <p:cNvSpPr txBox="1"/>
          <p:nvPr/>
        </p:nvSpPr>
        <p:spPr>
          <a:xfrm>
            <a:off x="10928269" y="3539752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Entrada</a:t>
            </a:r>
            <a:endParaRPr lang="pt-BR" dirty="0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83DA1A0B-6267-F77C-C2CC-C5F167BEAEAC}"/>
              </a:ext>
            </a:extLst>
          </p:cNvPr>
          <p:cNvCxnSpPr>
            <a:cxnSpLocks/>
            <a:stCxn id="25" idx="1"/>
            <a:endCxn id="21" idx="3"/>
          </p:cNvCxnSpPr>
          <p:nvPr/>
        </p:nvCxnSpPr>
        <p:spPr>
          <a:xfrm flipH="1">
            <a:off x="10499064" y="3724418"/>
            <a:ext cx="429205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7D5249A-EB11-832B-34EB-543D3B154508}"/>
              </a:ext>
            </a:extLst>
          </p:cNvPr>
          <p:cNvSpPr txBox="1"/>
          <p:nvPr/>
        </p:nvSpPr>
        <p:spPr>
          <a:xfrm>
            <a:off x="5294125" y="3539752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Saída</a:t>
            </a:r>
            <a:endParaRPr lang="pt-BR" dirty="0"/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3153FED3-1DFB-0539-E3DD-3396A88CAF5B}"/>
              </a:ext>
            </a:extLst>
          </p:cNvPr>
          <p:cNvCxnSpPr>
            <a:cxnSpLocks/>
            <a:stCxn id="21" idx="1"/>
            <a:endCxn id="29" idx="3"/>
          </p:cNvCxnSpPr>
          <p:nvPr/>
        </p:nvCxnSpPr>
        <p:spPr>
          <a:xfrm flipH="1">
            <a:off x="6386325" y="3724418"/>
            <a:ext cx="424034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E7246C9-6436-7E27-E4D4-6655D2467AA3}"/>
              </a:ext>
            </a:extLst>
          </p:cNvPr>
          <p:cNvSpPr txBox="1"/>
          <p:nvPr/>
        </p:nvSpPr>
        <p:spPr>
          <a:xfrm>
            <a:off x="3246957" y="2339796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Entrada</a:t>
            </a:r>
            <a:endParaRPr lang="pt-BR" dirty="0"/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BAB483CB-1FD6-B755-AAC2-268ADCC4B07C}"/>
              </a:ext>
            </a:extLst>
          </p:cNvPr>
          <p:cNvCxnSpPr>
            <a:cxnSpLocks/>
            <a:stCxn id="33" idx="1"/>
            <a:endCxn id="8" idx="3"/>
          </p:cNvCxnSpPr>
          <p:nvPr/>
        </p:nvCxnSpPr>
        <p:spPr>
          <a:xfrm flipH="1">
            <a:off x="2851893" y="2524462"/>
            <a:ext cx="395064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0400167-305E-B6B5-5985-69A39D1104D6}"/>
              </a:ext>
            </a:extLst>
          </p:cNvPr>
          <p:cNvSpPr txBox="1"/>
          <p:nvPr/>
        </p:nvSpPr>
        <p:spPr>
          <a:xfrm>
            <a:off x="3247414" y="5311292"/>
            <a:ext cx="109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Abadi" panose="020B0604020104020204" pitchFamily="34" charset="0"/>
              </a:rPr>
              <a:t>Saída</a:t>
            </a:r>
            <a:endParaRPr lang="pt-BR" dirty="0"/>
          </a:p>
        </p:txBody>
      </p: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DDFB75AE-46BF-9377-4DEB-2E47C727D5AD}"/>
              </a:ext>
            </a:extLst>
          </p:cNvPr>
          <p:cNvCxnSpPr>
            <a:cxnSpLocks/>
            <a:stCxn id="12" idx="3"/>
            <a:endCxn id="38" idx="1"/>
          </p:cNvCxnSpPr>
          <p:nvPr/>
        </p:nvCxnSpPr>
        <p:spPr>
          <a:xfrm>
            <a:off x="2851893" y="5495958"/>
            <a:ext cx="395521" cy="0"/>
          </a:xfrm>
          <a:prstGeom prst="straightConnector1">
            <a:avLst/>
          </a:prstGeom>
          <a:ln w="127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eta: para Baixo 41">
            <a:extLst>
              <a:ext uri="{FF2B5EF4-FFF2-40B4-BE49-F238E27FC236}">
                <a16:creationId xmlns:a16="http://schemas.microsoft.com/office/drawing/2014/main" id="{0FF8738F-AC31-155D-C55E-4A8309F5824A}"/>
              </a:ext>
            </a:extLst>
          </p:cNvPr>
          <p:cNvSpPr/>
          <p:nvPr/>
        </p:nvSpPr>
        <p:spPr>
          <a:xfrm rot="5400000">
            <a:off x="8400064" y="1061092"/>
            <a:ext cx="509287" cy="3889096"/>
          </a:xfrm>
          <a:prstGeom prst="downArrow">
            <a:avLst/>
          </a:prstGeom>
          <a:solidFill>
            <a:srgbClr val="123D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56AB0903-E17D-62AF-5E7D-BC00B333C2C5}"/>
              </a:ext>
            </a:extLst>
          </p:cNvPr>
          <p:cNvSpPr/>
          <p:nvPr/>
        </p:nvSpPr>
        <p:spPr>
          <a:xfrm rot="16200000">
            <a:off x="1298751" y="-1135408"/>
            <a:ext cx="649458" cy="324695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3200" dirty="0">
                <a:latin typeface="Abadi" panose="020B0604020104020204" pitchFamily="34" charset="0"/>
              </a:rPr>
              <a:t>Tipos de Fila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2569711-C55F-66D7-FA02-F194BFCFA21A}"/>
              </a:ext>
            </a:extLst>
          </p:cNvPr>
          <p:cNvSpPr txBox="1"/>
          <p:nvPr/>
        </p:nvSpPr>
        <p:spPr>
          <a:xfrm>
            <a:off x="6386325" y="2820974"/>
            <a:ext cx="470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badi" panose="020B0604020104020204" pitchFamily="34" charset="0"/>
              </a:rPr>
              <a:t>Ordem de entrada e saída</a:t>
            </a:r>
          </a:p>
        </p:txBody>
      </p:sp>
      <p:sp>
        <p:nvSpPr>
          <p:cNvPr id="46" name="Seta: para Baixo 45">
            <a:extLst>
              <a:ext uri="{FF2B5EF4-FFF2-40B4-BE49-F238E27FC236}">
                <a16:creationId xmlns:a16="http://schemas.microsoft.com/office/drawing/2014/main" id="{48E65A87-81BE-5F0C-95B9-894AA1E396FC}"/>
              </a:ext>
            </a:extLst>
          </p:cNvPr>
          <p:cNvSpPr/>
          <p:nvPr/>
        </p:nvSpPr>
        <p:spPr>
          <a:xfrm>
            <a:off x="495912" y="1695394"/>
            <a:ext cx="509287" cy="3889096"/>
          </a:xfrm>
          <a:prstGeom prst="downArrow">
            <a:avLst/>
          </a:prstGeom>
          <a:solidFill>
            <a:srgbClr val="123D5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BC62FD46-E802-DFB9-FD38-1B3C930D227A}"/>
              </a:ext>
            </a:extLst>
          </p:cNvPr>
          <p:cNvSpPr txBox="1"/>
          <p:nvPr/>
        </p:nvSpPr>
        <p:spPr>
          <a:xfrm rot="16200000">
            <a:off x="-1599009" y="3455275"/>
            <a:ext cx="470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latin typeface="Abadi" panose="020B0604020104020204" pitchFamily="34" charset="0"/>
              </a:rPr>
              <a:t>Ordem de entrada e saída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40CE5FC-530C-CCCE-35D7-999170FBE5B4}"/>
              </a:ext>
            </a:extLst>
          </p:cNvPr>
          <p:cNvSpPr txBox="1"/>
          <p:nvPr/>
        </p:nvSpPr>
        <p:spPr>
          <a:xfrm>
            <a:off x="4893769" y="2078523"/>
            <a:ext cx="7137128" cy="2985433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400" b="1" dirty="0">
                <a:latin typeface="Abadi" panose="020B0604020104020204" pitchFamily="34" charset="0"/>
              </a:rPr>
              <a:t>Fila Sequencial</a:t>
            </a:r>
          </a:p>
          <a:p>
            <a:pPr algn="just"/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9DD6422-B205-E399-E1DA-12D3197269B2}"/>
              </a:ext>
            </a:extLst>
          </p:cNvPr>
          <p:cNvSpPr txBox="1"/>
          <p:nvPr/>
        </p:nvSpPr>
        <p:spPr>
          <a:xfrm>
            <a:off x="200724" y="1208558"/>
            <a:ext cx="4542487" cy="4832092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400" b="1" dirty="0">
                <a:latin typeface="Abadi" panose="020B0604020104020204" pitchFamily="34" charset="0"/>
              </a:rPr>
              <a:t>Fila Encadeada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400" b="1" dirty="0">
              <a:latin typeface="Abadi" panose="020B0604020104020204" pitchFamily="34" charset="0"/>
            </a:endParaRPr>
          </a:p>
          <a:p>
            <a:pPr algn="just"/>
            <a:endParaRPr lang="pt-BR" sz="24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047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4E7CF31F-8752-3646-8CEF-20ACB2FFF41F}"/>
              </a:ext>
            </a:extLst>
          </p:cNvPr>
          <p:cNvSpPr/>
          <p:nvPr/>
        </p:nvSpPr>
        <p:spPr>
          <a:xfrm rot="16200000">
            <a:off x="1098959" y="-935615"/>
            <a:ext cx="649458" cy="2847368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800" b="1" dirty="0">
                <a:latin typeface="Abadi" panose="020B0604020104020204" pitchFamily="34" charset="0"/>
              </a:rPr>
              <a:t>Fila Encadeada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C271372-20F4-B1AE-102B-82C410CE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425" y="82316"/>
            <a:ext cx="4146920" cy="440540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55BB032-0C3E-1A4C-3909-7A9FC2C4ED60}"/>
              </a:ext>
            </a:extLst>
          </p:cNvPr>
          <p:cNvSpPr txBox="1"/>
          <p:nvPr/>
        </p:nvSpPr>
        <p:spPr>
          <a:xfrm>
            <a:off x="199655" y="1073586"/>
            <a:ext cx="7626720" cy="317009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Estrutura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Utiliza ponteiros e nós para armazenar os elementos.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Cada nó contém um valor (informação) e um ponteiro para o próximo nó.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Dinâmica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tamanho da fila não é fixo.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elementos podem ser alocados dinamicamente na memória conforme necessário.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77E02FA-A0BA-0390-9142-F63E0478D6E8}"/>
              </a:ext>
            </a:extLst>
          </p:cNvPr>
          <p:cNvSpPr txBox="1"/>
          <p:nvPr/>
        </p:nvSpPr>
        <p:spPr>
          <a:xfrm>
            <a:off x="209179" y="4504473"/>
            <a:ext cx="11716121" cy="224676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Não desperdiça memória, pois só aloca espaço para os elementos que realmente existem.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Permite inserção e remoção eficientes em tempo O(1) (apontando o ponteiro para o próximo nó).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Desvantagens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Pode ser mais difícil de implementar devido ao uso de ponteiros.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Requer memória adicional para armazenar os ponteiros.</a:t>
            </a:r>
          </a:p>
        </p:txBody>
      </p:sp>
    </p:spTree>
    <p:extLst>
      <p:ext uri="{BB962C8B-B14F-4D97-AF65-F5344CB8AC3E}">
        <p14:creationId xmlns:p14="http://schemas.microsoft.com/office/powerpoint/2010/main" val="415624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5CA3-4935-CC81-6944-FB314EED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E4B799E1-ECAF-A30A-6B18-231118D0DA0D}"/>
              </a:ext>
            </a:extLst>
          </p:cNvPr>
          <p:cNvSpPr/>
          <p:nvPr/>
        </p:nvSpPr>
        <p:spPr>
          <a:xfrm rot="16200000">
            <a:off x="1299886" y="-1136543"/>
            <a:ext cx="649458" cy="3249223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Fila Sequencial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F1DE856-DA44-EA6F-0541-87F706C3258A}"/>
              </a:ext>
            </a:extLst>
          </p:cNvPr>
          <p:cNvSpPr txBox="1"/>
          <p:nvPr/>
        </p:nvSpPr>
        <p:spPr>
          <a:xfrm>
            <a:off x="209179" y="874455"/>
            <a:ext cx="11716120" cy="224676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Estrutura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Utiliza um </a:t>
            </a:r>
            <a:r>
              <a:rPr lang="pt-BR" sz="2000" dirty="0" err="1">
                <a:latin typeface="Abadi" panose="020B0604020104020204" pitchFamily="34" charset="0"/>
              </a:rPr>
              <a:t>array</a:t>
            </a:r>
            <a:r>
              <a:rPr lang="pt-BR" sz="2000" dirty="0">
                <a:latin typeface="Abadi" panose="020B0604020104020204" pitchFamily="34" charset="0"/>
              </a:rPr>
              <a:t> (vetor) para armazenar os elementos de maneira contígua na memória.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índices "começo" e "fim" indicam a posição dos elementos na fila.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Dinâmica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tamanho da fila é fixo e definido no início.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Pode ocorrer desperdício de memória (espaço não utilizado no vetor)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79531E3-667A-C5CA-F405-075749582F8D}"/>
              </a:ext>
            </a:extLst>
          </p:cNvPr>
          <p:cNvSpPr txBox="1"/>
          <p:nvPr/>
        </p:nvSpPr>
        <p:spPr>
          <a:xfrm>
            <a:off x="209179" y="3223354"/>
            <a:ext cx="6302128" cy="3477875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b="1" dirty="0">
                <a:latin typeface="Abadi" panose="020B0604020104020204" pitchFamily="34" charset="0"/>
              </a:rPr>
              <a:t>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Mais simples de implementar, pois usa índices ao invés de ponteiros.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Acesso direto e rápido aos elementos (devido à contiguidade da memória).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Desvantagens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 tamanho da fila é limitado pelo tamanho do vetor.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Pode ser necessário realizar operações de deslocamento de elementos ou implementar fila circular para reutilizar espaços liberados.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F6B486-CECD-46CD-9732-07B8A3EF0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8829" y="3736777"/>
            <a:ext cx="5413992" cy="232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46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43A0-9EB8-D35E-134A-C2085C4D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7E317B2A-16F8-7DD0-2BF9-3ACBC2BA8254}"/>
              </a:ext>
            </a:extLst>
          </p:cNvPr>
          <p:cNvSpPr/>
          <p:nvPr/>
        </p:nvSpPr>
        <p:spPr>
          <a:xfrm rot="16200000">
            <a:off x="1616890" y="-1453547"/>
            <a:ext cx="649458" cy="3883230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Tipos de Fila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4860B6E-C124-F820-3AF1-BC297CE4F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490615"/>
              </p:ext>
            </p:extLst>
          </p:nvPr>
        </p:nvGraphicFramePr>
        <p:xfrm>
          <a:off x="0" y="1012206"/>
          <a:ext cx="12192000" cy="38238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13810">
                  <a:extLst>
                    <a:ext uri="{9D8B030D-6E8A-4147-A177-3AD203B41FA5}">
                      <a16:colId xmlns:a16="http://schemas.microsoft.com/office/drawing/2014/main" val="152084202"/>
                    </a:ext>
                  </a:extLst>
                </a:gridCol>
                <a:gridCol w="5992176">
                  <a:extLst>
                    <a:ext uri="{9D8B030D-6E8A-4147-A177-3AD203B41FA5}">
                      <a16:colId xmlns:a16="http://schemas.microsoft.com/office/drawing/2014/main" val="797316878"/>
                    </a:ext>
                  </a:extLst>
                </a:gridCol>
                <a:gridCol w="3886014">
                  <a:extLst>
                    <a:ext uri="{9D8B030D-6E8A-4147-A177-3AD203B41FA5}">
                      <a16:colId xmlns:a16="http://schemas.microsoft.com/office/drawing/2014/main" val="1845160105"/>
                    </a:ext>
                  </a:extLst>
                </a:gridCol>
              </a:tblGrid>
              <a:tr h="423151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Aspecto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Fila Encadeada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Fila Sequencial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>
                    <a:solidFill>
                      <a:srgbClr val="12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427007"/>
                  </a:ext>
                </a:extLst>
              </a:tr>
              <a:tr h="634467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Estrutura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Nós com ponteiros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Vetor (</a:t>
                      </a:r>
                      <a:r>
                        <a:rPr lang="pt-BR" sz="2000" dirty="0" err="1">
                          <a:latin typeface="Abadi" panose="020B0604020104020204" pitchFamily="34" charset="0"/>
                        </a:rPr>
                        <a:t>array</a:t>
                      </a:r>
                      <a:r>
                        <a:rPr lang="pt-BR" sz="2000" dirty="0">
                          <a:latin typeface="Abadi" panose="020B0604020104020204" pitchFamily="34" charset="0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8552481"/>
                  </a:ext>
                </a:extLst>
              </a:tr>
              <a:tr h="634467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Abadi" panose="020B0604020104020204" pitchFamily="34" charset="0"/>
                        </a:rPr>
                        <a:t>Tamanho</a:t>
                      </a:r>
                      <a:endParaRPr lang="pt-BR" sz="200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Dinâmico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Abadi" panose="020B0604020104020204" pitchFamily="34" charset="0"/>
                        </a:rPr>
                        <a:t>Estático (fixo)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461039"/>
                  </a:ext>
                </a:extLst>
              </a:tr>
              <a:tr h="748652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Abadi" panose="020B0604020104020204" pitchFamily="34" charset="0"/>
                        </a:rPr>
                        <a:t>Inserção/Remoção</a:t>
                      </a:r>
                      <a:endParaRPr lang="pt-BR" sz="200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O(1) com ajuste de ponteiros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Pode envolver deslocamentos (O(n))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35459"/>
                  </a:ext>
                </a:extLst>
              </a:tr>
              <a:tr h="748652">
                <a:tc>
                  <a:txBody>
                    <a:bodyPr/>
                    <a:lstStyle/>
                    <a:p>
                      <a:pPr algn="just"/>
                      <a:r>
                        <a:rPr lang="pt-BR" sz="2000" b="1" dirty="0">
                          <a:latin typeface="Abadi" panose="020B0604020104020204" pitchFamily="34" charset="0"/>
                        </a:rPr>
                        <a:t>Uso de Memória</a:t>
                      </a:r>
                      <a:endParaRPr lang="pt-BR" sz="2000" dirty="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>
                          <a:latin typeface="Abadi" panose="020B0604020104020204" pitchFamily="34" charset="0"/>
                        </a:rPr>
                        <a:t>Alocação conforme necessário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Pode haver desperdício de espaço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79420"/>
                  </a:ext>
                </a:extLst>
              </a:tr>
              <a:tr h="634467">
                <a:tc>
                  <a:txBody>
                    <a:bodyPr/>
                    <a:lstStyle/>
                    <a:p>
                      <a:pPr algn="just"/>
                      <a:r>
                        <a:rPr lang="pt-BR" sz="2000" b="1">
                          <a:latin typeface="Abadi" panose="020B0604020104020204" pitchFamily="34" charset="0"/>
                        </a:rPr>
                        <a:t>Implementação</a:t>
                      </a:r>
                      <a:endParaRPr lang="pt-BR" sz="2000">
                        <a:latin typeface="Abadi" panose="020B06040201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Mais complexa (ponteiros)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2000" dirty="0">
                          <a:latin typeface="Abadi" panose="020B0604020104020204" pitchFamily="34" charset="0"/>
                        </a:rPr>
                        <a:t>Mais simples (índices)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437441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A65A8D89-4544-28DD-EC38-FBE674753C04}"/>
              </a:ext>
            </a:extLst>
          </p:cNvPr>
          <p:cNvSpPr txBox="1"/>
          <p:nvPr/>
        </p:nvSpPr>
        <p:spPr>
          <a:xfrm>
            <a:off x="193489" y="5038046"/>
            <a:ext cx="11805021" cy="1631216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Quando usar cada uma?</a:t>
            </a:r>
          </a:p>
          <a:p>
            <a:pPr algn="just"/>
            <a:endParaRPr lang="pt-BR" sz="1200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200" b="1" dirty="0">
                <a:latin typeface="Abadi" panose="020B0604020104020204" pitchFamily="34" charset="0"/>
              </a:rPr>
              <a:t>Fila Encadeada: </a:t>
            </a:r>
            <a:r>
              <a:rPr lang="pt-BR" sz="2200" dirty="0">
                <a:latin typeface="Abadi" panose="020B0604020104020204" pitchFamily="34" charset="0"/>
              </a:rPr>
              <a:t>Usada quando o tamanho da fila é desconhecido ou variável.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200" b="1" dirty="0">
              <a:latin typeface="Abadi" panose="020B0604020104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sz="2200" b="1" dirty="0">
                <a:latin typeface="Abadi" panose="020B0604020104020204" pitchFamily="34" charset="0"/>
              </a:rPr>
              <a:t>Fila Sequencial: </a:t>
            </a:r>
            <a:r>
              <a:rPr lang="pt-BR" sz="2200" dirty="0">
                <a:latin typeface="Abadi" panose="020B0604020104020204" pitchFamily="34" charset="0"/>
              </a:rPr>
              <a:t>Usada quando o tamanho é conhecido e fixo, e deseja-se maior simplicidade</a:t>
            </a:r>
          </a:p>
        </p:txBody>
      </p:sp>
    </p:spTree>
    <p:extLst>
      <p:ext uri="{BB962C8B-B14F-4D97-AF65-F5344CB8AC3E}">
        <p14:creationId xmlns:p14="http://schemas.microsoft.com/office/powerpoint/2010/main" val="3924398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7DB8C-CC5B-C262-B232-D7863E9F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935EC552-4050-2347-A712-F1C144C88682}"/>
              </a:ext>
            </a:extLst>
          </p:cNvPr>
          <p:cNvSpPr/>
          <p:nvPr/>
        </p:nvSpPr>
        <p:spPr>
          <a:xfrm rot="16200000">
            <a:off x="2094623" y="-1931280"/>
            <a:ext cx="649458" cy="48386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Manipulação de uma Fila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8A96780-204E-02ED-A4FF-173F33BD72D5}"/>
              </a:ext>
            </a:extLst>
          </p:cNvPr>
          <p:cNvSpPr txBox="1"/>
          <p:nvPr/>
        </p:nvSpPr>
        <p:spPr>
          <a:xfrm>
            <a:off x="193488" y="1456646"/>
            <a:ext cx="5586663" cy="317009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ENQUEUE (Inserir na fila)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Definição: </a:t>
            </a:r>
            <a:r>
              <a:rPr lang="pt-BR" sz="2000" dirty="0">
                <a:latin typeface="Abadi" panose="020B0604020104020204" pitchFamily="34" charset="0"/>
              </a:rPr>
              <a:t>Adiciona um elemento no final da fila.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Características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Mantém a regra FIFO (</a:t>
            </a:r>
            <a:r>
              <a:rPr lang="pt-BR" sz="2000" dirty="0" err="1">
                <a:latin typeface="Abadi" panose="020B0604020104020204" pitchFamily="34" charset="0"/>
              </a:rPr>
              <a:t>First</a:t>
            </a:r>
            <a:r>
              <a:rPr lang="pt-BR" sz="2000" dirty="0">
                <a:latin typeface="Abadi" panose="020B0604020104020204" pitchFamily="34" charset="0"/>
              </a:rPr>
              <a:t> In, </a:t>
            </a:r>
            <a:r>
              <a:rPr lang="pt-BR" sz="2000" dirty="0" err="1">
                <a:latin typeface="Abadi" panose="020B0604020104020204" pitchFamily="34" charset="0"/>
              </a:rPr>
              <a:t>First</a:t>
            </a:r>
            <a:r>
              <a:rPr lang="pt-BR" sz="2000" dirty="0">
                <a:latin typeface="Abadi" panose="020B0604020104020204" pitchFamily="34" charset="0"/>
              </a:rPr>
              <a:t> Out): o primeiro elemento a entrar é o primeiro a sair.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 inserção é realizada na última posição disponível.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834FCCE3-57F5-65F2-B976-EBA2C25B73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370"/>
          <a:stretch/>
        </p:blipFill>
        <p:spPr bwMode="auto">
          <a:xfrm>
            <a:off x="193487" y="4712780"/>
            <a:ext cx="5586663" cy="1975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5339A2-D017-C5AA-0217-6DBB43B501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30"/>
          <a:stretch/>
        </p:blipFill>
        <p:spPr bwMode="auto">
          <a:xfrm>
            <a:off x="6286500" y="4718720"/>
            <a:ext cx="5712010" cy="1970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EF426EB-5EEB-59B9-E850-9A462ABD6477}"/>
              </a:ext>
            </a:extLst>
          </p:cNvPr>
          <p:cNvSpPr txBox="1"/>
          <p:nvPr/>
        </p:nvSpPr>
        <p:spPr>
          <a:xfrm>
            <a:off x="6286501" y="1456645"/>
            <a:ext cx="5712014" cy="3170099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DEQUEUE (Remover da fila)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Definição: </a:t>
            </a:r>
            <a:r>
              <a:rPr lang="pt-BR" sz="2000" dirty="0">
                <a:latin typeface="Abadi" panose="020B0604020104020204" pitchFamily="34" charset="0"/>
              </a:rPr>
              <a:t>Remove e retorna o elemento mais antigo da fila (o primeiro inserido).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Características</a:t>
            </a:r>
            <a:r>
              <a:rPr lang="pt-BR" sz="2000" dirty="0">
                <a:latin typeface="Abadi" panose="020B0604020104020204" pitchFamily="34" charset="0"/>
              </a:rPr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A remoção sempre ocorre no início da fila.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Os elementos "andam" logicamente para liberar o espaço no início.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6EDECC-E90E-D8F7-B5C5-AE7F2C33CAF9}"/>
              </a:ext>
            </a:extLst>
          </p:cNvPr>
          <p:cNvSpPr txBox="1"/>
          <p:nvPr/>
        </p:nvSpPr>
        <p:spPr>
          <a:xfrm>
            <a:off x="193487" y="950056"/>
            <a:ext cx="6178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latin typeface="Abadi" panose="020B0604020104020204" pitchFamily="34" charset="0"/>
              </a:rPr>
              <a:t>As únicas operações utilizadas para manipular uma fila são:</a:t>
            </a:r>
          </a:p>
        </p:txBody>
      </p:sp>
    </p:spTree>
    <p:extLst>
      <p:ext uri="{BB962C8B-B14F-4D97-AF65-F5344CB8AC3E}">
        <p14:creationId xmlns:p14="http://schemas.microsoft.com/office/powerpoint/2010/main" val="1294855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95400" y="2249424"/>
            <a:ext cx="9515400" cy="4491944"/>
          </a:xfrm>
        </p:spPr>
        <p:txBody>
          <a:bodyPr>
            <a:normAutofit/>
          </a:bodyPr>
          <a:lstStyle/>
          <a:p>
            <a:pPr lvl="1" algn="just"/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(10);</a:t>
            </a:r>
          </a:p>
          <a:p>
            <a:pPr lvl="1" algn="just"/>
            <a:endParaRPr lang="pt-BR" sz="2000" dirty="0">
              <a:latin typeface="Abadi" panose="020B0604020104020204" pitchFamily="34" charset="0"/>
            </a:endParaRPr>
          </a:p>
          <a:p>
            <a:pPr lvl="1" algn="just"/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(30);</a:t>
            </a:r>
          </a:p>
          <a:p>
            <a:pPr lvl="1" algn="just"/>
            <a:endParaRPr lang="pt-BR" sz="2000" dirty="0">
              <a:latin typeface="Abadi" panose="020B0604020104020204" pitchFamily="34" charset="0"/>
            </a:endParaRPr>
          </a:p>
          <a:p>
            <a:pPr lvl="1" algn="just"/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(50); </a:t>
            </a:r>
          </a:p>
          <a:p>
            <a:pPr lvl="1" algn="just"/>
            <a:endParaRPr lang="pt-BR" sz="2000" dirty="0">
              <a:latin typeface="Abadi" panose="020B0604020104020204" pitchFamily="34" charset="0"/>
            </a:endParaRPr>
          </a:p>
          <a:p>
            <a:pPr lvl="1" algn="just"/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(70);</a:t>
            </a:r>
          </a:p>
          <a:p>
            <a:pPr lvl="1" algn="just"/>
            <a:endParaRPr lang="pt-BR" sz="2000" dirty="0">
              <a:latin typeface="Abadi" panose="020B0604020104020204" pitchFamily="34" charset="0"/>
            </a:endParaRPr>
          </a:p>
          <a:p>
            <a:pPr lvl="1" algn="just"/>
            <a:r>
              <a:rPr lang="pt-BR" sz="2000" dirty="0" err="1">
                <a:latin typeface="Abadi" panose="020B0604020104020204" pitchFamily="34" charset="0"/>
              </a:rPr>
              <a:t>int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 err="1">
                <a:latin typeface="Abadi" panose="020B0604020104020204" pitchFamily="34" charset="0"/>
              </a:rPr>
              <a:t>valorRemovido</a:t>
            </a:r>
            <a:r>
              <a:rPr lang="pt-BR" sz="2000" dirty="0">
                <a:latin typeface="Abadi" panose="020B0604020104020204" pitchFamily="34" charset="0"/>
              </a:rPr>
              <a:t> = </a:t>
            </a:r>
            <a:r>
              <a:rPr lang="pt-BR" sz="2000" dirty="0" err="1">
                <a:latin typeface="Abadi" panose="020B0604020104020204" pitchFamily="34" charset="0"/>
              </a:rPr>
              <a:t>fila.dequeue</a:t>
            </a:r>
            <a:r>
              <a:rPr lang="pt-BR" sz="2000" dirty="0">
                <a:latin typeface="Abadi" panose="020B0604020104020204" pitchFamily="34" charset="0"/>
              </a:rPr>
              <a:t>(); </a:t>
            </a:r>
          </a:p>
          <a:p>
            <a:pPr lvl="1" algn="just"/>
            <a:endParaRPr lang="pt-BR" sz="2000" dirty="0">
              <a:latin typeface="Abadi" panose="020B0604020104020204" pitchFamily="34" charset="0"/>
            </a:endParaRPr>
          </a:p>
          <a:p>
            <a:pPr lvl="1" algn="just"/>
            <a:r>
              <a:rPr lang="pt-BR" sz="2000" dirty="0" err="1">
                <a:latin typeface="Abadi" panose="020B0604020104020204" pitchFamily="34" charset="0"/>
              </a:rPr>
              <a:t>int</a:t>
            </a:r>
            <a:r>
              <a:rPr lang="pt-BR" sz="2000" dirty="0">
                <a:latin typeface="Abadi" panose="020B0604020104020204" pitchFamily="34" charset="0"/>
              </a:rPr>
              <a:t> </a:t>
            </a:r>
            <a:r>
              <a:rPr lang="pt-BR" sz="2000" dirty="0" err="1">
                <a:latin typeface="Abadi" panose="020B0604020104020204" pitchFamily="34" charset="0"/>
              </a:rPr>
              <a:t>valorRemovido</a:t>
            </a:r>
            <a:r>
              <a:rPr lang="pt-BR" sz="2000" dirty="0">
                <a:latin typeface="Abadi" panose="020B0604020104020204" pitchFamily="34" charset="0"/>
              </a:rPr>
              <a:t> = fila. </a:t>
            </a:r>
            <a:r>
              <a:rPr lang="pt-BR" sz="2000" dirty="0" err="1">
                <a:latin typeface="Abadi" panose="020B0604020104020204" pitchFamily="34" charset="0"/>
              </a:rPr>
              <a:t>dequeue</a:t>
            </a:r>
            <a:r>
              <a:rPr lang="pt-BR" sz="2000" dirty="0">
                <a:latin typeface="Abadi" panose="020B0604020104020204" pitchFamily="34" charset="0"/>
              </a:rPr>
              <a:t>();</a:t>
            </a:r>
          </a:p>
          <a:p>
            <a:pPr lvl="1" algn="just"/>
            <a:endParaRPr lang="pt-BR" sz="1600" dirty="0">
              <a:latin typeface="Abadi" panose="020B0604020104020204" pitchFamily="34" charset="0"/>
            </a:endParaRP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53563"/>
              </p:ext>
            </p:extLst>
          </p:nvPr>
        </p:nvGraphicFramePr>
        <p:xfrm>
          <a:off x="7031856" y="2467744"/>
          <a:ext cx="57606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902314"/>
              </p:ext>
            </p:extLst>
          </p:nvPr>
        </p:nvGraphicFramePr>
        <p:xfrm>
          <a:off x="7031856" y="3033008"/>
          <a:ext cx="108012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61055"/>
              </p:ext>
            </p:extLst>
          </p:nvPr>
        </p:nvGraphicFramePr>
        <p:xfrm>
          <a:off x="7031857" y="3609072"/>
          <a:ext cx="1656183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5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88235"/>
              </p:ext>
            </p:extLst>
          </p:nvPr>
        </p:nvGraphicFramePr>
        <p:xfrm>
          <a:off x="7031856" y="4185136"/>
          <a:ext cx="216024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402025"/>
              </p:ext>
            </p:extLst>
          </p:nvPr>
        </p:nvGraphicFramePr>
        <p:xfrm>
          <a:off x="7031857" y="4761200"/>
          <a:ext cx="1656183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5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749831"/>
              </p:ext>
            </p:extLst>
          </p:nvPr>
        </p:nvGraphicFramePr>
        <p:xfrm>
          <a:off x="7031856" y="5337264"/>
          <a:ext cx="108012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09AF4FB2-0C82-CDB1-803F-F34A059B8661}"/>
              </a:ext>
            </a:extLst>
          </p:cNvPr>
          <p:cNvSpPr/>
          <p:nvPr/>
        </p:nvSpPr>
        <p:spPr>
          <a:xfrm rot="16200000">
            <a:off x="2094623" y="-1931280"/>
            <a:ext cx="649458" cy="48386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Exercitando o uso de Fila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97E789-1716-BD2F-D334-66AE7854FAF3}"/>
              </a:ext>
            </a:extLst>
          </p:cNvPr>
          <p:cNvSpPr txBox="1"/>
          <p:nvPr/>
        </p:nvSpPr>
        <p:spPr>
          <a:xfrm>
            <a:off x="231588" y="1023279"/>
            <a:ext cx="5586663" cy="1015663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Imagina que você possui uma fila inicialmente vazia. Ao executar os códigos baixos como e quais os dados que ficarão salvo na fila:</a:t>
            </a:r>
          </a:p>
        </p:txBody>
      </p:sp>
    </p:spTree>
    <p:extLst>
      <p:ext uri="{BB962C8B-B14F-4D97-AF65-F5344CB8AC3E}">
        <p14:creationId xmlns:p14="http://schemas.microsoft.com/office/powerpoint/2010/main" val="16220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4C73B-598E-3496-FF65-999E666E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Superiores Recortados 4">
            <a:extLst>
              <a:ext uri="{FF2B5EF4-FFF2-40B4-BE49-F238E27FC236}">
                <a16:creationId xmlns:a16="http://schemas.microsoft.com/office/drawing/2014/main" id="{77A21C29-574C-5FD2-60A6-E799D7CF4356}"/>
              </a:ext>
            </a:extLst>
          </p:cNvPr>
          <p:cNvSpPr/>
          <p:nvPr/>
        </p:nvSpPr>
        <p:spPr>
          <a:xfrm rot="16200000">
            <a:off x="2875673" y="-2712330"/>
            <a:ext cx="649458" cy="64007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Exercitando o uso de Fila – Parte II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6870443-6820-1BD2-FFA5-6769EC95CF20}"/>
              </a:ext>
            </a:extLst>
          </p:cNvPr>
          <p:cNvSpPr txBox="1"/>
          <p:nvPr/>
        </p:nvSpPr>
        <p:spPr>
          <a:xfrm>
            <a:off x="231588" y="1023279"/>
            <a:ext cx="5586663" cy="1015663"/>
          </a:xfrm>
          <a:prstGeom prst="rect">
            <a:avLst/>
          </a:prstGeom>
          <a:noFill/>
          <a:ln w="28575">
            <a:solidFill>
              <a:schemeClr val="bg1">
                <a:lumMod val="75000"/>
                <a:lumOff val="2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Quais devem ser os dados finais da nossa fila na ordem correta ao executar os seguintes comandos: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AD19C25C-0303-AC92-8F30-F433A73FA028}"/>
              </a:ext>
            </a:extLst>
          </p:cNvPr>
          <p:cNvSpPr txBox="1">
            <a:spLocks/>
          </p:cNvSpPr>
          <p:nvPr/>
        </p:nvSpPr>
        <p:spPr>
          <a:xfrm>
            <a:off x="609600" y="2064342"/>
            <a:ext cx="9601200" cy="44919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(1);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(0);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(1); 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(1);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fila.dequeue</a:t>
            </a:r>
            <a:r>
              <a:rPr lang="pt-BR" sz="2000" dirty="0">
                <a:latin typeface="Abadi" panose="020B0604020104020204" pitchFamily="34" charset="0"/>
              </a:rPr>
              <a:t>();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(1);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fila.dequeue</a:t>
            </a:r>
            <a:r>
              <a:rPr lang="pt-BR" sz="2000" dirty="0">
                <a:latin typeface="Abadi" panose="020B0604020104020204" pitchFamily="34" charset="0"/>
              </a:rPr>
              <a:t>();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fila.enqueue</a:t>
            </a:r>
            <a:r>
              <a:rPr lang="pt-BR" sz="2000" dirty="0">
                <a:latin typeface="Abadi" panose="020B0604020104020204" pitchFamily="34" charset="0"/>
              </a:rPr>
              <a:t>(0);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fila.dequeue</a:t>
            </a:r>
            <a:r>
              <a:rPr lang="pt-BR" sz="2000" dirty="0">
                <a:latin typeface="Abadi" panose="020B0604020104020204" pitchFamily="34" charset="0"/>
              </a:rPr>
              <a:t>();</a:t>
            </a:r>
          </a:p>
          <a:p>
            <a:pPr lvl="1" algn="just">
              <a:lnSpc>
                <a:spcPct val="150000"/>
              </a:lnSpc>
            </a:pPr>
            <a:r>
              <a:rPr lang="pt-BR" sz="2000" dirty="0" err="1">
                <a:latin typeface="Abadi" panose="020B0604020104020204" pitchFamily="34" charset="0"/>
              </a:rPr>
              <a:t>fila.dequeue</a:t>
            </a:r>
            <a:r>
              <a:rPr lang="pt-BR" sz="2000" dirty="0">
                <a:latin typeface="Abadi" panose="020B0604020104020204" pitchFamily="34" charset="0"/>
              </a:rPr>
              <a:t>();</a:t>
            </a:r>
          </a:p>
          <a:p>
            <a:pPr lvl="1"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endParaRPr lang="pt-BR" sz="2000" dirty="0"/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ED53AD1C-8252-87C5-933A-F20DCA296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999374"/>
              </p:ext>
            </p:extLst>
          </p:nvPr>
        </p:nvGraphicFramePr>
        <p:xfrm>
          <a:off x="6600056" y="3490208"/>
          <a:ext cx="1080120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4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79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94AC412-CF24-2638-E068-FB435778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: Cantos Superiores Recortados 42">
            <a:extLst>
              <a:ext uri="{FF2B5EF4-FFF2-40B4-BE49-F238E27FC236}">
                <a16:creationId xmlns:a16="http://schemas.microsoft.com/office/drawing/2014/main" id="{EDA8B238-3E1B-97F9-5348-2968AE3870AC}"/>
              </a:ext>
            </a:extLst>
          </p:cNvPr>
          <p:cNvSpPr/>
          <p:nvPr/>
        </p:nvSpPr>
        <p:spPr>
          <a:xfrm rot="16200000">
            <a:off x="2240673" y="-2077330"/>
            <a:ext cx="649458" cy="513079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Implementação de uma fila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37DCAA1-EAA9-C0BF-90D6-BEC5E736F363}"/>
              </a:ext>
            </a:extLst>
          </p:cNvPr>
          <p:cNvSpPr txBox="1"/>
          <p:nvPr/>
        </p:nvSpPr>
        <p:spPr>
          <a:xfrm>
            <a:off x="7083425" y="1811893"/>
            <a:ext cx="48577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Saída do Programa</a:t>
            </a:r>
            <a:r>
              <a:rPr lang="pt-BR" dirty="0"/>
              <a:t>: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0B806D3-3AC2-BC47-1B23-EC024D7FF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5" y="2181225"/>
            <a:ext cx="485775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153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a 2">
    <a:dk1>
      <a:srgbClr val="0C101C"/>
    </a:dk1>
    <a:lt1>
      <a:sysClr val="window" lastClr="FFFFFF"/>
    </a:lt1>
    <a:dk2>
      <a:srgbClr val="44546A"/>
    </a:dk2>
    <a:lt2>
      <a:srgbClr val="E7E6E6"/>
    </a:lt2>
    <a:accent1>
      <a:srgbClr val="29AF8C"/>
    </a:accent1>
    <a:accent2>
      <a:srgbClr val="97BE49"/>
    </a:accent2>
    <a:accent3>
      <a:srgbClr val="3D9CCC"/>
    </a:accent3>
    <a:accent4>
      <a:srgbClr val="7C60C6"/>
    </a:accent4>
    <a:accent5>
      <a:srgbClr val="C9492C"/>
    </a:accent5>
    <a:accent6>
      <a:srgbClr val="D58C2E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3F0CBC9-0322-465F-85B7-3F244662AFB3}"/>
</file>

<file path=customXml/itemProps2.xml><?xml version="1.0" encoding="utf-8"?>
<ds:datastoreItem xmlns:ds="http://schemas.openxmlformats.org/officeDocument/2006/customXml" ds:itemID="{04E31D5B-1892-4E06-B2B5-18631D35D344}"/>
</file>

<file path=customXml/itemProps3.xml><?xml version="1.0" encoding="utf-8"?>
<ds:datastoreItem xmlns:ds="http://schemas.openxmlformats.org/officeDocument/2006/customXml" ds:itemID="{218FCBE6-07B0-4202-BDF4-E24A08C2715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13685</TotalTime>
  <Words>870</Words>
  <Application>Microsoft Office PowerPoint</Application>
  <PresentationFormat>Widescreen</PresentationFormat>
  <Paragraphs>177</Paragraphs>
  <Slides>11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Abadi</vt:lpstr>
      <vt:lpstr>Arial</vt:lpstr>
      <vt:lpstr>Calibri</vt:lpstr>
      <vt:lpstr>Calibri Light</vt:lpstr>
      <vt:lpstr>Cambria Math</vt:lpstr>
      <vt:lpstr>Wingdings</vt:lpstr>
      <vt:lpstr>Tema do Office</vt:lpstr>
      <vt:lpstr>Estrutura de Dados Aula 8: Fila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156</cp:revision>
  <dcterms:created xsi:type="dcterms:W3CDTF">2024-11-05T22:56:10Z</dcterms:created>
  <dcterms:modified xsi:type="dcterms:W3CDTF">2026-02-26T21:27:40Z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