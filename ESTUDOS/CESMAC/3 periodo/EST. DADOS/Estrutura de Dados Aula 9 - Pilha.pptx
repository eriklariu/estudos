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56" r:id="rId2"/>
    <p:sldId id="306" r:id="rId3"/>
    <p:sldId id="307" r:id="rId4"/>
    <p:sldId id="309" r:id="rId5"/>
    <p:sldId id="363" r:id="rId6"/>
    <p:sldId id="308" r:id="rId7"/>
    <p:sldId id="310" r:id="rId8"/>
    <p:sldId id="311" r:id="rId9"/>
    <p:sldId id="312" r:id="rId10"/>
    <p:sldId id="360" r:id="rId11"/>
    <p:sldId id="3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D52"/>
    <a:srgbClr val="E7E7E7"/>
    <a:srgbClr val="0C101C"/>
    <a:srgbClr val="CFFEFF"/>
    <a:srgbClr val="1F68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52" autoAdjust="0"/>
    <p:restoredTop sz="94737" autoAdjust="0"/>
  </p:normalViewPr>
  <p:slideViewPr>
    <p:cSldViewPr snapToGrid="0" showGuides="1">
      <p:cViewPr varScale="1">
        <p:scale>
          <a:sx n="108" d="100"/>
          <a:sy n="108" d="100"/>
        </p:scale>
        <p:origin x="3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B7344-8758-4923-BF9D-B590D61918F1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EDD73-88FC-478A-9AB9-3EF3A97C1D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670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EDD73-88FC-478A-9AB9-3EF3A97C1DD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7582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778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7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82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660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658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466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26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10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36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7978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0997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8926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FADF5B1-E9DA-EEF5-C245-EE90098EC5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7" b="6865"/>
          <a:stretch/>
        </p:blipFill>
        <p:spPr bwMode="auto">
          <a:xfrm>
            <a:off x="-129540" y="0"/>
            <a:ext cx="123215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0920C71-0C6B-67A1-FA2E-EB93D6115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3429000"/>
            <a:ext cx="10272205" cy="2387600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l"/>
            <a:r>
              <a:rPr lang="pt-BR" dirty="0">
                <a:latin typeface="Abadi" panose="020B0604020104020204" pitchFamily="34" charset="0"/>
              </a:rPr>
              <a:t>Estrutura de Dados</a:t>
            </a:r>
            <a:br>
              <a:rPr lang="pt-BR" dirty="0">
                <a:latin typeface="Abadi" panose="020B0604020104020204" pitchFamily="34" charset="0"/>
              </a:rPr>
            </a:br>
            <a:r>
              <a:rPr lang="pt-BR" dirty="0">
                <a:latin typeface="Abadi" panose="020B0604020104020204" pitchFamily="34" charset="0"/>
              </a:rPr>
              <a:t>Aula 9: Pilha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51ADBE-F611-60E0-63DF-674DC817D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5908675"/>
            <a:ext cx="7484705" cy="40079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algn="l"/>
            <a:r>
              <a:rPr lang="pt-BR" dirty="0">
                <a:latin typeface="Abadi" panose="020B0604020104020204" pitchFamily="34" charset="0"/>
              </a:rPr>
              <a:t>Professor: Vinicius Cursino</a:t>
            </a:r>
          </a:p>
        </p:txBody>
      </p:sp>
    </p:spTree>
    <p:extLst>
      <p:ext uri="{BB962C8B-B14F-4D97-AF65-F5344CB8AC3E}">
        <p14:creationId xmlns:p14="http://schemas.microsoft.com/office/powerpoint/2010/main" val="202891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135E8402-08BE-1464-169F-B7BE1987B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681" y="2763209"/>
            <a:ext cx="3002903" cy="300290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F4D763C0-E6B3-1C1A-D773-66A48FF13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584" y="2763208"/>
            <a:ext cx="3002904" cy="3002904"/>
          </a:xfrm>
          <a:prstGeom prst="rect">
            <a:avLst/>
          </a:prstGeom>
        </p:spPr>
      </p:pic>
      <p:sp>
        <p:nvSpPr>
          <p:cNvPr id="29" name="Retângulo: Cantos Superiores Recortados 28">
            <a:extLst>
              <a:ext uri="{FF2B5EF4-FFF2-40B4-BE49-F238E27FC236}">
                <a16:creationId xmlns:a16="http://schemas.microsoft.com/office/drawing/2014/main" id="{0BC632AA-D863-B24F-9495-11B1F293125E}"/>
              </a:ext>
            </a:extLst>
          </p:cNvPr>
          <p:cNvSpPr/>
          <p:nvPr/>
        </p:nvSpPr>
        <p:spPr>
          <a:xfrm rot="16200000">
            <a:off x="3715428" y="-3552084"/>
            <a:ext cx="649458" cy="808030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O que é uma pilha? (...em estrutura de dados)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E170206-D837-1505-0E5B-694F4CA97BB9}"/>
              </a:ext>
            </a:extLst>
          </p:cNvPr>
          <p:cNvSpPr txBox="1"/>
          <p:nvPr/>
        </p:nvSpPr>
        <p:spPr>
          <a:xfrm>
            <a:off x="209180" y="922774"/>
            <a:ext cx="11773640" cy="1631216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Uma pilha é uma estrutura linear semelhante a lista e fila, porém com suas próprias regras..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dirty="0">
                <a:latin typeface="Abadi" panose="020B0604020104020204" pitchFamily="34" charset="0"/>
              </a:rPr>
              <a:t>Em uma fila, os elementos são armazenados de modo que </a:t>
            </a:r>
            <a:r>
              <a:rPr lang="pt-BR" sz="2000" u="sng" dirty="0">
                <a:latin typeface="Abadi" panose="020B0604020104020204" pitchFamily="34" charset="0"/>
              </a:rPr>
              <a:t>um novo valor é sempre inserido no final, e o próximo valor a ser removido é o que foi adicionado primeiro</a:t>
            </a:r>
            <a:r>
              <a:rPr lang="pt-BR" sz="2000" dirty="0">
                <a:latin typeface="Abadi" panose="020B0604020104020204" pitchFamily="34" charset="0"/>
              </a:rPr>
              <a:t>.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9B44C68-8574-D45E-EA82-ECB2C4E4B340}"/>
              </a:ext>
            </a:extLst>
          </p:cNvPr>
          <p:cNvSpPr txBox="1"/>
          <p:nvPr/>
        </p:nvSpPr>
        <p:spPr>
          <a:xfrm>
            <a:off x="209180" y="2885490"/>
            <a:ext cx="5687767" cy="2000548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400" b="1" dirty="0">
                <a:latin typeface="Abadi" panose="020B0604020104020204" pitchFamily="34" charset="0"/>
              </a:rPr>
              <a:t>Onde podemos usar?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Controle de chamadas de funções (pilha de execução).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 err="1">
                <a:latin typeface="Abadi" panose="020B0604020104020204" pitchFamily="34" charset="0"/>
              </a:rPr>
              <a:t>Undo</a:t>
            </a:r>
            <a:r>
              <a:rPr lang="pt-BR" sz="2000" dirty="0">
                <a:latin typeface="Abadi" panose="020B0604020104020204" pitchFamily="34" charset="0"/>
              </a:rPr>
              <a:t>/</a:t>
            </a:r>
            <a:r>
              <a:rPr lang="pt-BR" sz="2000" dirty="0" err="1">
                <a:latin typeface="Abadi" panose="020B0604020104020204" pitchFamily="34" charset="0"/>
              </a:rPr>
              <a:t>Redo</a:t>
            </a:r>
            <a:r>
              <a:rPr lang="pt-BR" sz="2000" dirty="0">
                <a:latin typeface="Abadi" panose="020B0604020104020204" pitchFamily="34" charset="0"/>
              </a:rPr>
              <a:t> em editores de texto.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Avaliação de expressões matemáticas.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Navegação em páginas web (histórico).</a:t>
            </a:r>
          </a:p>
        </p:txBody>
      </p:sp>
    </p:spTree>
    <p:extLst>
      <p:ext uri="{BB962C8B-B14F-4D97-AF65-F5344CB8AC3E}">
        <p14:creationId xmlns:p14="http://schemas.microsoft.com/office/powerpoint/2010/main" val="298699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A4AEC-F574-CB4A-71E0-6F88EFB4A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: Cantos Superiores Recortados 28">
            <a:extLst>
              <a:ext uri="{FF2B5EF4-FFF2-40B4-BE49-F238E27FC236}">
                <a16:creationId xmlns:a16="http://schemas.microsoft.com/office/drawing/2014/main" id="{8393D50F-4F77-7FA8-95B8-39C15417A198}"/>
              </a:ext>
            </a:extLst>
          </p:cNvPr>
          <p:cNvSpPr/>
          <p:nvPr/>
        </p:nvSpPr>
        <p:spPr>
          <a:xfrm rot="16200000">
            <a:off x="403061" y="-239717"/>
            <a:ext cx="649458" cy="1455572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LIFO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9DC24773-9A30-4A4F-57BC-996EEC1771DD}"/>
              </a:ext>
            </a:extLst>
          </p:cNvPr>
          <p:cNvSpPr txBox="1"/>
          <p:nvPr/>
        </p:nvSpPr>
        <p:spPr>
          <a:xfrm>
            <a:off x="209180" y="922774"/>
            <a:ext cx="11773640" cy="1631216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Uma pilha é representada pela regra LIFO: </a:t>
            </a:r>
            <a:r>
              <a:rPr lang="pt-BR" sz="2000" dirty="0" err="1">
                <a:latin typeface="Abadi" panose="020B0604020104020204" pitchFamily="34" charset="0"/>
              </a:rPr>
              <a:t>Last</a:t>
            </a:r>
            <a:r>
              <a:rPr lang="pt-BR" sz="2000" dirty="0">
                <a:latin typeface="Abadi" panose="020B0604020104020204" pitchFamily="34" charset="0"/>
              </a:rPr>
              <a:t>-In, </a:t>
            </a:r>
            <a:r>
              <a:rPr lang="pt-BR" sz="2000" dirty="0" err="1">
                <a:latin typeface="Abadi" panose="020B0604020104020204" pitchFamily="34" charset="0"/>
              </a:rPr>
              <a:t>First</a:t>
            </a:r>
            <a:r>
              <a:rPr lang="pt-BR" sz="2000" dirty="0">
                <a:latin typeface="Abadi" panose="020B0604020104020204" pitchFamily="34" charset="0"/>
              </a:rPr>
              <a:t>-Out (Último a Entrar, Primeiro a Sair).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dirty="0">
                <a:latin typeface="Abadi" panose="020B0604020104020204" pitchFamily="34" charset="0"/>
              </a:rPr>
              <a:t>Esse conceito é amplamente utilizado em ciência da computação e em várias áreas práticas, representando uma estrutura de dados ou lógica de organização onde o último elemento inserido é o primeiro a ser removido.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107532D4-2572-83B9-DE45-D4B340B19C89}"/>
              </a:ext>
            </a:extLst>
          </p:cNvPr>
          <p:cNvSpPr txBox="1"/>
          <p:nvPr/>
        </p:nvSpPr>
        <p:spPr>
          <a:xfrm>
            <a:off x="209180" y="3120898"/>
            <a:ext cx="6835432" cy="2554545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Numa pilha, um novo elemento SEMPRE é adicionado no topo da pilha. Esse processo é chamado de PUSH;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Numa pilha, o elemento que será removido SEMPRE será o mais recente, ou seja, o último que foi adicionado ao topo. Esse processo é chamado de POP.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793F0FD-E322-8C87-B7AC-E3D5C2C7D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042" y="2663966"/>
            <a:ext cx="3946848" cy="394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93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735C9-BDB3-3AF8-78E7-5CDB71528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aixaDeTexto 25">
            <a:extLst>
              <a:ext uri="{FF2B5EF4-FFF2-40B4-BE49-F238E27FC236}">
                <a16:creationId xmlns:a16="http://schemas.microsoft.com/office/drawing/2014/main" id="{BB247D74-F1D3-D581-0CD5-3116C8C386F2}"/>
              </a:ext>
            </a:extLst>
          </p:cNvPr>
          <p:cNvSpPr txBox="1"/>
          <p:nvPr/>
        </p:nvSpPr>
        <p:spPr>
          <a:xfrm>
            <a:off x="6500438" y="1208558"/>
            <a:ext cx="4542487" cy="4700211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400" b="1" dirty="0">
                <a:latin typeface="Abadi" panose="020B0604020104020204" pitchFamily="34" charset="0"/>
              </a:rPr>
              <a:t>Pilha Sequencial</a:t>
            </a:r>
          </a:p>
          <a:p>
            <a:pPr algn="just"/>
            <a:endParaRPr lang="pt-BR" sz="24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9DD6422-B205-E399-E1DA-12D3197269B2}"/>
              </a:ext>
            </a:extLst>
          </p:cNvPr>
          <p:cNvSpPr txBox="1"/>
          <p:nvPr/>
        </p:nvSpPr>
        <p:spPr>
          <a:xfrm>
            <a:off x="1216724" y="1208558"/>
            <a:ext cx="4757571" cy="4700211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400" b="1" dirty="0">
                <a:latin typeface="Abadi" panose="020B0604020104020204" pitchFamily="34" charset="0"/>
              </a:rPr>
              <a:t>Pilha Encadeada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4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4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4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4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400" b="1" dirty="0">
              <a:latin typeface="Abadi" panose="020B0604020104020204" pitchFamily="34" charset="0"/>
            </a:endParaRPr>
          </a:p>
          <a:p>
            <a:pPr algn="just"/>
            <a:endParaRPr lang="pt-BR" sz="24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</p:txBody>
      </p:sp>
      <p:cxnSp>
        <p:nvCxnSpPr>
          <p:cNvPr id="5" name="Conector: Curvo 4">
            <a:extLst>
              <a:ext uri="{FF2B5EF4-FFF2-40B4-BE49-F238E27FC236}">
                <a16:creationId xmlns:a16="http://schemas.microsoft.com/office/drawing/2014/main" id="{BC3B7BC6-0BE3-1C8B-2903-2B70E1F6C04A}"/>
              </a:ext>
            </a:extLst>
          </p:cNvPr>
          <p:cNvCxnSpPr>
            <a:cxnSpLocks/>
            <a:stCxn id="8" idx="1"/>
            <a:endCxn id="32" idx="0"/>
          </p:cNvCxnSpPr>
          <p:nvPr/>
        </p:nvCxnSpPr>
        <p:spPr>
          <a:xfrm rot="10800000" flipV="1">
            <a:off x="2675106" y="2524462"/>
            <a:ext cx="411394" cy="777240"/>
          </a:xfrm>
          <a:prstGeom prst="curvedConnector2">
            <a:avLst/>
          </a:prstGeom>
          <a:ln w="95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a 4">
                <a:extLst>
                  <a:ext uri="{FF2B5EF4-FFF2-40B4-BE49-F238E27FC236}">
                    <a16:creationId xmlns:a16="http://schemas.microsoft.com/office/drawing/2014/main" id="{88029936-D6D9-982A-6FB8-F0186A2D2F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5767550"/>
                  </p:ext>
                </p:extLst>
              </p:nvPr>
            </p:nvGraphicFramePr>
            <p:xfrm>
              <a:off x="3086500" y="2265382"/>
              <a:ext cx="848068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3938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a 4">
                <a:extLst>
                  <a:ext uri="{FF2B5EF4-FFF2-40B4-BE49-F238E27FC236}">
                    <a16:creationId xmlns:a16="http://schemas.microsoft.com/office/drawing/2014/main" id="{88029936-D6D9-982A-6FB8-F0186A2D2F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5767550"/>
                  </p:ext>
                </p:extLst>
              </p:nvPr>
            </p:nvGraphicFramePr>
            <p:xfrm>
              <a:off x="3086500" y="2265382"/>
              <a:ext cx="848068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714" t="-1163" r="-1429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3" name="CaixaDeTexto 32">
            <a:extLst>
              <a:ext uri="{FF2B5EF4-FFF2-40B4-BE49-F238E27FC236}">
                <a16:creationId xmlns:a16="http://schemas.microsoft.com/office/drawing/2014/main" id="{EE7246C9-6436-7E27-E4D4-6655D2467AA3}"/>
              </a:ext>
            </a:extLst>
          </p:cNvPr>
          <p:cNvSpPr txBox="1"/>
          <p:nvPr/>
        </p:nvSpPr>
        <p:spPr>
          <a:xfrm>
            <a:off x="4329632" y="2339796"/>
            <a:ext cx="109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dirty="0">
                <a:latin typeface="Abadi" panose="020B0604020104020204" pitchFamily="34" charset="0"/>
              </a:rPr>
              <a:t>Topo</a:t>
            </a:r>
            <a:endParaRPr lang="pt-BR" dirty="0"/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BAB483CB-1FD6-B755-AAC2-268ADCC4B07C}"/>
              </a:ext>
            </a:extLst>
          </p:cNvPr>
          <p:cNvCxnSpPr>
            <a:cxnSpLocks/>
            <a:stCxn id="33" idx="1"/>
            <a:endCxn id="8" idx="3"/>
          </p:cNvCxnSpPr>
          <p:nvPr/>
        </p:nvCxnSpPr>
        <p:spPr>
          <a:xfrm flipH="1">
            <a:off x="3934568" y="2524462"/>
            <a:ext cx="395064" cy="0"/>
          </a:xfrm>
          <a:prstGeom prst="straightConnector1">
            <a:avLst/>
          </a:prstGeom>
          <a:ln w="127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tângulo: Cantos Superiores Recortados 42">
            <a:extLst>
              <a:ext uri="{FF2B5EF4-FFF2-40B4-BE49-F238E27FC236}">
                <a16:creationId xmlns:a16="http://schemas.microsoft.com/office/drawing/2014/main" id="{56AB0903-E17D-62AF-5E7D-BC00B333C2C5}"/>
              </a:ext>
            </a:extLst>
          </p:cNvPr>
          <p:cNvSpPr/>
          <p:nvPr/>
        </p:nvSpPr>
        <p:spPr>
          <a:xfrm rot="16200000">
            <a:off x="1298751" y="-1135408"/>
            <a:ext cx="649458" cy="3246953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3200" dirty="0">
                <a:latin typeface="Abadi" panose="020B0604020104020204" pitchFamily="34" charset="0"/>
              </a:rPr>
              <a:t>Tipos de Pilha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a 4">
                <a:extLst>
                  <a:ext uri="{FF2B5EF4-FFF2-40B4-BE49-F238E27FC236}">
                    <a16:creationId xmlns:a16="http://schemas.microsoft.com/office/drawing/2014/main" id="{E54F961B-B4F1-3873-28DB-EBD1D8A46A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4900416"/>
                  </p:ext>
                </p:extLst>
              </p:nvPr>
            </p:nvGraphicFramePr>
            <p:xfrm>
              <a:off x="8556714" y="2441278"/>
              <a:ext cx="848068" cy="2590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6310131"/>
                      </a:ext>
                    </a:extLst>
                  </a:tr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6965897"/>
                      </a:ext>
                    </a:extLst>
                  </a:tr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7141788"/>
                      </a:ext>
                    </a:extLst>
                  </a:tr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93776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a 4">
                <a:extLst>
                  <a:ext uri="{FF2B5EF4-FFF2-40B4-BE49-F238E27FC236}">
                    <a16:creationId xmlns:a16="http://schemas.microsoft.com/office/drawing/2014/main" id="{E54F961B-B4F1-3873-28DB-EBD1D8A46A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4900416"/>
                  </p:ext>
                </p:extLst>
              </p:nvPr>
            </p:nvGraphicFramePr>
            <p:xfrm>
              <a:off x="8556714" y="2441278"/>
              <a:ext cx="848068" cy="2590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14" t="-1176" r="-1429" b="-4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631013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14" t="-101176" r="-1429" b="-3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14" t="-198837" r="-1429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696589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14" t="-302353" r="-1429" b="-1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714178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14" t="-402353" r="-1429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93776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CaixaDeTexto 15">
            <a:extLst>
              <a:ext uri="{FF2B5EF4-FFF2-40B4-BE49-F238E27FC236}">
                <a16:creationId xmlns:a16="http://schemas.microsoft.com/office/drawing/2014/main" id="{6122F062-AA37-F035-2039-2E179DD2A6D1}"/>
              </a:ext>
            </a:extLst>
          </p:cNvPr>
          <p:cNvSpPr txBox="1"/>
          <p:nvPr/>
        </p:nvSpPr>
        <p:spPr>
          <a:xfrm>
            <a:off x="9824473" y="2503210"/>
            <a:ext cx="109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dirty="0">
                <a:latin typeface="Abadi" panose="020B0604020104020204" pitchFamily="34" charset="0"/>
              </a:rPr>
              <a:t>Topo</a:t>
            </a:r>
            <a:endParaRPr lang="pt-BR" dirty="0"/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C003856D-2390-16ED-3C1E-6FA7CAB4D247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9429409" y="2687876"/>
            <a:ext cx="395064" cy="0"/>
          </a:xfrm>
          <a:prstGeom prst="straightConnector1">
            <a:avLst/>
          </a:prstGeom>
          <a:ln w="127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ela 4">
                <a:extLst>
                  <a:ext uri="{FF2B5EF4-FFF2-40B4-BE49-F238E27FC236}">
                    <a16:creationId xmlns:a16="http://schemas.microsoft.com/office/drawing/2014/main" id="{6B61BC52-F18E-8430-B1E4-73932DB308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4456192"/>
                  </p:ext>
                </p:extLst>
              </p:nvPr>
            </p:nvGraphicFramePr>
            <p:xfrm>
              <a:off x="7684019" y="2441278"/>
              <a:ext cx="848068" cy="2590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76310131"/>
                      </a:ext>
                    </a:extLst>
                  </a:tr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56965897"/>
                      </a:ext>
                    </a:extLst>
                  </a:tr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857141788"/>
                      </a:ext>
                    </a:extLst>
                  </a:tr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2293776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ela 4">
                <a:extLst>
                  <a:ext uri="{FF2B5EF4-FFF2-40B4-BE49-F238E27FC236}">
                    <a16:creationId xmlns:a16="http://schemas.microsoft.com/office/drawing/2014/main" id="{6B61BC52-F18E-8430-B1E4-73932DB308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4456192"/>
                  </p:ext>
                </p:extLst>
              </p:nvPr>
            </p:nvGraphicFramePr>
            <p:xfrm>
              <a:off x="7684019" y="2441278"/>
              <a:ext cx="848068" cy="2590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b="-40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631013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0000" b="-30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97674" b="-1976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696589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30117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714178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40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93776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2686324B-14EE-86E9-DE57-974CC2E15BD4}"/>
              </a:ext>
            </a:extLst>
          </p:cNvPr>
          <p:cNvSpPr/>
          <p:nvPr/>
        </p:nvSpPr>
        <p:spPr>
          <a:xfrm rot="10800000">
            <a:off x="7009684" y="1792130"/>
            <a:ext cx="509287" cy="3889096"/>
          </a:xfrm>
          <a:prstGeom prst="downArrow">
            <a:avLst/>
          </a:prstGeom>
          <a:solidFill>
            <a:srgbClr val="123D5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ABF9064-79BE-2E64-F553-465FAFEC8991}"/>
              </a:ext>
            </a:extLst>
          </p:cNvPr>
          <p:cNvSpPr txBox="1"/>
          <p:nvPr/>
        </p:nvSpPr>
        <p:spPr>
          <a:xfrm rot="16200000">
            <a:off x="4904697" y="3699903"/>
            <a:ext cx="4700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Abadi" panose="020B0604020104020204" pitchFamily="34" charset="0"/>
              </a:rPr>
              <a:t>Ordem para entrada e saída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ela 4">
                <a:extLst>
                  <a:ext uri="{FF2B5EF4-FFF2-40B4-BE49-F238E27FC236}">
                    <a16:creationId xmlns:a16="http://schemas.microsoft.com/office/drawing/2014/main" id="{9D0FD7B1-CC1A-7956-78B4-AF26EEF58D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5931453"/>
                  </p:ext>
                </p:extLst>
              </p:nvPr>
            </p:nvGraphicFramePr>
            <p:xfrm>
              <a:off x="2251072" y="3301702"/>
              <a:ext cx="848068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3938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ela 4">
                <a:extLst>
                  <a:ext uri="{FF2B5EF4-FFF2-40B4-BE49-F238E27FC236}">
                    <a16:creationId xmlns:a16="http://schemas.microsoft.com/office/drawing/2014/main" id="{9D0FD7B1-CC1A-7956-78B4-AF26EEF58D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5931453"/>
                  </p:ext>
                </p:extLst>
              </p:nvPr>
            </p:nvGraphicFramePr>
            <p:xfrm>
              <a:off x="2251072" y="3301702"/>
              <a:ext cx="848068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714" t="-1163" r="-1429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Tabela 4">
                <a:extLst>
                  <a:ext uri="{FF2B5EF4-FFF2-40B4-BE49-F238E27FC236}">
                    <a16:creationId xmlns:a16="http://schemas.microsoft.com/office/drawing/2014/main" id="{9453E30D-F32C-B589-0996-5FFB388213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9771624"/>
                  </p:ext>
                </p:extLst>
              </p:nvPr>
            </p:nvGraphicFramePr>
            <p:xfrm>
              <a:off x="2251072" y="4078942"/>
              <a:ext cx="848068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3938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Tabela 4">
                <a:extLst>
                  <a:ext uri="{FF2B5EF4-FFF2-40B4-BE49-F238E27FC236}">
                    <a16:creationId xmlns:a16="http://schemas.microsoft.com/office/drawing/2014/main" id="{9453E30D-F32C-B589-0996-5FFB388213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9771624"/>
                  </p:ext>
                </p:extLst>
              </p:nvPr>
            </p:nvGraphicFramePr>
            <p:xfrm>
              <a:off x="2251072" y="4078942"/>
              <a:ext cx="848068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6"/>
                          <a:stretch>
                            <a:fillRect l="-714" t="-1163" r="-1429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869D8812-0533-2D32-91C2-AD91AE61E488}"/>
              </a:ext>
            </a:extLst>
          </p:cNvPr>
          <p:cNvCxnSpPr>
            <a:cxnSpLocks/>
            <a:stCxn id="32" idx="2"/>
            <a:endCxn id="36" idx="0"/>
          </p:cNvCxnSpPr>
          <p:nvPr/>
        </p:nvCxnSpPr>
        <p:spPr>
          <a:xfrm>
            <a:off x="2675106" y="3819862"/>
            <a:ext cx="0" cy="259080"/>
          </a:xfrm>
          <a:prstGeom prst="straightConnector1">
            <a:avLst/>
          </a:prstGeom>
          <a:ln w="127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ela 4">
                <a:extLst>
                  <a:ext uri="{FF2B5EF4-FFF2-40B4-BE49-F238E27FC236}">
                    <a16:creationId xmlns:a16="http://schemas.microsoft.com/office/drawing/2014/main" id="{C0864076-8961-F1EE-F5B9-915FCD9723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0032022"/>
                  </p:ext>
                </p:extLst>
              </p:nvPr>
            </p:nvGraphicFramePr>
            <p:xfrm>
              <a:off x="2257659" y="4876687"/>
              <a:ext cx="848068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3938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ela 4">
                <a:extLst>
                  <a:ext uri="{FF2B5EF4-FFF2-40B4-BE49-F238E27FC236}">
                    <a16:creationId xmlns:a16="http://schemas.microsoft.com/office/drawing/2014/main" id="{C0864076-8961-F1EE-F5B9-915FCD9723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0032022"/>
                  </p:ext>
                </p:extLst>
              </p:nvPr>
            </p:nvGraphicFramePr>
            <p:xfrm>
              <a:off x="2257659" y="4876687"/>
              <a:ext cx="848068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7"/>
                          <a:stretch>
                            <a:fillRect l="-714" t="-1163" r="-1429" b="-34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19ED9591-72E5-E582-0ABC-A40A9933B5CF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2681693" y="4617607"/>
            <a:ext cx="0" cy="259080"/>
          </a:xfrm>
          <a:prstGeom prst="straightConnector1">
            <a:avLst/>
          </a:prstGeom>
          <a:ln w="127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Seta: para Baixo 55">
            <a:extLst>
              <a:ext uri="{FF2B5EF4-FFF2-40B4-BE49-F238E27FC236}">
                <a16:creationId xmlns:a16="http://schemas.microsoft.com/office/drawing/2014/main" id="{E7D9217E-D7BF-731F-BBDA-F51EF0466782}"/>
              </a:ext>
            </a:extLst>
          </p:cNvPr>
          <p:cNvSpPr/>
          <p:nvPr/>
        </p:nvSpPr>
        <p:spPr>
          <a:xfrm rot="10800000">
            <a:off x="1516965" y="1811886"/>
            <a:ext cx="509287" cy="3889096"/>
          </a:xfrm>
          <a:prstGeom prst="downArrow">
            <a:avLst/>
          </a:prstGeom>
          <a:solidFill>
            <a:srgbClr val="123D5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77853528-5E94-812E-6A02-A642C6022019}"/>
              </a:ext>
            </a:extLst>
          </p:cNvPr>
          <p:cNvSpPr txBox="1"/>
          <p:nvPr/>
        </p:nvSpPr>
        <p:spPr>
          <a:xfrm rot="16200000">
            <a:off x="-607072" y="3719659"/>
            <a:ext cx="4700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Abadi" panose="020B0604020104020204" pitchFamily="34" charset="0"/>
              </a:rPr>
              <a:t>Ordem para entrada e saída</a:t>
            </a:r>
          </a:p>
        </p:txBody>
      </p:sp>
    </p:spTree>
    <p:extLst>
      <p:ext uri="{BB962C8B-B14F-4D97-AF65-F5344CB8AC3E}">
        <p14:creationId xmlns:p14="http://schemas.microsoft.com/office/powerpoint/2010/main" val="3852047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9AE55-C42F-C4E8-BE2A-F88A99111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aixaDeTexto 25">
            <a:extLst>
              <a:ext uri="{FF2B5EF4-FFF2-40B4-BE49-F238E27FC236}">
                <a16:creationId xmlns:a16="http://schemas.microsoft.com/office/drawing/2014/main" id="{4BC91D4E-685D-8ED6-615D-34771EA1F805}"/>
              </a:ext>
            </a:extLst>
          </p:cNvPr>
          <p:cNvSpPr txBox="1"/>
          <p:nvPr/>
        </p:nvSpPr>
        <p:spPr>
          <a:xfrm>
            <a:off x="6500438" y="1208558"/>
            <a:ext cx="4542487" cy="4700211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400" b="1" dirty="0">
                <a:latin typeface="Abadi" panose="020B0604020104020204" pitchFamily="34" charset="0"/>
              </a:rPr>
              <a:t>Pilha Sequencial</a:t>
            </a:r>
          </a:p>
          <a:p>
            <a:pPr algn="just"/>
            <a:endParaRPr lang="pt-BR" sz="24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1CA4A74-862C-BDA9-F9F9-BB6572673510}"/>
              </a:ext>
            </a:extLst>
          </p:cNvPr>
          <p:cNvSpPr txBox="1"/>
          <p:nvPr/>
        </p:nvSpPr>
        <p:spPr>
          <a:xfrm>
            <a:off x="1216724" y="1208558"/>
            <a:ext cx="4757571" cy="4700211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400" b="1" dirty="0">
                <a:latin typeface="Abadi" panose="020B0604020104020204" pitchFamily="34" charset="0"/>
              </a:rPr>
              <a:t>Pilha Encadeada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4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4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4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4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400" b="1" dirty="0">
              <a:latin typeface="Abadi" panose="020B0604020104020204" pitchFamily="34" charset="0"/>
            </a:endParaRPr>
          </a:p>
          <a:p>
            <a:pPr algn="just"/>
            <a:endParaRPr lang="pt-BR" sz="24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</p:txBody>
      </p:sp>
      <p:cxnSp>
        <p:nvCxnSpPr>
          <p:cNvPr id="5" name="Conector: Curvo 4">
            <a:extLst>
              <a:ext uri="{FF2B5EF4-FFF2-40B4-BE49-F238E27FC236}">
                <a16:creationId xmlns:a16="http://schemas.microsoft.com/office/drawing/2014/main" id="{6D04B32E-3877-4040-B1AF-346D3546A2E6}"/>
              </a:ext>
            </a:extLst>
          </p:cNvPr>
          <p:cNvCxnSpPr>
            <a:cxnSpLocks/>
            <a:stCxn id="8" idx="1"/>
            <a:endCxn id="32" idx="0"/>
          </p:cNvCxnSpPr>
          <p:nvPr/>
        </p:nvCxnSpPr>
        <p:spPr>
          <a:xfrm rot="10800000" flipV="1">
            <a:off x="2675106" y="2524462"/>
            <a:ext cx="411394" cy="777240"/>
          </a:xfrm>
          <a:prstGeom prst="curvedConnector2">
            <a:avLst/>
          </a:prstGeom>
          <a:ln w="95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a 4">
                <a:extLst>
                  <a:ext uri="{FF2B5EF4-FFF2-40B4-BE49-F238E27FC236}">
                    <a16:creationId xmlns:a16="http://schemas.microsoft.com/office/drawing/2014/main" id="{BC6D34DF-EE4D-13B6-DB32-EE1A7AD178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5964123"/>
                  </p:ext>
                </p:extLst>
              </p:nvPr>
            </p:nvGraphicFramePr>
            <p:xfrm>
              <a:off x="3086500" y="2265382"/>
              <a:ext cx="848068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3938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a 4">
                <a:extLst>
                  <a:ext uri="{FF2B5EF4-FFF2-40B4-BE49-F238E27FC236}">
                    <a16:creationId xmlns:a16="http://schemas.microsoft.com/office/drawing/2014/main" id="{BC6D34DF-EE4D-13B6-DB32-EE1A7AD178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5964123"/>
                  </p:ext>
                </p:extLst>
              </p:nvPr>
            </p:nvGraphicFramePr>
            <p:xfrm>
              <a:off x="3086500" y="2265382"/>
              <a:ext cx="848068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714" t="-1163" r="-1429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3" name="CaixaDeTexto 32">
            <a:extLst>
              <a:ext uri="{FF2B5EF4-FFF2-40B4-BE49-F238E27FC236}">
                <a16:creationId xmlns:a16="http://schemas.microsoft.com/office/drawing/2014/main" id="{57DF4A71-294C-E4C8-B010-50624FFE2ECE}"/>
              </a:ext>
            </a:extLst>
          </p:cNvPr>
          <p:cNvSpPr txBox="1"/>
          <p:nvPr/>
        </p:nvSpPr>
        <p:spPr>
          <a:xfrm>
            <a:off x="4329632" y="2339796"/>
            <a:ext cx="109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dirty="0">
                <a:latin typeface="Abadi" panose="020B0604020104020204" pitchFamily="34" charset="0"/>
              </a:rPr>
              <a:t>Topo</a:t>
            </a:r>
            <a:endParaRPr lang="pt-BR" dirty="0"/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CEC30C50-B52A-EBE9-5E30-77F7C432E440}"/>
              </a:ext>
            </a:extLst>
          </p:cNvPr>
          <p:cNvCxnSpPr>
            <a:cxnSpLocks/>
            <a:stCxn id="33" idx="1"/>
            <a:endCxn id="8" idx="3"/>
          </p:cNvCxnSpPr>
          <p:nvPr/>
        </p:nvCxnSpPr>
        <p:spPr>
          <a:xfrm flipH="1">
            <a:off x="3934568" y="2524462"/>
            <a:ext cx="395064" cy="0"/>
          </a:xfrm>
          <a:prstGeom prst="straightConnector1">
            <a:avLst/>
          </a:prstGeom>
          <a:ln w="127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tângulo: Cantos Superiores Recortados 42">
            <a:extLst>
              <a:ext uri="{FF2B5EF4-FFF2-40B4-BE49-F238E27FC236}">
                <a16:creationId xmlns:a16="http://schemas.microsoft.com/office/drawing/2014/main" id="{27C2D93D-BBE7-AF82-6C70-6597D42340BE}"/>
              </a:ext>
            </a:extLst>
          </p:cNvPr>
          <p:cNvSpPr/>
          <p:nvPr/>
        </p:nvSpPr>
        <p:spPr>
          <a:xfrm rot="16200000">
            <a:off x="2165462" y="-2002118"/>
            <a:ext cx="649458" cy="4980371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3200" dirty="0">
                <a:latin typeface="Abadi" panose="020B0604020104020204" pitchFamily="34" charset="0"/>
              </a:rPr>
              <a:t>Exemplos Tipos de Pilha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a 4">
                <a:extLst>
                  <a:ext uri="{FF2B5EF4-FFF2-40B4-BE49-F238E27FC236}">
                    <a16:creationId xmlns:a16="http://schemas.microsoft.com/office/drawing/2014/main" id="{3D38DF9F-6255-E742-68F2-B9C48E4CA0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9789011"/>
                  </p:ext>
                </p:extLst>
              </p:nvPr>
            </p:nvGraphicFramePr>
            <p:xfrm>
              <a:off x="8556714" y="2441278"/>
              <a:ext cx="848068" cy="2590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393872">
                    <a:tc>
                      <a:txBody>
                        <a:bodyPr/>
                        <a:lstStyle/>
                        <a:p>
                          <a:pPr algn="r"/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6310131"/>
                      </a:ext>
                    </a:extLst>
                  </a:tr>
                  <a:tr h="393872">
                    <a:tc>
                      <a:txBody>
                        <a:bodyPr/>
                        <a:lstStyle/>
                        <a:p>
                          <a:pPr algn="r"/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6965897"/>
                      </a:ext>
                    </a:extLst>
                  </a:tr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7141788"/>
                      </a:ext>
                    </a:extLst>
                  </a:tr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93776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a 4">
                <a:extLst>
                  <a:ext uri="{FF2B5EF4-FFF2-40B4-BE49-F238E27FC236}">
                    <a16:creationId xmlns:a16="http://schemas.microsoft.com/office/drawing/2014/main" id="{3D38DF9F-6255-E742-68F2-B9C48E4CA0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9789011"/>
                  </p:ext>
                </p:extLst>
              </p:nvPr>
            </p:nvGraphicFramePr>
            <p:xfrm>
              <a:off x="8556714" y="2441278"/>
              <a:ext cx="848068" cy="2590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631013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14" t="-198837" r="-1429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696589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14" t="-302353" r="-1429" b="-1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714178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14" t="-402353" r="-1429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93776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CaixaDeTexto 15">
            <a:extLst>
              <a:ext uri="{FF2B5EF4-FFF2-40B4-BE49-F238E27FC236}">
                <a16:creationId xmlns:a16="http://schemas.microsoft.com/office/drawing/2014/main" id="{D524D423-8D90-FC50-D1BC-002ED63F0432}"/>
              </a:ext>
            </a:extLst>
          </p:cNvPr>
          <p:cNvSpPr txBox="1"/>
          <p:nvPr/>
        </p:nvSpPr>
        <p:spPr>
          <a:xfrm>
            <a:off x="9883076" y="3560485"/>
            <a:ext cx="109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dirty="0">
                <a:latin typeface="Abadi" panose="020B0604020104020204" pitchFamily="34" charset="0"/>
              </a:rPr>
              <a:t>Topo</a:t>
            </a:r>
            <a:endParaRPr lang="pt-BR" dirty="0"/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57D20C83-DF59-BA27-F5F4-3318BBC98062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9488012" y="3745151"/>
            <a:ext cx="395064" cy="0"/>
          </a:xfrm>
          <a:prstGeom prst="straightConnector1">
            <a:avLst/>
          </a:prstGeom>
          <a:ln w="127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ela 4">
                <a:extLst>
                  <a:ext uri="{FF2B5EF4-FFF2-40B4-BE49-F238E27FC236}">
                    <a16:creationId xmlns:a16="http://schemas.microsoft.com/office/drawing/2014/main" id="{2A16A5A5-11E1-808E-D86D-ACD64FC238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84019" y="2441278"/>
              <a:ext cx="848068" cy="2590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76310131"/>
                      </a:ext>
                    </a:extLst>
                  </a:tr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56965897"/>
                      </a:ext>
                    </a:extLst>
                  </a:tr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857141788"/>
                      </a:ext>
                    </a:extLst>
                  </a:tr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2293776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ela 4">
                <a:extLst>
                  <a:ext uri="{FF2B5EF4-FFF2-40B4-BE49-F238E27FC236}">
                    <a16:creationId xmlns:a16="http://schemas.microsoft.com/office/drawing/2014/main" id="{2A16A5A5-11E1-808E-D86D-ACD64FC238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84019" y="2441278"/>
              <a:ext cx="848068" cy="2590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b="-40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631013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0000" b="-30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97674" b="-1976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696589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30117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714178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40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93776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2E80A352-0E87-0782-93D2-17712167EE60}"/>
              </a:ext>
            </a:extLst>
          </p:cNvPr>
          <p:cNvSpPr/>
          <p:nvPr/>
        </p:nvSpPr>
        <p:spPr>
          <a:xfrm rot="10800000">
            <a:off x="7009684" y="1792130"/>
            <a:ext cx="509287" cy="3889096"/>
          </a:xfrm>
          <a:prstGeom prst="downArrow">
            <a:avLst/>
          </a:prstGeom>
          <a:solidFill>
            <a:srgbClr val="123D5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F0BACAC-6FF6-4DE5-E952-B7441986687E}"/>
              </a:ext>
            </a:extLst>
          </p:cNvPr>
          <p:cNvSpPr txBox="1"/>
          <p:nvPr/>
        </p:nvSpPr>
        <p:spPr>
          <a:xfrm rot="16200000">
            <a:off x="4904697" y="3699903"/>
            <a:ext cx="4700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Abadi" panose="020B0604020104020204" pitchFamily="34" charset="0"/>
              </a:rPr>
              <a:t>Ordem para entrada e saída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ela 4">
                <a:extLst>
                  <a:ext uri="{FF2B5EF4-FFF2-40B4-BE49-F238E27FC236}">
                    <a16:creationId xmlns:a16="http://schemas.microsoft.com/office/drawing/2014/main" id="{FA381E70-F6A6-97B3-E64A-71E9686CA0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157668"/>
                  </p:ext>
                </p:extLst>
              </p:nvPr>
            </p:nvGraphicFramePr>
            <p:xfrm>
              <a:off x="2251072" y="3301702"/>
              <a:ext cx="848068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3938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ela 4">
                <a:extLst>
                  <a:ext uri="{FF2B5EF4-FFF2-40B4-BE49-F238E27FC236}">
                    <a16:creationId xmlns:a16="http://schemas.microsoft.com/office/drawing/2014/main" id="{FA381E70-F6A6-97B3-E64A-71E9686CA0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157668"/>
                  </p:ext>
                </p:extLst>
              </p:nvPr>
            </p:nvGraphicFramePr>
            <p:xfrm>
              <a:off x="2251072" y="3301702"/>
              <a:ext cx="848068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714" t="-1163" r="-1429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Tabela 4">
                <a:extLst>
                  <a:ext uri="{FF2B5EF4-FFF2-40B4-BE49-F238E27FC236}">
                    <a16:creationId xmlns:a16="http://schemas.microsoft.com/office/drawing/2014/main" id="{223E6C67-AC93-677D-F55E-A1397BB976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7142189"/>
                  </p:ext>
                </p:extLst>
              </p:nvPr>
            </p:nvGraphicFramePr>
            <p:xfrm>
              <a:off x="2251072" y="4078942"/>
              <a:ext cx="848068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3938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Tabela 4">
                <a:extLst>
                  <a:ext uri="{FF2B5EF4-FFF2-40B4-BE49-F238E27FC236}">
                    <a16:creationId xmlns:a16="http://schemas.microsoft.com/office/drawing/2014/main" id="{223E6C67-AC93-677D-F55E-A1397BB976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7142189"/>
                  </p:ext>
                </p:extLst>
              </p:nvPr>
            </p:nvGraphicFramePr>
            <p:xfrm>
              <a:off x="2251072" y="4078942"/>
              <a:ext cx="848068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6"/>
                          <a:stretch>
                            <a:fillRect l="-714" t="-1163" r="-1429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2020EAB2-E3BF-8095-AA6D-EA13E6183881}"/>
              </a:ext>
            </a:extLst>
          </p:cNvPr>
          <p:cNvCxnSpPr>
            <a:cxnSpLocks/>
            <a:stCxn id="32" idx="2"/>
            <a:endCxn id="36" idx="0"/>
          </p:cNvCxnSpPr>
          <p:nvPr/>
        </p:nvCxnSpPr>
        <p:spPr>
          <a:xfrm>
            <a:off x="2675106" y="3819862"/>
            <a:ext cx="0" cy="259080"/>
          </a:xfrm>
          <a:prstGeom prst="straightConnector1">
            <a:avLst/>
          </a:prstGeom>
          <a:ln w="127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Seta: para Baixo 55">
            <a:extLst>
              <a:ext uri="{FF2B5EF4-FFF2-40B4-BE49-F238E27FC236}">
                <a16:creationId xmlns:a16="http://schemas.microsoft.com/office/drawing/2014/main" id="{9B521FAA-8261-BAB2-7F23-5F6119AE4D53}"/>
              </a:ext>
            </a:extLst>
          </p:cNvPr>
          <p:cNvSpPr/>
          <p:nvPr/>
        </p:nvSpPr>
        <p:spPr>
          <a:xfrm rot="10800000">
            <a:off x="1516965" y="1811886"/>
            <a:ext cx="509287" cy="3889096"/>
          </a:xfrm>
          <a:prstGeom prst="downArrow">
            <a:avLst/>
          </a:prstGeom>
          <a:solidFill>
            <a:srgbClr val="123D5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0F0000F-5DE1-4687-2FA1-CFF93D8A21A0}"/>
              </a:ext>
            </a:extLst>
          </p:cNvPr>
          <p:cNvSpPr txBox="1"/>
          <p:nvPr/>
        </p:nvSpPr>
        <p:spPr>
          <a:xfrm rot="16200000">
            <a:off x="-607072" y="3719659"/>
            <a:ext cx="4700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Abadi" panose="020B0604020104020204" pitchFamily="34" charset="0"/>
              </a:rPr>
              <a:t>Ordem para entrada e saída</a:t>
            </a:r>
          </a:p>
        </p:txBody>
      </p:sp>
    </p:spTree>
    <p:extLst>
      <p:ext uri="{BB962C8B-B14F-4D97-AF65-F5344CB8AC3E}">
        <p14:creationId xmlns:p14="http://schemas.microsoft.com/office/powerpoint/2010/main" val="576524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: Cantos Superiores Recortados 42">
            <a:extLst>
              <a:ext uri="{FF2B5EF4-FFF2-40B4-BE49-F238E27FC236}">
                <a16:creationId xmlns:a16="http://schemas.microsoft.com/office/drawing/2014/main" id="{4E7CF31F-8752-3646-8CEF-20ACB2FFF41F}"/>
              </a:ext>
            </a:extLst>
          </p:cNvPr>
          <p:cNvSpPr/>
          <p:nvPr/>
        </p:nvSpPr>
        <p:spPr>
          <a:xfrm rot="16200000">
            <a:off x="1256423" y="-1093079"/>
            <a:ext cx="649458" cy="316229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800" b="1" dirty="0">
                <a:latin typeface="Abadi" panose="020B0604020104020204" pitchFamily="34" charset="0"/>
              </a:rPr>
              <a:t>Pilha Encadeada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55BB032-0C3E-1A4C-3909-7A9FC2C4ED60}"/>
              </a:ext>
            </a:extLst>
          </p:cNvPr>
          <p:cNvSpPr txBox="1"/>
          <p:nvPr/>
        </p:nvSpPr>
        <p:spPr>
          <a:xfrm>
            <a:off x="199655" y="928497"/>
            <a:ext cx="7755622" cy="3170099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b="1" dirty="0">
                <a:latin typeface="Abadi" panose="020B0604020104020204" pitchFamily="34" charset="0"/>
              </a:rPr>
              <a:t>Estrutura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Utiliza ponteiros e nós para armazenar os elementos.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Cada nó contém um valor (informação) e um ponteiro para o nó imediatamente abaixo no topo da pilha.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b="1" dirty="0">
                <a:latin typeface="Abadi" panose="020B0604020104020204" pitchFamily="34" charset="0"/>
              </a:rPr>
              <a:t>Dinâmica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O tamanho da pilha não é fixo.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Os elementos podem ser alocados dinamicamente na memória, e as operações de inserção (PUSH) e remoção (POP) ocorrem no topo.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77E02FA-A0BA-0390-9142-F63E0478D6E8}"/>
              </a:ext>
            </a:extLst>
          </p:cNvPr>
          <p:cNvSpPr txBox="1"/>
          <p:nvPr/>
        </p:nvSpPr>
        <p:spPr>
          <a:xfrm>
            <a:off x="237939" y="4233341"/>
            <a:ext cx="11820711" cy="2554545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b="1" dirty="0">
                <a:latin typeface="Abadi" panose="020B0604020104020204" pitchFamily="34" charset="0"/>
              </a:rPr>
              <a:t>Vantagens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Não desperdiça memória, pois só aloca espaço para os elementos que realmente existem.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As operações PUSH e POP no topo da pilha são eficientes e executadas em tempo O(1).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b="1" dirty="0">
                <a:latin typeface="Abadi" panose="020B0604020104020204" pitchFamily="34" charset="0"/>
              </a:rPr>
              <a:t>Desvantagens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Pode ser mais difícil de implementar devido ao uso de ponteiros.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Requer memória adicional para armazenar os ponteiros, com acesso restrito aos elementos abaixo do topo.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33B1D91-39FF-E0D3-0352-A031955039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31" b="2202"/>
          <a:stretch/>
        </p:blipFill>
        <p:spPr>
          <a:xfrm>
            <a:off x="7955277" y="51064"/>
            <a:ext cx="4184780" cy="411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240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95CA3-4935-CC81-6944-FB314EED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: Cantos Superiores Recortados 42">
            <a:extLst>
              <a:ext uri="{FF2B5EF4-FFF2-40B4-BE49-F238E27FC236}">
                <a16:creationId xmlns:a16="http://schemas.microsoft.com/office/drawing/2014/main" id="{E4B799E1-ECAF-A30A-6B18-231118D0DA0D}"/>
              </a:ext>
            </a:extLst>
          </p:cNvPr>
          <p:cNvSpPr/>
          <p:nvPr/>
        </p:nvSpPr>
        <p:spPr>
          <a:xfrm rot="16200000">
            <a:off x="1337387" y="-1174044"/>
            <a:ext cx="649458" cy="3324224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Pilha Sequencial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F1DE856-DA44-EA6F-0541-87F706C3258A}"/>
              </a:ext>
            </a:extLst>
          </p:cNvPr>
          <p:cNvSpPr txBox="1"/>
          <p:nvPr/>
        </p:nvSpPr>
        <p:spPr>
          <a:xfrm>
            <a:off x="209178" y="874455"/>
            <a:ext cx="7835701" cy="2862322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b="1" dirty="0">
                <a:latin typeface="Abadi" panose="020B0604020104020204" pitchFamily="34" charset="0"/>
              </a:rPr>
              <a:t>Estrutura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Utiliza um </a:t>
            </a:r>
            <a:r>
              <a:rPr lang="pt-BR" sz="2000" dirty="0" err="1">
                <a:latin typeface="Abadi" panose="020B0604020104020204" pitchFamily="34" charset="0"/>
              </a:rPr>
              <a:t>array</a:t>
            </a:r>
            <a:r>
              <a:rPr lang="pt-BR" sz="2000" dirty="0">
                <a:latin typeface="Abadi" panose="020B0604020104020204" pitchFamily="34" charset="0"/>
              </a:rPr>
              <a:t> (vetor) para armazenar os elementos de maneira contígua na memória.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Os índices 'começo' e 'fim' indicam a posição dos elementos na fila.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b="1" dirty="0">
                <a:latin typeface="Abadi" panose="020B0604020104020204" pitchFamily="34" charset="0"/>
              </a:rPr>
              <a:t>Dinâmica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O tamanho da pilha é fixo e definido no início.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O acesso é restrito ao topo da pilha, que é onde ocorrem as operações PUSH e POP.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79531E3-667A-C5CA-F405-075749582F8D}"/>
              </a:ext>
            </a:extLst>
          </p:cNvPr>
          <p:cNvSpPr txBox="1"/>
          <p:nvPr/>
        </p:nvSpPr>
        <p:spPr>
          <a:xfrm>
            <a:off x="209179" y="4096733"/>
            <a:ext cx="11830422" cy="2246769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b="1" dirty="0">
                <a:latin typeface="Abadi" panose="020B0604020104020204" pitchFamily="34" charset="0"/>
              </a:rPr>
              <a:t>Vantagens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Simples de implementar, pois usa índices ao invés de ponteiros.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Operações PUSH e POP são rápidas e eficientes, executadas diretamente no topo da pilha.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b="1" dirty="0">
                <a:latin typeface="Abadi" panose="020B0604020104020204" pitchFamily="34" charset="0"/>
              </a:rPr>
              <a:t>Desvantagens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O tamanho da pilha é limitado pelo tamanho do vetor.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Não é possível acessar diretamente elementos abaixo do topo da pilha sem percorrer toda a estrutura.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CB8CEF8-B930-2AE6-75C6-BBA692D89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550" y="1"/>
            <a:ext cx="3929507" cy="406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46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B43A0-9EB8-D35E-134A-C2085C4D8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: Cantos Superiores Recortados 42">
            <a:extLst>
              <a:ext uri="{FF2B5EF4-FFF2-40B4-BE49-F238E27FC236}">
                <a16:creationId xmlns:a16="http://schemas.microsoft.com/office/drawing/2014/main" id="{7E317B2A-16F8-7DD0-2BF9-3ACBC2BA8254}"/>
              </a:ext>
            </a:extLst>
          </p:cNvPr>
          <p:cNvSpPr/>
          <p:nvPr/>
        </p:nvSpPr>
        <p:spPr>
          <a:xfrm rot="16200000">
            <a:off x="1616890" y="-1453547"/>
            <a:ext cx="649458" cy="3883230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Pilhas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4860B6E-C124-F820-3AF1-BC297CE4F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659344"/>
              </p:ext>
            </p:extLst>
          </p:nvPr>
        </p:nvGraphicFramePr>
        <p:xfrm>
          <a:off x="0" y="945531"/>
          <a:ext cx="12192000" cy="400644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13810">
                  <a:extLst>
                    <a:ext uri="{9D8B030D-6E8A-4147-A177-3AD203B41FA5}">
                      <a16:colId xmlns:a16="http://schemas.microsoft.com/office/drawing/2014/main" val="152084202"/>
                    </a:ext>
                  </a:extLst>
                </a:gridCol>
                <a:gridCol w="5163315">
                  <a:extLst>
                    <a:ext uri="{9D8B030D-6E8A-4147-A177-3AD203B41FA5}">
                      <a16:colId xmlns:a16="http://schemas.microsoft.com/office/drawing/2014/main" val="797316878"/>
                    </a:ext>
                  </a:extLst>
                </a:gridCol>
                <a:gridCol w="4714875">
                  <a:extLst>
                    <a:ext uri="{9D8B030D-6E8A-4147-A177-3AD203B41FA5}">
                      <a16:colId xmlns:a16="http://schemas.microsoft.com/office/drawing/2014/main" val="1845160105"/>
                    </a:ext>
                  </a:extLst>
                </a:gridCol>
              </a:tblGrid>
              <a:tr h="423151">
                <a:tc>
                  <a:txBody>
                    <a:bodyPr/>
                    <a:lstStyle/>
                    <a:p>
                      <a:pPr algn="just"/>
                      <a:r>
                        <a:rPr lang="pt-BR" sz="2000" b="1" dirty="0">
                          <a:latin typeface="Abadi" panose="020B0604020104020204" pitchFamily="34" charset="0"/>
                        </a:rPr>
                        <a:t>Aspecto</a:t>
                      </a:r>
                      <a:endParaRPr lang="pt-BR" sz="2000" dirty="0">
                        <a:latin typeface="Abadi" panose="020B0604020104020204" pitchFamily="34" charset="0"/>
                      </a:endParaRPr>
                    </a:p>
                  </a:txBody>
                  <a:tcPr anchor="ctr">
                    <a:solidFill>
                      <a:srgbClr val="123D52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 b="1" dirty="0">
                          <a:latin typeface="Abadi" panose="020B0604020104020204" pitchFamily="34" charset="0"/>
                        </a:rPr>
                        <a:t>Pilha Encadeada</a:t>
                      </a:r>
                      <a:endParaRPr lang="pt-BR" sz="2000" dirty="0">
                        <a:latin typeface="Abadi" panose="020B0604020104020204" pitchFamily="34" charset="0"/>
                      </a:endParaRPr>
                    </a:p>
                  </a:txBody>
                  <a:tcPr anchor="ctr">
                    <a:solidFill>
                      <a:srgbClr val="123D52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 b="1" dirty="0">
                          <a:latin typeface="Abadi" panose="020B0604020104020204" pitchFamily="34" charset="0"/>
                        </a:rPr>
                        <a:t>Pilha Sequencial</a:t>
                      </a:r>
                      <a:endParaRPr lang="pt-BR" sz="2000" dirty="0">
                        <a:latin typeface="Abadi" panose="020B0604020104020204" pitchFamily="34" charset="0"/>
                      </a:endParaRPr>
                    </a:p>
                  </a:txBody>
                  <a:tcPr anchor="ctr"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427007"/>
                  </a:ext>
                </a:extLst>
              </a:tr>
              <a:tr h="634467">
                <a:tc>
                  <a:txBody>
                    <a:bodyPr/>
                    <a:lstStyle/>
                    <a:p>
                      <a:pPr algn="just"/>
                      <a:r>
                        <a:rPr lang="pt-BR" sz="2000" b="1" dirty="0">
                          <a:latin typeface="Abadi" panose="020B0604020104020204" pitchFamily="34" charset="0"/>
                        </a:rPr>
                        <a:t>Estrutura</a:t>
                      </a:r>
                      <a:endParaRPr lang="pt-BR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 dirty="0">
                          <a:latin typeface="Abadi" panose="020B0604020104020204" pitchFamily="34" charset="0"/>
                        </a:rPr>
                        <a:t>Nós conectados por ponteiros (topo aponta para o próximo elemento)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 dirty="0">
                          <a:latin typeface="Abadi" panose="020B0604020104020204" pitchFamily="34" charset="0"/>
                        </a:rPr>
                        <a:t>Vetor (</a:t>
                      </a:r>
                      <a:r>
                        <a:rPr lang="pt-BR" sz="1800" dirty="0" err="1">
                          <a:latin typeface="Abadi" panose="020B0604020104020204" pitchFamily="34" charset="0"/>
                        </a:rPr>
                        <a:t>array</a:t>
                      </a:r>
                      <a:r>
                        <a:rPr lang="pt-BR" sz="1800" dirty="0">
                          <a:latin typeface="Abadi" panose="020B0604020104020204" pitchFamily="34" charset="0"/>
                        </a:rPr>
                        <a:t>), com acesso ao topo para operações PUSH/POP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552481"/>
                  </a:ext>
                </a:extLst>
              </a:tr>
              <a:tr h="634467">
                <a:tc>
                  <a:txBody>
                    <a:bodyPr/>
                    <a:lstStyle/>
                    <a:p>
                      <a:pPr algn="just"/>
                      <a:r>
                        <a:rPr lang="pt-BR" sz="2000" b="1">
                          <a:latin typeface="Abadi" panose="020B0604020104020204" pitchFamily="34" charset="0"/>
                        </a:rPr>
                        <a:t>Tamanho</a:t>
                      </a:r>
                      <a:endParaRPr lang="pt-BR" sz="200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 dirty="0">
                          <a:latin typeface="Abadi" panose="020B0604020104020204" pitchFamily="34" charset="0"/>
                        </a:rPr>
                        <a:t>Dinâmico (cresce conforme a necessidade)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 dirty="0">
                          <a:latin typeface="Abadi" panose="020B0604020104020204" pitchFamily="34" charset="0"/>
                        </a:rPr>
                        <a:t>Estático (definido no início, limitado pelo tamanho do vetor)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461039"/>
                  </a:ext>
                </a:extLst>
              </a:tr>
              <a:tr h="748652">
                <a:tc>
                  <a:txBody>
                    <a:bodyPr/>
                    <a:lstStyle/>
                    <a:p>
                      <a:pPr algn="just"/>
                      <a:r>
                        <a:rPr lang="pt-BR" sz="2000" b="1">
                          <a:latin typeface="Abadi" panose="020B0604020104020204" pitchFamily="34" charset="0"/>
                        </a:rPr>
                        <a:t>Inserção/Remoção</a:t>
                      </a:r>
                      <a:endParaRPr lang="pt-BR" sz="200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 dirty="0">
                          <a:latin typeface="Abadi" panose="020B0604020104020204" pitchFamily="34" charset="0"/>
                        </a:rPr>
                        <a:t>O(1) no topo da pilha (ajuste do ponteiro do topo)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 dirty="0">
                          <a:latin typeface="Abadi" panose="020B0604020104020204" pitchFamily="34" charset="0"/>
                        </a:rPr>
                        <a:t>O(1) no topo da pilha, sem necessidade de deslocamento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635459"/>
                  </a:ext>
                </a:extLst>
              </a:tr>
              <a:tr h="748652">
                <a:tc>
                  <a:txBody>
                    <a:bodyPr/>
                    <a:lstStyle/>
                    <a:p>
                      <a:pPr algn="just"/>
                      <a:r>
                        <a:rPr lang="pt-BR" sz="2000" b="1" dirty="0">
                          <a:latin typeface="Abadi" panose="020B0604020104020204" pitchFamily="34" charset="0"/>
                        </a:rPr>
                        <a:t>Uso de Memória</a:t>
                      </a:r>
                      <a:endParaRPr lang="pt-BR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 dirty="0">
                          <a:latin typeface="Abadi" panose="020B0604020104020204" pitchFamily="34" charset="0"/>
                        </a:rPr>
                        <a:t>Memória alocada dinamicamente, elemento por elemento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 dirty="0">
                          <a:latin typeface="Abadi" panose="020B0604020104020204" pitchFamily="34" charset="0"/>
                        </a:rPr>
                        <a:t>Eficiência no uso de memória limitada pelo tamanho do vetor, com possível desperdício se o vetor não estiver cheio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679420"/>
                  </a:ext>
                </a:extLst>
              </a:tr>
              <a:tr h="634467">
                <a:tc>
                  <a:txBody>
                    <a:bodyPr/>
                    <a:lstStyle/>
                    <a:p>
                      <a:pPr algn="just"/>
                      <a:r>
                        <a:rPr lang="pt-BR" sz="2000" b="1">
                          <a:latin typeface="Abadi" panose="020B0604020104020204" pitchFamily="34" charset="0"/>
                        </a:rPr>
                        <a:t>Implementação</a:t>
                      </a:r>
                      <a:endParaRPr lang="pt-BR" sz="200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 dirty="0">
                          <a:latin typeface="Abadi" panose="020B0604020104020204" pitchFamily="34" charset="0"/>
                        </a:rPr>
                        <a:t>Mais complexa devido ao uso de ponteiro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 dirty="0">
                          <a:latin typeface="Abadi" panose="020B0604020104020204" pitchFamily="34" charset="0"/>
                        </a:rPr>
                        <a:t>Simples, utilizando índices para rastrear o topo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4374418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A65A8D89-4544-28DD-EC38-FBE674753C04}"/>
              </a:ext>
            </a:extLst>
          </p:cNvPr>
          <p:cNvSpPr txBox="1"/>
          <p:nvPr/>
        </p:nvSpPr>
        <p:spPr>
          <a:xfrm>
            <a:off x="193489" y="5084707"/>
            <a:ext cx="11805021" cy="1508105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Quando usar cada uma?</a:t>
            </a:r>
          </a:p>
          <a:p>
            <a:pPr algn="just"/>
            <a:endParaRPr lang="pt-BR" sz="12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000" b="1" dirty="0">
                <a:latin typeface="Abadi" panose="020B0604020104020204" pitchFamily="34" charset="0"/>
              </a:rPr>
              <a:t>Pilha Encadeada: </a:t>
            </a:r>
            <a:r>
              <a:rPr lang="pt-BR" sz="2000" dirty="0">
                <a:latin typeface="Abadi" panose="020B0604020104020204" pitchFamily="34" charset="0"/>
              </a:rPr>
              <a:t>Usada quando o tamanho da pilha é desconhecido ou pode crescer dinamicamente</a:t>
            </a:r>
            <a:r>
              <a:rPr lang="pt-BR" sz="2000" b="1" dirty="0">
                <a:latin typeface="Abadi" panose="020B0604020104020204" pitchFamily="34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0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000" b="1" dirty="0">
                <a:latin typeface="Abadi" panose="020B0604020104020204" pitchFamily="34" charset="0"/>
              </a:rPr>
              <a:t>Pilha Sequencial: </a:t>
            </a:r>
            <a:r>
              <a:rPr lang="pt-BR" sz="2000" dirty="0">
                <a:latin typeface="Abadi" panose="020B0604020104020204" pitchFamily="34" charset="0"/>
              </a:rPr>
              <a:t>Usada quando o tamanho é conhecido e fixo, com foco em simplicidade e eficiência</a:t>
            </a:r>
            <a:r>
              <a:rPr lang="pt-BR" sz="2000" b="1" dirty="0">
                <a:latin typeface="Abadi" panose="020B0604020104020204" pitchFamily="34" charset="0"/>
              </a:rPr>
              <a:t>.</a:t>
            </a:r>
            <a:endParaRPr lang="pt-BR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398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7DB8C-CC5B-C262-B232-D7863E9F1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: Cantos Superiores Recortados 42">
            <a:extLst>
              <a:ext uri="{FF2B5EF4-FFF2-40B4-BE49-F238E27FC236}">
                <a16:creationId xmlns:a16="http://schemas.microsoft.com/office/drawing/2014/main" id="{935EC552-4050-2347-A712-F1C144C88682}"/>
              </a:ext>
            </a:extLst>
          </p:cNvPr>
          <p:cNvSpPr/>
          <p:nvPr/>
        </p:nvSpPr>
        <p:spPr>
          <a:xfrm rot="16200000">
            <a:off x="2180348" y="-2017005"/>
            <a:ext cx="649458" cy="501014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Manipulação de uma Pilha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8A96780-204E-02ED-A4FF-173F33BD72D5}"/>
              </a:ext>
            </a:extLst>
          </p:cNvPr>
          <p:cNvSpPr txBox="1"/>
          <p:nvPr/>
        </p:nvSpPr>
        <p:spPr>
          <a:xfrm>
            <a:off x="193489" y="1456646"/>
            <a:ext cx="5712012" cy="3170099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PUSH (Empilhar)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b="1" dirty="0">
                <a:latin typeface="Abadi" panose="020B0604020104020204" pitchFamily="34" charset="0"/>
              </a:rPr>
              <a:t>Definição: </a:t>
            </a:r>
            <a:r>
              <a:rPr lang="pt-BR" sz="2000" dirty="0">
                <a:latin typeface="Abadi" panose="020B0604020104020204" pitchFamily="34" charset="0"/>
              </a:rPr>
              <a:t>Adiciona um elemento no topo da pilha.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b="1" dirty="0">
                <a:latin typeface="Abadi" panose="020B0604020104020204" pitchFamily="34" charset="0"/>
              </a:rPr>
              <a:t>Características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Segue a regra LIFO (</a:t>
            </a:r>
            <a:r>
              <a:rPr lang="pt-BR" sz="2000" dirty="0" err="1">
                <a:latin typeface="Abadi" panose="020B0604020104020204" pitchFamily="34" charset="0"/>
              </a:rPr>
              <a:t>Last</a:t>
            </a:r>
            <a:r>
              <a:rPr lang="pt-BR" sz="2000" dirty="0">
                <a:latin typeface="Abadi" panose="020B0604020104020204" pitchFamily="34" charset="0"/>
              </a:rPr>
              <a:t> In, </a:t>
            </a:r>
            <a:r>
              <a:rPr lang="pt-BR" sz="2000" dirty="0" err="1">
                <a:latin typeface="Abadi" panose="020B0604020104020204" pitchFamily="34" charset="0"/>
              </a:rPr>
              <a:t>First</a:t>
            </a:r>
            <a:r>
              <a:rPr lang="pt-BR" sz="2000" dirty="0">
                <a:latin typeface="Abadi" panose="020B0604020104020204" pitchFamily="34" charset="0"/>
              </a:rPr>
              <a:t> Out): o último elemento a entrar será o primeiro a sair.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A inserção é sempre realizada no topo da pilha.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EF426EB-5EEB-59B9-E850-9A462ABD6477}"/>
              </a:ext>
            </a:extLst>
          </p:cNvPr>
          <p:cNvSpPr txBox="1"/>
          <p:nvPr/>
        </p:nvSpPr>
        <p:spPr>
          <a:xfrm>
            <a:off x="6286501" y="1456645"/>
            <a:ext cx="5712014" cy="3170099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POP (Desempilhar)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b="1" dirty="0">
                <a:latin typeface="Abadi" panose="020B0604020104020204" pitchFamily="34" charset="0"/>
              </a:rPr>
              <a:t>Definição: </a:t>
            </a:r>
            <a:r>
              <a:rPr lang="pt-BR" sz="2000" dirty="0">
                <a:latin typeface="Abadi" panose="020B0604020104020204" pitchFamily="34" charset="0"/>
              </a:rPr>
              <a:t>Remove e retorna o elemento do topo da pilha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b="1" dirty="0">
                <a:latin typeface="Abadi" panose="020B0604020104020204" pitchFamily="34" charset="0"/>
              </a:rPr>
              <a:t>Características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A remoção sempre ocorre no topo da pilha.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Após a remoção, o próximo elemento abaixo do topo torna-se o novo topo.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16EDECC-E90E-D8F7-B5C5-AE7F2C33CAF9}"/>
              </a:ext>
            </a:extLst>
          </p:cNvPr>
          <p:cNvSpPr txBox="1"/>
          <p:nvPr/>
        </p:nvSpPr>
        <p:spPr>
          <a:xfrm>
            <a:off x="193487" y="950056"/>
            <a:ext cx="6178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latin typeface="Abadi" panose="020B0604020104020204" pitchFamily="34" charset="0"/>
              </a:rPr>
              <a:t>As únicas operações utilizadas para manipular uma pilha são: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AC9A0BF3-266B-0079-5C3B-49FA70F883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85"/>
          <a:stretch/>
        </p:blipFill>
        <p:spPr bwMode="auto">
          <a:xfrm>
            <a:off x="6229826" y="4678830"/>
            <a:ext cx="5911374" cy="201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D32F11A4-362E-C8B4-7EF0-B1033B7E27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" b="49325"/>
          <a:stretch/>
        </p:blipFill>
        <p:spPr bwMode="auto">
          <a:xfrm>
            <a:off x="193485" y="4678830"/>
            <a:ext cx="5712013" cy="201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855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Superiores Recortados 4">
            <a:extLst>
              <a:ext uri="{FF2B5EF4-FFF2-40B4-BE49-F238E27FC236}">
                <a16:creationId xmlns:a16="http://schemas.microsoft.com/office/drawing/2014/main" id="{09AF4FB2-0C82-CDB1-803F-F34A059B8661}"/>
              </a:ext>
            </a:extLst>
          </p:cNvPr>
          <p:cNvSpPr/>
          <p:nvPr/>
        </p:nvSpPr>
        <p:spPr>
          <a:xfrm rot="16200000">
            <a:off x="2221623" y="-2058280"/>
            <a:ext cx="649458" cy="509269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Exercitando o uso de Pilha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697E789-1716-BD2F-D334-66AE7854FAF3}"/>
              </a:ext>
            </a:extLst>
          </p:cNvPr>
          <p:cNvSpPr txBox="1"/>
          <p:nvPr/>
        </p:nvSpPr>
        <p:spPr>
          <a:xfrm>
            <a:off x="231588" y="1023279"/>
            <a:ext cx="5586663" cy="1015663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Imagina que você possui uma pilha inicialmente vazia. Ao executar os códigos baixos como e quais os dados que ficarão salvo na fila: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C098259B-2FBD-4727-2342-A59B1C735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65224"/>
            <a:ext cx="10972800" cy="4491944"/>
          </a:xfrm>
        </p:spPr>
        <p:txBody>
          <a:bodyPr>
            <a:normAutofit/>
          </a:bodyPr>
          <a:lstStyle/>
          <a:p>
            <a:pPr algn="just"/>
            <a:endParaRPr lang="pt-BR" sz="2000" dirty="0"/>
          </a:p>
          <a:p>
            <a:pPr lvl="1" algn="just"/>
            <a:endParaRPr lang="pt-BR" sz="2000" dirty="0"/>
          </a:p>
          <a:p>
            <a:pPr lvl="1" algn="just"/>
            <a:r>
              <a:rPr lang="pt-BR" sz="1800" dirty="0" err="1">
                <a:latin typeface="Abadi" panose="020B0604020104020204" pitchFamily="34" charset="0"/>
              </a:rPr>
              <a:t>pilha.push</a:t>
            </a:r>
            <a:r>
              <a:rPr lang="pt-BR" sz="1800" dirty="0">
                <a:latin typeface="Abadi" panose="020B0604020104020204" pitchFamily="34" charset="0"/>
              </a:rPr>
              <a:t>(10);</a:t>
            </a:r>
          </a:p>
          <a:p>
            <a:pPr lvl="1" algn="just"/>
            <a:endParaRPr lang="pt-BR" sz="1800" dirty="0">
              <a:latin typeface="Abadi" panose="020B0604020104020204" pitchFamily="34" charset="0"/>
            </a:endParaRPr>
          </a:p>
          <a:p>
            <a:pPr lvl="1" algn="just"/>
            <a:r>
              <a:rPr lang="pt-BR" sz="1600" dirty="0" err="1">
                <a:latin typeface="Abadi" panose="020B0604020104020204" pitchFamily="34" charset="0"/>
              </a:rPr>
              <a:t>pilha.push</a:t>
            </a:r>
            <a:r>
              <a:rPr lang="pt-BR" sz="1600" dirty="0">
                <a:latin typeface="Abadi" panose="020B0604020104020204" pitchFamily="34" charset="0"/>
              </a:rPr>
              <a:t>(30);</a:t>
            </a:r>
          </a:p>
          <a:p>
            <a:pPr lvl="1" algn="just"/>
            <a:endParaRPr lang="pt-BR" sz="1600" dirty="0">
              <a:latin typeface="Abadi" panose="020B0604020104020204" pitchFamily="34" charset="0"/>
            </a:endParaRPr>
          </a:p>
          <a:p>
            <a:pPr lvl="1" algn="just"/>
            <a:r>
              <a:rPr lang="pt-BR" sz="1600" dirty="0" err="1">
                <a:latin typeface="Abadi" panose="020B0604020104020204" pitchFamily="34" charset="0"/>
              </a:rPr>
              <a:t>pilha.push</a:t>
            </a:r>
            <a:r>
              <a:rPr lang="pt-BR" sz="1600" dirty="0">
                <a:latin typeface="Abadi" panose="020B0604020104020204" pitchFamily="34" charset="0"/>
              </a:rPr>
              <a:t>(50); </a:t>
            </a:r>
          </a:p>
          <a:p>
            <a:pPr lvl="1" algn="just"/>
            <a:endParaRPr lang="pt-BR" sz="1600" dirty="0">
              <a:latin typeface="Abadi" panose="020B0604020104020204" pitchFamily="34" charset="0"/>
            </a:endParaRPr>
          </a:p>
          <a:p>
            <a:pPr lvl="1" algn="just"/>
            <a:r>
              <a:rPr lang="pt-BR" sz="1600" dirty="0" err="1">
                <a:latin typeface="Abadi" panose="020B0604020104020204" pitchFamily="34" charset="0"/>
              </a:rPr>
              <a:t>pilha.push</a:t>
            </a:r>
            <a:r>
              <a:rPr lang="pt-BR" sz="1600" dirty="0">
                <a:latin typeface="Abadi" panose="020B0604020104020204" pitchFamily="34" charset="0"/>
              </a:rPr>
              <a:t>(70);</a:t>
            </a:r>
          </a:p>
          <a:p>
            <a:pPr lvl="1" algn="just"/>
            <a:endParaRPr lang="pt-BR" sz="1600" dirty="0">
              <a:latin typeface="Abadi" panose="020B0604020104020204" pitchFamily="34" charset="0"/>
            </a:endParaRPr>
          </a:p>
          <a:p>
            <a:pPr lvl="1" algn="just"/>
            <a:r>
              <a:rPr lang="pt-BR" sz="1600" dirty="0" err="1">
                <a:latin typeface="Abadi" panose="020B0604020104020204" pitchFamily="34" charset="0"/>
              </a:rPr>
              <a:t>int</a:t>
            </a:r>
            <a:r>
              <a:rPr lang="pt-BR" sz="1600" dirty="0">
                <a:latin typeface="Abadi" panose="020B0604020104020204" pitchFamily="34" charset="0"/>
              </a:rPr>
              <a:t> </a:t>
            </a:r>
            <a:r>
              <a:rPr lang="pt-BR" sz="1600" dirty="0" err="1">
                <a:latin typeface="Abadi" panose="020B0604020104020204" pitchFamily="34" charset="0"/>
              </a:rPr>
              <a:t>valorRemovido</a:t>
            </a:r>
            <a:r>
              <a:rPr lang="pt-BR" sz="1600" dirty="0">
                <a:latin typeface="Abadi" panose="020B0604020104020204" pitchFamily="34" charset="0"/>
              </a:rPr>
              <a:t> = </a:t>
            </a:r>
            <a:r>
              <a:rPr lang="pt-BR" sz="1600" dirty="0" err="1">
                <a:latin typeface="Abadi" panose="020B0604020104020204" pitchFamily="34" charset="0"/>
              </a:rPr>
              <a:t>pilha.pop</a:t>
            </a:r>
            <a:r>
              <a:rPr lang="pt-BR" sz="1600" dirty="0">
                <a:latin typeface="Abadi" panose="020B0604020104020204" pitchFamily="34" charset="0"/>
              </a:rPr>
              <a:t>(); </a:t>
            </a:r>
          </a:p>
          <a:p>
            <a:pPr lvl="1" algn="just"/>
            <a:endParaRPr lang="pt-BR" sz="1600" dirty="0">
              <a:latin typeface="Abadi" panose="020B0604020104020204" pitchFamily="34" charset="0"/>
            </a:endParaRPr>
          </a:p>
          <a:p>
            <a:pPr lvl="1" algn="just"/>
            <a:r>
              <a:rPr lang="pt-BR" sz="1600" dirty="0" err="1">
                <a:latin typeface="Abadi" panose="020B0604020104020204" pitchFamily="34" charset="0"/>
              </a:rPr>
              <a:t>int</a:t>
            </a:r>
            <a:r>
              <a:rPr lang="pt-BR" sz="1600" dirty="0">
                <a:latin typeface="Abadi" panose="020B0604020104020204" pitchFamily="34" charset="0"/>
              </a:rPr>
              <a:t> </a:t>
            </a:r>
            <a:r>
              <a:rPr lang="pt-BR" sz="1600" dirty="0" err="1">
                <a:latin typeface="Abadi" panose="020B0604020104020204" pitchFamily="34" charset="0"/>
              </a:rPr>
              <a:t>valorRemovido</a:t>
            </a:r>
            <a:r>
              <a:rPr lang="pt-BR" sz="1600" dirty="0">
                <a:latin typeface="Abadi" panose="020B0604020104020204" pitchFamily="34" charset="0"/>
              </a:rPr>
              <a:t> = </a:t>
            </a:r>
            <a:r>
              <a:rPr lang="pt-BR" sz="1600" dirty="0" err="1">
                <a:latin typeface="Abadi" panose="020B0604020104020204" pitchFamily="34" charset="0"/>
              </a:rPr>
              <a:t>pilha.pop</a:t>
            </a:r>
            <a:r>
              <a:rPr lang="pt-BR" sz="1600" dirty="0">
                <a:latin typeface="Abadi" panose="020B0604020104020204" pitchFamily="34" charset="0"/>
              </a:rPr>
              <a:t>();</a:t>
            </a:r>
          </a:p>
          <a:p>
            <a:pPr lvl="1" algn="just"/>
            <a:endParaRPr lang="pt-BR" sz="1600" dirty="0"/>
          </a:p>
          <a:p>
            <a:pPr algn="just"/>
            <a:endParaRPr lang="pt-BR" sz="2000" dirty="0"/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861DEBC7-2809-586B-1CE3-BC39B77C5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825379"/>
              </p:ext>
            </p:extLst>
          </p:nvPr>
        </p:nvGraphicFramePr>
        <p:xfrm>
          <a:off x="6600056" y="2340744"/>
          <a:ext cx="57606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961DFC5C-5C8C-BB2E-2D4D-2FE96C494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962073"/>
              </p:ext>
            </p:extLst>
          </p:nvPr>
        </p:nvGraphicFramePr>
        <p:xfrm>
          <a:off x="6600056" y="2906008"/>
          <a:ext cx="108012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0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9827B63-715C-B35C-DEFC-AD5132F57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593528"/>
              </p:ext>
            </p:extLst>
          </p:nvPr>
        </p:nvGraphicFramePr>
        <p:xfrm>
          <a:off x="6600057" y="3482072"/>
          <a:ext cx="1656183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52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17AB1CF9-C45D-F76A-DC10-3706CF4E1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697507"/>
              </p:ext>
            </p:extLst>
          </p:nvPr>
        </p:nvGraphicFramePr>
        <p:xfrm>
          <a:off x="6600056" y="4058136"/>
          <a:ext cx="216024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0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F08D01D2-6C48-E2DB-09B8-19E247048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736187"/>
              </p:ext>
            </p:extLst>
          </p:nvPr>
        </p:nvGraphicFramePr>
        <p:xfrm>
          <a:off x="6600057" y="4634200"/>
          <a:ext cx="1656183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52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2F61D751-493D-C6A8-D828-447A9138D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00901"/>
              </p:ext>
            </p:extLst>
          </p:nvPr>
        </p:nvGraphicFramePr>
        <p:xfrm>
          <a:off x="6600056" y="5210264"/>
          <a:ext cx="108012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0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2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4C73B-598E-3496-FF65-999E666EE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Superiores Recortados 4">
            <a:extLst>
              <a:ext uri="{FF2B5EF4-FFF2-40B4-BE49-F238E27FC236}">
                <a16:creationId xmlns:a16="http://schemas.microsoft.com/office/drawing/2014/main" id="{77A21C29-574C-5FD2-60A6-E799D7CF4356}"/>
              </a:ext>
            </a:extLst>
          </p:cNvPr>
          <p:cNvSpPr/>
          <p:nvPr/>
        </p:nvSpPr>
        <p:spPr>
          <a:xfrm rot="16200000">
            <a:off x="2975301" y="-2811958"/>
            <a:ext cx="649458" cy="6600052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Exercitando o uso de Pilha – Parte II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6870443-6820-1BD2-FFA5-6769EC95CF20}"/>
              </a:ext>
            </a:extLst>
          </p:cNvPr>
          <p:cNvSpPr txBox="1"/>
          <p:nvPr/>
        </p:nvSpPr>
        <p:spPr>
          <a:xfrm>
            <a:off x="231588" y="1023279"/>
            <a:ext cx="5586663" cy="1015663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Quais devem ser os dados finais da nossa fila na ordem correta ao executar os seguintes comandos: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036E702D-BAF0-C5B3-4106-291E1B631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249424"/>
            <a:ext cx="10887000" cy="4491944"/>
          </a:xfrm>
        </p:spPr>
        <p:txBody>
          <a:bodyPr>
            <a:normAutofit/>
          </a:bodyPr>
          <a:lstStyle/>
          <a:p>
            <a:pPr lvl="1" algn="just"/>
            <a:r>
              <a:rPr lang="pt-BR" sz="1800" dirty="0" err="1"/>
              <a:t>pilha.push</a:t>
            </a:r>
            <a:r>
              <a:rPr lang="pt-BR" sz="1800" dirty="0"/>
              <a:t>(1);</a:t>
            </a:r>
          </a:p>
          <a:p>
            <a:pPr lvl="1" algn="just"/>
            <a:r>
              <a:rPr lang="pt-BR" sz="1800" dirty="0" err="1"/>
              <a:t>pilha.push</a:t>
            </a:r>
            <a:r>
              <a:rPr lang="pt-BR" sz="1800" dirty="0"/>
              <a:t>(0);</a:t>
            </a:r>
          </a:p>
          <a:p>
            <a:pPr lvl="1" algn="just"/>
            <a:r>
              <a:rPr lang="pt-BR" sz="1800" dirty="0" err="1"/>
              <a:t>pilha.push</a:t>
            </a:r>
            <a:r>
              <a:rPr lang="pt-BR" sz="1800" dirty="0"/>
              <a:t>(1); </a:t>
            </a:r>
          </a:p>
          <a:p>
            <a:pPr lvl="1" algn="just"/>
            <a:r>
              <a:rPr lang="pt-BR" sz="1800" dirty="0" err="1"/>
              <a:t>pilha.push</a:t>
            </a:r>
            <a:r>
              <a:rPr lang="pt-BR" sz="1800" dirty="0"/>
              <a:t>(1);</a:t>
            </a:r>
          </a:p>
          <a:p>
            <a:pPr lvl="1" algn="just"/>
            <a:r>
              <a:rPr lang="pt-BR" sz="1800" dirty="0" err="1"/>
              <a:t>pilha.pop</a:t>
            </a:r>
            <a:r>
              <a:rPr lang="pt-BR" sz="1800" dirty="0"/>
              <a:t>();</a:t>
            </a:r>
          </a:p>
          <a:p>
            <a:pPr lvl="1" algn="just"/>
            <a:r>
              <a:rPr lang="pt-BR" sz="1800" dirty="0" err="1"/>
              <a:t>pilha.push</a:t>
            </a:r>
            <a:r>
              <a:rPr lang="pt-BR" sz="1800" dirty="0"/>
              <a:t>(1);</a:t>
            </a:r>
          </a:p>
          <a:p>
            <a:pPr lvl="1" algn="just"/>
            <a:r>
              <a:rPr lang="pt-BR" sz="1800" dirty="0" err="1"/>
              <a:t>pilha.pop</a:t>
            </a:r>
            <a:r>
              <a:rPr lang="pt-BR" sz="1800" dirty="0"/>
              <a:t>();</a:t>
            </a:r>
          </a:p>
          <a:p>
            <a:pPr lvl="1" algn="just"/>
            <a:r>
              <a:rPr lang="pt-BR" sz="1800" dirty="0" err="1"/>
              <a:t>pilha.push</a:t>
            </a:r>
            <a:r>
              <a:rPr lang="pt-BR" sz="1800" dirty="0"/>
              <a:t>(0);</a:t>
            </a:r>
          </a:p>
          <a:p>
            <a:pPr lvl="1" algn="just"/>
            <a:r>
              <a:rPr lang="pt-BR" sz="1800" dirty="0" err="1"/>
              <a:t>pilha.pop</a:t>
            </a:r>
            <a:r>
              <a:rPr lang="pt-BR" sz="1800" dirty="0"/>
              <a:t>();</a:t>
            </a:r>
          </a:p>
          <a:p>
            <a:pPr lvl="1" algn="just"/>
            <a:r>
              <a:rPr lang="pt-BR" sz="1800" dirty="0" err="1"/>
              <a:t>pilha.pop</a:t>
            </a:r>
            <a:r>
              <a:rPr lang="pt-BR" sz="1800" dirty="0"/>
              <a:t>();</a:t>
            </a:r>
          </a:p>
          <a:p>
            <a:pPr lvl="1" algn="just"/>
            <a:endParaRPr lang="pt-BR" sz="1600" dirty="0"/>
          </a:p>
          <a:p>
            <a:pPr algn="just"/>
            <a:endParaRPr lang="pt-BR" sz="200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52146E76-0802-F261-DFD5-C6AFF73F1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148945"/>
              </p:ext>
            </p:extLst>
          </p:nvPr>
        </p:nvGraphicFramePr>
        <p:xfrm>
          <a:off x="6600056" y="3490208"/>
          <a:ext cx="108012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0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79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Personalizada 2">
      <a:dk1>
        <a:srgbClr val="0C101C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C67361DBE7D944AD858223D4CAF603" ma:contentTypeVersion="3" ma:contentTypeDescription="Crie um novo documento." ma:contentTypeScope="" ma:versionID="b2c010e37c8d437adfa72cc06fc89f10">
  <xsd:schema xmlns:xsd="http://www.w3.org/2001/XMLSchema" xmlns:xs="http://www.w3.org/2001/XMLSchema" xmlns:p="http://schemas.microsoft.com/office/2006/metadata/properties" xmlns:ns2="7b76103c-d6e0-4e2e-819a-fe104c886131" targetNamespace="http://schemas.microsoft.com/office/2006/metadata/properties" ma:root="true" ma:fieldsID="430cfa03dd1b8b020d8472fbc3b2d459" ns2:_="">
    <xsd:import namespace="7b76103c-d6e0-4e2e-819a-fe104c886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76103c-d6e0-4e2e-819a-fe104c8861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B0134D4-6A12-4FE4-93DD-61EFDDA7AE4D}"/>
</file>

<file path=customXml/itemProps2.xml><?xml version="1.0" encoding="utf-8"?>
<ds:datastoreItem xmlns:ds="http://schemas.openxmlformats.org/officeDocument/2006/customXml" ds:itemID="{3616450B-B5D8-4B88-8566-D8266B2D7B74}"/>
</file>

<file path=customXml/itemProps3.xml><?xml version="1.0" encoding="utf-8"?>
<ds:datastoreItem xmlns:ds="http://schemas.openxmlformats.org/officeDocument/2006/customXml" ds:itemID="{0BE12AF7-16FD-4B85-A27A-AD353CEDD157}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15923</TotalTime>
  <Words>984</Words>
  <Application>Microsoft Office PowerPoint</Application>
  <PresentationFormat>Widescreen</PresentationFormat>
  <Paragraphs>217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Abadi</vt:lpstr>
      <vt:lpstr>Arial</vt:lpstr>
      <vt:lpstr>Calibri</vt:lpstr>
      <vt:lpstr>Calibri Light</vt:lpstr>
      <vt:lpstr>Cambria Math</vt:lpstr>
      <vt:lpstr>Wingdings</vt:lpstr>
      <vt:lpstr>Tema do Office</vt:lpstr>
      <vt:lpstr>Estrutura de Dados Aula 9: Pilha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Vinícius José Lopes Cursino</dc:creator>
  <cp:lastModifiedBy>Vinícius José Lopes Cursino</cp:lastModifiedBy>
  <cp:revision>167</cp:revision>
  <dcterms:created xsi:type="dcterms:W3CDTF">2024-11-05T22:56:10Z</dcterms:created>
  <dcterms:modified xsi:type="dcterms:W3CDTF">2026-03-02T23:49:14Z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0x01010068C67361DBE7D944AD858223D4CAF603</vt:lpwstr>
  </property>
</Properties>
</file>