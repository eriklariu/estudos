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4"/>
  </p:notesMasterIdLst>
  <p:sldIdLst>
    <p:sldId id="256" r:id="rId5"/>
    <p:sldId id="328" r:id="rId6"/>
    <p:sldId id="329" r:id="rId7"/>
    <p:sldId id="322" r:id="rId8"/>
    <p:sldId id="323" r:id="rId9"/>
    <p:sldId id="324" r:id="rId10"/>
    <p:sldId id="325" r:id="rId11"/>
    <p:sldId id="319" r:id="rId12"/>
    <p:sldId id="32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E7"/>
    <a:srgbClr val="123D52"/>
    <a:srgbClr val="0C101C"/>
    <a:srgbClr val="CFFEFF"/>
    <a:srgbClr val="1F6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Estilo Médio 4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737" autoAdjust="0"/>
  </p:normalViewPr>
  <p:slideViewPr>
    <p:cSldViewPr snapToGrid="0" showGuides="1">
      <p:cViewPr varScale="1">
        <p:scale>
          <a:sx n="108" d="100"/>
          <a:sy n="108" d="100"/>
        </p:scale>
        <p:origin x="8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B7344-8758-4923-BF9D-B590D61918F1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EDD73-88FC-478A-9AB9-3EF3A97C1DD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670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778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7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82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660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658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46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268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41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366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7978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099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5F5F1-592D-4F5E-BEF8-26440F16569E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8BF5F-91CD-412A-9493-8FA5B93396B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926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ADF5B1-E9DA-EEF5-C245-EE90098EC5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7" b="6865"/>
          <a:stretch/>
        </p:blipFill>
        <p:spPr bwMode="auto">
          <a:xfrm>
            <a:off x="-129540" y="0"/>
            <a:ext cx="123215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0920C71-0C6B-67A1-FA2E-EB93D611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999" y="3429000"/>
            <a:ext cx="10272205" cy="2387600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Estrutura de Dados</a:t>
            </a:r>
            <a:br>
              <a:rPr lang="pt-BR" dirty="0">
                <a:latin typeface="Abadi" panose="020B0604020104020204" pitchFamily="34" charset="0"/>
              </a:rPr>
            </a:br>
            <a:r>
              <a:rPr lang="pt-BR">
                <a:latin typeface="Abadi" panose="020B0604020104020204" pitchFamily="34" charset="0"/>
              </a:rPr>
              <a:t>Aula 7: </a:t>
            </a:r>
            <a:r>
              <a:rPr lang="pt-BR" dirty="0">
                <a:latin typeface="Abadi" panose="020B0604020104020204" pitchFamily="34" charset="0"/>
              </a:rPr>
              <a:t>Questões Listas Lineares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51ADBE-F611-60E0-63DF-674DC817D5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0999" y="5908675"/>
            <a:ext cx="7484705" cy="400795"/>
          </a:xfr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>
            <a:normAutofit lnSpcReduction="10000"/>
          </a:bodyPr>
          <a:lstStyle/>
          <a:p>
            <a:pPr algn="l"/>
            <a:r>
              <a:rPr lang="pt-BR" dirty="0">
                <a:latin typeface="Abadi" panose="020B0604020104020204" pitchFamily="34" charset="0"/>
              </a:rPr>
              <a:t>Professor: Vinicius Cursino</a:t>
            </a:r>
          </a:p>
        </p:txBody>
      </p:sp>
    </p:spTree>
    <p:extLst>
      <p:ext uri="{BB962C8B-B14F-4D97-AF65-F5344CB8AC3E}">
        <p14:creationId xmlns:p14="http://schemas.microsoft.com/office/powerpoint/2010/main" val="202891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7D77-88E7-A7A8-4EB6-1411C3FA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CBADC197-4EF2-3512-AAB1-04FBA695B302}"/>
              </a:ext>
            </a:extLst>
          </p:cNvPr>
          <p:cNvSpPr/>
          <p:nvPr/>
        </p:nvSpPr>
        <p:spPr>
          <a:xfrm rot="16200000">
            <a:off x="1770403" y="-1607060"/>
            <a:ext cx="649458" cy="4190257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O que é uma Classe?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600E05-A9E5-8548-2BE5-BA839628E232}"/>
              </a:ext>
            </a:extLst>
          </p:cNvPr>
          <p:cNvSpPr txBox="1"/>
          <p:nvPr/>
        </p:nvSpPr>
        <p:spPr>
          <a:xfrm>
            <a:off x="381740" y="1494070"/>
            <a:ext cx="496261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dirty="0">
                <a:latin typeface="Abadi" panose="020B0604020104020204" pitchFamily="34" charset="0"/>
              </a:rPr>
              <a:t>Classe é um modelo (molde) que define: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Quais dados um objeto possui (atributos)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Quais ações ele pode executar (métodos)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pPr algn="just">
              <a:buNone/>
            </a:pPr>
            <a:r>
              <a:rPr lang="pt-BR" sz="2000" dirty="0">
                <a:latin typeface="Abadi" panose="020B0604020104020204" pitchFamily="34" charset="0"/>
              </a:rPr>
              <a:t>Ela não é o objeto em si, mas a estrutura que permite criar objetos.</a:t>
            </a:r>
          </a:p>
        </p:txBody>
      </p:sp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103B6C90-994C-714D-5938-5E2AA391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384" y="1269877"/>
            <a:ext cx="4991100" cy="2667000"/>
          </a:xfrm>
          <a:prstGeom prst="rect">
            <a:avLst/>
          </a:prstGeom>
        </p:spPr>
      </p:pic>
      <p:pic>
        <p:nvPicPr>
          <p:cNvPr id="8" name="Imagem 7" descr="Texto&#10;&#10;O conteúdo gerado por IA pode estar incorreto.">
            <a:extLst>
              <a:ext uri="{FF2B5EF4-FFF2-40B4-BE49-F238E27FC236}">
                <a16:creationId xmlns:a16="http://schemas.microsoft.com/office/drawing/2014/main" id="{541674E3-E03B-3935-FC41-D5BB0889C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716" y="351159"/>
            <a:ext cx="5848350" cy="49149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757F010B-674B-433A-0C0D-B4030A1FBF7C}"/>
              </a:ext>
            </a:extLst>
          </p:cNvPr>
          <p:cNvSpPr txBox="1"/>
          <p:nvPr/>
        </p:nvSpPr>
        <p:spPr>
          <a:xfrm>
            <a:off x="6162582" y="5374937"/>
            <a:ext cx="4962617" cy="92333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latin typeface="Abadi" panose="020B0604020104020204" pitchFamily="34" charset="0"/>
              </a:rPr>
              <a:t>Aqui estamos dizendo que toda Pessoa terá: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um 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latin typeface="Abadi" panose="020B0604020104020204" pitchFamily="34" charset="0"/>
              </a:rPr>
              <a:t>uma idade</a:t>
            </a:r>
          </a:p>
        </p:txBody>
      </p:sp>
      <p:pic>
        <p:nvPicPr>
          <p:cNvPr id="14" name="Imagem 13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A3633198-D66D-5D2E-981C-13A7831BD7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05" t="15532" r="16410" b="10344"/>
          <a:stretch>
            <a:fillRect/>
          </a:stretch>
        </p:blipFill>
        <p:spPr>
          <a:xfrm>
            <a:off x="353859" y="3777390"/>
            <a:ext cx="5178178" cy="1586540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631E036E-A494-0240-46D3-C9CC57422E26}"/>
              </a:ext>
            </a:extLst>
          </p:cNvPr>
          <p:cNvSpPr txBox="1"/>
          <p:nvPr/>
        </p:nvSpPr>
        <p:spPr>
          <a:xfrm>
            <a:off x="461639" y="5474324"/>
            <a:ext cx="4962617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pt-BR" dirty="0">
                <a:latin typeface="Abadi" panose="020B0604020104020204" pitchFamily="34" charset="0"/>
              </a:rPr>
              <a:t>Estamos instanciando um objeto a partir desse molde. Depois acessando os atributos.</a:t>
            </a:r>
          </a:p>
        </p:txBody>
      </p:sp>
    </p:spTree>
    <p:extLst>
      <p:ext uri="{BB962C8B-B14F-4D97-AF65-F5344CB8AC3E}">
        <p14:creationId xmlns:p14="http://schemas.microsoft.com/office/powerpoint/2010/main" val="391403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6D283-77BD-36E6-3F53-E6008E1E8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Superiores Recortados 1">
            <a:extLst>
              <a:ext uri="{FF2B5EF4-FFF2-40B4-BE49-F238E27FC236}">
                <a16:creationId xmlns:a16="http://schemas.microsoft.com/office/drawing/2014/main" id="{C2C2AAAE-7790-90E2-99F9-740620569FD8}"/>
              </a:ext>
            </a:extLst>
          </p:cNvPr>
          <p:cNvSpPr/>
          <p:nvPr/>
        </p:nvSpPr>
        <p:spPr>
          <a:xfrm rot="16200000">
            <a:off x="2866797" y="-2703453"/>
            <a:ext cx="649458" cy="6383044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Uma Classe Pode Usar Outra Classe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64E32C5-9205-B497-6E2A-A5C7248043E6}"/>
              </a:ext>
            </a:extLst>
          </p:cNvPr>
          <p:cNvSpPr txBox="1"/>
          <p:nvPr/>
        </p:nvSpPr>
        <p:spPr>
          <a:xfrm>
            <a:off x="381740" y="1294015"/>
            <a:ext cx="578084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dirty="0">
                <a:latin typeface="Abadi" panose="020B0604020104020204" pitchFamily="34" charset="0"/>
              </a:rPr>
              <a:t>Classes podem ter como atributo outra classe.</a:t>
            </a:r>
          </a:p>
          <a:p>
            <a:pPr algn="just">
              <a:buNone/>
            </a:pPr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Agora uma Pessoa possui: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nome (tipo primitivo)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Abadi" panose="020B0604020104020204" pitchFamily="34" charset="0"/>
              </a:rPr>
              <a:t>endereço (outro objeto)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Abadi" panose="020B0604020104020204" pitchFamily="34" charset="0"/>
            </a:endParaRPr>
          </a:p>
          <a:p>
            <a:r>
              <a:rPr lang="pt-BR" sz="2000" dirty="0">
                <a:latin typeface="Abadi" panose="020B0604020104020204" pitchFamily="34" charset="0"/>
              </a:rPr>
              <a:t>Isso mostra que objetos podem ser compostos por outros objetos. Esse conceito é chamado de </a:t>
            </a:r>
            <a:r>
              <a:rPr lang="pt-BR" sz="2000" b="1" dirty="0">
                <a:latin typeface="Abadi" panose="020B0604020104020204" pitchFamily="34" charset="0"/>
              </a:rPr>
              <a:t>composição</a:t>
            </a:r>
            <a:r>
              <a:rPr lang="pt-BR" sz="2000" dirty="0">
                <a:latin typeface="Abadi" panose="020B0604020104020204" pitchFamily="34" charset="0"/>
              </a:rPr>
              <a:t>.</a:t>
            </a:r>
          </a:p>
          <a:p>
            <a:pPr algn="just">
              <a:buNone/>
            </a:pPr>
            <a:endParaRPr lang="pt-BR" sz="2000" dirty="0">
              <a:latin typeface="Abadi" panose="020B0604020104020204" pitchFamily="34" charset="0"/>
            </a:endParaRPr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0D52B11E-759D-AF72-1CD0-58353D6C8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17"/>
          <a:stretch>
            <a:fillRect/>
          </a:stretch>
        </p:blipFill>
        <p:spPr>
          <a:xfrm>
            <a:off x="6749991" y="163339"/>
            <a:ext cx="4850999" cy="5211957"/>
          </a:xfrm>
          <a:prstGeom prst="rect">
            <a:avLst/>
          </a:prstGeom>
        </p:spPr>
      </p:pic>
      <p:pic>
        <p:nvPicPr>
          <p:cNvPr id="7" name="Imagem 6" descr="Texto&#10;&#10;O conteúdo gerado por IA pode estar incorreto.">
            <a:extLst>
              <a:ext uri="{FF2B5EF4-FFF2-40B4-BE49-F238E27FC236}">
                <a16:creationId xmlns:a16="http://schemas.microsoft.com/office/drawing/2014/main" id="{CB2A0E35-18D0-138B-3026-57A9E315C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440" y="4258747"/>
            <a:ext cx="4527658" cy="22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3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C7BDFEF-2C13-F582-7EBF-713B796B2233}"/>
              </a:ext>
            </a:extLst>
          </p:cNvPr>
          <p:cNvSpPr/>
          <p:nvPr/>
        </p:nvSpPr>
        <p:spPr>
          <a:xfrm>
            <a:off x="2891108" y="4417266"/>
            <a:ext cx="3508309" cy="13138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4D69464-4E7C-C834-921D-2AF1DE09F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864199"/>
              </p:ext>
            </p:extLst>
          </p:nvPr>
        </p:nvGraphicFramePr>
        <p:xfrm>
          <a:off x="3340397" y="4834914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" name="Conector angulado 7">
            <a:extLst>
              <a:ext uri="{FF2B5EF4-FFF2-40B4-BE49-F238E27FC236}">
                <a16:creationId xmlns:a16="http://schemas.microsoft.com/office/drawing/2014/main" id="{0FCBBCC6-B97E-A40A-D3DF-633E6D8C7EA8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3059059" y="5020334"/>
            <a:ext cx="281338" cy="3708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" name="Conector angulado 13">
            <a:extLst>
              <a:ext uri="{FF2B5EF4-FFF2-40B4-BE49-F238E27FC236}">
                <a16:creationId xmlns:a16="http://schemas.microsoft.com/office/drawing/2014/main" id="{CD002654-A440-4E48-F092-E3524889E4B1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980419" y="5020334"/>
            <a:ext cx="281338" cy="3708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30AF366-78AE-20B3-252F-C539E0F88535}"/>
              </a:ext>
            </a:extLst>
          </p:cNvPr>
          <p:cNvSpPr txBox="1"/>
          <p:nvPr/>
        </p:nvSpPr>
        <p:spPr>
          <a:xfrm>
            <a:off x="3724507" y="4474874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80D6B6F-A271-54DD-5A60-84D67884D1DA}"/>
              </a:ext>
            </a:extLst>
          </p:cNvPr>
          <p:cNvSpPr/>
          <p:nvPr/>
        </p:nvSpPr>
        <p:spPr>
          <a:xfrm>
            <a:off x="2891108" y="1515013"/>
            <a:ext cx="3340359" cy="1313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0BB28B8-7297-9216-1749-94CB6AA1D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319195"/>
              </p:ext>
            </p:extLst>
          </p:nvPr>
        </p:nvGraphicFramePr>
        <p:xfrm>
          <a:off x="3617974" y="2117459"/>
          <a:ext cx="170516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Conector de seta reta 6">
            <a:extLst>
              <a:ext uri="{FF2B5EF4-FFF2-40B4-BE49-F238E27FC236}">
                <a16:creationId xmlns:a16="http://schemas.microsoft.com/office/drawing/2014/main" id="{A9077CD7-75E5-A703-8272-21C0088CB2BA}"/>
              </a:ext>
            </a:extLst>
          </p:cNvPr>
          <p:cNvCxnSpPr>
            <a:cxnSpLocks/>
          </p:cNvCxnSpPr>
          <p:nvPr/>
        </p:nvCxnSpPr>
        <p:spPr>
          <a:xfrm>
            <a:off x="5323143" y="2303633"/>
            <a:ext cx="442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740C1BB-AFE0-1A96-3DFA-B51623DEBE19}"/>
              </a:ext>
            </a:extLst>
          </p:cNvPr>
          <p:cNvSpPr txBox="1"/>
          <p:nvPr/>
        </p:nvSpPr>
        <p:spPr>
          <a:xfrm>
            <a:off x="3388540" y="1573006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Nó</a:t>
            </a:r>
          </a:p>
        </p:txBody>
      </p:sp>
      <p:sp>
        <p:nvSpPr>
          <p:cNvPr id="11" name="Retângulo: Cantos Superiores Recortados 10">
            <a:extLst>
              <a:ext uri="{FF2B5EF4-FFF2-40B4-BE49-F238E27FC236}">
                <a16:creationId xmlns:a16="http://schemas.microsoft.com/office/drawing/2014/main" id="{DB3DB3A9-1A24-91B2-EA67-2AC33C92FC20}"/>
              </a:ext>
            </a:extLst>
          </p:cNvPr>
          <p:cNvSpPr/>
          <p:nvPr/>
        </p:nvSpPr>
        <p:spPr>
          <a:xfrm rot="16200000">
            <a:off x="2829021" y="-2665678"/>
            <a:ext cx="649458" cy="6307494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Elementos Básicos Listas Lineares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120644EB-1D39-45DE-4FE8-AA851765C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68" y="186902"/>
            <a:ext cx="4005937" cy="3069969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AD11D2D-ABDA-5298-4A42-9E0DDC819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368" y="3334429"/>
            <a:ext cx="4005936" cy="352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5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457F2-0B72-AAC4-D2F3-0E46BB9E5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Superiores Recortados 10">
            <a:extLst>
              <a:ext uri="{FF2B5EF4-FFF2-40B4-BE49-F238E27FC236}">
                <a16:creationId xmlns:a16="http://schemas.microsoft.com/office/drawing/2014/main" id="{C7E70E3A-6C0E-4CB7-5D67-4E184DD15F0B}"/>
              </a:ext>
            </a:extLst>
          </p:cNvPr>
          <p:cNvSpPr/>
          <p:nvPr/>
        </p:nvSpPr>
        <p:spPr>
          <a:xfrm rot="16200000">
            <a:off x="2829021" y="-2665678"/>
            <a:ext cx="649458" cy="6307494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Elementos Básicos Listas Lineares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67B27C5-8A41-9FB4-649B-3332FF8A2054}"/>
              </a:ext>
            </a:extLst>
          </p:cNvPr>
          <p:cNvSpPr/>
          <p:nvPr/>
        </p:nvSpPr>
        <p:spPr>
          <a:xfrm>
            <a:off x="346291" y="2373802"/>
            <a:ext cx="5327780" cy="2305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896B4F0A-1CB6-66CD-B198-41D6E852F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871732"/>
              </p:ext>
            </p:extLst>
          </p:nvPr>
        </p:nvGraphicFramePr>
        <p:xfrm>
          <a:off x="1395849" y="3192888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6" name="Conector angulado 7">
            <a:extLst>
              <a:ext uri="{FF2B5EF4-FFF2-40B4-BE49-F238E27FC236}">
                <a16:creationId xmlns:a16="http://schemas.microsoft.com/office/drawing/2014/main" id="{2EA6B9AC-1830-8B68-DC04-21788E0B7DC5}"/>
              </a:ext>
            </a:extLst>
          </p:cNvPr>
          <p:cNvCxnSpPr>
            <a:cxnSpLocks/>
            <a:stCxn id="14" idx="1"/>
            <a:endCxn id="21" idx="0"/>
          </p:cNvCxnSpPr>
          <p:nvPr/>
        </p:nvCxnSpPr>
        <p:spPr>
          <a:xfrm rot="10800000" flipH="1" flipV="1">
            <a:off x="1395848" y="3378308"/>
            <a:ext cx="1321193" cy="685504"/>
          </a:xfrm>
          <a:prstGeom prst="bentConnector4">
            <a:avLst>
              <a:gd name="adj1" fmla="val -17303"/>
              <a:gd name="adj2" fmla="val 63524"/>
            </a:avLst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Conector angulado 13">
            <a:extLst>
              <a:ext uri="{FF2B5EF4-FFF2-40B4-BE49-F238E27FC236}">
                <a16:creationId xmlns:a16="http://schemas.microsoft.com/office/drawing/2014/main" id="{D2DF3C35-7348-1C48-7450-4891077109FD}"/>
              </a:ext>
            </a:extLst>
          </p:cNvPr>
          <p:cNvCxnSpPr>
            <a:cxnSpLocks/>
            <a:stCxn id="14" idx="3"/>
            <a:endCxn id="21" idx="0"/>
          </p:cNvCxnSpPr>
          <p:nvPr/>
        </p:nvCxnSpPr>
        <p:spPr>
          <a:xfrm flipH="1">
            <a:off x="2717042" y="3378308"/>
            <a:ext cx="1318829" cy="685504"/>
          </a:xfrm>
          <a:prstGeom prst="bentConnector4">
            <a:avLst>
              <a:gd name="adj1" fmla="val -17334"/>
              <a:gd name="adj2" fmla="val 63524"/>
            </a:avLst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08FE7EE-15A9-95DF-EF21-A51D9E1550B3}"/>
              </a:ext>
            </a:extLst>
          </p:cNvPr>
          <p:cNvSpPr txBox="1"/>
          <p:nvPr/>
        </p:nvSpPr>
        <p:spPr>
          <a:xfrm>
            <a:off x="1779959" y="2832848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</a:t>
            </a:r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A4FF5909-1E23-FD80-51C1-591992688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124943"/>
              </p:ext>
            </p:extLst>
          </p:nvPr>
        </p:nvGraphicFramePr>
        <p:xfrm>
          <a:off x="1864458" y="4063812"/>
          <a:ext cx="170516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Conector de seta reta 6">
            <a:extLst>
              <a:ext uri="{FF2B5EF4-FFF2-40B4-BE49-F238E27FC236}">
                <a16:creationId xmlns:a16="http://schemas.microsoft.com/office/drawing/2014/main" id="{2CCE5A1D-29E8-20E0-8494-876C398DBD49}"/>
              </a:ext>
            </a:extLst>
          </p:cNvPr>
          <p:cNvCxnSpPr>
            <a:cxnSpLocks/>
          </p:cNvCxnSpPr>
          <p:nvPr/>
        </p:nvCxnSpPr>
        <p:spPr>
          <a:xfrm>
            <a:off x="3666709" y="4249232"/>
            <a:ext cx="442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00B1E39-79E8-D637-C035-5CA48BAEE7B5}"/>
              </a:ext>
            </a:extLst>
          </p:cNvPr>
          <p:cNvSpPr txBox="1"/>
          <p:nvPr/>
        </p:nvSpPr>
        <p:spPr>
          <a:xfrm>
            <a:off x="4206527" y="4063812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D81A860-7700-15A6-156B-D9FD0D87C3AF}"/>
              </a:ext>
            </a:extLst>
          </p:cNvPr>
          <p:cNvSpPr txBox="1"/>
          <p:nvPr/>
        </p:nvSpPr>
        <p:spPr>
          <a:xfrm>
            <a:off x="346291" y="1967146"/>
            <a:ext cx="5327780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Inserir o Primeiro Valor:</a:t>
            </a: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19FECB70-3795-4B68-D5B3-FA10DDE8B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177" y="1889613"/>
            <a:ext cx="5421579" cy="1411535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3B453F77-9326-0124-62CA-366EC7D6F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176" y="3462227"/>
            <a:ext cx="5421579" cy="1431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0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6EA6D-59A8-0C1E-11DB-28EC0D7E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Superiores Recortados 10">
            <a:extLst>
              <a:ext uri="{FF2B5EF4-FFF2-40B4-BE49-F238E27FC236}">
                <a16:creationId xmlns:a16="http://schemas.microsoft.com/office/drawing/2014/main" id="{9F08789E-37CC-2F1E-AF0D-322D2A89F3FC}"/>
              </a:ext>
            </a:extLst>
          </p:cNvPr>
          <p:cNvSpPr/>
          <p:nvPr/>
        </p:nvSpPr>
        <p:spPr>
          <a:xfrm rot="16200000">
            <a:off x="2829021" y="-2665678"/>
            <a:ext cx="649458" cy="6307494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Elementos Básicos Listas Lineares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9A819D1-B1F8-7ED6-5F1C-D9A9E6EF9398}"/>
              </a:ext>
            </a:extLst>
          </p:cNvPr>
          <p:cNvSpPr/>
          <p:nvPr/>
        </p:nvSpPr>
        <p:spPr>
          <a:xfrm>
            <a:off x="224800" y="1349916"/>
            <a:ext cx="6489830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A3CA553-1490-D378-6D13-61B022386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017686"/>
              </p:ext>
            </p:extLst>
          </p:nvPr>
        </p:nvGraphicFramePr>
        <p:xfrm>
          <a:off x="1512932" y="1767564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A5F5E457-908E-C509-E9F1-63107F7C8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988308"/>
              </p:ext>
            </p:extLst>
          </p:nvPr>
        </p:nvGraphicFramePr>
        <p:xfrm>
          <a:off x="368816" y="235919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" name="Conector de seta reta 6">
            <a:extLst>
              <a:ext uri="{FF2B5EF4-FFF2-40B4-BE49-F238E27FC236}">
                <a16:creationId xmlns:a16="http://schemas.microsoft.com/office/drawing/2014/main" id="{950F0CD1-FCC0-247E-4FEE-80F07CC20F14}"/>
              </a:ext>
            </a:extLst>
          </p:cNvPr>
          <p:cNvCxnSpPr>
            <a:cxnSpLocks/>
          </p:cNvCxnSpPr>
          <p:nvPr/>
        </p:nvCxnSpPr>
        <p:spPr>
          <a:xfrm>
            <a:off x="1664960" y="254536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" name="Conector angulado 7">
            <a:extLst>
              <a:ext uri="{FF2B5EF4-FFF2-40B4-BE49-F238E27FC236}">
                <a16:creationId xmlns:a16="http://schemas.microsoft.com/office/drawing/2014/main" id="{788BAEA3-F5B2-6906-5497-F41A00625F55}"/>
              </a:ext>
            </a:extLst>
          </p:cNvPr>
          <p:cNvCxnSpPr>
            <a:stCxn id="3" idx="1"/>
            <a:endCxn id="4" idx="0"/>
          </p:cNvCxnSpPr>
          <p:nvPr/>
        </p:nvCxnSpPr>
        <p:spPr>
          <a:xfrm rot="10800000" flipV="1">
            <a:off x="992818" y="1952984"/>
            <a:ext cx="520114" cy="4062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038FDF3-A656-2EEE-DB08-8B4A938DE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490087"/>
              </p:ext>
            </p:extLst>
          </p:nvPr>
        </p:nvGraphicFramePr>
        <p:xfrm>
          <a:off x="2073140" y="235442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8" name="Conector de seta reta 9">
            <a:extLst>
              <a:ext uri="{FF2B5EF4-FFF2-40B4-BE49-F238E27FC236}">
                <a16:creationId xmlns:a16="http://schemas.microsoft.com/office/drawing/2014/main" id="{4D7FA8B3-4883-7C6E-5253-CBF90F66EED9}"/>
              </a:ext>
            </a:extLst>
          </p:cNvPr>
          <p:cNvCxnSpPr>
            <a:cxnSpLocks/>
          </p:cNvCxnSpPr>
          <p:nvPr/>
        </p:nvCxnSpPr>
        <p:spPr>
          <a:xfrm>
            <a:off x="3393152" y="253456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32A0266-1E39-60EB-9027-910F0E8DD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926017"/>
              </p:ext>
            </p:extLst>
          </p:nvPr>
        </p:nvGraphicFramePr>
        <p:xfrm>
          <a:off x="3801332" y="234362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Conector de seta reta 11">
            <a:extLst>
              <a:ext uri="{FF2B5EF4-FFF2-40B4-BE49-F238E27FC236}">
                <a16:creationId xmlns:a16="http://schemas.microsoft.com/office/drawing/2014/main" id="{13719580-8519-F429-77E8-B52B2F1CAA99}"/>
              </a:ext>
            </a:extLst>
          </p:cNvPr>
          <p:cNvCxnSpPr>
            <a:cxnSpLocks/>
          </p:cNvCxnSpPr>
          <p:nvPr/>
        </p:nvCxnSpPr>
        <p:spPr>
          <a:xfrm>
            <a:off x="5085340" y="253456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" name="Conector angulado 13">
            <a:extLst>
              <a:ext uri="{FF2B5EF4-FFF2-40B4-BE49-F238E27FC236}">
                <a16:creationId xmlns:a16="http://schemas.microsoft.com/office/drawing/2014/main" id="{8949B26F-A80E-B12D-D37F-75131CFF0767}"/>
              </a:ext>
            </a:extLst>
          </p:cNvPr>
          <p:cNvCxnSpPr>
            <a:cxnSpLocks/>
            <a:stCxn id="3" idx="3"/>
            <a:endCxn id="9" idx="0"/>
          </p:cNvCxnSpPr>
          <p:nvPr/>
        </p:nvCxnSpPr>
        <p:spPr>
          <a:xfrm>
            <a:off x="4152954" y="1952984"/>
            <a:ext cx="27238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7A8DCD3-1AD6-F287-61F5-AE3D79013FE9}"/>
              </a:ext>
            </a:extLst>
          </p:cNvPr>
          <p:cNvSpPr txBox="1"/>
          <p:nvPr/>
        </p:nvSpPr>
        <p:spPr>
          <a:xfrm>
            <a:off x="5489743" y="2343628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0794CDC-9A3F-CA85-27AF-D0CF65C476A2}"/>
              </a:ext>
            </a:extLst>
          </p:cNvPr>
          <p:cNvSpPr txBox="1"/>
          <p:nvPr/>
        </p:nvSpPr>
        <p:spPr>
          <a:xfrm>
            <a:off x="1897042" y="1407524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291BBDB-286B-6F5E-6DB7-4F53A7B0FDDB}"/>
              </a:ext>
            </a:extLst>
          </p:cNvPr>
          <p:cNvSpPr txBox="1"/>
          <p:nvPr/>
        </p:nvSpPr>
        <p:spPr>
          <a:xfrm>
            <a:off x="224800" y="882249"/>
            <a:ext cx="5327780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Inserir um valor no inicio:</a:t>
            </a:r>
          </a:p>
        </p:txBody>
      </p:sp>
      <p:graphicFrame>
        <p:nvGraphicFramePr>
          <p:cNvPr id="25" name="Tabela 24">
            <a:extLst>
              <a:ext uri="{FF2B5EF4-FFF2-40B4-BE49-F238E27FC236}">
                <a16:creationId xmlns:a16="http://schemas.microsoft.com/office/drawing/2014/main" id="{E30C756C-C09A-11F3-6FC2-D7E47B575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543774"/>
              </p:ext>
            </p:extLst>
          </p:nvPr>
        </p:nvGraphicFramePr>
        <p:xfrm>
          <a:off x="7138868" y="213840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CaixaDeTexto 26">
            <a:extLst>
              <a:ext uri="{FF2B5EF4-FFF2-40B4-BE49-F238E27FC236}">
                <a16:creationId xmlns:a16="http://schemas.microsoft.com/office/drawing/2014/main" id="{84D2B659-856F-CA81-3138-18DB736B5985}"/>
              </a:ext>
            </a:extLst>
          </p:cNvPr>
          <p:cNvSpPr txBox="1"/>
          <p:nvPr/>
        </p:nvSpPr>
        <p:spPr>
          <a:xfrm>
            <a:off x="7138868" y="1701114"/>
            <a:ext cx="1293068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Novo Nó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DAE20CB7-FD78-7F73-977B-388422C17BDE}"/>
              </a:ext>
            </a:extLst>
          </p:cNvPr>
          <p:cNvSpPr txBox="1"/>
          <p:nvPr/>
        </p:nvSpPr>
        <p:spPr>
          <a:xfrm>
            <a:off x="224799" y="2920180"/>
            <a:ext cx="9775373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assumir a primeira posição, o novo nó deve apontar para o atual inicio como seu </a:t>
            </a:r>
            <a:r>
              <a:rPr lang="pt-BR" b="1" dirty="0">
                <a:latin typeface="Abadi" panose="020B0604020104020204" pitchFamily="34" charset="0"/>
              </a:rPr>
              <a:t>PRÓXIMO:</a:t>
            </a:r>
            <a:r>
              <a:rPr lang="pt-BR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9A53A96-0F58-947F-4F3C-6623994385E0}"/>
              </a:ext>
            </a:extLst>
          </p:cNvPr>
          <p:cNvSpPr/>
          <p:nvPr/>
        </p:nvSpPr>
        <p:spPr>
          <a:xfrm>
            <a:off x="224801" y="3358978"/>
            <a:ext cx="8070114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33" name="Tabela 32">
            <a:extLst>
              <a:ext uri="{FF2B5EF4-FFF2-40B4-BE49-F238E27FC236}">
                <a16:creationId xmlns:a16="http://schemas.microsoft.com/office/drawing/2014/main" id="{78688621-EE1E-C7FF-D91D-3D3DEBC2F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66809"/>
              </p:ext>
            </p:extLst>
          </p:nvPr>
        </p:nvGraphicFramePr>
        <p:xfrm>
          <a:off x="3243559" y="3776779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4" name="Tabela 33">
            <a:extLst>
              <a:ext uri="{FF2B5EF4-FFF2-40B4-BE49-F238E27FC236}">
                <a16:creationId xmlns:a16="http://schemas.microsoft.com/office/drawing/2014/main" id="{518FCB1B-9654-4499-C324-B92BA0C9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91459"/>
              </p:ext>
            </p:extLst>
          </p:nvPr>
        </p:nvGraphicFramePr>
        <p:xfrm>
          <a:off x="2099443" y="436840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5" name="Conector de seta reta 6">
            <a:extLst>
              <a:ext uri="{FF2B5EF4-FFF2-40B4-BE49-F238E27FC236}">
                <a16:creationId xmlns:a16="http://schemas.microsoft.com/office/drawing/2014/main" id="{BAB688AB-2927-B52D-AE0D-D063C659CCF2}"/>
              </a:ext>
            </a:extLst>
          </p:cNvPr>
          <p:cNvCxnSpPr>
            <a:cxnSpLocks/>
          </p:cNvCxnSpPr>
          <p:nvPr/>
        </p:nvCxnSpPr>
        <p:spPr>
          <a:xfrm>
            <a:off x="3395587" y="455458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6" name="Conector angulado 7">
            <a:extLst>
              <a:ext uri="{FF2B5EF4-FFF2-40B4-BE49-F238E27FC236}">
                <a16:creationId xmlns:a16="http://schemas.microsoft.com/office/drawing/2014/main" id="{63DBEB50-5C8D-D149-8391-7921602E9D76}"/>
              </a:ext>
            </a:extLst>
          </p:cNvPr>
          <p:cNvCxnSpPr>
            <a:stCxn id="33" idx="1"/>
            <a:endCxn id="34" idx="0"/>
          </p:cNvCxnSpPr>
          <p:nvPr/>
        </p:nvCxnSpPr>
        <p:spPr>
          <a:xfrm rot="10800000" flipV="1">
            <a:off x="2723445" y="3962199"/>
            <a:ext cx="520114" cy="4062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37" name="Tabela 36">
            <a:extLst>
              <a:ext uri="{FF2B5EF4-FFF2-40B4-BE49-F238E27FC236}">
                <a16:creationId xmlns:a16="http://schemas.microsoft.com/office/drawing/2014/main" id="{125EB25D-D9E7-E6FB-0223-45E8A6936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980111"/>
              </p:ext>
            </p:extLst>
          </p:nvPr>
        </p:nvGraphicFramePr>
        <p:xfrm>
          <a:off x="3803767" y="436364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8" name="Conector de seta reta 9">
            <a:extLst>
              <a:ext uri="{FF2B5EF4-FFF2-40B4-BE49-F238E27FC236}">
                <a16:creationId xmlns:a16="http://schemas.microsoft.com/office/drawing/2014/main" id="{E60C5B2E-67F5-9A20-EBDC-30E7F1B70B8D}"/>
              </a:ext>
            </a:extLst>
          </p:cNvPr>
          <p:cNvCxnSpPr>
            <a:cxnSpLocks/>
          </p:cNvCxnSpPr>
          <p:nvPr/>
        </p:nvCxnSpPr>
        <p:spPr>
          <a:xfrm>
            <a:off x="5123779" y="454378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39" name="Tabela 38">
            <a:extLst>
              <a:ext uri="{FF2B5EF4-FFF2-40B4-BE49-F238E27FC236}">
                <a16:creationId xmlns:a16="http://schemas.microsoft.com/office/drawing/2014/main" id="{336CE389-6FB9-19AB-28F0-25D5BBD15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267721"/>
              </p:ext>
            </p:extLst>
          </p:nvPr>
        </p:nvGraphicFramePr>
        <p:xfrm>
          <a:off x="5531959" y="435284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0" name="Conector de seta reta 11">
            <a:extLst>
              <a:ext uri="{FF2B5EF4-FFF2-40B4-BE49-F238E27FC236}">
                <a16:creationId xmlns:a16="http://schemas.microsoft.com/office/drawing/2014/main" id="{E153F236-CAFA-6175-46F4-C186C98E7357}"/>
              </a:ext>
            </a:extLst>
          </p:cNvPr>
          <p:cNvCxnSpPr>
            <a:cxnSpLocks/>
          </p:cNvCxnSpPr>
          <p:nvPr/>
        </p:nvCxnSpPr>
        <p:spPr>
          <a:xfrm>
            <a:off x="6815967" y="454378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Conector angulado 13">
            <a:extLst>
              <a:ext uri="{FF2B5EF4-FFF2-40B4-BE49-F238E27FC236}">
                <a16:creationId xmlns:a16="http://schemas.microsoft.com/office/drawing/2014/main" id="{EF4B98AC-4EFA-014C-AE51-5C602E4B4E2F}"/>
              </a:ext>
            </a:extLst>
          </p:cNvPr>
          <p:cNvCxnSpPr>
            <a:cxnSpLocks/>
            <a:stCxn id="33" idx="3"/>
            <a:endCxn id="39" idx="0"/>
          </p:cNvCxnSpPr>
          <p:nvPr/>
        </p:nvCxnSpPr>
        <p:spPr>
          <a:xfrm>
            <a:off x="5883581" y="3962199"/>
            <a:ext cx="27238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474778F-E14B-C605-AE72-8FDD96AC6997}"/>
              </a:ext>
            </a:extLst>
          </p:cNvPr>
          <p:cNvSpPr txBox="1"/>
          <p:nvPr/>
        </p:nvSpPr>
        <p:spPr>
          <a:xfrm>
            <a:off x="7220370" y="4352843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FFAB8E6-241B-CBF0-CBA5-9910FF46708E}"/>
              </a:ext>
            </a:extLst>
          </p:cNvPr>
          <p:cNvSpPr txBox="1"/>
          <p:nvPr/>
        </p:nvSpPr>
        <p:spPr>
          <a:xfrm>
            <a:off x="3627669" y="3416739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9645BFC5-7558-05B9-0031-320758FE5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715575"/>
              </p:ext>
            </p:extLst>
          </p:nvPr>
        </p:nvGraphicFramePr>
        <p:xfrm>
          <a:off x="395118" y="436955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45" name="Conector de seta reta 6">
            <a:extLst>
              <a:ext uri="{FF2B5EF4-FFF2-40B4-BE49-F238E27FC236}">
                <a16:creationId xmlns:a16="http://schemas.microsoft.com/office/drawing/2014/main" id="{AFB55A65-8C48-6935-B322-BF0D1F11EE1F}"/>
              </a:ext>
            </a:extLst>
          </p:cNvPr>
          <p:cNvCxnSpPr>
            <a:cxnSpLocks/>
          </p:cNvCxnSpPr>
          <p:nvPr/>
        </p:nvCxnSpPr>
        <p:spPr>
          <a:xfrm>
            <a:off x="1691263" y="4553114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26BFC0A-9471-BF42-A31A-5ABBD79CCAFA}"/>
              </a:ext>
            </a:extLst>
          </p:cNvPr>
          <p:cNvSpPr txBox="1"/>
          <p:nvPr/>
        </p:nvSpPr>
        <p:spPr>
          <a:xfrm>
            <a:off x="224800" y="4928907"/>
            <a:ext cx="8004473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Depois, basta apontar o inicio para o novo nó: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853E8F2-D656-F73B-D428-6AAED008770D}"/>
              </a:ext>
            </a:extLst>
          </p:cNvPr>
          <p:cNvSpPr/>
          <p:nvPr/>
        </p:nvSpPr>
        <p:spPr>
          <a:xfrm>
            <a:off x="224800" y="5367705"/>
            <a:ext cx="8070115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48" name="Tabela 47">
            <a:extLst>
              <a:ext uri="{FF2B5EF4-FFF2-40B4-BE49-F238E27FC236}">
                <a16:creationId xmlns:a16="http://schemas.microsoft.com/office/drawing/2014/main" id="{1BEDFB45-92A4-5C5F-07EF-BD251577A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57322"/>
              </p:ext>
            </p:extLst>
          </p:nvPr>
        </p:nvGraphicFramePr>
        <p:xfrm>
          <a:off x="2385139" y="5785506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" name="Tabela 48">
            <a:extLst>
              <a:ext uri="{FF2B5EF4-FFF2-40B4-BE49-F238E27FC236}">
                <a16:creationId xmlns:a16="http://schemas.microsoft.com/office/drawing/2014/main" id="{1728A965-57DA-ADBD-5163-A97653AE3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083058"/>
              </p:ext>
            </p:extLst>
          </p:nvPr>
        </p:nvGraphicFramePr>
        <p:xfrm>
          <a:off x="2099443" y="637713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0" name="Conector de seta reta 6">
            <a:extLst>
              <a:ext uri="{FF2B5EF4-FFF2-40B4-BE49-F238E27FC236}">
                <a16:creationId xmlns:a16="http://schemas.microsoft.com/office/drawing/2014/main" id="{0EF39BDB-99A5-EAD7-459B-B3D8CF7AF436}"/>
              </a:ext>
            </a:extLst>
          </p:cNvPr>
          <p:cNvCxnSpPr>
            <a:cxnSpLocks/>
          </p:cNvCxnSpPr>
          <p:nvPr/>
        </p:nvCxnSpPr>
        <p:spPr>
          <a:xfrm>
            <a:off x="3395587" y="656331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1" name="Conector angulado 7">
            <a:extLst>
              <a:ext uri="{FF2B5EF4-FFF2-40B4-BE49-F238E27FC236}">
                <a16:creationId xmlns:a16="http://schemas.microsoft.com/office/drawing/2014/main" id="{3FAE3D53-EA3F-D9E4-14E5-55EC29A466C4}"/>
              </a:ext>
            </a:extLst>
          </p:cNvPr>
          <p:cNvCxnSpPr>
            <a:cxnSpLocks/>
            <a:stCxn id="48" idx="1"/>
            <a:endCxn id="59" idx="0"/>
          </p:cNvCxnSpPr>
          <p:nvPr/>
        </p:nvCxnSpPr>
        <p:spPr>
          <a:xfrm rot="10800000" flipV="1">
            <a:off x="1019121" y="5970926"/>
            <a:ext cx="1366019" cy="4073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52" name="Tabela 51">
            <a:extLst>
              <a:ext uri="{FF2B5EF4-FFF2-40B4-BE49-F238E27FC236}">
                <a16:creationId xmlns:a16="http://schemas.microsoft.com/office/drawing/2014/main" id="{B5B76B12-FC72-174C-EF90-FC052C2B1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972773"/>
              </p:ext>
            </p:extLst>
          </p:nvPr>
        </p:nvGraphicFramePr>
        <p:xfrm>
          <a:off x="3803767" y="637237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3" name="Conector de seta reta 9">
            <a:extLst>
              <a:ext uri="{FF2B5EF4-FFF2-40B4-BE49-F238E27FC236}">
                <a16:creationId xmlns:a16="http://schemas.microsoft.com/office/drawing/2014/main" id="{9A2E2092-3777-5BFD-2D14-3CEEDF3528A3}"/>
              </a:ext>
            </a:extLst>
          </p:cNvPr>
          <p:cNvCxnSpPr>
            <a:cxnSpLocks/>
          </p:cNvCxnSpPr>
          <p:nvPr/>
        </p:nvCxnSpPr>
        <p:spPr>
          <a:xfrm>
            <a:off x="5123779" y="655251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54" name="Tabela 53">
            <a:extLst>
              <a:ext uri="{FF2B5EF4-FFF2-40B4-BE49-F238E27FC236}">
                <a16:creationId xmlns:a16="http://schemas.microsoft.com/office/drawing/2014/main" id="{07CBDEFB-AD13-607D-FC84-EEF6EFE94C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76706"/>
              </p:ext>
            </p:extLst>
          </p:nvPr>
        </p:nvGraphicFramePr>
        <p:xfrm>
          <a:off x="5531959" y="636157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5" name="Conector de seta reta 11">
            <a:extLst>
              <a:ext uri="{FF2B5EF4-FFF2-40B4-BE49-F238E27FC236}">
                <a16:creationId xmlns:a16="http://schemas.microsoft.com/office/drawing/2014/main" id="{CEA583A2-24DE-084D-4F9D-27AB8F459711}"/>
              </a:ext>
            </a:extLst>
          </p:cNvPr>
          <p:cNvCxnSpPr>
            <a:cxnSpLocks/>
          </p:cNvCxnSpPr>
          <p:nvPr/>
        </p:nvCxnSpPr>
        <p:spPr>
          <a:xfrm>
            <a:off x="6815967" y="655251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6" name="Conector angulado 13">
            <a:extLst>
              <a:ext uri="{FF2B5EF4-FFF2-40B4-BE49-F238E27FC236}">
                <a16:creationId xmlns:a16="http://schemas.microsoft.com/office/drawing/2014/main" id="{5E7173DC-BA20-A818-D3A7-4DFA23D95F64}"/>
              </a:ext>
            </a:extLst>
          </p:cNvPr>
          <p:cNvCxnSpPr>
            <a:cxnSpLocks/>
            <a:stCxn id="48" idx="3"/>
            <a:endCxn id="54" idx="0"/>
          </p:cNvCxnSpPr>
          <p:nvPr/>
        </p:nvCxnSpPr>
        <p:spPr>
          <a:xfrm>
            <a:off x="5025161" y="5970926"/>
            <a:ext cx="113080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F72B54B-854C-FC69-1F43-F5BEEC557D1F}"/>
              </a:ext>
            </a:extLst>
          </p:cNvPr>
          <p:cNvSpPr txBox="1"/>
          <p:nvPr/>
        </p:nvSpPr>
        <p:spPr>
          <a:xfrm>
            <a:off x="7220370" y="6361570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194999B-0083-0528-8E02-BCD5AF56B680}"/>
              </a:ext>
            </a:extLst>
          </p:cNvPr>
          <p:cNvSpPr txBox="1"/>
          <p:nvPr/>
        </p:nvSpPr>
        <p:spPr>
          <a:xfrm>
            <a:off x="2769249" y="5425466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graphicFrame>
        <p:nvGraphicFramePr>
          <p:cNvPr id="59" name="Tabela 58">
            <a:extLst>
              <a:ext uri="{FF2B5EF4-FFF2-40B4-BE49-F238E27FC236}">
                <a16:creationId xmlns:a16="http://schemas.microsoft.com/office/drawing/2014/main" id="{D40F2239-3FBA-6721-BCF4-4C5F9B4843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952796"/>
              </p:ext>
            </p:extLst>
          </p:nvPr>
        </p:nvGraphicFramePr>
        <p:xfrm>
          <a:off x="395118" y="637828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0" name="Conector de seta reta 6">
            <a:extLst>
              <a:ext uri="{FF2B5EF4-FFF2-40B4-BE49-F238E27FC236}">
                <a16:creationId xmlns:a16="http://schemas.microsoft.com/office/drawing/2014/main" id="{0F817303-0ED5-A797-7FC6-816CEF2A6275}"/>
              </a:ext>
            </a:extLst>
          </p:cNvPr>
          <p:cNvCxnSpPr>
            <a:cxnSpLocks/>
          </p:cNvCxnSpPr>
          <p:nvPr/>
        </p:nvCxnSpPr>
        <p:spPr>
          <a:xfrm>
            <a:off x="1691263" y="6561841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pic>
        <p:nvPicPr>
          <p:cNvPr id="63" name="Imagem 62">
            <a:extLst>
              <a:ext uri="{FF2B5EF4-FFF2-40B4-BE49-F238E27FC236}">
                <a16:creationId xmlns:a16="http://schemas.microsoft.com/office/drawing/2014/main" id="{9836F6C6-48C2-3D95-6A74-B79F34F1D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4915" y="3786071"/>
            <a:ext cx="3858313" cy="2370275"/>
          </a:xfrm>
          <a:prstGeom prst="rect">
            <a:avLst/>
          </a:prstGeom>
        </p:spPr>
      </p:pic>
      <p:sp>
        <p:nvSpPr>
          <p:cNvPr id="66" name="Retângulo 65">
            <a:extLst>
              <a:ext uri="{FF2B5EF4-FFF2-40B4-BE49-F238E27FC236}">
                <a16:creationId xmlns:a16="http://schemas.microsoft.com/office/drawing/2014/main" id="{D7B3BD1F-9B2D-07D7-2259-7D50D8A48066}"/>
              </a:ext>
            </a:extLst>
          </p:cNvPr>
          <p:cNvSpPr/>
          <p:nvPr/>
        </p:nvSpPr>
        <p:spPr>
          <a:xfrm>
            <a:off x="9199984" y="5300120"/>
            <a:ext cx="2364685" cy="27772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7" name="Retângulo 66">
            <a:extLst>
              <a:ext uri="{FF2B5EF4-FFF2-40B4-BE49-F238E27FC236}">
                <a16:creationId xmlns:a16="http://schemas.microsoft.com/office/drawing/2014/main" id="{DFB7EF2A-91AA-AF64-C270-5509E952BCF1}"/>
              </a:ext>
            </a:extLst>
          </p:cNvPr>
          <p:cNvSpPr/>
          <p:nvPr/>
        </p:nvSpPr>
        <p:spPr>
          <a:xfrm>
            <a:off x="9199984" y="4979361"/>
            <a:ext cx="2364685" cy="2777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9" name="Conector: Angulado 68">
            <a:extLst>
              <a:ext uri="{FF2B5EF4-FFF2-40B4-BE49-F238E27FC236}">
                <a16:creationId xmlns:a16="http://schemas.microsoft.com/office/drawing/2014/main" id="{CC5C75FD-2B63-634F-11B7-918F2D2D64AE}"/>
              </a:ext>
            </a:extLst>
          </p:cNvPr>
          <p:cNvCxnSpPr>
            <a:cxnSpLocks/>
            <a:stCxn id="67" idx="0"/>
            <a:endCxn id="29" idx="3"/>
          </p:cNvCxnSpPr>
          <p:nvPr/>
        </p:nvCxnSpPr>
        <p:spPr>
          <a:xfrm rot="16200000" flipV="1">
            <a:off x="9253993" y="3851026"/>
            <a:ext cx="1874515" cy="382155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671B5D29-8C67-F2C9-5EFA-35873EE38131}"/>
              </a:ext>
            </a:extLst>
          </p:cNvPr>
          <p:cNvSpPr txBox="1"/>
          <p:nvPr/>
        </p:nvSpPr>
        <p:spPr>
          <a:xfrm>
            <a:off x="236092" y="2918364"/>
            <a:ext cx="977537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assumir a primeira posição, o novo nó deve apontar para o atual inicio como seu </a:t>
            </a:r>
            <a:r>
              <a:rPr lang="pt-BR" b="1" dirty="0">
                <a:latin typeface="Abadi" panose="020B0604020104020204" pitchFamily="34" charset="0"/>
              </a:rPr>
              <a:t>PRÓXIMO:</a:t>
            </a:r>
            <a:r>
              <a:rPr lang="pt-BR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75" name="CaixaDeTexto 74">
            <a:extLst>
              <a:ext uri="{FF2B5EF4-FFF2-40B4-BE49-F238E27FC236}">
                <a16:creationId xmlns:a16="http://schemas.microsoft.com/office/drawing/2014/main" id="{0154ECEB-E5E8-95D6-2D82-103458CEEDA3}"/>
              </a:ext>
            </a:extLst>
          </p:cNvPr>
          <p:cNvSpPr txBox="1"/>
          <p:nvPr/>
        </p:nvSpPr>
        <p:spPr>
          <a:xfrm>
            <a:off x="224800" y="4937583"/>
            <a:ext cx="8004473" cy="36933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Depois, basta apontar o inicio para o novo nó:</a:t>
            </a:r>
          </a:p>
        </p:txBody>
      </p:sp>
      <p:cxnSp>
        <p:nvCxnSpPr>
          <p:cNvPr id="76" name="Conector: Angulado 75">
            <a:extLst>
              <a:ext uri="{FF2B5EF4-FFF2-40B4-BE49-F238E27FC236}">
                <a16:creationId xmlns:a16="http://schemas.microsoft.com/office/drawing/2014/main" id="{9EE89442-2D9F-67FE-01FC-CC6A1C05DFF3}"/>
              </a:ext>
            </a:extLst>
          </p:cNvPr>
          <p:cNvCxnSpPr>
            <a:cxnSpLocks/>
            <a:stCxn id="66" idx="1"/>
            <a:endCxn id="75" idx="3"/>
          </p:cNvCxnSpPr>
          <p:nvPr/>
        </p:nvCxnSpPr>
        <p:spPr>
          <a:xfrm rot="10800000">
            <a:off x="8229274" y="5122250"/>
            <a:ext cx="970711" cy="316731"/>
          </a:xfrm>
          <a:prstGeom prst="bentConnector3">
            <a:avLst>
              <a:gd name="adj1" fmla="val 50000"/>
            </a:avLst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60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71" grpId="0" animBg="1"/>
      <p:bldP spid="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4EE5A-5F3E-08E5-21B9-1429D64AA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: Cantos Superiores Recortados 10">
            <a:extLst>
              <a:ext uri="{FF2B5EF4-FFF2-40B4-BE49-F238E27FC236}">
                <a16:creationId xmlns:a16="http://schemas.microsoft.com/office/drawing/2014/main" id="{BDD8120C-5112-4291-9EC6-2AF6DABC44D3}"/>
              </a:ext>
            </a:extLst>
          </p:cNvPr>
          <p:cNvSpPr/>
          <p:nvPr/>
        </p:nvSpPr>
        <p:spPr>
          <a:xfrm rot="16200000">
            <a:off x="2829021" y="-2665678"/>
            <a:ext cx="649458" cy="6307494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000" dirty="0">
                <a:latin typeface="Abadi" panose="020B0604020104020204" pitchFamily="34" charset="0"/>
              </a:rPr>
              <a:t>Elementos Básicos Listas Lineares</a:t>
            </a:r>
          </a:p>
        </p:txBody>
      </p:sp>
      <p:sp>
        <p:nvSpPr>
          <p:cNvPr id="102" name="Retângulo 101">
            <a:extLst>
              <a:ext uri="{FF2B5EF4-FFF2-40B4-BE49-F238E27FC236}">
                <a16:creationId xmlns:a16="http://schemas.microsoft.com/office/drawing/2014/main" id="{52605D40-2FC1-A226-6974-03D69A8C355E}"/>
              </a:ext>
            </a:extLst>
          </p:cNvPr>
          <p:cNvSpPr/>
          <p:nvPr/>
        </p:nvSpPr>
        <p:spPr>
          <a:xfrm>
            <a:off x="120510" y="1280466"/>
            <a:ext cx="6489830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03" name="Tabela 102">
            <a:extLst>
              <a:ext uri="{FF2B5EF4-FFF2-40B4-BE49-F238E27FC236}">
                <a16:creationId xmlns:a16="http://schemas.microsoft.com/office/drawing/2014/main" id="{7D6F9E05-7F20-3881-C453-AEAC489DA6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028030"/>
              </p:ext>
            </p:extLst>
          </p:nvPr>
        </p:nvGraphicFramePr>
        <p:xfrm>
          <a:off x="1408642" y="1698114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4" name="Tabela 103">
            <a:extLst>
              <a:ext uri="{FF2B5EF4-FFF2-40B4-BE49-F238E27FC236}">
                <a16:creationId xmlns:a16="http://schemas.microsoft.com/office/drawing/2014/main" id="{BB2BAF23-7076-0F45-D558-0BF0BE458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829180"/>
              </p:ext>
            </p:extLst>
          </p:nvPr>
        </p:nvGraphicFramePr>
        <p:xfrm>
          <a:off x="264526" y="228974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5" name="Conector de seta reta 6">
            <a:extLst>
              <a:ext uri="{FF2B5EF4-FFF2-40B4-BE49-F238E27FC236}">
                <a16:creationId xmlns:a16="http://schemas.microsoft.com/office/drawing/2014/main" id="{C19B4553-F366-65AE-6F89-962C6AEFEB7F}"/>
              </a:ext>
            </a:extLst>
          </p:cNvPr>
          <p:cNvCxnSpPr>
            <a:cxnSpLocks/>
          </p:cNvCxnSpPr>
          <p:nvPr/>
        </p:nvCxnSpPr>
        <p:spPr>
          <a:xfrm>
            <a:off x="1560670" y="247591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06" name="Conector angulado 7">
            <a:extLst>
              <a:ext uri="{FF2B5EF4-FFF2-40B4-BE49-F238E27FC236}">
                <a16:creationId xmlns:a16="http://schemas.microsoft.com/office/drawing/2014/main" id="{076925B7-71FB-3EE9-28D2-8BA24CAC4834}"/>
              </a:ext>
            </a:extLst>
          </p:cNvPr>
          <p:cNvCxnSpPr>
            <a:stCxn id="103" idx="1"/>
            <a:endCxn id="104" idx="0"/>
          </p:cNvCxnSpPr>
          <p:nvPr/>
        </p:nvCxnSpPr>
        <p:spPr>
          <a:xfrm rot="10800000" flipV="1">
            <a:off x="888528" y="1883534"/>
            <a:ext cx="520114" cy="40621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07" name="Tabela 106">
            <a:extLst>
              <a:ext uri="{FF2B5EF4-FFF2-40B4-BE49-F238E27FC236}">
                <a16:creationId xmlns:a16="http://schemas.microsoft.com/office/drawing/2014/main" id="{79E59E2B-738E-8268-9632-1392454F9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471170"/>
              </p:ext>
            </p:extLst>
          </p:nvPr>
        </p:nvGraphicFramePr>
        <p:xfrm>
          <a:off x="1968850" y="228497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8" name="Conector de seta reta 9">
            <a:extLst>
              <a:ext uri="{FF2B5EF4-FFF2-40B4-BE49-F238E27FC236}">
                <a16:creationId xmlns:a16="http://schemas.microsoft.com/office/drawing/2014/main" id="{238CB1CA-0A36-7529-FA41-AB974C55A4B0}"/>
              </a:ext>
            </a:extLst>
          </p:cNvPr>
          <p:cNvCxnSpPr>
            <a:cxnSpLocks/>
          </p:cNvCxnSpPr>
          <p:nvPr/>
        </p:nvCxnSpPr>
        <p:spPr>
          <a:xfrm>
            <a:off x="3288862" y="246511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09" name="Tabela 108">
            <a:extLst>
              <a:ext uri="{FF2B5EF4-FFF2-40B4-BE49-F238E27FC236}">
                <a16:creationId xmlns:a16="http://schemas.microsoft.com/office/drawing/2014/main" id="{920B7C3F-97C1-9E8A-5FE6-19D77E0F5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361745"/>
              </p:ext>
            </p:extLst>
          </p:nvPr>
        </p:nvGraphicFramePr>
        <p:xfrm>
          <a:off x="3697042" y="2274178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10" name="Conector de seta reta 11">
            <a:extLst>
              <a:ext uri="{FF2B5EF4-FFF2-40B4-BE49-F238E27FC236}">
                <a16:creationId xmlns:a16="http://schemas.microsoft.com/office/drawing/2014/main" id="{95010306-6E18-98C1-994C-3B69097BE305}"/>
              </a:ext>
            </a:extLst>
          </p:cNvPr>
          <p:cNvCxnSpPr>
            <a:cxnSpLocks/>
          </p:cNvCxnSpPr>
          <p:nvPr/>
        </p:nvCxnSpPr>
        <p:spPr>
          <a:xfrm>
            <a:off x="4981050" y="2465118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11" name="Conector angulado 13">
            <a:extLst>
              <a:ext uri="{FF2B5EF4-FFF2-40B4-BE49-F238E27FC236}">
                <a16:creationId xmlns:a16="http://schemas.microsoft.com/office/drawing/2014/main" id="{9E2DC1F0-1C8D-8DA6-86B7-FBEE640349EF}"/>
              </a:ext>
            </a:extLst>
          </p:cNvPr>
          <p:cNvCxnSpPr>
            <a:cxnSpLocks/>
            <a:stCxn id="103" idx="3"/>
            <a:endCxn id="109" idx="0"/>
          </p:cNvCxnSpPr>
          <p:nvPr/>
        </p:nvCxnSpPr>
        <p:spPr>
          <a:xfrm>
            <a:off x="4048664" y="1883534"/>
            <a:ext cx="27238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7CD0081A-AD55-1AAE-46E3-A88CB7BAE2A8}"/>
              </a:ext>
            </a:extLst>
          </p:cNvPr>
          <p:cNvSpPr txBox="1"/>
          <p:nvPr/>
        </p:nvSpPr>
        <p:spPr>
          <a:xfrm>
            <a:off x="5385453" y="2274178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E45BE68F-478C-4700-4C62-DF51D19320DD}"/>
              </a:ext>
            </a:extLst>
          </p:cNvPr>
          <p:cNvSpPr txBox="1"/>
          <p:nvPr/>
        </p:nvSpPr>
        <p:spPr>
          <a:xfrm>
            <a:off x="1792752" y="1338074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DDF2D674-0B13-4C0D-944F-24F02EDC8600}"/>
              </a:ext>
            </a:extLst>
          </p:cNvPr>
          <p:cNvSpPr txBox="1"/>
          <p:nvPr/>
        </p:nvSpPr>
        <p:spPr>
          <a:xfrm>
            <a:off x="120510" y="859099"/>
            <a:ext cx="5327780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Inserir um valor </a:t>
            </a:r>
            <a:r>
              <a:rPr lang="pt-BR">
                <a:latin typeface="Abadi" panose="020B0604020104020204" pitchFamily="34" charset="0"/>
              </a:rPr>
              <a:t>no fim:</a:t>
            </a:r>
            <a:endParaRPr lang="pt-BR" dirty="0">
              <a:latin typeface="Abadi" panose="020B0604020104020204" pitchFamily="34" charset="0"/>
            </a:endParaRPr>
          </a:p>
        </p:txBody>
      </p:sp>
      <p:graphicFrame>
        <p:nvGraphicFramePr>
          <p:cNvPr id="115" name="Tabela 114">
            <a:extLst>
              <a:ext uri="{FF2B5EF4-FFF2-40B4-BE49-F238E27FC236}">
                <a16:creationId xmlns:a16="http://schemas.microsoft.com/office/drawing/2014/main" id="{D5AEBC92-2850-CA9E-6540-EC408B222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604729"/>
              </p:ext>
            </p:extLst>
          </p:nvPr>
        </p:nvGraphicFramePr>
        <p:xfrm>
          <a:off x="7034578" y="2068954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B8355E2A-976C-DC17-3090-6525BB004BBF}"/>
              </a:ext>
            </a:extLst>
          </p:cNvPr>
          <p:cNvSpPr txBox="1"/>
          <p:nvPr/>
        </p:nvSpPr>
        <p:spPr>
          <a:xfrm>
            <a:off x="7034578" y="1631664"/>
            <a:ext cx="1293068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Novo Nó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E86A3926-38D6-A404-2FA0-068E5F6ABC20}"/>
              </a:ext>
            </a:extLst>
          </p:cNvPr>
          <p:cNvSpPr txBox="1"/>
          <p:nvPr/>
        </p:nvSpPr>
        <p:spPr>
          <a:xfrm>
            <a:off x="120511" y="2850730"/>
            <a:ext cx="9159552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assumir a ultima posição, o novo nó deve ser apontando como </a:t>
            </a:r>
            <a:r>
              <a:rPr lang="pt-BR" b="1" dirty="0">
                <a:latin typeface="Abadi" panose="020B0604020104020204" pitchFamily="34" charset="0"/>
              </a:rPr>
              <a:t>PRÓXIMO</a:t>
            </a:r>
            <a:r>
              <a:rPr lang="pt-BR" dirty="0">
                <a:latin typeface="Abadi" panose="020B0604020104020204" pitchFamily="34" charset="0"/>
              </a:rPr>
              <a:t> do último</a:t>
            </a:r>
            <a:r>
              <a:rPr lang="pt-BR" b="1" dirty="0">
                <a:latin typeface="Abadi" panose="020B0604020104020204" pitchFamily="34" charset="0"/>
              </a:rPr>
              <a:t>:</a:t>
            </a:r>
            <a:r>
              <a:rPr lang="pt-BR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118" name="Retângulo 117">
            <a:extLst>
              <a:ext uri="{FF2B5EF4-FFF2-40B4-BE49-F238E27FC236}">
                <a16:creationId xmlns:a16="http://schemas.microsoft.com/office/drawing/2014/main" id="{721C69A3-E701-B35B-EF9B-BB3ECB994038}"/>
              </a:ext>
            </a:extLst>
          </p:cNvPr>
          <p:cNvSpPr/>
          <p:nvPr/>
        </p:nvSpPr>
        <p:spPr>
          <a:xfrm>
            <a:off x="120510" y="3289528"/>
            <a:ext cx="8058291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19" name="Tabela 118">
            <a:extLst>
              <a:ext uri="{FF2B5EF4-FFF2-40B4-BE49-F238E27FC236}">
                <a16:creationId xmlns:a16="http://schemas.microsoft.com/office/drawing/2014/main" id="{A52C97F8-FF40-A908-A7A9-E22B469847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036067"/>
              </p:ext>
            </p:extLst>
          </p:nvPr>
        </p:nvGraphicFramePr>
        <p:xfrm>
          <a:off x="1394442" y="3707329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0" name="Tabela 119">
            <a:extLst>
              <a:ext uri="{FF2B5EF4-FFF2-40B4-BE49-F238E27FC236}">
                <a16:creationId xmlns:a16="http://schemas.microsoft.com/office/drawing/2014/main" id="{8E51CB04-7217-77F3-EDEB-6594BB71E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537291"/>
              </p:ext>
            </p:extLst>
          </p:nvPr>
        </p:nvGraphicFramePr>
        <p:xfrm>
          <a:off x="1995153" y="429895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1" name="Conector de seta reta 6">
            <a:extLst>
              <a:ext uri="{FF2B5EF4-FFF2-40B4-BE49-F238E27FC236}">
                <a16:creationId xmlns:a16="http://schemas.microsoft.com/office/drawing/2014/main" id="{4A5266AC-3E08-2DAD-F404-2AAC7D643522}"/>
              </a:ext>
            </a:extLst>
          </p:cNvPr>
          <p:cNvCxnSpPr>
            <a:cxnSpLocks/>
          </p:cNvCxnSpPr>
          <p:nvPr/>
        </p:nvCxnSpPr>
        <p:spPr>
          <a:xfrm>
            <a:off x="3291297" y="448513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2" name="Conector angulado 7">
            <a:extLst>
              <a:ext uri="{FF2B5EF4-FFF2-40B4-BE49-F238E27FC236}">
                <a16:creationId xmlns:a16="http://schemas.microsoft.com/office/drawing/2014/main" id="{EC83A368-164A-AFC9-50D8-A80B47FF5D6C}"/>
              </a:ext>
            </a:extLst>
          </p:cNvPr>
          <p:cNvCxnSpPr>
            <a:cxnSpLocks/>
            <a:stCxn id="119" idx="1"/>
            <a:endCxn id="130" idx="0"/>
          </p:cNvCxnSpPr>
          <p:nvPr/>
        </p:nvCxnSpPr>
        <p:spPr>
          <a:xfrm rot="10800000" flipV="1">
            <a:off x="914830" y="3892749"/>
            <a:ext cx="479612" cy="4073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23" name="Tabela 122">
            <a:extLst>
              <a:ext uri="{FF2B5EF4-FFF2-40B4-BE49-F238E27FC236}">
                <a16:creationId xmlns:a16="http://schemas.microsoft.com/office/drawing/2014/main" id="{C612C6EA-12BA-2801-9EC2-FE78CC81B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7197112"/>
              </p:ext>
            </p:extLst>
          </p:nvPr>
        </p:nvGraphicFramePr>
        <p:xfrm>
          <a:off x="3699477" y="429419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4" name="Conector de seta reta 9">
            <a:extLst>
              <a:ext uri="{FF2B5EF4-FFF2-40B4-BE49-F238E27FC236}">
                <a16:creationId xmlns:a16="http://schemas.microsoft.com/office/drawing/2014/main" id="{3848DC00-60BA-B897-E1DD-75EE54092CF3}"/>
              </a:ext>
            </a:extLst>
          </p:cNvPr>
          <p:cNvCxnSpPr>
            <a:cxnSpLocks/>
          </p:cNvCxnSpPr>
          <p:nvPr/>
        </p:nvCxnSpPr>
        <p:spPr>
          <a:xfrm>
            <a:off x="5019489" y="447433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25" name="Tabela 124">
            <a:extLst>
              <a:ext uri="{FF2B5EF4-FFF2-40B4-BE49-F238E27FC236}">
                <a16:creationId xmlns:a16="http://schemas.microsoft.com/office/drawing/2014/main" id="{B70F70CD-4899-125B-C147-E73079D65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875367"/>
              </p:ext>
            </p:extLst>
          </p:nvPr>
        </p:nvGraphicFramePr>
        <p:xfrm>
          <a:off x="5427669" y="4283393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6" name="Conector de seta reta 11">
            <a:extLst>
              <a:ext uri="{FF2B5EF4-FFF2-40B4-BE49-F238E27FC236}">
                <a16:creationId xmlns:a16="http://schemas.microsoft.com/office/drawing/2014/main" id="{0E6529D1-1ADF-5A26-61AD-77C7131BCA7E}"/>
              </a:ext>
            </a:extLst>
          </p:cNvPr>
          <p:cNvCxnSpPr>
            <a:cxnSpLocks/>
          </p:cNvCxnSpPr>
          <p:nvPr/>
        </p:nvCxnSpPr>
        <p:spPr>
          <a:xfrm>
            <a:off x="6711677" y="4474333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7" name="Conector angulado 13">
            <a:extLst>
              <a:ext uri="{FF2B5EF4-FFF2-40B4-BE49-F238E27FC236}">
                <a16:creationId xmlns:a16="http://schemas.microsoft.com/office/drawing/2014/main" id="{1A8AC817-899A-F364-23AA-4ADA72269EAC}"/>
              </a:ext>
            </a:extLst>
          </p:cNvPr>
          <p:cNvCxnSpPr>
            <a:cxnSpLocks/>
            <a:stCxn id="119" idx="3"/>
            <a:endCxn id="123" idx="0"/>
          </p:cNvCxnSpPr>
          <p:nvPr/>
        </p:nvCxnSpPr>
        <p:spPr>
          <a:xfrm>
            <a:off x="4034464" y="3892749"/>
            <a:ext cx="289015" cy="4014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84DC0B5B-9D85-007F-7EBD-4C2FCA305BC9}"/>
              </a:ext>
            </a:extLst>
          </p:cNvPr>
          <p:cNvSpPr txBox="1"/>
          <p:nvPr/>
        </p:nvSpPr>
        <p:spPr>
          <a:xfrm>
            <a:off x="7116080" y="4283393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EAF2EBCF-CA57-695C-5259-F7B633801F14}"/>
              </a:ext>
            </a:extLst>
          </p:cNvPr>
          <p:cNvSpPr txBox="1"/>
          <p:nvPr/>
        </p:nvSpPr>
        <p:spPr>
          <a:xfrm>
            <a:off x="1778552" y="3347289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graphicFrame>
        <p:nvGraphicFramePr>
          <p:cNvPr id="130" name="Tabela 129">
            <a:extLst>
              <a:ext uri="{FF2B5EF4-FFF2-40B4-BE49-F238E27FC236}">
                <a16:creationId xmlns:a16="http://schemas.microsoft.com/office/drawing/2014/main" id="{BBA17710-280A-A0E5-A8F7-BF8B9EBF2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348137"/>
              </p:ext>
            </p:extLst>
          </p:nvPr>
        </p:nvGraphicFramePr>
        <p:xfrm>
          <a:off x="290828" y="4300109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1" name="Conector de seta reta 6">
            <a:extLst>
              <a:ext uri="{FF2B5EF4-FFF2-40B4-BE49-F238E27FC236}">
                <a16:creationId xmlns:a16="http://schemas.microsoft.com/office/drawing/2014/main" id="{C8BC9CEE-8F9D-51C5-F89F-0611A1A85E6C}"/>
              </a:ext>
            </a:extLst>
          </p:cNvPr>
          <p:cNvCxnSpPr>
            <a:cxnSpLocks/>
          </p:cNvCxnSpPr>
          <p:nvPr/>
        </p:nvCxnSpPr>
        <p:spPr>
          <a:xfrm>
            <a:off x="1586973" y="4483664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32" name="CaixaDeTexto 131">
            <a:extLst>
              <a:ext uri="{FF2B5EF4-FFF2-40B4-BE49-F238E27FC236}">
                <a16:creationId xmlns:a16="http://schemas.microsoft.com/office/drawing/2014/main" id="{F5D12898-2018-4C54-F99B-16600E95BE34}"/>
              </a:ext>
            </a:extLst>
          </p:cNvPr>
          <p:cNvSpPr txBox="1"/>
          <p:nvPr/>
        </p:nvSpPr>
        <p:spPr>
          <a:xfrm>
            <a:off x="120510" y="4859457"/>
            <a:ext cx="8058291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Depois, basta apontar o fim para o novo nó:</a:t>
            </a:r>
          </a:p>
        </p:txBody>
      </p:sp>
      <p:sp>
        <p:nvSpPr>
          <p:cNvPr id="133" name="Retângulo 132">
            <a:extLst>
              <a:ext uri="{FF2B5EF4-FFF2-40B4-BE49-F238E27FC236}">
                <a16:creationId xmlns:a16="http://schemas.microsoft.com/office/drawing/2014/main" id="{3D27F769-C136-3885-BBBC-1FDFBD2AF93A}"/>
              </a:ext>
            </a:extLst>
          </p:cNvPr>
          <p:cNvSpPr/>
          <p:nvPr/>
        </p:nvSpPr>
        <p:spPr>
          <a:xfrm>
            <a:off x="120511" y="5298255"/>
            <a:ext cx="8058290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34" name="Tabela 133">
            <a:extLst>
              <a:ext uri="{FF2B5EF4-FFF2-40B4-BE49-F238E27FC236}">
                <a16:creationId xmlns:a16="http://schemas.microsoft.com/office/drawing/2014/main" id="{E1B8AAC8-AF35-161A-1A97-05FC98BD7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933053"/>
              </p:ext>
            </p:extLst>
          </p:nvPr>
        </p:nvGraphicFramePr>
        <p:xfrm>
          <a:off x="2280849" y="5716056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5" name="Tabela 134">
            <a:extLst>
              <a:ext uri="{FF2B5EF4-FFF2-40B4-BE49-F238E27FC236}">
                <a16:creationId xmlns:a16="http://schemas.microsoft.com/office/drawing/2014/main" id="{7EB00BC9-0C08-E778-C747-E9815BCB7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701758"/>
              </p:ext>
            </p:extLst>
          </p:nvPr>
        </p:nvGraphicFramePr>
        <p:xfrm>
          <a:off x="1995153" y="630768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6" name="Conector de seta reta 6">
            <a:extLst>
              <a:ext uri="{FF2B5EF4-FFF2-40B4-BE49-F238E27FC236}">
                <a16:creationId xmlns:a16="http://schemas.microsoft.com/office/drawing/2014/main" id="{04201235-F85F-EFA3-5109-EF822F3BFD62}"/>
              </a:ext>
            </a:extLst>
          </p:cNvPr>
          <p:cNvCxnSpPr>
            <a:cxnSpLocks/>
          </p:cNvCxnSpPr>
          <p:nvPr/>
        </p:nvCxnSpPr>
        <p:spPr>
          <a:xfrm>
            <a:off x="3291297" y="649386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37" name="Conector angulado 7">
            <a:extLst>
              <a:ext uri="{FF2B5EF4-FFF2-40B4-BE49-F238E27FC236}">
                <a16:creationId xmlns:a16="http://schemas.microsoft.com/office/drawing/2014/main" id="{B2B8F5FF-1F33-E8E7-EC38-992BA954E266}"/>
              </a:ext>
            </a:extLst>
          </p:cNvPr>
          <p:cNvCxnSpPr>
            <a:cxnSpLocks/>
            <a:stCxn id="134" idx="1"/>
            <a:endCxn id="145" idx="0"/>
          </p:cNvCxnSpPr>
          <p:nvPr/>
        </p:nvCxnSpPr>
        <p:spPr>
          <a:xfrm rot="10800000" flipV="1">
            <a:off x="914831" y="5901476"/>
            <a:ext cx="1366019" cy="4073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38" name="Tabela 137">
            <a:extLst>
              <a:ext uri="{FF2B5EF4-FFF2-40B4-BE49-F238E27FC236}">
                <a16:creationId xmlns:a16="http://schemas.microsoft.com/office/drawing/2014/main" id="{60A22857-D038-7618-8DB2-3F86B2A8D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173679"/>
              </p:ext>
            </p:extLst>
          </p:nvPr>
        </p:nvGraphicFramePr>
        <p:xfrm>
          <a:off x="3699477" y="630292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39" name="Conector de seta reta 9">
            <a:extLst>
              <a:ext uri="{FF2B5EF4-FFF2-40B4-BE49-F238E27FC236}">
                <a16:creationId xmlns:a16="http://schemas.microsoft.com/office/drawing/2014/main" id="{8EF41761-6CFF-C11F-DDE3-C5CD7432C32F}"/>
              </a:ext>
            </a:extLst>
          </p:cNvPr>
          <p:cNvCxnSpPr>
            <a:cxnSpLocks/>
          </p:cNvCxnSpPr>
          <p:nvPr/>
        </p:nvCxnSpPr>
        <p:spPr>
          <a:xfrm>
            <a:off x="5019489" y="648306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graphicFrame>
        <p:nvGraphicFramePr>
          <p:cNvPr id="140" name="Tabela 139">
            <a:extLst>
              <a:ext uri="{FF2B5EF4-FFF2-40B4-BE49-F238E27FC236}">
                <a16:creationId xmlns:a16="http://schemas.microsoft.com/office/drawing/2014/main" id="{84EB4E7D-B65B-426A-B22C-B73EB8C26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904016"/>
              </p:ext>
            </p:extLst>
          </p:nvPr>
        </p:nvGraphicFramePr>
        <p:xfrm>
          <a:off x="5427669" y="6292120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1" name="Conector de seta reta 11">
            <a:extLst>
              <a:ext uri="{FF2B5EF4-FFF2-40B4-BE49-F238E27FC236}">
                <a16:creationId xmlns:a16="http://schemas.microsoft.com/office/drawing/2014/main" id="{963D4367-8E54-FF49-8B8E-1008E9306271}"/>
              </a:ext>
            </a:extLst>
          </p:cNvPr>
          <p:cNvCxnSpPr>
            <a:cxnSpLocks/>
          </p:cNvCxnSpPr>
          <p:nvPr/>
        </p:nvCxnSpPr>
        <p:spPr>
          <a:xfrm>
            <a:off x="6711677" y="6483060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42" name="Conector angulado 13">
            <a:extLst>
              <a:ext uri="{FF2B5EF4-FFF2-40B4-BE49-F238E27FC236}">
                <a16:creationId xmlns:a16="http://schemas.microsoft.com/office/drawing/2014/main" id="{7968F8AF-5060-4D69-A08F-F1C1EF8AE548}"/>
              </a:ext>
            </a:extLst>
          </p:cNvPr>
          <p:cNvCxnSpPr>
            <a:cxnSpLocks/>
            <a:stCxn id="134" idx="3"/>
            <a:endCxn id="140" idx="0"/>
          </p:cNvCxnSpPr>
          <p:nvPr/>
        </p:nvCxnSpPr>
        <p:spPr>
          <a:xfrm>
            <a:off x="4920871" y="5901476"/>
            <a:ext cx="1130800" cy="39064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18914D1A-722B-8004-1753-7F2FE9EDC240}"/>
              </a:ext>
            </a:extLst>
          </p:cNvPr>
          <p:cNvSpPr txBox="1"/>
          <p:nvPr/>
        </p:nvSpPr>
        <p:spPr>
          <a:xfrm>
            <a:off x="7116080" y="6292120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5B192860-3CBC-DDC3-67C0-A76BF33840E8}"/>
              </a:ext>
            </a:extLst>
          </p:cNvPr>
          <p:cNvSpPr txBox="1"/>
          <p:nvPr/>
        </p:nvSpPr>
        <p:spPr>
          <a:xfrm>
            <a:off x="2664959" y="5356016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 Encadeada</a:t>
            </a:r>
          </a:p>
        </p:txBody>
      </p:sp>
      <p:pic>
        <p:nvPicPr>
          <p:cNvPr id="151" name="Imagem 150">
            <a:extLst>
              <a:ext uri="{FF2B5EF4-FFF2-40B4-BE49-F238E27FC236}">
                <a16:creationId xmlns:a16="http://schemas.microsoft.com/office/drawing/2014/main" id="{2933DD50-AF1D-D2A4-EC91-154E5A5DB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591" y="3882650"/>
            <a:ext cx="3370548" cy="2322945"/>
          </a:xfrm>
          <a:prstGeom prst="rect">
            <a:avLst/>
          </a:prstGeom>
        </p:spPr>
      </p:pic>
      <p:graphicFrame>
        <p:nvGraphicFramePr>
          <p:cNvPr id="145" name="Tabela 144">
            <a:extLst>
              <a:ext uri="{FF2B5EF4-FFF2-40B4-BE49-F238E27FC236}">
                <a16:creationId xmlns:a16="http://schemas.microsoft.com/office/drawing/2014/main" id="{65FCBCFD-A634-7731-A314-69827B332A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8380456"/>
              </p:ext>
            </p:extLst>
          </p:nvPr>
        </p:nvGraphicFramePr>
        <p:xfrm>
          <a:off x="290828" y="6308836"/>
          <a:ext cx="1248004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6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9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6" name="Conector de seta reta 6">
            <a:extLst>
              <a:ext uri="{FF2B5EF4-FFF2-40B4-BE49-F238E27FC236}">
                <a16:creationId xmlns:a16="http://schemas.microsoft.com/office/drawing/2014/main" id="{4FAB4B59-3886-0645-EE92-A292D65118F6}"/>
              </a:ext>
            </a:extLst>
          </p:cNvPr>
          <p:cNvCxnSpPr>
            <a:cxnSpLocks/>
          </p:cNvCxnSpPr>
          <p:nvPr/>
        </p:nvCxnSpPr>
        <p:spPr>
          <a:xfrm>
            <a:off x="1586973" y="6492391"/>
            <a:ext cx="3240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48" name="Retângulo 147">
            <a:extLst>
              <a:ext uri="{FF2B5EF4-FFF2-40B4-BE49-F238E27FC236}">
                <a16:creationId xmlns:a16="http://schemas.microsoft.com/office/drawing/2014/main" id="{3DBB2B22-8D02-5597-3DE5-6548A2C5DAE5}"/>
              </a:ext>
            </a:extLst>
          </p:cNvPr>
          <p:cNvSpPr/>
          <p:nvPr/>
        </p:nvSpPr>
        <p:spPr>
          <a:xfrm>
            <a:off x="9199984" y="5321300"/>
            <a:ext cx="2364685" cy="256540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9" name="Retângulo 148">
            <a:extLst>
              <a:ext uri="{FF2B5EF4-FFF2-40B4-BE49-F238E27FC236}">
                <a16:creationId xmlns:a16="http://schemas.microsoft.com/office/drawing/2014/main" id="{01B86776-FA6C-CAF0-3212-F7D607CB0091}"/>
              </a:ext>
            </a:extLst>
          </p:cNvPr>
          <p:cNvSpPr/>
          <p:nvPr/>
        </p:nvSpPr>
        <p:spPr>
          <a:xfrm>
            <a:off x="9199983" y="5049519"/>
            <a:ext cx="2364685" cy="2278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0EB10153-DF5E-4115-CA4D-8ED0350B1D13}"/>
              </a:ext>
            </a:extLst>
          </p:cNvPr>
          <p:cNvSpPr txBox="1"/>
          <p:nvPr/>
        </p:nvSpPr>
        <p:spPr>
          <a:xfrm>
            <a:off x="119511" y="2855008"/>
            <a:ext cx="915955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Para assumir a ultima posição, o novo nó deve ser apontando como </a:t>
            </a:r>
            <a:r>
              <a:rPr lang="pt-BR" b="1" dirty="0">
                <a:latin typeface="Abadi" panose="020B0604020104020204" pitchFamily="34" charset="0"/>
              </a:rPr>
              <a:t>PRÓXIMO</a:t>
            </a:r>
            <a:r>
              <a:rPr lang="pt-BR" dirty="0">
                <a:latin typeface="Abadi" panose="020B0604020104020204" pitchFamily="34" charset="0"/>
              </a:rPr>
              <a:t> do último</a:t>
            </a:r>
            <a:r>
              <a:rPr lang="pt-BR" b="1" dirty="0">
                <a:latin typeface="Abadi" panose="020B0604020104020204" pitchFamily="34" charset="0"/>
              </a:rPr>
              <a:t>:</a:t>
            </a:r>
            <a:r>
              <a:rPr lang="pt-BR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153" name="CaixaDeTexto 152">
            <a:extLst>
              <a:ext uri="{FF2B5EF4-FFF2-40B4-BE49-F238E27FC236}">
                <a16:creationId xmlns:a16="http://schemas.microsoft.com/office/drawing/2014/main" id="{5F57EF3D-C03F-B6D4-2651-B83D817BCB8B}"/>
              </a:ext>
            </a:extLst>
          </p:cNvPr>
          <p:cNvSpPr txBox="1"/>
          <p:nvPr/>
        </p:nvSpPr>
        <p:spPr>
          <a:xfrm>
            <a:off x="118858" y="4853585"/>
            <a:ext cx="8058291" cy="36933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Depois, basta apontar o fim para o novo nó:</a:t>
            </a:r>
          </a:p>
        </p:txBody>
      </p:sp>
      <p:cxnSp>
        <p:nvCxnSpPr>
          <p:cNvPr id="154" name="Conector: Angulado 153">
            <a:extLst>
              <a:ext uri="{FF2B5EF4-FFF2-40B4-BE49-F238E27FC236}">
                <a16:creationId xmlns:a16="http://schemas.microsoft.com/office/drawing/2014/main" id="{4A80529C-D522-C528-BB64-D9CCD9CAFEAB}"/>
              </a:ext>
            </a:extLst>
          </p:cNvPr>
          <p:cNvCxnSpPr>
            <a:cxnSpLocks/>
            <a:stCxn id="149" idx="0"/>
            <a:endCxn id="152" idx="3"/>
          </p:cNvCxnSpPr>
          <p:nvPr/>
        </p:nvCxnSpPr>
        <p:spPr>
          <a:xfrm rot="16200000" flipV="1">
            <a:off x="8825773" y="3492965"/>
            <a:ext cx="2009845" cy="1103263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Conector: Angulado 154">
            <a:extLst>
              <a:ext uri="{FF2B5EF4-FFF2-40B4-BE49-F238E27FC236}">
                <a16:creationId xmlns:a16="http://schemas.microsoft.com/office/drawing/2014/main" id="{5A151DB6-D422-4DB0-C0C7-9A83D0DE26C7}"/>
              </a:ext>
            </a:extLst>
          </p:cNvPr>
          <p:cNvCxnSpPr>
            <a:cxnSpLocks/>
            <a:stCxn id="148" idx="1"/>
          </p:cNvCxnSpPr>
          <p:nvPr/>
        </p:nvCxnSpPr>
        <p:spPr>
          <a:xfrm rot="10800000">
            <a:off x="8229278" y="5122254"/>
            <a:ext cx="970707" cy="327317"/>
          </a:xfrm>
          <a:prstGeom prst="bentConnector3">
            <a:avLst>
              <a:gd name="adj1" fmla="val 50000"/>
            </a:avLst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10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49" grpId="0" animBg="1"/>
      <p:bldP spid="152" grpId="0" animBg="1"/>
      <p:bldP spid="15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CD54F6-68C9-0431-1CF1-9509BC84B86E}"/>
              </a:ext>
            </a:extLst>
          </p:cNvPr>
          <p:cNvSpPr/>
          <p:nvPr/>
        </p:nvSpPr>
        <p:spPr>
          <a:xfrm>
            <a:off x="6447453" y="1096865"/>
            <a:ext cx="4049486" cy="14410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BB15B92-7FAB-1B91-B488-8C7FEFAAE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340468"/>
              </p:ext>
            </p:extLst>
          </p:nvPr>
        </p:nvGraphicFramePr>
        <p:xfrm>
          <a:off x="7083354" y="1514513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" name="Conector angulado 7">
            <a:extLst>
              <a:ext uri="{FF2B5EF4-FFF2-40B4-BE49-F238E27FC236}">
                <a16:creationId xmlns:a16="http://schemas.microsoft.com/office/drawing/2014/main" id="{292C7283-6EE4-87D5-4836-3C8C7DE78293}"/>
              </a:ext>
            </a:extLst>
          </p:cNvPr>
          <p:cNvCxnSpPr>
            <a:cxnSpLocks/>
            <a:stCxn id="3" idx="1"/>
          </p:cNvCxnSpPr>
          <p:nvPr/>
        </p:nvCxnSpPr>
        <p:spPr>
          <a:xfrm rot="10800000" flipV="1">
            <a:off x="6802016" y="1699933"/>
            <a:ext cx="281338" cy="3708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2" name="Conector angulado 13">
            <a:extLst>
              <a:ext uri="{FF2B5EF4-FFF2-40B4-BE49-F238E27FC236}">
                <a16:creationId xmlns:a16="http://schemas.microsoft.com/office/drawing/2014/main" id="{0811262E-F56E-8999-5DA3-3249BEFC6F3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9723376" y="1699933"/>
            <a:ext cx="281338" cy="37084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FB21A0C5-D0AD-8B62-E943-8AD997550352}"/>
              </a:ext>
            </a:extLst>
          </p:cNvPr>
          <p:cNvSpPr txBox="1"/>
          <p:nvPr/>
        </p:nvSpPr>
        <p:spPr>
          <a:xfrm>
            <a:off x="7467464" y="1154473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</a:t>
            </a:r>
          </a:p>
        </p:txBody>
      </p:sp>
      <p:sp>
        <p:nvSpPr>
          <p:cNvPr id="16" name="Retângulo: Cantos Superiores Recortados 15">
            <a:extLst>
              <a:ext uri="{FF2B5EF4-FFF2-40B4-BE49-F238E27FC236}">
                <a16:creationId xmlns:a16="http://schemas.microsoft.com/office/drawing/2014/main" id="{DCFBE039-2D4F-3148-D5E9-4819961F0A6B}"/>
              </a:ext>
            </a:extLst>
          </p:cNvPr>
          <p:cNvSpPr/>
          <p:nvPr/>
        </p:nvSpPr>
        <p:spPr>
          <a:xfrm rot="16200000">
            <a:off x="1577198" y="-1413853"/>
            <a:ext cx="649458" cy="3803845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Exemplo na prática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E08A45A-8772-8A57-20B2-E2E59A304BF4}"/>
              </a:ext>
            </a:extLst>
          </p:cNvPr>
          <p:cNvSpPr/>
          <p:nvPr/>
        </p:nvSpPr>
        <p:spPr>
          <a:xfrm>
            <a:off x="1473527" y="1220808"/>
            <a:ext cx="3340359" cy="13290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D4CEB7A5-78D0-382C-6CD6-C0BE6646E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99324"/>
              </p:ext>
            </p:extLst>
          </p:nvPr>
        </p:nvGraphicFramePr>
        <p:xfrm>
          <a:off x="2098680" y="1915951"/>
          <a:ext cx="170516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valor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Conector de seta reta 6">
            <a:extLst>
              <a:ext uri="{FF2B5EF4-FFF2-40B4-BE49-F238E27FC236}">
                <a16:creationId xmlns:a16="http://schemas.microsoft.com/office/drawing/2014/main" id="{D9597B9E-1372-D989-D924-8A165ECFD4AB}"/>
              </a:ext>
            </a:extLst>
          </p:cNvPr>
          <p:cNvCxnSpPr>
            <a:cxnSpLocks/>
          </p:cNvCxnSpPr>
          <p:nvPr/>
        </p:nvCxnSpPr>
        <p:spPr>
          <a:xfrm>
            <a:off x="3803849" y="2102125"/>
            <a:ext cx="442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D6735A51-243B-E37B-EC85-048DC7097D09}"/>
              </a:ext>
            </a:extLst>
          </p:cNvPr>
          <p:cNvSpPr txBox="1"/>
          <p:nvPr/>
        </p:nvSpPr>
        <p:spPr>
          <a:xfrm>
            <a:off x="1934100" y="1438113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Nó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E04A738-17B9-920F-2241-E76DFA66A003}"/>
              </a:ext>
            </a:extLst>
          </p:cNvPr>
          <p:cNvSpPr/>
          <p:nvPr/>
        </p:nvSpPr>
        <p:spPr>
          <a:xfrm>
            <a:off x="3265717" y="3510326"/>
            <a:ext cx="5327780" cy="2305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29" name="Tabela 28">
            <a:extLst>
              <a:ext uri="{FF2B5EF4-FFF2-40B4-BE49-F238E27FC236}">
                <a16:creationId xmlns:a16="http://schemas.microsoft.com/office/drawing/2014/main" id="{BBA224DA-FEB3-5E93-042E-9E6D9A954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127213"/>
              </p:ext>
            </p:extLst>
          </p:nvPr>
        </p:nvGraphicFramePr>
        <p:xfrm>
          <a:off x="4315275" y="4329412"/>
          <a:ext cx="2640022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2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" name="Conector angulado 7">
            <a:extLst>
              <a:ext uri="{FF2B5EF4-FFF2-40B4-BE49-F238E27FC236}">
                <a16:creationId xmlns:a16="http://schemas.microsoft.com/office/drawing/2014/main" id="{F25A96D9-5963-5408-AAB8-56F32BEDB138}"/>
              </a:ext>
            </a:extLst>
          </p:cNvPr>
          <p:cNvCxnSpPr>
            <a:cxnSpLocks/>
            <a:stCxn id="29" idx="1"/>
            <a:endCxn id="33" idx="0"/>
          </p:cNvCxnSpPr>
          <p:nvPr/>
        </p:nvCxnSpPr>
        <p:spPr>
          <a:xfrm rot="10800000" flipH="1" flipV="1">
            <a:off x="4315274" y="4514832"/>
            <a:ext cx="1321193" cy="685504"/>
          </a:xfrm>
          <a:prstGeom prst="bentConnector4">
            <a:avLst>
              <a:gd name="adj1" fmla="val -17303"/>
              <a:gd name="adj2" fmla="val 63524"/>
            </a:avLst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1" name="Conector angulado 13">
            <a:extLst>
              <a:ext uri="{FF2B5EF4-FFF2-40B4-BE49-F238E27FC236}">
                <a16:creationId xmlns:a16="http://schemas.microsoft.com/office/drawing/2014/main" id="{81B1C29B-D14D-1E79-8D28-0E66B6D4A1DE}"/>
              </a:ext>
            </a:extLst>
          </p:cNvPr>
          <p:cNvCxnSpPr>
            <a:cxnSpLocks/>
            <a:stCxn id="29" idx="3"/>
            <a:endCxn id="33" idx="0"/>
          </p:cNvCxnSpPr>
          <p:nvPr/>
        </p:nvCxnSpPr>
        <p:spPr>
          <a:xfrm flipH="1">
            <a:off x="5636468" y="4514832"/>
            <a:ext cx="1318829" cy="685504"/>
          </a:xfrm>
          <a:prstGeom prst="bentConnector4">
            <a:avLst>
              <a:gd name="adj1" fmla="val -17334"/>
              <a:gd name="adj2" fmla="val 63524"/>
            </a:avLst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1B0D8D5B-D8F3-70DE-F101-544423FCB6E7}"/>
              </a:ext>
            </a:extLst>
          </p:cNvPr>
          <p:cNvSpPr txBox="1"/>
          <p:nvPr/>
        </p:nvSpPr>
        <p:spPr>
          <a:xfrm>
            <a:off x="4699385" y="3969372"/>
            <a:ext cx="20343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Abadi" panose="020B0604020104020204" pitchFamily="34" charset="0"/>
              </a:rPr>
              <a:t>Lista</a:t>
            </a:r>
          </a:p>
        </p:txBody>
      </p:sp>
      <p:graphicFrame>
        <p:nvGraphicFramePr>
          <p:cNvPr id="33" name="Tabela 32">
            <a:extLst>
              <a:ext uri="{FF2B5EF4-FFF2-40B4-BE49-F238E27FC236}">
                <a16:creationId xmlns:a16="http://schemas.microsoft.com/office/drawing/2014/main" id="{55EB833E-2705-526D-7429-8FD6162EF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897677"/>
              </p:ext>
            </p:extLst>
          </p:nvPr>
        </p:nvGraphicFramePr>
        <p:xfrm>
          <a:off x="4783884" y="5200336"/>
          <a:ext cx="1705169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727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7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prox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Conector de seta reta 6">
            <a:extLst>
              <a:ext uri="{FF2B5EF4-FFF2-40B4-BE49-F238E27FC236}">
                <a16:creationId xmlns:a16="http://schemas.microsoft.com/office/drawing/2014/main" id="{38BEFD7A-04A5-A47D-CD5B-8D057BF91E59}"/>
              </a:ext>
            </a:extLst>
          </p:cNvPr>
          <p:cNvCxnSpPr>
            <a:cxnSpLocks/>
          </p:cNvCxnSpPr>
          <p:nvPr/>
        </p:nvCxnSpPr>
        <p:spPr>
          <a:xfrm>
            <a:off x="6586135" y="5385756"/>
            <a:ext cx="44273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F8827B2-3696-BF4D-70DE-3A9A685D3967}"/>
              </a:ext>
            </a:extLst>
          </p:cNvPr>
          <p:cNvSpPr txBox="1"/>
          <p:nvPr/>
        </p:nvSpPr>
        <p:spPr>
          <a:xfrm>
            <a:off x="7125953" y="5200336"/>
            <a:ext cx="936104" cy="369332"/>
          </a:xfrm>
          <a:prstGeom prst="rect">
            <a:avLst/>
          </a:prstGeom>
          <a:solidFill>
            <a:srgbClr val="E7E7E7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b="1" dirty="0">
                <a:latin typeface="Abadi" panose="020B0604020104020204" pitchFamily="34" charset="0"/>
              </a:rPr>
              <a:t>NULO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89D063D7-B786-8FB2-A6CD-3930F16C7FE0}"/>
              </a:ext>
            </a:extLst>
          </p:cNvPr>
          <p:cNvSpPr txBox="1"/>
          <p:nvPr/>
        </p:nvSpPr>
        <p:spPr>
          <a:xfrm>
            <a:off x="3265717" y="3103670"/>
            <a:ext cx="5327780" cy="369332"/>
          </a:xfrm>
          <a:prstGeom prst="rect">
            <a:avLst/>
          </a:prstGeom>
          <a:noFill/>
          <a:ln w="28575">
            <a:solidFill>
              <a:srgbClr val="123D52"/>
            </a:solidFill>
          </a:ln>
        </p:spPr>
        <p:txBody>
          <a:bodyPr wrap="square">
            <a:spAutoFit/>
          </a:bodyPr>
          <a:lstStyle/>
          <a:p>
            <a:r>
              <a:rPr lang="pt-BR" dirty="0">
                <a:latin typeface="Abadi" panose="020B0604020104020204" pitchFamily="34" charset="0"/>
              </a:rPr>
              <a:t>Inserir o Primeiro Valor:</a:t>
            </a:r>
          </a:p>
        </p:txBody>
      </p:sp>
    </p:spTree>
    <p:extLst>
      <p:ext uri="{BB962C8B-B14F-4D97-AF65-F5344CB8AC3E}">
        <p14:creationId xmlns:p14="http://schemas.microsoft.com/office/powerpoint/2010/main" val="118182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9" grpId="0" animBg="1"/>
      <p:bldP spid="25" grpId="0" animBg="1"/>
      <p:bldP spid="28" grpId="0" animBg="1"/>
      <p:bldP spid="32" grpId="0" animBg="1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CCAB-D307-E685-1D76-2AC4D45B8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: Cantos Superiores Recortados 15">
            <a:extLst>
              <a:ext uri="{FF2B5EF4-FFF2-40B4-BE49-F238E27FC236}">
                <a16:creationId xmlns:a16="http://schemas.microsoft.com/office/drawing/2014/main" id="{C317AFDD-10ED-7828-6A0A-D275C6AE1477}"/>
              </a:ext>
            </a:extLst>
          </p:cNvPr>
          <p:cNvSpPr/>
          <p:nvPr/>
        </p:nvSpPr>
        <p:spPr>
          <a:xfrm rot="16200000">
            <a:off x="3925369" y="-3762023"/>
            <a:ext cx="649458" cy="8500186"/>
          </a:xfrm>
          <a:prstGeom prst="snip2SameRect">
            <a:avLst>
              <a:gd name="adj1" fmla="val 0"/>
              <a:gd name="adj2" fmla="val 15195"/>
            </a:avLst>
          </a:prstGeom>
          <a:solidFill>
            <a:srgbClr val="123D52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2800" dirty="0">
                <a:latin typeface="Abadi" panose="020B0604020104020204" pitchFamily="34" charset="0"/>
              </a:rPr>
              <a:t>Questão: Gerenciamento de Tarefas com Prioridade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4F00BA-0889-1E24-0AB4-7C931591561A}"/>
              </a:ext>
            </a:extLst>
          </p:cNvPr>
          <p:cNvSpPr txBox="1"/>
          <p:nvPr/>
        </p:nvSpPr>
        <p:spPr>
          <a:xfrm>
            <a:off x="93306" y="951723"/>
            <a:ext cx="542652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000" dirty="0">
                <a:latin typeface="Abadi" panose="020B0604020104020204" pitchFamily="34" charset="0"/>
              </a:rPr>
              <a:t>Implemente uma </a:t>
            </a:r>
            <a:r>
              <a:rPr lang="pt-BR" sz="2000" b="1" dirty="0">
                <a:latin typeface="Abadi" panose="020B0604020104020204" pitchFamily="34" charset="0"/>
              </a:rPr>
              <a:t>lista encadeada</a:t>
            </a:r>
            <a:r>
              <a:rPr lang="pt-BR" sz="2000" dirty="0">
                <a:latin typeface="Abadi" panose="020B0604020104020204" pitchFamily="34" charset="0"/>
              </a:rPr>
              <a:t> para gerenciar uma </a:t>
            </a:r>
            <a:r>
              <a:rPr lang="pt-BR" sz="2000" b="1" dirty="0">
                <a:latin typeface="Abadi" panose="020B0604020104020204" pitchFamily="34" charset="0"/>
              </a:rPr>
              <a:t>lista de tarefas</a:t>
            </a:r>
            <a:r>
              <a:rPr lang="pt-BR" sz="2000" dirty="0">
                <a:latin typeface="Abadi" panose="020B0604020104020204" pitchFamily="34" charset="0"/>
              </a:rPr>
              <a:t>. Cada tarefa tem uma descrição e um nível de urgência (</a:t>
            </a:r>
            <a:r>
              <a:rPr lang="pt-BR" sz="2000" b="1" dirty="0" err="1">
                <a:latin typeface="Abadi" panose="020B0604020104020204" pitchFamily="34" charset="0"/>
              </a:rPr>
              <a:t>true</a:t>
            </a:r>
            <a:r>
              <a:rPr lang="pt-BR" sz="2000" dirty="0">
                <a:latin typeface="Abadi" panose="020B0604020104020204" pitchFamily="34" charset="0"/>
              </a:rPr>
              <a:t> para urgente, </a:t>
            </a:r>
            <a:r>
              <a:rPr lang="pt-BR" sz="2000" b="1" dirty="0">
                <a:latin typeface="Abadi" panose="020B0604020104020204" pitchFamily="34" charset="0"/>
              </a:rPr>
              <a:t>false</a:t>
            </a:r>
            <a:r>
              <a:rPr lang="pt-BR" sz="2000" dirty="0">
                <a:latin typeface="Abadi" panose="020B0604020104020204" pitchFamily="34" charset="0"/>
              </a:rPr>
              <a:t> para normal).</a:t>
            </a:r>
          </a:p>
          <a:p>
            <a:pPr algn="just"/>
            <a:endParaRPr lang="pt-BR" sz="2000" dirty="0">
              <a:latin typeface="Abadi" panose="020B0604020104020204" pitchFamily="34" charset="0"/>
            </a:endParaRPr>
          </a:p>
          <a:p>
            <a:pPr algn="just"/>
            <a:r>
              <a:rPr lang="pt-BR" sz="2000" b="1" dirty="0">
                <a:latin typeface="Abadi" panose="020B0604020104020204" pitchFamily="34" charset="0"/>
              </a:rPr>
              <a:t>Regras: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pt-BR" sz="2000" b="1" dirty="0">
                <a:latin typeface="Abadi" panose="020B0604020104020204" pitchFamily="34" charset="0"/>
              </a:rPr>
              <a:t>Se a tarefa for urgente</a:t>
            </a:r>
            <a:r>
              <a:rPr lang="pt-BR" sz="2000" dirty="0">
                <a:latin typeface="Abadi" panose="020B0604020104020204" pitchFamily="34" charset="0"/>
              </a:rPr>
              <a:t>, ela deve ser adicionada no início da lista.</a:t>
            </a:r>
          </a:p>
          <a:p>
            <a:pPr marL="342900" indent="-342900" algn="just">
              <a:buFont typeface="+mj-lt"/>
              <a:buAutoNum type="arabicPeriod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2000" b="1" dirty="0">
                <a:latin typeface="Abadi" panose="020B0604020104020204" pitchFamily="34" charset="0"/>
              </a:rPr>
              <a:t>Se a tarefa for normal</a:t>
            </a:r>
            <a:r>
              <a:rPr lang="pt-BR" sz="2000" dirty="0">
                <a:latin typeface="Abadi" panose="020B0604020104020204" pitchFamily="34" charset="0"/>
              </a:rPr>
              <a:t>, ela deve ser adicionada no fim da lista.</a:t>
            </a:r>
          </a:p>
          <a:p>
            <a:pPr marL="342900" indent="-342900" algn="just">
              <a:buFont typeface="+mj-lt"/>
              <a:buAutoNum type="arabicPeriod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2000" b="1" dirty="0">
                <a:latin typeface="Abadi" panose="020B0604020104020204" pitchFamily="34" charset="0"/>
              </a:rPr>
              <a:t>Remover a tarefa mais antiga</a:t>
            </a:r>
            <a:r>
              <a:rPr lang="pt-BR" sz="2000" dirty="0">
                <a:latin typeface="Abadi" panose="020B0604020104020204" pitchFamily="34" charset="0"/>
              </a:rPr>
              <a:t> (a do início da lista).</a:t>
            </a:r>
          </a:p>
          <a:p>
            <a:pPr marL="342900" indent="-342900" algn="just">
              <a:buFont typeface="+mj-lt"/>
              <a:buAutoNum type="arabicPeriod"/>
            </a:pPr>
            <a:endParaRPr lang="pt-BR" sz="2000" dirty="0">
              <a:latin typeface="Abadi" panose="020B0604020104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t-BR" sz="2000" b="1" dirty="0">
                <a:latin typeface="Abadi" panose="020B0604020104020204" pitchFamily="34" charset="0"/>
              </a:rPr>
              <a:t>Exibir todas as tarefas</a:t>
            </a:r>
            <a:r>
              <a:rPr lang="pt-BR" sz="2000" dirty="0">
                <a:latin typeface="Abadi" panose="020B0604020104020204" pitchFamily="34" charset="0"/>
              </a:rPr>
              <a:t> na ordem em que devem ser concluídas.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66B86D4-0AF1-DC74-98A8-4BCDAF57B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409" y="1155913"/>
            <a:ext cx="6268900" cy="373568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D8FB6A-AC3B-54B7-D5B7-A0BD6FD2A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9840" y="3756400"/>
            <a:ext cx="3284044" cy="272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118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Personalizada 2">
      <a:dk1>
        <a:srgbClr val="0C101C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8C67361DBE7D944AD858223D4CAF603" ma:contentTypeVersion="3" ma:contentTypeDescription="Crie um novo documento." ma:contentTypeScope="" ma:versionID="b2c010e37c8d437adfa72cc06fc89f10">
  <xsd:schema xmlns:xsd="http://www.w3.org/2001/XMLSchema" xmlns:xs="http://www.w3.org/2001/XMLSchema" xmlns:p="http://schemas.microsoft.com/office/2006/metadata/properties" xmlns:ns2="7b76103c-d6e0-4e2e-819a-fe104c886131" targetNamespace="http://schemas.microsoft.com/office/2006/metadata/properties" ma:root="true" ma:fieldsID="430cfa03dd1b8b020d8472fbc3b2d459" ns2:_="">
    <xsd:import namespace="7b76103c-d6e0-4e2e-819a-fe104c886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76103c-d6e0-4e2e-819a-fe104c886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56D1FA-67B5-4E24-8FF4-2BD364DF8F8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064F48-AB6E-4B9D-8B1B-C56ED636A95C}"/>
</file>

<file path=customXml/itemProps3.xml><?xml version="1.0" encoding="utf-8"?>
<ds:datastoreItem xmlns:ds="http://schemas.openxmlformats.org/officeDocument/2006/customXml" ds:itemID="{806052DC-AA84-4A79-B8F1-841C5C005AC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12814</TotalTime>
  <Words>491</Words>
  <Application>Microsoft Office PowerPoint</Application>
  <PresentationFormat>Widescreen</PresentationFormat>
  <Paragraphs>146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Abadi</vt:lpstr>
      <vt:lpstr>Arial</vt:lpstr>
      <vt:lpstr>Calibri</vt:lpstr>
      <vt:lpstr>Calibri Light</vt:lpstr>
      <vt:lpstr>Wingdings</vt:lpstr>
      <vt:lpstr>Tema do Office</vt:lpstr>
      <vt:lpstr>Estrutura de Dados Aula 7: Questões Listas Lineares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Vinícius José Lopes Cursino</dc:creator>
  <cp:lastModifiedBy>Vinícius José Lopes Cursino</cp:lastModifiedBy>
  <cp:revision>159</cp:revision>
  <dcterms:created xsi:type="dcterms:W3CDTF">2024-11-05T22:56:10Z</dcterms:created>
  <dcterms:modified xsi:type="dcterms:W3CDTF">2026-02-23T21:40:24Z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0x01010068C67361DBE7D944AD858223D4CAF603</vt:lpwstr>
  </property>
</Properties>
</file>