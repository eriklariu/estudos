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7" r:id="rId12"/>
    <p:sldId id="265" r:id="rId13"/>
    <p:sldId id="268" r:id="rId14"/>
    <p:sldId id="263" r:id="rId15"/>
    <p:sldId id="266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688D"/>
    <a:srgbClr val="123D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D8DAC-4163-4A93-B9FE-6F78A3211556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2F066-25E8-48A3-A74B-850C363E18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4180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2F066-25E8-48A3-A74B-850C363E18E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4437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78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7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82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60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58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46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26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1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36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97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99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5F5F1-592D-4F5E-BEF8-26440F16569E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926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ADF5B1-E9DA-EEF5-C245-EE90098EC5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7" b="6865"/>
          <a:stretch/>
        </p:blipFill>
        <p:spPr bwMode="auto">
          <a:xfrm>
            <a:off x="-129540" y="0"/>
            <a:ext cx="123215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920C71-0C6B-67A1-FA2E-EB93D6115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429000"/>
            <a:ext cx="7484706" cy="2387600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Estrutura de Dados</a:t>
            </a:r>
            <a:br>
              <a:rPr lang="pt-BR" dirty="0">
                <a:latin typeface="Abadi" panose="020B0604020104020204" pitchFamily="34" charset="0"/>
              </a:rPr>
            </a:br>
            <a:r>
              <a:rPr lang="pt-BR">
                <a:latin typeface="Abadi" panose="020B0604020104020204" pitchFamily="34" charset="0"/>
              </a:rPr>
              <a:t>Aula 3: </a:t>
            </a:r>
            <a:r>
              <a:rPr lang="pt-BR" dirty="0">
                <a:latin typeface="Abadi" panose="020B0604020104020204" pitchFamily="34" charset="0"/>
              </a:rPr>
              <a:t>Recursividade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51ADBE-F611-60E0-63DF-674DC817D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5908675"/>
            <a:ext cx="7484705" cy="40079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Professor: Vinicius Cursino</a:t>
            </a:r>
          </a:p>
        </p:txBody>
      </p:sp>
    </p:spTree>
    <p:extLst>
      <p:ext uri="{BB962C8B-B14F-4D97-AF65-F5344CB8AC3E}">
        <p14:creationId xmlns:p14="http://schemas.microsoft.com/office/powerpoint/2010/main" val="20289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1822AD41-7E25-8658-28D6-7CDEC8D98F35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O que é Recursividade?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307461-92DB-4E34-0A22-84CE9440B4D7}"/>
              </a:ext>
            </a:extLst>
          </p:cNvPr>
          <p:cNvSpPr txBox="1"/>
          <p:nvPr/>
        </p:nvSpPr>
        <p:spPr>
          <a:xfrm>
            <a:off x="102637" y="1006786"/>
            <a:ext cx="6186196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dirty="0">
                <a:latin typeface="Abadi" panose="020B0604020104020204" pitchFamily="34" charset="0"/>
              </a:rPr>
              <a:t>Recursividade é uma técnica de programação em que uma </a:t>
            </a:r>
            <a:r>
              <a:rPr lang="pt-BR" u="sng" dirty="0">
                <a:latin typeface="Abadi" panose="020B0604020104020204" pitchFamily="34" charset="0"/>
              </a:rPr>
              <a:t>função chama a si mesma para resolver um problema</a:t>
            </a:r>
            <a:r>
              <a:rPr lang="pt-BR" dirty="0">
                <a:latin typeface="Abadi" panose="020B0604020104020204" pitchFamily="34" charset="0"/>
              </a:rPr>
              <a:t>. Em vez de repetir instruções sequencialmente (como em um loop), uma função recursiva </a:t>
            </a:r>
            <a:r>
              <a:rPr lang="pt-BR" u="sng" dirty="0">
                <a:latin typeface="Abadi" panose="020B0604020104020204" pitchFamily="34" charset="0"/>
              </a:rPr>
              <a:t>divide o problema em subproblemas menores e chama a si mesma para resolver cada um deles</a:t>
            </a:r>
            <a:r>
              <a:rPr lang="pt-BR" dirty="0">
                <a:latin typeface="Abadi" panose="020B0604020104020204" pitchFamily="34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dirty="0">
              <a:latin typeface="Abadi" panose="020B0604020104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dirty="0">
                <a:latin typeface="Abadi" panose="020B0604020104020204" pitchFamily="34" charset="0"/>
              </a:rPr>
              <a:t>A estrutura de uma função recursiva geralmente tem duas partes principais: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dirty="0">
              <a:latin typeface="Abadi" panose="020B0604020104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b="1" dirty="0">
                <a:latin typeface="Abadi" panose="020B0604020104020204" pitchFamily="34" charset="0"/>
              </a:rPr>
              <a:t>Caso Base (ou Condição de Parada):</a:t>
            </a:r>
            <a:r>
              <a:rPr lang="pt-BR" dirty="0">
                <a:latin typeface="Abadi" panose="020B0604020104020204" pitchFamily="34" charset="0"/>
              </a:rPr>
              <a:t> Define quando a função </a:t>
            </a:r>
            <a:r>
              <a:rPr lang="pt-BR" u="sng" dirty="0">
                <a:latin typeface="Abadi" panose="020B0604020104020204" pitchFamily="34" charset="0"/>
              </a:rPr>
              <a:t>deve parar de chamar a si mesma</a:t>
            </a:r>
            <a:r>
              <a:rPr lang="pt-BR" dirty="0">
                <a:latin typeface="Abadi" panose="020B0604020104020204" pitchFamily="34" charset="0"/>
              </a:rPr>
              <a:t>. Sem isso, a recursão se tornaria infinita, resultando em um erro (como um estouro de pilha).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latin typeface="Abadi" panose="020B0604020104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b="1" dirty="0">
                <a:latin typeface="Abadi" panose="020B0604020104020204" pitchFamily="34" charset="0"/>
              </a:rPr>
              <a:t>Passo Recursivo:</a:t>
            </a:r>
            <a:r>
              <a:rPr lang="pt-BR" dirty="0">
                <a:latin typeface="Abadi" panose="020B0604020104020204" pitchFamily="34" charset="0"/>
              </a:rPr>
              <a:t> </a:t>
            </a:r>
            <a:r>
              <a:rPr lang="pt-BR" u="sng" dirty="0">
                <a:latin typeface="Abadi" panose="020B0604020104020204" pitchFamily="34" charset="0"/>
              </a:rPr>
              <a:t>Chama a função novamente</a:t>
            </a:r>
            <a:r>
              <a:rPr lang="pt-BR" dirty="0">
                <a:latin typeface="Abadi" panose="020B0604020104020204" pitchFamily="34" charset="0"/>
              </a:rPr>
              <a:t>, mas em uma versão </a:t>
            </a:r>
            <a:r>
              <a:rPr lang="pt-BR" u="sng" dirty="0">
                <a:latin typeface="Abadi" panose="020B0604020104020204" pitchFamily="34" charset="0"/>
              </a:rPr>
              <a:t>simplificada ou reduzida </a:t>
            </a:r>
            <a:r>
              <a:rPr lang="pt-BR" dirty="0">
                <a:latin typeface="Abadi" panose="020B0604020104020204" pitchFamily="34" charset="0"/>
              </a:rPr>
              <a:t>do problema original, de modo que cada chamada recursiva se aproxime do caso base.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3E54F85-0DC2-1D2D-C7B8-484CAAB9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131" y="1006786"/>
            <a:ext cx="5594647" cy="569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83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5B103-B551-763B-1837-F9E42E4FC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atorial: o que é, como resolver, simplificação - Brasil Escola">
            <a:extLst>
              <a:ext uri="{FF2B5EF4-FFF2-40B4-BE49-F238E27FC236}">
                <a16:creationId xmlns:a16="http://schemas.microsoft.com/office/drawing/2014/main" id="{20534FED-1150-30E2-92F9-957692041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14" b="95810" l="1500" r="96500">
                        <a14:foregroundMark x1="14167" y1="17333" x2="14000" y2="36762"/>
                        <a14:foregroundMark x1="14000" y1="36762" x2="47000" y2="38095"/>
                        <a14:foregroundMark x1="47000" y1="38095" x2="48000" y2="56000"/>
                        <a14:foregroundMark x1="48000" y1="56000" x2="61000" y2="41333"/>
                        <a14:foregroundMark x1="74667" y1="20381" x2="77000" y2="55048"/>
                        <a14:foregroundMark x1="77000" y1="55048" x2="46500" y2="87048"/>
                        <a14:foregroundMark x1="46500" y1="87048" x2="5667" y2="92190"/>
                        <a14:foregroundMark x1="5667" y1="92190" x2="4167" y2="24952"/>
                        <a14:foregroundMark x1="4167" y1="24952" x2="5667" y2="14286"/>
                        <a14:foregroundMark x1="5667" y1="14286" x2="10000" y2="5143"/>
                        <a14:foregroundMark x1="10000" y1="5143" x2="27833" y2="11619"/>
                        <a14:foregroundMark x1="27833" y1="11619" x2="51333" y2="12571"/>
                        <a14:foregroundMark x1="51333" y1="12571" x2="77167" y2="9714"/>
                        <a14:foregroundMark x1="77167" y1="9714" x2="85167" y2="4381"/>
                        <a14:foregroundMark x1="85167" y1="4381" x2="95833" y2="7619"/>
                        <a14:foregroundMark x1="95833" y1="7619" x2="95000" y2="86095"/>
                        <a14:foregroundMark x1="95000" y1="86095" x2="87667" y2="93524"/>
                        <a14:foregroundMark x1="87667" y1="93524" x2="12833" y2="92571"/>
                        <a14:foregroundMark x1="12833" y1="92571" x2="7833" y2="72762"/>
                        <a14:foregroundMark x1="7833" y1="72762" x2="12833" y2="16190"/>
                        <a14:foregroundMark x1="12833" y1="16190" x2="10333" y2="47238"/>
                        <a14:foregroundMark x1="10333" y1="47238" x2="16833" y2="76952"/>
                        <a14:foregroundMark x1="16833" y1="76952" x2="32833" y2="17905"/>
                        <a14:foregroundMark x1="32833" y1="17905" x2="36000" y2="65714"/>
                        <a14:foregroundMark x1="36000" y1="65714" x2="40333" y2="77714"/>
                        <a14:foregroundMark x1="40333" y1="77714" x2="51333" y2="15048"/>
                        <a14:foregroundMark x1="51333" y1="15048" x2="20167" y2="7810"/>
                        <a14:foregroundMark x1="20167" y1="7810" x2="34167" y2="2667"/>
                        <a14:foregroundMark x1="34167" y1="2667" x2="77667" y2="3810"/>
                        <a14:foregroundMark x1="77667" y1="3810" x2="84500" y2="11810"/>
                        <a14:foregroundMark x1="84500" y1="11810" x2="77833" y2="34857"/>
                        <a14:foregroundMark x1="77833" y1="34857" x2="38333" y2="36571"/>
                        <a14:foregroundMark x1="38333" y1="36571" x2="22833" y2="27048"/>
                        <a14:foregroundMark x1="22833" y1="27048" x2="7333" y2="4952"/>
                        <a14:foregroundMark x1="7333" y1="4952" x2="1000" y2="12000"/>
                        <a14:foregroundMark x1="1000" y1="12000" x2="2000" y2="68381"/>
                        <a14:foregroundMark x1="2000" y1="68381" x2="12000" y2="76952"/>
                        <a14:foregroundMark x1="12000" y1="76952" x2="42667" y2="77905"/>
                        <a14:foregroundMark x1="42667" y1="77905" x2="67167" y2="75810"/>
                        <a14:foregroundMark x1="67167" y1="75810" x2="81000" y2="51810"/>
                        <a14:foregroundMark x1="81000" y1="51810" x2="85500" y2="78286"/>
                        <a14:foregroundMark x1="85500" y1="78286" x2="89500" y2="67619"/>
                        <a14:foregroundMark x1="89500" y1="67619" x2="92000" y2="89905"/>
                        <a14:foregroundMark x1="92000" y1="89905" x2="79333" y2="95810"/>
                        <a14:foregroundMark x1="79333" y1="95810" x2="59000" y2="95619"/>
                        <a14:foregroundMark x1="59000" y1="95619" x2="58667" y2="55048"/>
                        <a14:foregroundMark x1="58667" y1="55048" x2="74833" y2="52000"/>
                        <a14:foregroundMark x1="74833" y1="52000" x2="46500" y2="34857"/>
                        <a14:foregroundMark x1="46500" y1="34857" x2="68333" y2="26476"/>
                        <a14:foregroundMark x1="3833" y1="8952" x2="4000" y2="52000"/>
                        <a14:foregroundMark x1="3333" y1="93333" x2="3500" y2="84000"/>
                        <a14:foregroundMark x1="17833" y1="3810" x2="31000" y2="4190"/>
                        <a14:foregroundMark x1="96000" y1="12381" x2="96500" y2="33143"/>
                        <a14:foregroundMark x1="9167" y1="95048" x2="14500" y2="95619"/>
                        <a14:foregroundMark x1="1500" y1="72952" x2="2167" y2="82286"/>
                        <a14:foregroundMark x1="12667" y1="94286" x2="34500" y2="95238"/>
                        <a14:foregroundMark x1="34500" y1="95238" x2="55833" y2="94476"/>
                        <a14:foregroundMark x1="55833" y1="94476" x2="78500" y2="95238"/>
                        <a14:foregroundMark x1="78500" y1="95238" x2="89333" y2="94857"/>
                        <a14:foregroundMark x1="89333" y1="94857" x2="95500" y2="86095"/>
                        <a14:foregroundMark x1="95500" y1="86095" x2="95500" y2="85524"/>
                        <a14:foregroundMark x1="87667" y1="95810" x2="95167" y2="88190"/>
                        <a14:foregroundMark x1="95167" y1="88190" x2="95167" y2="87619"/>
                        <a14:foregroundMark x1="91500" y1="94857" x2="94667" y2="93524"/>
                        <a14:foregroundMark x1="94667" y1="95048" x2="96167" y2="92000"/>
                        <a14:foregroundMark x1="96500" y1="7810" x2="88500" y2="2857"/>
                        <a14:foregroundMark x1="88500" y1="2857" x2="80667" y2="4190"/>
                        <a14:foregroundMark x1="85667" y1="1714" x2="85667" y2="1714"/>
                        <a14:foregroundMark x1="13667" y1="3048" x2="13667" y2="3048"/>
                        <a14:foregroundMark x1="9833" y1="3238" x2="9833" y2="3238"/>
                        <a14:foregroundMark x1="12333" y1="1714" x2="12333" y2="1714"/>
                        <a14:foregroundMark x1="5167" y1="3429" x2="5167" y2="3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437" y="751840"/>
            <a:ext cx="5715000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EE94813E-3B54-AF9D-E7E8-17EDE1DC7C59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Vamos a um exemplo...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511D311F-B9DE-9F23-E9C6-FDD48C3FA442}"/>
                  </a:ext>
                </a:extLst>
              </p:cNvPr>
              <p:cNvSpPr txBox="1"/>
              <p:nvPr/>
            </p:nvSpPr>
            <p:spPr>
              <a:xfrm>
                <a:off x="102637" y="885483"/>
                <a:ext cx="630749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pt-BR" dirty="0">
                    <a:latin typeface="Abadi" panose="020B0604020104020204" pitchFamily="34" charset="0"/>
                  </a:rPr>
                  <a:t>Um exemplo clássico de recursividade é o cálculo do fatorial de um número. O fatorial de um número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 (escrito como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pt-BR" dirty="0">
                    <a:latin typeface="Abadi" panose="020B0604020104020204" pitchFamily="34" charset="0"/>
                  </a:rPr>
                  <a:t>!) é o produto de todos os números inteiros positivos menores ou iguais a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pt-BR" dirty="0">
                    <a:latin typeface="Abadi" panose="020B0604020104020204" pitchFamily="34" charset="0"/>
                  </a:rPr>
                  <a:t>.</a:t>
                </a:r>
                <a:endParaRPr lang="pt-BR" sz="2000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511D311F-B9DE-9F23-E9C6-FDD48C3FA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7" y="885483"/>
                <a:ext cx="6307494" cy="1200329"/>
              </a:xfrm>
              <a:prstGeom prst="rect">
                <a:avLst/>
              </a:prstGeom>
              <a:blipFill>
                <a:blip r:embed="rId4"/>
                <a:stretch>
                  <a:fillRect l="-676" t="-2538" r="-773" b="-71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8D496A0-7639-6A09-A3E0-4E1BE62079E4}"/>
                  </a:ext>
                </a:extLst>
              </p:cNvPr>
              <p:cNvSpPr txBox="1"/>
              <p:nvPr/>
            </p:nvSpPr>
            <p:spPr>
              <a:xfrm>
                <a:off x="349898" y="2332848"/>
                <a:ext cx="606023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>
                    <a:latin typeface="Abadi" panose="020B0604020104020204" pitchFamily="34" charset="0"/>
                  </a:rPr>
                  <a:t>A fórmula matemática do fatorial é: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pt-BR" dirty="0"/>
                  <a:t>	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!=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pt-BR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pt-B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8D496A0-7639-6A09-A3E0-4E1BE6207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98" y="2332848"/>
                <a:ext cx="6060233" cy="923330"/>
              </a:xfrm>
              <a:prstGeom prst="rect">
                <a:avLst/>
              </a:prstGeom>
              <a:blipFill>
                <a:blip r:embed="rId5"/>
                <a:stretch>
                  <a:fillRect l="-804" t="-39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602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EB038-C604-4453-D423-A91A233E9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41C776C1-D280-D1B9-4B4F-C813E20086EA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Vamos a um exemplo...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36DA752-2A8D-756D-A1CF-B38BBBA36C3B}"/>
                  </a:ext>
                </a:extLst>
              </p:cNvPr>
              <p:cNvSpPr txBox="1"/>
              <p:nvPr/>
            </p:nvSpPr>
            <p:spPr>
              <a:xfrm>
                <a:off x="102636" y="885483"/>
                <a:ext cx="1193385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pt-BR" dirty="0">
                    <a:latin typeface="Abadi" panose="020B0604020104020204" pitchFamily="34" charset="0"/>
                  </a:rPr>
                  <a:t>Um exemplo clássico de recursividade é o cálculo do fatorial de um número. O fatorial de um número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 (escrito como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pt-BR" dirty="0">
                    <a:latin typeface="Abadi" panose="020B0604020104020204" pitchFamily="34" charset="0"/>
                  </a:rPr>
                  <a:t>!) é o produto de todos os números inteiros positivos menores ou iguais a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pt-BR" dirty="0">
                    <a:latin typeface="Abadi" panose="020B0604020104020204" pitchFamily="34" charset="0"/>
                  </a:rPr>
                  <a:t>.</a:t>
                </a:r>
                <a:endParaRPr lang="pt-BR" sz="2000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36DA752-2A8D-756D-A1CF-B38BBBA36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6" y="885483"/>
                <a:ext cx="11933853" cy="646331"/>
              </a:xfrm>
              <a:prstGeom prst="rect">
                <a:avLst/>
              </a:prstGeom>
              <a:blipFill>
                <a:blip r:embed="rId2"/>
                <a:stretch>
                  <a:fillRect l="-358" t="-4717" r="-460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9D2FE5E-2D84-B37D-905F-522F4939D302}"/>
                  </a:ext>
                </a:extLst>
              </p:cNvPr>
              <p:cNvSpPr txBox="1"/>
              <p:nvPr/>
            </p:nvSpPr>
            <p:spPr>
              <a:xfrm>
                <a:off x="443204" y="1633052"/>
                <a:ext cx="606023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>
                    <a:latin typeface="Abadi" panose="020B0604020104020204" pitchFamily="34" charset="0"/>
                  </a:rPr>
                  <a:t>A fórmula matemática do fatorial é: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pt-BR" dirty="0"/>
                  <a:t>	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!=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pt-BR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r>
                  <a:rPr lang="pt-BR" dirty="0">
                    <a:latin typeface="Abadi" panose="020B0604020104020204" pitchFamily="34" charset="0"/>
                  </a:rPr>
                  <a:t>Exemplos:</a:t>
                </a: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9D2FE5E-2D84-B37D-905F-522F4939D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04" y="1633052"/>
                <a:ext cx="6060233" cy="1200329"/>
              </a:xfrm>
              <a:prstGeom prst="rect">
                <a:avLst/>
              </a:prstGeom>
              <a:blipFill>
                <a:blip r:embed="rId3"/>
                <a:stretch>
                  <a:fillRect l="-905" t="-3046" b="-71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4BB2C3D3-EA6F-5958-6380-902F0AD19061}"/>
              </a:ext>
            </a:extLst>
          </p:cNvPr>
          <p:cNvSpPr txBox="1"/>
          <p:nvPr/>
        </p:nvSpPr>
        <p:spPr>
          <a:xfrm>
            <a:off x="443203" y="2911439"/>
            <a:ext cx="5155163" cy="3385542"/>
          </a:xfrm>
          <a:prstGeom prst="rect">
            <a:avLst/>
          </a:prstGeom>
          <a:noFill/>
          <a:ln w="38100">
            <a:solidFill>
              <a:srgbClr val="1F688D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Cálculo de 3! (3 fatorial)</a:t>
            </a:r>
          </a:p>
          <a:p>
            <a:r>
              <a:rPr lang="pt-BR" dirty="0">
                <a:latin typeface="Abadi" panose="020B0604020104020204" pitchFamily="34" charset="0"/>
              </a:rPr>
              <a:t>Para 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n = 3</a:t>
            </a:r>
            <a:r>
              <a:rPr lang="pt-BR" dirty="0">
                <a:latin typeface="Abadi" panose="020B0604020104020204" pitchFamily="34" charset="0"/>
              </a:rPr>
              <a:t>:</a:t>
            </a:r>
          </a:p>
          <a:p>
            <a:endParaRPr lang="pt-BR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fatorial(3) = 3 x fatorial(2) </a:t>
            </a:r>
            <a:r>
              <a:rPr lang="pt-BR" sz="1800" dirty="0">
                <a:latin typeface="Abadi" panose="020B0604020104020204" pitchFamily="34" charset="0"/>
                <a:ea typeface="Cambria Math" panose="02040503050406030204" pitchFamily="18" charset="0"/>
              </a:rPr>
              <a:t>← </a:t>
            </a:r>
            <a:r>
              <a:rPr lang="pt-BR" sz="1600" dirty="0">
                <a:latin typeface="Abadi" panose="020B0604020104020204" pitchFamily="34" charset="0"/>
                <a:ea typeface="Cambria Math" panose="02040503050406030204" pitchFamily="18" charset="0"/>
              </a:rPr>
              <a:t>passo recursivo</a:t>
            </a:r>
            <a:endParaRPr lang="pt-BR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fatorial(2) = 2 x fatorial(1) </a:t>
            </a:r>
            <a:r>
              <a:rPr lang="pt-BR" dirty="0">
                <a:latin typeface="Abadi" panose="020B0604020104020204" pitchFamily="34" charset="0"/>
                <a:ea typeface="Cambria Math" panose="02040503050406030204" pitchFamily="18" charset="0"/>
              </a:rPr>
              <a:t>← </a:t>
            </a:r>
            <a:r>
              <a:rPr lang="pt-BR" sz="1600" dirty="0">
                <a:latin typeface="Abadi" panose="020B0604020104020204" pitchFamily="34" charset="0"/>
                <a:ea typeface="Cambria Math" panose="02040503050406030204" pitchFamily="18" charset="0"/>
              </a:rPr>
              <a:t>passo recursivo</a:t>
            </a:r>
            <a:endParaRPr lang="pt-BR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fatorial(1) = 1 </a:t>
            </a:r>
            <a:r>
              <a:rPr lang="pt-BR" sz="1600" dirty="0">
                <a:latin typeface="Abadi" panose="020B0604020104020204" pitchFamily="34" charset="0"/>
                <a:ea typeface="Cambria Math" panose="02040503050406030204" pitchFamily="18" charset="0"/>
              </a:rPr>
              <a:t>← caso base</a:t>
            </a:r>
          </a:p>
          <a:p>
            <a:pPr marL="342900" indent="-342900">
              <a:buFont typeface="+mj-lt"/>
              <a:buAutoNum type="arabicPeriod"/>
            </a:pPr>
            <a:endParaRPr lang="pt-BR" dirty="0">
              <a:latin typeface="Abadi" panose="020B0604020104020204" pitchFamily="34" charset="0"/>
            </a:endParaRPr>
          </a:p>
          <a:p>
            <a:r>
              <a:rPr lang="pt-BR" sz="1600" dirty="0">
                <a:latin typeface="Abadi" panose="020B0604020104020204" pitchFamily="34" charset="0"/>
              </a:rPr>
              <a:t>Agora, substituímos os valores para resolver:</a:t>
            </a:r>
          </a:p>
          <a:p>
            <a:endParaRPr lang="pt-BR" dirty="0">
              <a:latin typeface="Abadi" panose="020B0604020104020204" pitchFamily="34" charset="0"/>
            </a:endParaRPr>
          </a:p>
          <a:p>
            <a:pPr algn="ctr"/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fatorial(3) = 3 x (2 x 1) = 3 x 2 x 1= 6</a:t>
            </a:r>
          </a:p>
          <a:p>
            <a:pPr algn="ctr"/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...</a:t>
            </a:r>
          </a:p>
          <a:p>
            <a:pPr algn="ctr"/>
            <a:r>
              <a:rPr lang="pt-BR" dirty="0">
                <a:latin typeface="Abadi" panose="020B0604020104020204" pitchFamily="34" charset="0"/>
                <a:ea typeface="Cambria Math" panose="02040503050406030204" pitchFamily="18" charset="0"/>
              </a:rPr>
              <a:t>Portando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 3! = 6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759194F-6C3C-0492-A7F6-2543BEDC01DB}"/>
              </a:ext>
            </a:extLst>
          </p:cNvPr>
          <p:cNvSpPr txBox="1"/>
          <p:nvPr/>
        </p:nvSpPr>
        <p:spPr>
          <a:xfrm>
            <a:off x="5831633" y="2634440"/>
            <a:ext cx="5917163" cy="3662541"/>
          </a:xfrm>
          <a:prstGeom prst="rect">
            <a:avLst/>
          </a:prstGeom>
          <a:noFill/>
          <a:ln w="38100">
            <a:solidFill>
              <a:srgbClr val="1F688D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Cálculo de 5! (5 fatorial)</a:t>
            </a:r>
          </a:p>
          <a:p>
            <a:r>
              <a:rPr lang="pt-BR" dirty="0">
                <a:latin typeface="Abadi" panose="020B0604020104020204" pitchFamily="34" charset="0"/>
              </a:rPr>
              <a:t>Para 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n = 5</a:t>
            </a:r>
            <a:r>
              <a:rPr lang="pt-BR" dirty="0">
                <a:latin typeface="Abadi" panose="020B0604020104020204" pitchFamily="34" charset="0"/>
              </a:rPr>
              <a:t>:</a:t>
            </a:r>
          </a:p>
          <a:p>
            <a:endParaRPr lang="pt-BR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fatorial(5) = 5 x fatorial(4) </a:t>
            </a:r>
            <a:r>
              <a:rPr lang="pt-BR" sz="1600" dirty="0">
                <a:latin typeface="Abadi" panose="020B0604020104020204" pitchFamily="34" charset="0"/>
                <a:ea typeface="Cambria Math" panose="02040503050406030204" pitchFamily="18" charset="0"/>
              </a:rPr>
              <a:t>← passo recursivo</a:t>
            </a:r>
            <a:endParaRPr lang="pt-BR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fatorial(4) = 4 x fatorial(3)</a:t>
            </a:r>
            <a:r>
              <a:rPr lang="pt-BR" sz="1800" dirty="0">
                <a:latin typeface="Abadi" panose="020B0604020104020204" pitchFamily="34" charset="0"/>
                <a:ea typeface="Cambria Math" panose="02040503050406030204" pitchFamily="18" charset="0"/>
              </a:rPr>
              <a:t> ← </a:t>
            </a:r>
            <a:r>
              <a:rPr lang="pt-BR" sz="1600" dirty="0">
                <a:latin typeface="Abadi" panose="020B0604020104020204" pitchFamily="34" charset="0"/>
                <a:ea typeface="Cambria Math" panose="02040503050406030204" pitchFamily="18" charset="0"/>
              </a:rPr>
              <a:t>passo recursivo</a:t>
            </a:r>
            <a:endParaRPr lang="pt-BR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fatorial(3) = 3 x fatorial(2)</a:t>
            </a:r>
            <a:r>
              <a:rPr lang="pt-BR" sz="1800" dirty="0">
                <a:latin typeface="Abadi" panose="020B0604020104020204" pitchFamily="34" charset="0"/>
                <a:ea typeface="Cambria Math" panose="02040503050406030204" pitchFamily="18" charset="0"/>
              </a:rPr>
              <a:t> ← </a:t>
            </a:r>
            <a:r>
              <a:rPr lang="pt-BR" sz="1600" dirty="0">
                <a:latin typeface="Abadi" panose="020B0604020104020204" pitchFamily="34" charset="0"/>
                <a:ea typeface="Cambria Math" panose="02040503050406030204" pitchFamily="18" charset="0"/>
              </a:rPr>
              <a:t>passo recursivo</a:t>
            </a:r>
            <a:endParaRPr lang="pt-BR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fatorial(2) = 2 x fatorial(1)</a:t>
            </a:r>
            <a:r>
              <a:rPr lang="pt-BR" sz="1800" dirty="0">
                <a:latin typeface="Abadi" panose="020B0604020104020204" pitchFamily="34" charset="0"/>
                <a:ea typeface="Cambria Math" panose="02040503050406030204" pitchFamily="18" charset="0"/>
              </a:rPr>
              <a:t> ← </a:t>
            </a:r>
            <a:r>
              <a:rPr lang="pt-BR" sz="1600" dirty="0">
                <a:latin typeface="Abadi" panose="020B0604020104020204" pitchFamily="34" charset="0"/>
                <a:ea typeface="Cambria Math" panose="02040503050406030204" pitchFamily="18" charset="0"/>
              </a:rPr>
              <a:t>passo recursivo</a:t>
            </a:r>
            <a:endParaRPr lang="pt-BR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fatorial(1) = 1 </a:t>
            </a:r>
            <a:r>
              <a:rPr lang="pt-BR" sz="1600" dirty="0">
                <a:latin typeface="Abadi" panose="020B0604020104020204" pitchFamily="34" charset="0"/>
                <a:ea typeface="Cambria Math" panose="02040503050406030204" pitchFamily="18" charset="0"/>
              </a:rPr>
              <a:t>← caso base</a:t>
            </a:r>
            <a:endParaRPr lang="pt-BR" dirty="0">
              <a:latin typeface="Abadi" panose="020B0604020104020204" pitchFamily="34" charset="0"/>
            </a:endParaRPr>
          </a:p>
          <a:p>
            <a:r>
              <a:rPr lang="pt-BR" sz="1600" dirty="0">
                <a:latin typeface="Abadi" panose="020B0604020104020204" pitchFamily="34" charset="0"/>
              </a:rPr>
              <a:t>Agora, substituímos os valores para resolver:</a:t>
            </a:r>
          </a:p>
          <a:p>
            <a:endParaRPr lang="pt-BR" dirty="0">
              <a:latin typeface="Abadi" panose="020B0604020104020204" pitchFamily="34" charset="0"/>
            </a:endParaRPr>
          </a:p>
          <a:p>
            <a:pPr algn="ctr"/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fatorial(5) = 5 x (4 x (3 x (2 x 1) = 5 x 4 x 3 x 2 x 1 = 120</a:t>
            </a:r>
          </a:p>
          <a:p>
            <a:pPr algn="ctr"/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...</a:t>
            </a:r>
          </a:p>
          <a:p>
            <a:pPr algn="ctr"/>
            <a:r>
              <a:rPr lang="pt-BR" dirty="0">
                <a:latin typeface="Abadi" panose="020B0604020104020204" pitchFamily="34" charset="0"/>
                <a:ea typeface="Cambria Math" panose="02040503050406030204" pitchFamily="18" charset="0"/>
              </a:rPr>
              <a:t>Portando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 5! = 120</a:t>
            </a:r>
          </a:p>
        </p:txBody>
      </p:sp>
    </p:spTree>
    <p:extLst>
      <p:ext uri="{BB962C8B-B14F-4D97-AF65-F5344CB8AC3E}">
        <p14:creationId xmlns:p14="http://schemas.microsoft.com/office/powerpoint/2010/main" val="52377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F160D-5C22-04F3-356C-6292FE1F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C627E790-002C-8F80-06D2-A0719D441816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Traduzindo o fatorial em código...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2EAF233-5614-DDF3-0524-D98FD1640B5D}"/>
                  </a:ext>
                </a:extLst>
              </p:cNvPr>
              <p:cNvSpPr txBox="1"/>
              <p:nvPr/>
            </p:nvSpPr>
            <p:spPr>
              <a:xfrm>
                <a:off x="443203" y="886603"/>
                <a:ext cx="6060233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000" dirty="0">
                    <a:latin typeface="Abadi" panose="020B0604020104020204" pitchFamily="34" charset="0"/>
                  </a:rPr>
                  <a:t>A fórmula matemática do fatorial é: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pt-BR" sz="2000" dirty="0"/>
                  <a:t>	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!=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pt-BR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0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pt-BR" sz="2000" i="1" dirty="0">
                  <a:latin typeface="Cambria Math" panose="02040503050406030204" pitchFamily="18" charset="0"/>
                </a:endParaRPr>
              </a:p>
              <a:p>
                <a:r>
                  <a:rPr lang="pt-BR" sz="2000" dirty="0">
                    <a:latin typeface="Abadi" panose="020B0604020104020204" pitchFamily="34" charset="0"/>
                  </a:rPr>
                  <a:t>Logo o código gerado é algo na seguinte linha:</a:t>
                </a: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2EAF233-5614-DDF3-0524-D98FD1640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03" y="886603"/>
                <a:ext cx="6060233" cy="1323439"/>
              </a:xfrm>
              <a:prstGeom prst="rect">
                <a:avLst/>
              </a:prstGeom>
              <a:blipFill>
                <a:blip r:embed="rId2"/>
                <a:stretch>
                  <a:fillRect l="-1107" t="-2294" b="-68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628AC2BB-2D09-E720-C0FB-45E377A0FBB1}"/>
              </a:ext>
            </a:extLst>
          </p:cNvPr>
          <p:cNvSpPr txBox="1"/>
          <p:nvPr/>
        </p:nvSpPr>
        <p:spPr>
          <a:xfrm>
            <a:off x="930883" y="2985964"/>
            <a:ext cx="3884957" cy="249299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endParaRPr lang="pt-BR" b="1" dirty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função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FFFF00"/>
                </a:solidFill>
              </a:rPr>
              <a:t>fatorial</a:t>
            </a:r>
            <a:r>
              <a:rPr lang="pt-BR" sz="2000" dirty="0"/>
              <a:t>(inteiro </a:t>
            </a:r>
            <a:r>
              <a:rPr lang="pt-BR" sz="2000" b="1" dirty="0">
                <a:solidFill>
                  <a:srgbClr val="002060"/>
                </a:solidFill>
              </a:rPr>
              <a:t>n</a:t>
            </a:r>
            <a:r>
              <a:rPr lang="pt-BR" sz="2000" dirty="0"/>
              <a:t>){</a:t>
            </a:r>
          </a:p>
          <a:p>
            <a:pPr lvl="1"/>
            <a:r>
              <a:rPr lang="pt-BR" sz="2000" dirty="0"/>
              <a:t>   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se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2060"/>
                </a:solidFill>
              </a:rPr>
              <a:t>n</a:t>
            </a:r>
            <a:r>
              <a:rPr lang="pt-BR" sz="2000" dirty="0"/>
              <a:t> == 0 ou </a:t>
            </a:r>
            <a:r>
              <a:rPr lang="pt-BR" sz="2000" b="1" dirty="0">
                <a:solidFill>
                  <a:srgbClr val="002060"/>
                </a:solidFill>
              </a:rPr>
              <a:t>n</a:t>
            </a:r>
            <a:r>
              <a:rPr lang="pt-BR" sz="2000" dirty="0"/>
              <a:t> == 1</a:t>
            </a:r>
          </a:p>
          <a:p>
            <a:pPr lvl="1"/>
            <a:r>
              <a:rPr lang="pt-BR" sz="2000" dirty="0"/>
              <a:t>       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retorna</a:t>
            </a:r>
            <a:r>
              <a:rPr lang="pt-BR" sz="2000" dirty="0"/>
              <a:t> 1</a:t>
            </a:r>
          </a:p>
          <a:p>
            <a:pPr lvl="1"/>
            <a:r>
              <a:rPr lang="pt-BR" sz="2000" b="1" dirty="0"/>
              <a:t>   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caso contrário</a:t>
            </a:r>
          </a:p>
          <a:p>
            <a:pPr lvl="1"/>
            <a:r>
              <a:rPr lang="pt-BR" sz="2000" dirty="0"/>
              <a:t>       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</a:rPr>
              <a:t>retorna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2060"/>
                </a:solidFill>
              </a:rPr>
              <a:t>n</a:t>
            </a:r>
            <a:r>
              <a:rPr lang="pt-BR" sz="2000" dirty="0"/>
              <a:t> * </a:t>
            </a:r>
            <a:r>
              <a:rPr lang="pt-BR" sz="2000" dirty="0">
                <a:solidFill>
                  <a:srgbClr val="FFFF00"/>
                </a:solidFill>
              </a:rPr>
              <a:t>fatorial</a:t>
            </a:r>
            <a:r>
              <a:rPr lang="pt-BR" sz="2000" dirty="0"/>
              <a:t>(n - 1)</a:t>
            </a:r>
          </a:p>
          <a:p>
            <a:pPr lvl="1"/>
            <a:r>
              <a:rPr lang="pt-BR" sz="2000" dirty="0"/>
              <a:t>}</a:t>
            </a:r>
          </a:p>
          <a:p>
            <a:pPr lvl="1"/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A86220-7CD8-9391-6E4E-5271534A7321}"/>
              </a:ext>
            </a:extLst>
          </p:cNvPr>
          <p:cNvSpPr txBox="1"/>
          <p:nvPr/>
        </p:nvSpPr>
        <p:spPr>
          <a:xfrm>
            <a:off x="5159829" y="2647409"/>
            <a:ext cx="6609650" cy="3170099"/>
          </a:xfrm>
          <a:prstGeom prst="rect">
            <a:avLst/>
          </a:prstGeom>
          <a:noFill/>
          <a:ln w="28575">
            <a:solidFill>
              <a:srgbClr val="1F688D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Abadi" panose="020B0604020104020204" pitchFamily="34" charset="0"/>
              </a:rPr>
              <a:t>Se chamarmos fatorial(5), a sequência será:</a:t>
            </a:r>
          </a:p>
          <a:p>
            <a:endParaRPr lang="pt-BR" sz="2000" dirty="0">
              <a:latin typeface="Abadi" panose="020B0604020104020204" pitchFamily="34" charset="0"/>
            </a:endParaRPr>
          </a:p>
          <a:p>
            <a:r>
              <a:rPr lang="pt-BR" sz="2000" dirty="0">
                <a:latin typeface="Abadi" panose="020B0604020104020204" pitchFamily="34" charset="0"/>
              </a:rPr>
              <a:t>fatorial(5) chama 5 * fatorial(4)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passo recursivo</a:t>
            </a:r>
            <a:endParaRPr lang="pt-BR" sz="2000" dirty="0">
              <a:latin typeface="Abadi" panose="020B0604020104020204" pitchFamily="34" charset="0"/>
            </a:endParaRPr>
          </a:p>
          <a:p>
            <a:r>
              <a:rPr lang="pt-BR" sz="2000" dirty="0">
                <a:latin typeface="Abadi" panose="020B0604020104020204" pitchFamily="34" charset="0"/>
              </a:rPr>
              <a:t>fatorial(4) chama 4 * fatorial(3)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passo recursivo</a:t>
            </a:r>
            <a:endParaRPr lang="pt-BR" sz="2000" dirty="0">
              <a:latin typeface="Abadi" panose="020B0604020104020204" pitchFamily="34" charset="0"/>
            </a:endParaRPr>
          </a:p>
          <a:p>
            <a:r>
              <a:rPr lang="pt-BR" sz="2000" dirty="0">
                <a:latin typeface="Abadi" panose="020B0604020104020204" pitchFamily="34" charset="0"/>
              </a:rPr>
              <a:t>fatorial(3) chama 3 * fatorial(2)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passo recursivo</a:t>
            </a:r>
            <a:endParaRPr lang="pt-BR" sz="2000" dirty="0">
              <a:latin typeface="Abadi" panose="020B0604020104020204" pitchFamily="34" charset="0"/>
            </a:endParaRPr>
          </a:p>
          <a:p>
            <a:r>
              <a:rPr lang="pt-BR" sz="2000" dirty="0">
                <a:latin typeface="Abadi" panose="020B0604020104020204" pitchFamily="34" charset="0"/>
              </a:rPr>
              <a:t>fatorial(2) chama 2 * fatorial(1)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passo recursivo</a:t>
            </a:r>
            <a:endParaRPr lang="pt-BR" sz="2000" dirty="0">
              <a:latin typeface="Abadi" panose="020B0604020104020204" pitchFamily="34" charset="0"/>
            </a:endParaRPr>
          </a:p>
          <a:p>
            <a:r>
              <a:rPr lang="pt-BR" sz="2000" dirty="0">
                <a:latin typeface="Abadi" panose="020B0604020104020204" pitchFamily="34" charset="0"/>
              </a:rPr>
              <a:t>fatorial(1) retorna 1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</a:t>
            </a:r>
            <a:r>
              <a:rPr lang="pt-BR" sz="2000" dirty="0">
                <a:latin typeface="Abadi" panose="020B0604020104020204" pitchFamily="34" charset="0"/>
              </a:rPr>
              <a:t>caso base alcançado</a:t>
            </a:r>
          </a:p>
          <a:p>
            <a:endParaRPr lang="pt-BR" sz="2000" dirty="0">
              <a:latin typeface="Abadi" panose="020B0604020104020204" pitchFamily="34" charset="0"/>
            </a:endParaRPr>
          </a:p>
          <a:p>
            <a:r>
              <a:rPr lang="pt-BR" sz="2000" dirty="0">
                <a:latin typeface="Abadi" panose="020B0604020104020204" pitchFamily="34" charset="0"/>
              </a:rPr>
              <a:t>A função então retorna o valor de todas essas chamadas combinadas, resultando em 5 * 4 * 3 * 2 * 1 = 120.</a:t>
            </a:r>
          </a:p>
        </p:txBody>
      </p:sp>
    </p:spTree>
    <p:extLst>
      <p:ext uri="{BB962C8B-B14F-4D97-AF65-F5344CB8AC3E}">
        <p14:creationId xmlns:p14="http://schemas.microsoft.com/office/powerpoint/2010/main" val="2497925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31EFC-24BE-AC57-5361-3CF29EAE9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85EB8404-2D00-F773-CD67-21D81B1A1A14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Vantagens e Desvantagens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E8BB1BD-2C20-F0B6-F8CE-040F6DF24DF9}"/>
              </a:ext>
            </a:extLst>
          </p:cNvPr>
          <p:cNvSpPr txBox="1"/>
          <p:nvPr/>
        </p:nvSpPr>
        <p:spPr>
          <a:xfrm>
            <a:off x="363841" y="886603"/>
            <a:ext cx="11464317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Vantagens: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000" dirty="0">
                <a:latin typeface="Abadi" panose="020B0604020104020204" pitchFamily="34" charset="0"/>
              </a:rPr>
              <a:t>Muitas vezes simplifica o código e torna a solução mais elegante e mais fácil de entender para problemas que têm uma estrutura naturalmente recursiva, como algoritmos de divisão e conquista (merge </a:t>
            </a:r>
            <a:r>
              <a:rPr lang="pt-BR" sz="2000" dirty="0" err="1">
                <a:latin typeface="Abadi" panose="020B0604020104020204" pitchFamily="34" charset="0"/>
              </a:rPr>
              <a:t>sort</a:t>
            </a:r>
            <a:r>
              <a:rPr lang="pt-BR" sz="2000" dirty="0">
                <a:latin typeface="Abadi" panose="020B0604020104020204" pitchFamily="34" charset="0"/>
              </a:rPr>
              <a:t>, </a:t>
            </a:r>
            <a:r>
              <a:rPr lang="pt-BR" sz="2000" dirty="0" err="1">
                <a:latin typeface="Abadi" panose="020B0604020104020204" pitchFamily="34" charset="0"/>
              </a:rPr>
              <a:t>quicksort</a:t>
            </a:r>
            <a:r>
              <a:rPr lang="pt-BR" sz="2000" dirty="0">
                <a:latin typeface="Abadi" panose="020B0604020104020204" pitchFamily="34" charset="0"/>
              </a:rPr>
              <a:t>) ou problemas de busca em árvores.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dirty="0">
                <a:latin typeface="Abadi" panose="020B0604020104020204" pitchFamily="34" charset="0"/>
              </a:rPr>
              <a:t>Desvantagens: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000" dirty="0">
                <a:latin typeface="Abadi" panose="020B0604020104020204" pitchFamily="34" charset="0"/>
              </a:rPr>
              <a:t>Consome mais memória, pois cada chamada recursiva é armazenada na pilha de chamadas.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000" dirty="0">
                <a:latin typeface="Abadi" panose="020B0604020104020204" pitchFamily="34" charset="0"/>
              </a:rPr>
              <a:t>Pode ser menos eficiente do que uma solução iterativa para problemas onde o número de chamadas recursivas é muito alto.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b="1" dirty="0" err="1">
                <a:solidFill>
                  <a:srgbClr val="FFFF00"/>
                </a:solidFill>
                <a:latin typeface="Abadi" panose="020B0604020104020204" pitchFamily="34" charset="0"/>
              </a:rPr>
              <a:t>Obs</a:t>
            </a:r>
            <a:r>
              <a:rPr lang="pt-BR" b="1" dirty="0">
                <a:solidFill>
                  <a:srgbClr val="FFFF00"/>
                </a:solidFill>
                <a:latin typeface="Abadi" panose="020B0604020104020204" pitchFamily="34" charset="0"/>
              </a:rPr>
              <a:t>: Recursão é um conceito importante em estrutura de dados e é amplamente usado em algoritmos, especialmente em estruturas como árvores e grafos.</a:t>
            </a:r>
          </a:p>
        </p:txBody>
      </p:sp>
    </p:spTree>
    <p:extLst>
      <p:ext uri="{BB962C8B-B14F-4D97-AF65-F5344CB8AC3E}">
        <p14:creationId xmlns:p14="http://schemas.microsoft.com/office/powerpoint/2010/main" val="794665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0ED71-5124-206D-96F8-D020AB127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08A5C58E-89F8-541E-F14B-FD9996287D5B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Agora vamos praticar!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F15534-DE6B-D13F-5187-A33A1D7900E6}"/>
              </a:ext>
            </a:extLst>
          </p:cNvPr>
          <p:cNvSpPr txBox="1"/>
          <p:nvPr/>
        </p:nvSpPr>
        <p:spPr>
          <a:xfrm>
            <a:off x="363841" y="886603"/>
            <a:ext cx="11464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Para fixar o conceito e aprender aplica-lo vamos praticar com algumas questões: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2114100-0EF9-E19E-EB8E-A24DE8258EF3}"/>
              </a:ext>
            </a:extLst>
          </p:cNvPr>
          <p:cNvSpPr txBox="1"/>
          <p:nvPr/>
        </p:nvSpPr>
        <p:spPr>
          <a:xfrm>
            <a:off x="363840" y="1461818"/>
            <a:ext cx="46247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b="1" dirty="0">
                <a:latin typeface="Abadi" panose="020B0604020104020204" pitchFamily="34" charset="0"/>
              </a:rPr>
              <a:t>Somatório de Números Naturais</a:t>
            </a:r>
          </a:p>
          <a:p>
            <a:pPr algn="just"/>
            <a:r>
              <a:rPr lang="pt-BR" dirty="0">
                <a:latin typeface="Abadi" panose="020B0604020104020204" pitchFamily="34" charset="0"/>
              </a:rPr>
              <a:t>Escreva uma função recursiva que receba um número inteiro positivo N e retorne o somatório dos números de 1 até N.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5D83A7D-2A8D-E7A2-C4C6-908835B5F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374693"/>
              </p:ext>
            </p:extLst>
          </p:nvPr>
        </p:nvGraphicFramePr>
        <p:xfrm>
          <a:off x="5070318" y="1439545"/>
          <a:ext cx="6451602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5801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3225801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b="1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1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325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1540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9F15D09F-99D3-E1DF-F3DC-D906CA01E483}"/>
              </a:ext>
            </a:extLst>
          </p:cNvPr>
          <p:cNvSpPr/>
          <p:nvPr/>
        </p:nvSpPr>
        <p:spPr>
          <a:xfrm>
            <a:off x="263200" y="1255935"/>
            <a:ext cx="11665598" cy="1873345"/>
          </a:xfrm>
          <a:prstGeom prst="rect">
            <a:avLst/>
          </a:prstGeom>
          <a:noFill/>
          <a:ln w="28575">
            <a:solidFill>
              <a:srgbClr val="1F6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109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6142-45B4-0020-D0C4-E7762EA86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213743D4-A9D8-6D4D-0CA3-5F8018040743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Agora vamos praticar!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660A19-EB00-54AF-A310-B66F3A66C975}"/>
              </a:ext>
            </a:extLst>
          </p:cNvPr>
          <p:cNvSpPr txBox="1"/>
          <p:nvPr/>
        </p:nvSpPr>
        <p:spPr>
          <a:xfrm>
            <a:off x="363841" y="957961"/>
            <a:ext cx="64101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1600" b="1" dirty="0">
                <a:latin typeface="Abadi" panose="020B0604020104020204" pitchFamily="34" charset="0"/>
              </a:rPr>
              <a:t>Somatório de Números Naturais</a:t>
            </a:r>
          </a:p>
          <a:p>
            <a:pPr algn="just"/>
            <a:r>
              <a:rPr lang="pt-BR" sz="1600" dirty="0">
                <a:latin typeface="Abadi" panose="020B0604020104020204" pitchFamily="34" charset="0"/>
              </a:rPr>
              <a:t>Escreva uma função recursiva que receba um número inteiro positivo N e retorne o somatório dos números de 1 até N.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33EB316-F0AA-592A-7947-50A839E73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974339"/>
              </p:ext>
            </p:extLst>
          </p:nvPr>
        </p:nvGraphicFramePr>
        <p:xfrm>
          <a:off x="6911163" y="957961"/>
          <a:ext cx="4745486" cy="134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2743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2372743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269305"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269305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269305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325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269305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1540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E0B3D6F3-BEF4-DED6-01C7-99B191810F6C}"/>
              </a:ext>
            </a:extLst>
          </p:cNvPr>
          <p:cNvSpPr/>
          <p:nvPr/>
        </p:nvSpPr>
        <p:spPr>
          <a:xfrm>
            <a:off x="263201" y="845388"/>
            <a:ext cx="11665598" cy="1543249"/>
          </a:xfrm>
          <a:prstGeom prst="rect">
            <a:avLst/>
          </a:prstGeom>
          <a:noFill/>
          <a:ln w="28575">
            <a:solidFill>
              <a:srgbClr val="1F6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EDF629D-85AA-3AFC-EC53-30631317EA79}"/>
              </a:ext>
            </a:extLst>
          </p:cNvPr>
          <p:cNvSpPr txBox="1"/>
          <p:nvPr/>
        </p:nvSpPr>
        <p:spPr>
          <a:xfrm>
            <a:off x="295470" y="2660380"/>
            <a:ext cx="6221575" cy="3785652"/>
          </a:xfrm>
          <a:prstGeom prst="rect">
            <a:avLst/>
          </a:prstGeom>
          <a:noFill/>
          <a:ln w="28575">
            <a:solidFill>
              <a:srgbClr val="1F688D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Abadi" panose="020B0604020104020204" pitchFamily="34" charset="0"/>
              </a:rPr>
              <a:t>Se chamarmos somar(5), a sequência será:</a:t>
            </a:r>
          </a:p>
          <a:p>
            <a:endParaRPr lang="pt-BR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Abadi" panose="020B0604020104020204" pitchFamily="34" charset="0"/>
              </a:rPr>
              <a:t>somar(5): chama 5 + somar(4)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passo recursivo</a:t>
            </a:r>
            <a:endParaRPr lang="pt-BR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Abadi" panose="020B0604020104020204" pitchFamily="34" charset="0"/>
              </a:rPr>
              <a:t>somar(4): chama 4 + somar(3)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passo recursivo</a:t>
            </a:r>
            <a:endParaRPr lang="pt-BR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Abadi" panose="020B0604020104020204" pitchFamily="34" charset="0"/>
              </a:rPr>
              <a:t>somar(3): chama 3 + somar(2)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passo recursivo</a:t>
            </a:r>
            <a:endParaRPr lang="pt-BR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Abadi" panose="020B0604020104020204" pitchFamily="34" charset="0"/>
              </a:rPr>
              <a:t>somar(2): chama 2 + somar(1)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passo recursivo</a:t>
            </a:r>
            <a:endParaRPr lang="pt-BR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Abadi" panose="020B0604020104020204" pitchFamily="34" charset="0"/>
              </a:rPr>
              <a:t>somar(1): retorna 1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</a:t>
            </a:r>
            <a:r>
              <a:rPr lang="pt-BR" sz="2000" dirty="0">
                <a:latin typeface="Abadi" panose="020B0604020104020204" pitchFamily="34" charset="0"/>
              </a:rPr>
              <a:t>caso base alcançado</a:t>
            </a:r>
          </a:p>
          <a:p>
            <a:endParaRPr lang="pt-BR" sz="2000" dirty="0">
              <a:latin typeface="Abadi" panose="020B0604020104020204" pitchFamily="34" charset="0"/>
            </a:endParaRPr>
          </a:p>
          <a:p>
            <a:r>
              <a:rPr lang="pt-BR" sz="2000" dirty="0">
                <a:latin typeface="Abadi" panose="020B0604020104020204" pitchFamily="34" charset="0"/>
              </a:rPr>
              <a:t>A função então retorna o valor de todas essas chamadas combinadas:</a:t>
            </a:r>
          </a:p>
          <a:p>
            <a:endParaRPr lang="pt-BR" sz="2000" dirty="0">
              <a:latin typeface="Abadi" panose="020B0604020104020204" pitchFamily="34" charset="0"/>
            </a:endParaRPr>
          </a:p>
          <a:p>
            <a:pPr algn="ctr"/>
            <a:r>
              <a:rPr lang="pt-BR" sz="2000" dirty="0">
                <a:latin typeface="Abadi" panose="020B0604020104020204" pitchFamily="34" charset="0"/>
              </a:rPr>
              <a:t>resultando em 5 + 4 + 3 + 2 + 1 = 15.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D225CC5-B558-0ECF-37D7-06F3AE22019F}"/>
              </a:ext>
            </a:extLst>
          </p:cNvPr>
          <p:cNvSpPr txBox="1"/>
          <p:nvPr/>
        </p:nvSpPr>
        <p:spPr>
          <a:xfrm>
            <a:off x="6806293" y="3205066"/>
            <a:ext cx="51225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1800" dirty="0">
                <a:latin typeface="Abadi" panose="020B0604020104020204" pitchFamily="34" charset="0"/>
              </a:rPr>
              <a:t>5 + somar(4)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5 + 4 + somar(3)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5 + 4 + 3 + somar(2)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5 + 4 + 3 + 2 + somar(1)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5 + 4 + 3 + 2 + 1</a:t>
            </a:r>
          </a:p>
          <a:p>
            <a:pPr marL="457200" indent="-457200">
              <a:buFont typeface="+mj-lt"/>
              <a:buAutoNum type="arabicPeriod"/>
            </a:pPr>
            <a:endParaRPr lang="pt-BR" dirty="0">
              <a:latin typeface="Abadi" panose="020B0604020104020204" pitchFamily="34" charset="0"/>
            </a:endParaRPr>
          </a:p>
          <a:p>
            <a:r>
              <a:rPr lang="pt-BR" sz="1800" dirty="0">
                <a:latin typeface="Abadi" panose="020B0604020104020204" pitchFamily="34" charset="0"/>
              </a:rPr>
              <a:t>Resultado = 15</a:t>
            </a:r>
          </a:p>
        </p:txBody>
      </p:sp>
    </p:spTree>
    <p:extLst>
      <p:ext uri="{BB962C8B-B14F-4D97-AF65-F5344CB8AC3E}">
        <p14:creationId xmlns:p14="http://schemas.microsoft.com/office/powerpoint/2010/main" val="52904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103F4-9909-5C1E-E49F-43EBA7AA6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F9BF3774-739E-50CA-57E0-982561C691DF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Agora vamos praticar!</a:t>
            </a:r>
            <a:endParaRPr lang="pt-BR" sz="1600" dirty="0">
              <a:latin typeface="Abadi" panose="020B0604020104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DE2A2C7-D95F-886B-6295-3AC08DCAFDFF}"/>
              </a:ext>
            </a:extLst>
          </p:cNvPr>
          <p:cNvSpPr txBox="1"/>
          <p:nvPr/>
        </p:nvSpPr>
        <p:spPr>
          <a:xfrm>
            <a:off x="363841" y="886603"/>
            <a:ext cx="11464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Para fixar o conceito e aprender aplica-lo vamos praticar com algumas questões: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695DCC-2DF9-5891-5E83-57FCD4C6EC28}"/>
              </a:ext>
            </a:extLst>
          </p:cNvPr>
          <p:cNvSpPr txBox="1"/>
          <p:nvPr/>
        </p:nvSpPr>
        <p:spPr>
          <a:xfrm>
            <a:off x="363840" y="1461818"/>
            <a:ext cx="46247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b="1" dirty="0">
                <a:latin typeface="Abadi" panose="020B0604020104020204" pitchFamily="34" charset="0"/>
              </a:rPr>
              <a:t>Somatório de Números Naturais</a:t>
            </a:r>
          </a:p>
          <a:p>
            <a:pPr algn="just"/>
            <a:r>
              <a:rPr lang="pt-BR" dirty="0">
                <a:latin typeface="Abadi" panose="020B0604020104020204" pitchFamily="34" charset="0"/>
              </a:rPr>
              <a:t>Escreva uma função recursiva que receba um número inteiro positivo N e retorne o somatório dos números de 1 até N.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91D55C4-6B57-9F3A-C186-83D5D632F4F5}"/>
              </a:ext>
            </a:extLst>
          </p:cNvPr>
          <p:cNvGraphicFramePr>
            <a:graphicFrameLocks noGrp="1"/>
          </p:cNvGraphicFramePr>
          <p:nvPr/>
        </p:nvGraphicFramePr>
        <p:xfrm>
          <a:off x="5070318" y="1439545"/>
          <a:ext cx="6451602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5801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3225801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b="1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1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325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1540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5224CE12-4072-D28A-6659-1F49607D0DDE}"/>
              </a:ext>
            </a:extLst>
          </p:cNvPr>
          <p:cNvSpPr/>
          <p:nvPr/>
        </p:nvSpPr>
        <p:spPr>
          <a:xfrm>
            <a:off x="263200" y="1255935"/>
            <a:ext cx="11665598" cy="1873345"/>
          </a:xfrm>
          <a:prstGeom prst="rect">
            <a:avLst/>
          </a:prstGeom>
          <a:noFill/>
          <a:ln w="28575">
            <a:solidFill>
              <a:srgbClr val="1F6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EBE840D-9027-5FBB-6006-D891F83F0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723" y="3728721"/>
            <a:ext cx="7722551" cy="257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91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2CC83-D9C7-1397-1717-8C008B99C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C1521453-DEEA-FF90-B6D5-7B73C7C0DE6C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Agora vamos praticar!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3D520EE-7B7D-0B9F-26FE-2A5068D3C052}"/>
              </a:ext>
            </a:extLst>
          </p:cNvPr>
          <p:cNvSpPr/>
          <p:nvPr/>
        </p:nvSpPr>
        <p:spPr>
          <a:xfrm>
            <a:off x="263200" y="1012095"/>
            <a:ext cx="11665598" cy="2066385"/>
          </a:xfrm>
          <a:prstGeom prst="rect">
            <a:avLst/>
          </a:prstGeom>
          <a:noFill/>
          <a:ln w="28575">
            <a:solidFill>
              <a:srgbClr val="1F6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37F069D-D305-A218-6C2E-907E9805C784}"/>
              </a:ext>
            </a:extLst>
          </p:cNvPr>
          <p:cNvSpPr txBox="1"/>
          <p:nvPr/>
        </p:nvSpPr>
        <p:spPr>
          <a:xfrm>
            <a:off x="363840" y="1324243"/>
            <a:ext cx="48583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b="1" dirty="0">
                <a:latin typeface="Abadi" panose="020B0604020104020204" pitchFamily="34" charset="0"/>
              </a:rPr>
              <a:t>Inverter uma </a:t>
            </a:r>
            <a:r>
              <a:rPr lang="pt-BR" b="1" dirty="0" err="1">
                <a:latin typeface="Abadi" panose="020B0604020104020204" pitchFamily="34" charset="0"/>
              </a:rPr>
              <a:t>String</a:t>
            </a:r>
            <a:endParaRPr lang="pt-BR" b="1" dirty="0">
              <a:latin typeface="Abadi" panose="020B0604020104020204" pitchFamily="34" charset="0"/>
            </a:endParaRPr>
          </a:p>
          <a:p>
            <a:pPr algn="just"/>
            <a:r>
              <a:rPr lang="pt-BR" dirty="0">
                <a:latin typeface="Abadi" panose="020B0604020104020204" pitchFamily="34" charset="0"/>
              </a:rPr>
              <a:t>Escreva uma função recursiva que receba uma </a:t>
            </a:r>
            <a:r>
              <a:rPr lang="pt-BR" dirty="0" err="1">
                <a:latin typeface="Abadi" panose="020B0604020104020204" pitchFamily="34" charset="0"/>
              </a:rPr>
              <a:t>string</a:t>
            </a:r>
            <a:r>
              <a:rPr lang="pt-BR" dirty="0">
                <a:latin typeface="Abadi" panose="020B0604020104020204" pitchFamily="34" charset="0"/>
              </a:rPr>
              <a:t> e retorne a </a:t>
            </a:r>
            <a:r>
              <a:rPr lang="pt-BR" dirty="0" err="1">
                <a:latin typeface="Abadi" panose="020B0604020104020204" pitchFamily="34" charset="0"/>
              </a:rPr>
              <a:t>string</a:t>
            </a:r>
            <a:r>
              <a:rPr lang="pt-BR" dirty="0">
                <a:latin typeface="Abadi" panose="020B0604020104020204" pitchFamily="34" charset="0"/>
              </a:rPr>
              <a:t> invertida.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636B5896-BEFD-116B-66A3-508109F97DD8}"/>
              </a:ext>
            </a:extLst>
          </p:cNvPr>
          <p:cNvGraphicFramePr>
            <a:graphicFrameLocks noGrp="1"/>
          </p:cNvGraphicFramePr>
          <p:nvPr/>
        </p:nvGraphicFramePr>
        <p:xfrm>
          <a:off x="5376557" y="1324243"/>
          <a:ext cx="6451602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5801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3225801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recursividade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 err="1">
                          <a:latin typeface="Abadi" panose="020B0604020104020204" pitchFamily="34" charset="0"/>
                        </a:rPr>
                        <a:t>edadivisrucer</a:t>
                      </a:r>
                      <a:endParaRPr lang="pt-BR" sz="18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vinicius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 err="1">
                          <a:latin typeface="Abadi" panose="020B0604020104020204" pitchFamily="34" charset="0"/>
                        </a:rPr>
                        <a:t>suiciniv</a:t>
                      </a:r>
                      <a:endParaRPr lang="pt-BR" sz="18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Vingadores Guerra Infinita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 err="1">
                          <a:latin typeface="Abadi" panose="020B0604020104020204" pitchFamily="34" charset="0"/>
                        </a:rPr>
                        <a:t>atinifnI</a:t>
                      </a:r>
                      <a:r>
                        <a:rPr lang="pt-BR" sz="18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pt-BR" sz="1800" dirty="0" err="1">
                          <a:latin typeface="Abadi" panose="020B0604020104020204" pitchFamily="34" charset="0"/>
                        </a:rPr>
                        <a:t>arreuG</a:t>
                      </a:r>
                      <a:r>
                        <a:rPr lang="pt-BR" sz="18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pt-BR" sz="1800" dirty="0" err="1">
                          <a:latin typeface="Abadi" panose="020B0604020104020204" pitchFamily="34" charset="0"/>
                        </a:rPr>
                        <a:t>serodagniV</a:t>
                      </a:r>
                      <a:endParaRPr lang="pt-BR" sz="18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436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5BDE-8D76-0BA2-5151-82AB01A2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E6709411-3E83-3E6A-A55F-B31A13729A79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Agora vamos praticar!</a:t>
            </a:r>
            <a:endParaRPr lang="pt-BR" sz="1600" dirty="0">
              <a:latin typeface="Abadi" panose="020B0604020104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F738B4B-E11A-E26E-94DF-62F82B6B9200}"/>
              </a:ext>
            </a:extLst>
          </p:cNvPr>
          <p:cNvSpPr/>
          <p:nvPr/>
        </p:nvSpPr>
        <p:spPr>
          <a:xfrm>
            <a:off x="263200" y="844147"/>
            <a:ext cx="11665598" cy="1591143"/>
          </a:xfrm>
          <a:prstGeom prst="rect">
            <a:avLst/>
          </a:prstGeom>
          <a:noFill/>
          <a:ln w="28575">
            <a:solidFill>
              <a:srgbClr val="1F6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663DB8B-59B2-FBE4-BEC5-ACFD3E98E928}"/>
              </a:ext>
            </a:extLst>
          </p:cNvPr>
          <p:cNvSpPr txBox="1"/>
          <p:nvPr/>
        </p:nvSpPr>
        <p:spPr>
          <a:xfrm>
            <a:off x="363840" y="941687"/>
            <a:ext cx="48583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1600" b="1" dirty="0">
                <a:latin typeface="Abadi" panose="020B0604020104020204" pitchFamily="34" charset="0"/>
              </a:rPr>
              <a:t>Inverter uma </a:t>
            </a:r>
            <a:r>
              <a:rPr lang="pt-BR" sz="1600" b="1" dirty="0" err="1">
                <a:latin typeface="Abadi" panose="020B0604020104020204" pitchFamily="34" charset="0"/>
              </a:rPr>
              <a:t>String</a:t>
            </a:r>
            <a:endParaRPr lang="pt-BR" sz="1600" b="1" dirty="0">
              <a:latin typeface="Abadi" panose="020B0604020104020204" pitchFamily="34" charset="0"/>
            </a:endParaRPr>
          </a:p>
          <a:p>
            <a:pPr algn="just"/>
            <a:r>
              <a:rPr lang="pt-BR" sz="1600" dirty="0">
                <a:latin typeface="Abadi" panose="020B0604020104020204" pitchFamily="34" charset="0"/>
              </a:rPr>
              <a:t>Escreva uma função recursiva que receba uma </a:t>
            </a:r>
            <a:r>
              <a:rPr lang="pt-BR" sz="1600" dirty="0" err="1">
                <a:latin typeface="Abadi" panose="020B0604020104020204" pitchFamily="34" charset="0"/>
              </a:rPr>
              <a:t>string</a:t>
            </a:r>
            <a:r>
              <a:rPr lang="pt-BR" sz="1600" dirty="0">
                <a:latin typeface="Abadi" panose="020B0604020104020204" pitchFamily="34" charset="0"/>
              </a:rPr>
              <a:t> e retorne a </a:t>
            </a:r>
            <a:r>
              <a:rPr lang="pt-BR" sz="1600" dirty="0" err="1">
                <a:latin typeface="Abadi" panose="020B0604020104020204" pitchFamily="34" charset="0"/>
              </a:rPr>
              <a:t>string</a:t>
            </a:r>
            <a:r>
              <a:rPr lang="pt-BR" sz="1600" dirty="0">
                <a:latin typeface="Abadi" panose="020B0604020104020204" pitchFamily="34" charset="0"/>
              </a:rPr>
              <a:t> invertida.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AF3FFEF-9DA7-A658-F25D-93FEA76E3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987928"/>
              </p:ext>
            </p:extLst>
          </p:nvPr>
        </p:nvGraphicFramePr>
        <p:xfrm>
          <a:off x="5376557" y="941687"/>
          <a:ext cx="6451602" cy="134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5801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3225801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310419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310419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recursividade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err="1">
                          <a:latin typeface="Abadi" panose="020B0604020104020204" pitchFamily="34" charset="0"/>
                        </a:rPr>
                        <a:t>edadivisrucer</a:t>
                      </a:r>
                      <a:endParaRPr lang="pt-BR" sz="16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310419"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vinicius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err="1">
                          <a:latin typeface="Abadi" panose="020B0604020104020204" pitchFamily="34" charset="0"/>
                        </a:rPr>
                        <a:t>suiciniv</a:t>
                      </a:r>
                      <a:endParaRPr lang="pt-BR" sz="16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310419"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Vingadores Guerra Infinita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err="1">
                          <a:latin typeface="Abadi" panose="020B0604020104020204" pitchFamily="34" charset="0"/>
                        </a:rPr>
                        <a:t>atinifnI</a:t>
                      </a:r>
                      <a:r>
                        <a:rPr lang="pt-BR" sz="16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pt-BR" sz="1600" dirty="0" err="1">
                          <a:latin typeface="Abadi" panose="020B0604020104020204" pitchFamily="34" charset="0"/>
                        </a:rPr>
                        <a:t>arreuG</a:t>
                      </a:r>
                      <a:r>
                        <a:rPr lang="pt-BR" sz="16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pt-BR" sz="1600" dirty="0" err="1">
                          <a:latin typeface="Abadi" panose="020B0604020104020204" pitchFamily="34" charset="0"/>
                        </a:rPr>
                        <a:t>serodagniV</a:t>
                      </a:r>
                      <a:endParaRPr lang="pt-BR" sz="16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D4CFA7B8-1360-9D66-2CB4-075F7F20EFEB}"/>
              </a:ext>
            </a:extLst>
          </p:cNvPr>
          <p:cNvSpPr txBox="1"/>
          <p:nvPr/>
        </p:nvSpPr>
        <p:spPr>
          <a:xfrm>
            <a:off x="295470" y="2660380"/>
            <a:ext cx="6889101" cy="3785652"/>
          </a:xfrm>
          <a:prstGeom prst="rect">
            <a:avLst/>
          </a:prstGeom>
          <a:noFill/>
          <a:ln w="28575">
            <a:solidFill>
              <a:srgbClr val="1F688D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Abadi" panose="020B0604020104020204" pitchFamily="34" charset="0"/>
              </a:rPr>
              <a:t>Se chamarmos </a:t>
            </a:r>
            <a:r>
              <a:rPr lang="pt-BR" sz="2000" dirty="0" err="1">
                <a:latin typeface="Abadi" panose="020B0604020104020204" pitchFamily="34" charset="0"/>
              </a:rPr>
              <a:t>inv</a:t>
            </a:r>
            <a:r>
              <a:rPr lang="pt-BR" sz="2000" dirty="0">
                <a:latin typeface="Abadi" panose="020B0604020104020204" pitchFamily="34" charset="0"/>
              </a:rPr>
              <a:t>(</a:t>
            </a:r>
            <a:r>
              <a:rPr lang="pt-BR" sz="2000" dirty="0" err="1">
                <a:latin typeface="Abadi" panose="020B0604020104020204" pitchFamily="34" charset="0"/>
              </a:rPr>
              <a:t>vasco</a:t>
            </a:r>
            <a:r>
              <a:rPr lang="pt-BR" sz="2000" dirty="0">
                <a:latin typeface="Abadi" panose="020B0604020104020204" pitchFamily="34" charset="0"/>
              </a:rPr>
              <a:t>), a sequência será:</a:t>
            </a:r>
          </a:p>
          <a:p>
            <a:endParaRPr lang="pt-BR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 err="1">
                <a:latin typeface="Abadi" panose="020B0604020104020204" pitchFamily="34" charset="0"/>
              </a:rPr>
              <a:t>inv</a:t>
            </a:r>
            <a:r>
              <a:rPr lang="pt-BR" sz="2000" dirty="0">
                <a:latin typeface="Abadi" panose="020B0604020104020204" pitchFamily="34" charset="0"/>
              </a:rPr>
              <a:t>(</a:t>
            </a:r>
            <a:r>
              <a:rPr lang="pt-BR" sz="2000" dirty="0" err="1">
                <a:solidFill>
                  <a:srgbClr val="FFFF00"/>
                </a:solidFill>
                <a:latin typeface="Abadi" panose="020B0604020104020204" pitchFamily="34" charset="0"/>
              </a:rPr>
              <a:t>vasco</a:t>
            </a:r>
            <a:r>
              <a:rPr lang="pt-BR" sz="2000" dirty="0">
                <a:latin typeface="Abadi" panose="020B0604020104020204" pitchFamily="34" charset="0"/>
              </a:rPr>
              <a:t>): chama </a:t>
            </a:r>
            <a:r>
              <a:rPr lang="pt-BR" sz="2000" dirty="0" err="1">
                <a:latin typeface="Abadi" panose="020B0604020104020204" pitchFamily="34" charset="0"/>
              </a:rPr>
              <a:t>inv</a:t>
            </a:r>
            <a:r>
              <a:rPr lang="pt-BR" sz="2000" dirty="0">
                <a:latin typeface="Abadi" panose="020B0604020104020204" pitchFamily="34" charset="0"/>
              </a:rPr>
              <a:t>(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asco</a:t>
            </a:r>
            <a:r>
              <a:rPr lang="pt-BR" sz="2000" dirty="0">
                <a:latin typeface="Abadi" panose="020B0604020104020204" pitchFamily="34" charset="0"/>
              </a:rPr>
              <a:t>) + 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v</a:t>
            </a:r>
            <a:r>
              <a:rPr lang="pt-BR" sz="2000" dirty="0">
                <a:latin typeface="Abadi" panose="020B0604020104020204" pitchFamily="34" charset="0"/>
              </a:rPr>
              <a:t>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passo recursivo</a:t>
            </a:r>
            <a:endParaRPr lang="pt-BR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 err="1">
                <a:latin typeface="Abadi" panose="020B0604020104020204" pitchFamily="34" charset="0"/>
              </a:rPr>
              <a:t>inv</a:t>
            </a:r>
            <a:r>
              <a:rPr lang="pt-BR" sz="2000" dirty="0">
                <a:latin typeface="Abadi" panose="020B0604020104020204" pitchFamily="34" charset="0"/>
              </a:rPr>
              <a:t>(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asco</a:t>
            </a:r>
            <a:r>
              <a:rPr lang="pt-BR" sz="2000" dirty="0">
                <a:latin typeface="Abadi" panose="020B0604020104020204" pitchFamily="34" charset="0"/>
              </a:rPr>
              <a:t>):  chama </a:t>
            </a:r>
            <a:r>
              <a:rPr lang="pt-BR" sz="2000" dirty="0" err="1">
                <a:latin typeface="Abadi" panose="020B0604020104020204" pitchFamily="34" charset="0"/>
              </a:rPr>
              <a:t>inv</a:t>
            </a:r>
            <a:r>
              <a:rPr lang="pt-BR" sz="2000" dirty="0">
                <a:latin typeface="Abadi" panose="020B0604020104020204" pitchFamily="34" charset="0"/>
              </a:rPr>
              <a:t>(</a:t>
            </a:r>
            <a:r>
              <a:rPr lang="pt-BR" sz="2000" dirty="0" err="1">
                <a:solidFill>
                  <a:srgbClr val="FFFF00"/>
                </a:solidFill>
                <a:latin typeface="Abadi" panose="020B0604020104020204" pitchFamily="34" charset="0"/>
              </a:rPr>
              <a:t>sco</a:t>
            </a:r>
            <a:r>
              <a:rPr lang="pt-BR" sz="2000" dirty="0">
                <a:latin typeface="Abadi" panose="020B0604020104020204" pitchFamily="34" charset="0"/>
              </a:rPr>
              <a:t>) + 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a</a:t>
            </a:r>
            <a:r>
              <a:rPr lang="pt-BR" sz="2000" dirty="0">
                <a:latin typeface="Abadi" panose="020B0604020104020204" pitchFamily="34" charset="0"/>
              </a:rPr>
              <a:t>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passo recursivo</a:t>
            </a:r>
            <a:endParaRPr lang="pt-BR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 err="1">
                <a:latin typeface="Abadi" panose="020B0604020104020204" pitchFamily="34" charset="0"/>
              </a:rPr>
              <a:t>inv</a:t>
            </a:r>
            <a:r>
              <a:rPr lang="pt-BR" sz="2000" dirty="0">
                <a:latin typeface="Abadi" panose="020B0604020104020204" pitchFamily="34" charset="0"/>
              </a:rPr>
              <a:t>(</a:t>
            </a:r>
            <a:r>
              <a:rPr lang="pt-BR" sz="2000" dirty="0" err="1">
                <a:solidFill>
                  <a:srgbClr val="FFFF00"/>
                </a:solidFill>
                <a:latin typeface="Abadi" panose="020B0604020104020204" pitchFamily="34" charset="0"/>
              </a:rPr>
              <a:t>sco</a:t>
            </a:r>
            <a:r>
              <a:rPr lang="pt-BR" sz="2000" dirty="0">
                <a:latin typeface="Abadi" panose="020B0604020104020204" pitchFamily="34" charset="0"/>
              </a:rPr>
              <a:t>):  chama </a:t>
            </a:r>
            <a:r>
              <a:rPr lang="pt-BR" sz="2000" dirty="0" err="1">
                <a:latin typeface="Abadi" panose="020B0604020104020204" pitchFamily="34" charset="0"/>
              </a:rPr>
              <a:t>inv</a:t>
            </a:r>
            <a:r>
              <a:rPr lang="pt-BR" sz="2000" dirty="0">
                <a:latin typeface="Abadi" panose="020B0604020104020204" pitchFamily="34" charset="0"/>
              </a:rPr>
              <a:t>(</a:t>
            </a:r>
            <a:r>
              <a:rPr lang="pt-BR" sz="2000" dirty="0" err="1">
                <a:solidFill>
                  <a:srgbClr val="FFFF00"/>
                </a:solidFill>
                <a:latin typeface="Abadi" panose="020B0604020104020204" pitchFamily="34" charset="0"/>
              </a:rPr>
              <a:t>co</a:t>
            </a:r>
            <a:r>
              <a:rPr lang="pt-BR" sz="2000" dirty="0">
                <a:latin typeface="Abadi" panose="020B0604020104020204" pitchFamily="34" charset="0"/>
              </a:rPr>
              <a:t>) + 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s</a:t>
            </a:r>
            <a:r>
              <a:rPr lang="pt-BR" sz="2000" dirty="0">
                <a:latin typeface="Abadi" panose="020B0604020104020204" pitchFamily="34" charset="0"/>
              </a:rPr>
              <a:t>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passo recursivo</a:t>
            </a:r>
            <a:endParaRPr lang="pt-BR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 err="1">
                <a:latin typeface="Abadi" panose="020B0604020104020204" pitchFamily="34" charset="0"/>
              </a:rPr>
              <a:t>inv</a:t>
            </a:r>
            <a:r>
              <a:rPr lang="pt-BR" sz="2000" dirty="0">
                <a:latin typeface="Abadi" panose="020B0604020104020204" pitchFamily="34" charset="0"/>
              </a:rPr>
              <a:t>(</a:t>
            </a:r>
            <a:r>
              <a:rPr lang="pt-BR" sz="2000" dirty="0" err="1">
                <a:solidFill>
                  <a:srgbClr val="FFFF00"/>
                </a:solidFill>
                <a:latin typeface="Abadi" panose="020B0604020104020204" pitchFamily="34" charset="0"/>
              </a:rPr>
              <a:t>co</a:t>
            </a:r>
            <a:r>
              <a:rPr lang="pt-BR" sz="2000" dirty="0">
                <a:latin typeface="Abadi" panose="020B0604020104020204" pitchFamily="34" charset="0"/>
              </a:rPr>
              <a:t>):  chama </a:t>
            </a:r>
            <a:r>
              <a:rPr lang="pt-BR" sz="2000" dirty="0" err="1">
                <a:latin typeface="Abadi" panose="020B0604020104020204" pitchFamily="34" charset="0"/>
              </a:rPr>
              <a:t>inv</a:t>
            </a:r>
            <a:r>
              <a:rPr lang="pt-BR" sz="2000" dirty="0">
                <a:latin typeface="Abadi" panose="020B0604020104020204" pitchFamily="34" charset="0"/>
              </a:rPr>
              <a:t>(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o</a:t>
            </a:r>
            <a:r>
              <a:rPr lang="pt-BR" sz="2000" dirty="0">
                <a:latin typeface="Abadi" panose="020B0604020104020204" pitchFamily="34" charset="0"/>
              </a:rPr>
              <a:t>) + 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c</a:t>
            </a:r>
            <a:r>
              <a:rPr lang="pt-BR" sz="2000" dirty="0">
                <a:latin typeface="Abadi" panose="020B0604020104020204" pitchFamily="34" charset="0"/>
              </a:rPr>
              <a:t>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passo recursivo</a:t>
            </a:r>
            <a:endParaRPr lang="pt-BR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 err="1">
                <a:latin typeface="Abadi" panose="020B0604020104020204" pitchFamily="34" charset="0"/>
              </a:rPr>
              <a:t>inv</a:t>
            </a:r>
            <a:r>
              <a:rPr lang="pt-BR" sz="2000" dirty="0">
                <a:latin typeface="Abadi" panose="020B0604020104020204" pitchFamily="34" charset="0"/>
              </a:rPr>
              <a:t>(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o</a:t>
            </a:r>
            <a:r>
              <a:rPr lang="pt-BR" sz="2000" dirty="0">
                <a:latin typeface="Abadi" panose="020B0604020104020204" pitchFamily="34" charset="0"/>
              </a:rPr>
              <a:t>): retorna 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o</a:t>
            </a:r>
            <a:r>
              <a:rPr lang="pt-BR" sz="2000" dirty="0">
                <a:latin typeface="Abadi" panose="020B0604020104020204" pitchFamily="34" charset="0"/>
              </a:rPr>
              <a:t> </a:t>
            </a:r>
            <a:r>
              <a:rPr lang="pt-BR" sz="2000" dirty="0">
                <a:latin typeface="Abadi" panose="020B0604020104020204" pitchFamily="34" charset="0"/>
                <a:ea typeface="Cambria Math" panose="02040503050406030204" pitchFamily="18" charset="0"/>
              </a:rPr>
              <a:t>← </a:t>
            </a:r>
            <a:r>
              <a:rPr lang="pt-BR" sz="2000" dirty="0">
                <a:latin typeface="Abadi" panose="020B0604020104020204" pitchFamily="34" charset="0"/>
              </a:rPr>
              <a:t>caso base alcançado</a:t>
            </a:r>
          </a:p>
          <a:p>
            <a:endParaRPr lang="pt-BR" sz="2000" dirty="0">
              <a:latin typeface="Abadi" panose="020B0604020104020204" pitchFamily="34" charset="0"/>
            </a:endParaRPr>
          </a:p>
          <a:p>
            <a:r>
              <a:rPr lang="pt-BR" sz="2000" dirty="0">
                <a:latin typeface="Abadi" panose="020B0604020104020204" pitchFamily="34" charset="0"/>
              </a:rPr>
              <a:t>A função então retorna o valor de todas essas chamadas combinadas:</a:t>
            </a:r>
          </a:p>
          <a:p>
            <a:endParaRPr lang="pt-BR" sz="2000" dirty="0">
              <a:latin typeface="Abadi" panose="020B0604020104020204" pitchFamily="34" charset="0"/>
            </a:endParaRPr>
          </a:p>
          <a:p>
            <a:pPr algn="ctr"/>
            <a:r>
              <a:rPr lang="pt-BR" sz="2000" dirty="0">
                <a:latin typeface="Abadi" panose="020B0604020104020204" pitchFamily="34" charset="0"/>
              </a:rPr>
              <a:t>resultando em 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o</a:t>
            </a:r>
            <a:r>
              <a:rPr lang="pt-BR" sz="2000" dirty="0">
                <a:latin typeface="Abadi" panose="020B0604020104020204" pitchFamily="34" charset="0"/>
              </a:rPr>
              <a:t> + 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c</a:t>
            </a:r>
            <a:r>
              <a:rPr lang="pt-BR" sz="2000" dirty="0">
                <a:latin typeface="Abadi" panose="020B0604020104020204" pitchFamily="34" charset="0"/>
              </a:rPr>
              <a:t> + 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s</a:t>
            </a:r>
            <a:r>
              <a:rPr lang="pt-BR" sz="2000" dirty="0">
                <a:latin typeface="Abadi" panose="020B0604020104020204" pitchFamily="34" charset="0"/>
              </a:rPr>
              <a:t> +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 a</a:t>
            </a:r>
            <a:r>
              <a:rPr lang="pt-BR" sz="2000" dirty="0">
                <a:latin typeface="Abadi" panose="020B0604020104020204" pitchFamily="34" charset="0"/>
              </a:rPr>
              <a:t> + </a:t>
            </a:r>
            <a:r>
              <a:rPr lang="pt-BR" sz="2000" dirty="0">
                <a:solidFill>
                  <a:srgbClr val="FFFF00"/>
                </a:solidFill>
                <a:latin typeface="Abadi" panose="020B0604020104020204" pitchFamily="34" charset="0"/>
              </a:rPr>
              <a:t>v</a:t>
            </a:r>
            <a:r>
              <a:rPr lang="pt-BR" sz="2000" dirty="0">
                <a:latin typeface="Abadi" panose="020B0604020104020204" pitchFamily="34" charset="0"/>
              </a:rPr>
              <a:t> = </a:t>
            </a:r>
            <a:r>
              <a:rPr lang="pt-BR" sz="2000" dirty="0" err="1">
                <a:solidFill>
                  <a:srgbClr val="FFFF00"/>
                </a:solidFill>
                <a:latin typeface="Abadi" panose="020B0604020104020204" pitchFamily="34" charset="0"/>
              </a:rPr>
              <a:t>ocsav</a:t>
            </a:r>
            <a:endParaRPr lang="pt-BR" sz="2000" dirty="0">
              <a:latin typeface="Abadi" panose="020B0604020104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F64890A-27C7-68AB-A638-532D888F39B7}"/>
              </a:ext>
            </a:extLst>
          </p:cNvPr>
          <p:cNvSpPr txBox="1"/>
          <p:nvPr/>
        </p:nvSpPr>
        <p:spPr>
          <a:xfrm>
            <a:off x="8145623" y="3205066"/>
            <a:ext cx="378317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dirty="0" err="1">
                <a:latin typeface="Abadi" panose="020B0604020104020204" pitchFamily="34" charset="0"/>
              </a:rPr>
              <a:t>inv</a:t>
            </a:r>
            <a:r>
              <a:rPr lang="pt-BR" dirty="0">
                <a:latin typeface="Abadi" panose="020B0604020104020204" pitchFamily="34" charset="0"/>
              </a:rPr>
              <a:t>(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asco</a:t>
            </a:r>
            <a:r>
              <a:rPr lang="pt-BR" dirty="0">
                <a:latin typeface="Abadi" panose="020B0604020104020204" pitchFamily="34" charset="0"/>
              </a:rPr>
              <a:t>)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v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 err="1">
                <a:latin typeface="Abadi" panose="020B0604020104020204" pitchFamily="34" charset="0"/>
              </a:rPr>
              <a:t>inv</a:t>
            </a:r>
            <a:r>
              <a:rPr lang="pt-BR" dirty="0">
                <a:latin typeface="Abadi" panose="020B0604020104020204" pitchFamily="34" charset="0"/>
              </a:rPr>
              <a:t>(</a:t>
            </a:r>
            <a:r>
              <a:rPr lang="pt-BR" dirty="0" err="1">
                <a:solidFill>
                  <a:srgbClr val="FFFF00"/>
                </a:solidFill>
                <a:latin typeface="Abadi" panose="020B0604020104020204" pitchFamily="34" charset="0"/>
              </a:rPr>
              <a:t>sco</a:t>
            </a:r>
            <a:r>
              <a:rPr lang="pt-BR" dirty="0">
                <a:latin typeface="Abadi" panose="020B0604020104020204" pitchFamily="34" charset="0"/>
              </a:rPr>
              <a:t>)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a</a:t>
            </a:r>
            <a:r>
              <a:rPr lang="pt-BR" dirty="0">
                <a:latin typeface="Abadi" panose="020B0604020104020204" pitchFamily="34" charset="0"/>
              </a:rPr>
              <a:t>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v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 err="1">
                <a:latin typeface="Abadi" panose="020B0604020104020204" pitchFamily="34" charset="0"/>
              </a:rPr>
              <a:t>inv</a:t>
            </a:r>
            <a:r>
              <a:rPr lang="pt-BR" dirty="0">
                <a:latin typeface="Abadi" panose="020B0604020104020204" pitchFamily="34" charset="0"/>
              </a:rPr>
              <a:t>(</a:t>
            </a:r>
            <a:r>
              <a:rPr lang="pt-BR" dirty="0" err="1">
                <a:solidFill>
                  <a:srgbClr val="FFFF00"/>
                </a:solidFill>
                <a:latin typeface="Abadi" panose="020B0604020104020204" pitchFamily="34" charset="0"/>
              </a:rPr>
              <a:t>co</a:t>
            </a:r>
            <a:r>
              <a:rPr lang="pt-BR" dirty="0">
                <a:latin typeface="Abadi" panose="020B0604020104020204" pitchFamily="34" charset="0"/>
              </a:rPr>
              <a:t>)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s</a:t>
            </a:r>
            <a:r>
              <a:rPr lang="pt-BR" dirty="0">
                <a:latin typeface="Abadi" panose="020B0604020104020204" pitchFamily="34" charset="0"/>
              </a:rPr>
              <a:t>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a</a:t>
            </a:r>
            <a:r>
              <a:rPr lang="pt-BR" dirty="0">
                <a:latin typeface="Abadi" panose="020B0604020104020204" pitchFamily="34" charset="0"/>
              </a:rPr>
              <a:t> +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 v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 err="1">
                <a:latin typeface="Abadi" panose="020B0604020104020204" pitchFamily="34" charset="0"/>
              </a:rPr>
              <a:t>inv</a:t>
            </a:r>
            <a:r>
              <a:rPr lang="pt-BR" dirty="0">
                <a:latin typeface="Abadi" panose="020B0604020104020204" pitchFamily="34" charset="0"/>
              </a:rPr>
              <a:t>(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o</a:t>
            </a:r>
            <a:r>
              <a:rPr lang="pt-BR" dirty="0">
                <a:latin typeface="Abadi" panose="020B0604020104020204" pitchFamily="34" charset="0"/>
              </a:rPr>
              <a:t>)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c</a:t>
            </a:r>
            <a:r>
              <a:rPr lang="pt-BR" dirty="0">
                <a:latin typeface="Abadi" panose="020B0604020104020204" pitchFamily="34" charset="0"/>
              </a:rPr>
              <a:t>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s</a:t>
            </a:r>
            <a:r>
              <a:rPr lang="pt-BR" dirty="0">
                <a:latin typeface="Abadi" panose="020B0604020104020204" pitchFamily="34" charset="0"/>
              </a:rPr>
              <a:t>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a</a:t>
            </a:r>
            <a:r>
              <a:rPr lang="pt-BR" dirty="0">
                <a:latin typeface="Abadi" panose="020B0604020104020204" pitchFamily="34" charset="0"/>
              </a:rPr>
              <a:t>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v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o</a:t>
            </a:r>
            <a:r>
              <a:rPr lang="pt-BR" dirty="0">
                <a:latin typeface="Abadi" panose="020B0604020104020204" pitchFamily="34" charset="0"/>
              </a:rPr>
              <a:t>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c</a:t>
            </a:r>
            <a:r>
              <a:rPr lang="pt-BR" dirty="0">
                <a:latin typeface="Abadi" panose="020B0604020104020204" pitchFamily="34" charset="0"/>
              </a:rPr>
              <a:t>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s</a:t>
            </a:r>
            <a:r>
              <a:rPr lang="pt-BR" dirty="0">
                <a:latin typeface="Abadi" panose="020B0604020104020204" pitchFamily="34" charset="0"/>
              </a:rPr>
              <a:t>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a</a:t>
            </a:r>
            <a:r>
              <a:rPr lang="pt-BR" dirty="0">
                <a:latin typeface="Abadi" panose="020B0604020104020204" pitchFamily="34" charset="0"/>
              </a:rPr>
              <a:t>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v</a:t>
            </a:r>
          </a:p>
          <a:p>
            <a:pPr marL="457200" indent="-457200">
              <a:buFont typeface="+mj-lt"/>
              <a:buAutoNum type="arabicPeriod"/>
            </a:pPr>
            <a:endParaRPr lang="pt-BR" dirty="0">
              <a:latin typeface="Abadi" panose="020B0604020104020204" pitchFamily="34" charset="0"/>
            </a:endParaRPr>
          </a:p>
          <a:p>
            <a:r>
              <a:rPr lang="pt-BR" sz="1800" dirty="0">
                <a:latin typeface="Abadi" panose="020B0604020104020204" pitchFamily="34" charset="0"/>
              </a:rPr>
              <a:t>Resultado = </a:t>
            </a:r>
            <a:r>
              <a:rPr lang="pt-BR" dirty="0" err="1">
                <a:solidFill>
                  <a:srgbClr val="FFFF00"/>
                </a:solidFill>
                <a:latin typeface="Abadi" panose="020B0604020104020204" pitchFamily="34" charset="0"/>
              </a:rPr>
              <a:t>ocsav</a:t>
            </a:r>
            <a:endParaRPr lang="pt-BR" sz="1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0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20D0-EDF5-999D-78C2-765392BAA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029B7CA4-29AE-84C4-3A2C-8D46FC47E57C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Agora vamos praticar!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EDF1AFE-535C-F5D1-C3E6-89187C600898}"/>
              </a:ext>
            </a:extLst>
          </p:cNvPr>
          <p:cNvSpPr/>
          <p:nvPr/>
        </p:nvSpPr>
        <p:spPr>
          <a:xfrm>
            <a:off x="263200" y="1012095"/>
            <a:ext cx="11665598" cy="2066385"/>
          </a:xfrm>
          <a:prstGeom prst="rect">
            <a:avLst/>
          </a:prstGeom>
          <a:noFill/>
          <a:ln w="28575">
            <a:solidFill>
              <a:srgbClr val="1F6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04E09A-91AE-4EAC-C13C-C77265FDDBD9}"/>
              </a:ext>
            </a:extLst>
          </p:cNvPr>
          <p:cNvSpPr txBox="1"/>
          <p:nvPr/>
        </p:nvSpPr>
        <p:spPr>
          <a:xfrm>
            <a:off x="363840" y="1324243"/>
            <a:ext cx="48583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b="1" dirty="0">
                <a:latin typeface="Abadi" panose="020B0604020104020204" pitchFamily="34" charset="0"/>
              </a:rPr>
              <a:t>Inverter uma </a:t>
            </a:r>
            <a:r>
              <a:rPr lang="pt-BR" b="1" dirty="0" err="1">
                <a:latin typeface="Abadi" panose="020B0604020104020204" pitchFamily="34" charset="0"/>
              </a:rPr>
              <a:t>String</a:t>
            </a:r>
            <a:endParaRPr lang="pt-BR" b="1" dirty="0">
              <a:latin typeface="Abadi" panose="020B0604020104020204" pitchFamily="34" charset="0"/>
            </a:endParaRPr>
          </a:p>
          <a:p>
            <a:pPr algn="just"/>
            <a:r>
              <a:rPr lang="pt-BR" dirty="0">
                <a:latin typeface="Abadi" panose="020B0604020104020204" pitchFamily="34" charset="0"/>
              </a:rPr>
              <a:t>Escreva uma função recursiva que receba uma </a:t>
            </a:r>
            <a:r>
              <a:rPr lang="pt-BR" dirty="0" err="1">
                <a:latin typeface="Abadi" panose="020B0604020104020204" pitchFamily="34" charset="0"/>
              </a:rPr>
              <a:t>string</a:t>
            </a:r>
            <a:r>
              <a:rPr lang="pt-BR" dirty="0">
                <a:latin typeface="Abadi" panose="020B0604020104020204" pitchFamily="34" charset="0"/>
              </a:rPr>
              <a:t> e retorne a </a:t>
            </a:r>
            <a:r>
              <a:rPr lang="pt-BR" dirty="0" err="1">
                <a:latin typeface="Abadi" panose="020B0604020104020204" pitchFamily="34" charset="0"/>
              </a:rPr>
              <a:t>string</a:t>
            </a:r>
            <a:r>
              <a:rPr lang="pt-BR" dirty="0">
                <a:latin typeface="Abadi" panose="020B0604020104020204" pitchFamily="34" charset="0"/>
              </a:rPr>
              <a:t> invertida.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811310E3-D31C-A0D9-AD38-63F5B089B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289124"/>
              </p:ext>
            </p:extLst>
          </p:nvPr>
        </p:nvGraphicFramePr>
        <p:xfrm>
          <a:off x="5376557" y="1324243"/>
          <a:ext cx="6451602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5801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3225801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recursividade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 err="1">
                          <a:latin typeface="Abadi" panose="020B0604020104020204" pitchFamily="34" charset="0"/>
                        </a:rPr>
                        <a:t>edadivisrucer</a:t>
                      </a:r>
                      <a:endParaRPr lang="pt-BR" sz="18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vinicius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 err="1">
                          <a:latin typeface="Abadi" panose="020B0604020104020204" pitchFamily="34" charset="0"/>
                        </a:rPr>
                        <a:t>suiciniv</a:t>
                      </a:r>
                      <a:endParaRPr lang="pt-BR" sz="18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Vingadores Guerra Infinita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 err="1">
                          <a:latin typeface="Abadi" panose="020B0604020104020204" pitchFamily="34" charset="0"/>
                        </a:rPr>
                        <a:t>atinifnI</a:t>
                      </a:r>
                      <a:r>
                        <a:rPr lang="pt-BR" sz="18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pt-BR" sz="1800" dirty="0" err="1">
                          <a:latin typeface="Abadi" panose="020B0604020104020204" pitchFamily="34" charset="0"/>
                        </a:rPr>
                        <a:t>arreuG</a:t>
                      </a:r>
                      <a:r>
                        <a:rPr lang="pt-BR" sz="18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pt-BR" sz="1800" dirty="0" err="1">
                          <a:latin typeface="Abadi" panose="020B0604020104020204" pitchFamily="34" charset="0"/>
                        </a:rPr>
                        <a:t>serodagniV</a:t>
                      </a:r>
                      <a:endParaRPr lang="pt-BR" sz="18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  <p:pic>
        <p:nvPicPr>
          <p:cNvPr id="11" name="Imagem 10">
            <a:extLst>
              <a:ext uri="{FF2B5EF4-FFF2-40B4-BE49-F238E27FC236}">
                <a16:creationId xmlns:a16="http://schemas.microsoft.com/office/drawing/2014/main" id="{7206ECD3-9169-FC71-0CC0-FB2E50FB2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35" y="3628756"/>
            <a:ext cx="10928730" cy="231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826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F720F-847C-4D26-CAFE-DEB6E981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C6A92061-C2F3-5086-2D4A-8EB0869BF237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Questões para casa...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4E5A3F-687B-AA28-1F3D-99DCF85225F8}"/>
              </a:ext>
            </a:extLst>
          </p:cNvPr>
          <p:cNvSpPr txBox="1"/>
          <p:nvPr/>
        </p:nvSpPr>
        <p:spPr>
          <a:xfrm>
            <a:off x="363840" y="988963"/>
            <a:ext cx="48583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b="1" dirty="0">
                <a:latin typeface="Abadi" panose="020B0604020104020204" pitchFamily="34" charset="0"/>
              </a:rPr>
              <a:t>Soma dos Dígitos de um Número</a:t>
            </a:r>
          </a:p>
          <a:p>
            <a:pPr algn="just"/>
            <a:r>
              <a:rPr lang="pt-BR" dirty="0">
                <a:latin typeface="Abadi" panose="020B0604020104020204" pitchFamily="34" charset="0"/>
              </a:rPr>
              <a:t>Escreva uma função recursiva que receba um número inteiro positivo 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pt-BR" dirty="0">
                <a:latin typeface="Abadi" panose="020B0604020104020204" pitchFamily="34" charset="0"/>
              </a:rPr>
              <a:t> e retorne a soma dos seus dígitos.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6D1DCF3-2B5B-1395-850B-8191AC5FC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151751"/>
              </p:ext>
            </p:extLst>
          </p:nvPr>
        </p:nvGraphicFramePr>
        <p:xfrm>
          <a:off x="5376557" y="988963"/>
          <a:ext cx="6451602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5801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3225801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252580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1789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8F4DADAF-42F8-4EF6-1782-02860C02686A}"/>
                  </a:ext>
                </a:extLst>
              </p:cNvPr>
              <p:cNvSpPr txBox="1"/>
              <p:nvPr/>
            </p:nvSpPr>
            <p:spPr>
              <a:xfrm>
                <a:off x="363841" y="2839673"/>
                <a:ext cx="485839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 startAt="2"/>
                </a:pPr>
                <a:r>
                  <a:rPr lang="pt-BR" b="1" dirty="0">
                    <a:latin typeface="Abadi" panose="020B0604020104020204" pitchFamily="34" charset="0"/>
                  </a:rPr>
                  <a:t>Potência de um Número</a:t>
                </a:r>
              </a:p>
              <a:p>
                <a:pPr algn="just"/>
                <a:r>
                  <a:rPr lang="pt-BR" dirty="0">
                    <a:latin typeface="Abadi" panose="020B0604020104020204" pitchFamily="34" charset="0"/>
                  </a:rPr>
                  <a:t>Escreva uma função recursiva que calcule a potência de um número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pt-BR" dirty="0">
                    <a:latin typeface="Abadi" panose="020B0604020104020204" pitchFamily="34" charset="0"/>
                  </a:rPr>
                  <a:t> elevado a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pt-BR" dirty="0">
                    <a:latin typeface="Abadi" panose="020B0604020104020204" pitchFamily="34" charset="0"/>
                  </a:rPr>
                  <a:t>, ou seja,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. Suponha que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pt-BR" dirty="0">
                    <a:latin typeface="Abadi" panose="020B0604020104020204" pitchFamily="34" charset="0"/>
                  </a:rPr>
                  <a:t> seja um número inteiro não-negativo.</a:t>
                </a: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8F4DADAF-42F8-4EF6-1782-02860C026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41" y="2839673"/>
                <a:ext cx="4858398" cy="1477328"/>
              </a:xfrm>
              <a:prstGeom prst="rect">
                <a:avLst/>
              </a:prstGeom>
              <a:blipFill>
                <a:blip r:embed="rId2"/>
                <a:stretch>
                  <a:fillRect l="-1129" t="-2479" r="-1004" b="-57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D0003B29-ECFC-8E65-2D05-AFFFECBDE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591439"/>
              </p:ext>
            </p:extLst>
          </p:nvPr>
        </p:nvGraphicFramePr>
        <p:xfrm>
          <a:off x="5376557" y="2839673"/>
          <a:ext cx="6451602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5801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3225801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x = 2, y =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>
                          <a:latin typeface="Abadi" panose="020B0604020104020204" pitchFamily="34" charset="0"/>
                        </a:rPr>
                        <a:t>x = 3, y 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243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>
                          <a:latin typeface="Abadi" panose="020B0604020104020204" pitchFamily="34" charset="0"/>
                        </a:rPr>
                        <a:t>x = 4, y =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1048576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  <p:sp>
        <p:nvSpPr>
          <p:cNvPr id="18" name="CaixaDeTexto 17">
            <a:extLst>
              <a:ext uri="{FF2B5EF4-FFF2-40B4-BE49-F238E27FC236}">
                <a16:creationId xmlns:a16="http://schemas.microsoft.com/office/drawing/2014/main" id="{3ECE0A7B-80E8-8246-AF65-9154828A39AA}"/>
              </a:ext>
            </a:extLst>
          </p:cNvPr>
          <p:cNvSpPr txBox="1"/>
          <p:nvPr/>
        </p:nvSpPr>
        <p:spPr>
          <a:xfrm>
            <a:off x="363840" y="4668709"/>
            <a:ext cx="48583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 startAt="3"/>
            </a:pPr>
            <a:r>
              <a:rPr lang="pt-BR" b="1" dirty="0">
                <a:latin typeface="Abadi" panose="020B0604020104020204" pitchFamily="34" charset="0"/>
              </a:rPr>
              <a:t>Série de Fibonacci</a:t>
            </a:r>
          </a:p>
          <a:p>
            <a:pPr algn="just"/>
            <a:r>
              <a:rPr lang="pt-BR" dirty="0">
                <a:latin typeface="Abadi" panose="020B0604020104020204" pitchFamily="34" charset="0"/>
              </a:rPr>
              <a:t>Escreva uma função recursiva para calcular o enésimo termo da sequência de Fibonacci. Na sequência de Fibonacci, cada termo é a soma dos dois anteriores, com os primeiros termos sendo 0 e 1.</a:t>
            </a:r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4B11329F-049B-40C3-569C-26F821509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874092"/>
              </p:ext>
            </p:extLst>
          </p:nvPr>
        </p:nvGraphicFramePr>
        <p:xfrm>
          <a:off x="5376557" y="4804192"/>
          <a:ext cx="6451602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5801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3225801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b="1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1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46368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9505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2">
      <a:dk1>
        <a:srgbClr val="0C101C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C67361DBE7D944AD858223D4CAF603" ma:contentTypeVersion="0" ma:contentTypeDescription="Crie um novo documento." ma:contentTypeScope="" ma:versionID="c9dec7fe9ee32fa528428c7fb066817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71C288-EF71-4F4D-8051-08E55AD621AC}"/>
</file>

<file path=customXml/itemProps2.xml><?xml version="1.0" encoding="utf-8"?>
<ds:datastoreItem xmlns:ds="http://schemas.openxmlformats.org/officeDocument/2006/customXml" ds:itemID="{66E7720A-A7AA-46F4-9C6E-DF3E420A7E9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C048B96-FB06-4AC4-A94E-871EB47C7F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2283</TotalTime>
  <Words>1457</Words>
  <Application>Microsoft Office PowerPoint</Application>
  <PresentationFormat>Widescreen</PresentationFormat>
  <Paragraphs>218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Abadi</vt:lpstr>
      <vt:lpstr>Arial</vt:lpstr>
      <vt:lpstr>Calibri</vt:lpstr>
      <vt:lpstr>Calibri Light</vt:lpstr>
      <vt:lpstr>Cambria Math</vt:lpstr>
      <vt:lpstr>Wingdings</vt:lpstr>
      <vt:lpstr>Tema do Office</vt:lpstr>
      <vt:lpstr>Estrutura de Dados Aula 3: Recursividade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Vinícius José Lopes Cursino</dc:creator>
  <cp:lastModifiedBy>Vinícius José Lopes Cursino</cp:lastModifiedBy>
  <cp:revision>45</cp:revision>
  <dcterms:created xsi:type="dcterms:W3CDTF">2024-11-05T22:56:10Z</dcterms:created>
  <dcterms:modified xsi:type="dcterms:W3CDTF">2026-02-02T18:53:12Z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0x01010068C67361DBE7D944AD858223D4CAF603</vt:lpwstr>
  </property>
</Properties>
</file>