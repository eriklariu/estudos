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8"/>
  </p:notesMasterIdLst>
  <p:sldIdLst>
    <p:sldId id="256" r:id="rId2"/>
    <p:sldId id="345" r:id="rId3"/>
    <p:sldId id="361" r:id="rId4"/>
    <p:sldId id="265" r:id="rId5"/>
    <p:sldId id="349" r:id="rId6"/>
    <p:sldId id="362" r:id="rId7"/>
    <p:sldId id="363" r:id="rId8"/>
    <p:sldId id="364" r:id="rId9"/>
    <p:sldId id="365" r:id="rId10"/>
    <p:sldId id="366" r:id="rId11"/>
    <p:sldId id="367" r:id="rId12"/>
    <p:sldId id="368" r:id="rId13"/>
    <p:sldId id="369" r:id="rId14"/>
    <p:sldId id="370" r:id="rId15"/>
    <p:sldId id="371" r:id="rId16"/>
    <p:sldId id="372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066" autoAdjust="0"/>
  </p:normalViewPr>
  <p:slideViewPr>
    <p:cSldViewPr>
      <p:cViewPr varScale="1">
        <p:scale>
          <a:sx n="99" d="100"/>
          <a:sy n="99" d="100"/>
        </p:scale>
        <p:origin x="2532" y="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CD27BF-5A77-4FF9-8400-4B8E709EB083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6EFE9-8848-4E94-B2E4-46DCA18F97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7412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4" name="Retângulo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5" name="Retângulo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6" name="Retângulo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7" name="Retângulo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0" name="Retângulo de cantos arredondados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1" name="Retângulo de cantos arredondados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Retângulo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tângulo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tângulo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9" name="Retângulo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609600" y="2401888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8940800" y="4206240"/>
            <a:ext cx="1280160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7213600" y="4205288"/>
            <a:ext cx="172720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1981201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26" name="Espaço Reservado para Data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28" name="Espaço Reservado para Rodapé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042400" y="1143000"/>
            <a:ext cx="2540000" cy="5486400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143000"/>
            <a:ext cx="8331200" cy="548640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9" name="Retângulo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0" name="Retângulo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1" name="Retângulo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tângulo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3" name="Retângulo de cantos arredondados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4" name="Retângulo de cantos arredondados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5" name="Retângulo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6" name="Retângulo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7" name="Retângulo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8" name="Retângulo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9" name="Retângulo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40" name="Retângulo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67408" y="1412777"/>
            <a:ext cx="10945216" cy="2187674"/>
          </a:xfrm>
        </p:spPr>
        <p:txBody>
          <a:bodyPr>
            <a:noAutofit/>
          </a:bodyPr>
          <a:lstStyle/>
          <a:p>
            <a:r>
              <a:rPr lang="pt-BR" sz="6000" dirty="0"/>
              <a:t>Laboratório de Programação I</a:t>
            </a:r>
            <a:br>
              <a:rPr lang="pt-BR" sz="6000" dirty="0"/>
            </a:br>
            <a:r>
              <a:rPr lang="pt-BR" sz="4000" dirty="0"/>
              <a:t>Estrutura de Repetição – WHILE | Do... </a:t>
            </a:r>
            <a:r>
              <a:rPr lang="pt-BR" sz="4000" dirty="0" err="1"/>
              <a:t>While</a:t>
            </a:r>
            <a:endParaRPr lang="pt-BR" sz="28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207568" y="5301208"/>
            <a:ext cx="6400800" cy="1104528"/>
          </a:xfrm>
        </p:spPr>
        <p:txBody>
          <a:bodyPr/>
          <a:lstStyle/>
          <a:p>
            <a:pPr algn="l"/>
            <a:r>
              <a:rPr lang="pt-BR" dirty="0"/>
              <a:t>Professor: Carlos Alberto</a:t>
            </a:r>
          </a:p>
          <a:p>
            <a:pPr algn="l"/>
            <a:r>
              <a:rPr lang="pt-BR" dirty="0" err="1"/>
              <a:t>Email</a:t>
            </a:r>
            <a:r>
              <a:rPr lang="pt-BR" dirty="0"/>
              <a:t>: carloswgama@gmail.com</a:t>
            </a:r>
          </a:p>
        </p:txBody>
      </p:sp>
    </p:spTree>
    <p:extLst>
      <p:ext uri="{BB962C8B-B14F-4D97-AF65-F5344CB8AC3E}">
        <p14:creationId xmlns:p14="http://schemas.microsoft.com/office/powerpoint/2010/main" val="3054800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de Repetição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Relembrando... o que é uma estrutura de repetição?</a:t>
            </a:r>
          </a:p>
          <a:p>
            <a:pPr lvl="1" algn="just"/>
            <a:r>
              <a:rPr lang="pt-BR" sz="1800" dirty="0"/>
              <a:t>É uma estrutura ao qual você pode escolher um trecho de seu código que poderá repetir.</a:t>
            </a:r>
          </a:p>
          <a:p>
            <a:pPr marL="411480" lvl="1" indent="0" algn="just">
              <a:buNone/>
            </a:pPr>
            <a:endParaRPr lang="pt-BR" sz="1800" dirty="0"/>
          </a:p>
          <a:p>
            <a:pPr algn="just"/>
            <a:r>
              <a:rPr lang="pt-BR" sz="2000" dirty="0"/>
              <a:t>Nas aulas passadas, vimos a estrutura de repetição FOR.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Quando a Estrutura de Repetição FOR é usada? </a:t>
            </a:r>
          </a:p>
          <a:p>
            <a:pPr lvl="1" algn="just"/>
            <a:r>
              <a:rPr lang="pt-BR" sz="1800" dirty="0"/>
              <a:t>Quando queremos uma quantidade </a:t>
            </a:r>
            <a:r>
              <a:rPr lang="pt-BR" sz="1800" u="sng" dirty="0"/>
              <a:t>determinada</a:t>
            </a:r>
            <a:r>
              <a:rPr lang="pt-BR" sz="1800" dirty="0"/>
              <a:t> de vezes que o código repita.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E no caso de repetições indeterminadas?  Que não sabemos se será 3, 5 ou 10 vezes?</a:t>
            </a:r>
          </a:p>
          <a:p>
            <a:pPr lvl="1" algn="just"/>
            <a:r>
              <a:rPr lang="pt-BR" sz="1800" dirty="0"/>
              <a:t>Usaremos o WHILE ou Do... WHILE</a:t>
            </a:r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90361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Crie um algoritmo que enquanto o usuário não digitar um valor negativo, continue solicitando o número digitado pelo usuário.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Por fim, exiba a soma de todos os valores digitados pelo usuário (Exceto o negativo)</a:t>
            </a:r>
            <a:endParaRPr lang="pt-BR" sz="1800" dirty="0"/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  <a:p>
            <a:pPr algn="just"/>
            <a:r>
              <a:rPr lang="pt-BR" sz="2000" dirty="0"/>
              <a:t>Nesse caso sei quantas vezes tenho que repetir? </a:t>
            </a:r>
          </a:p>
        </p:txBody>
      </p:sp>
    </p:spTree>
    <p:extLst>
      <p:ext uri="{BB962C8B-B14F-4D97-AF65-F5344CB8AC3E}">
        <p14:creationId xmlns:p14="http://schemas.microsoft.com/office/powerpoint/2010/main" val="1609143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1143000"/>
            <a:ext cx="8229600" cy="5022304"/>
          </a:xfrm>
        </p:spPr>
        <p:txBody>
          <a:bodyPr>
            <a:normAutofit/>
          </a:bodyPr>
          <a:lstStyle/>
          <a:p>
            <a:pPr algn="ctr"/>
            <a:r>
              <a:rPr lang="pt-BR" sz="6000" dirty="0"/>
              <a:t>Estrutura de Repetição</a:t>
            </a:r>
            <a:br>
              <a:rPr lang="pt-BR" sz="6000" dirty="0"/>
            </a:br>
            <a:r>
              <a:rPr lang="pt-BR" sz="6000" dirty="0"/>
              <a:t>WHILE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935046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WHILE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Qual a tradução de WHILE?</a:t>
            </a:r>
          </a:p>
          <a:p>
            <a:pPr lvl="1" algn="just"/>
            <a:r>
              <a:rPr lang="pt-BR" sz="1800" dirty="0"/>
              <a:t>ENQUANTO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A Estrutura de Repetição WHILE define então que </a:t>
            </a:r>
            <a:r>
              <a:rPr lang="pt-BR" sz="2000" u="sng" dirty="0"/>
              <a:t>enquanto uma condição for verdadeira</a:t>
            </a:r>
            <a:r>
              <a:rPr lang="pt-BR" sz="2000" dirty="0"/>
              <a:t>, </a:t>
            </a:r>
            <a:r>
              <a:rPr lang="pt-BR" sz="2000" u="sng" dirty="0"/>
              <a:t>repita</a:t>
            </a:r>
            <a:r>
              <a:rPr lang="pt-BR" sz="2000" dirty="0"/>
              <a:t> um trecho de código.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A Sintaxe do WHILE é dada por: </a:t>
            </a:r>
            <a:endParaRPr lang="pt-BR" sz="1800" dirty="0"/>
          </a:p>
        </p:txBody>
      </p:sp>
      <p:sp>
        <p:nvSpPr>
          <p:cNvPr id="4" name="Retângulo 3"/>
          <p:cNvSpPr/>
          <p:nvPr/>
        </p:nvSpPr>
        <p:spPr>
          <a:xfrm>
            <a:off x="3359696" y="4869161"/>
            <a:ext cx="5472608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(CONDICAO) {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 //Linhas que serão executadas enquanto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 //a </a:t>
            </a:r>
            <a:r>
              <a:rPr lang="pt-BR" dirty="0" err="1">
                <a:solidFill>
                  <a:srgbClr val="008000"/>
                </a:solidFill>
                <a:latin typeface="Consolas" panose="020B0609020204030204" pitchFamily="49" charset="0"/>
              </a:rPr>
              <a:t>condiçaõ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for verdadeira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12109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WHILE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Antes de entrar no WHILE pela primeira vez, o código deverá passar pela condição.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Só se a condição for verdadeira é que entrará no código a ser repetido.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E após executar a ultima linha da estrutura, ele volta a executar a checagem, para verificar se vai ou não repetir o código.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2592808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WHILE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Exemplo:</a:t>
            </a:r>
            <a:endParaRPr lang="pt-BR" sz="1800" dirty="0"/>
          </a:p>
        </p:txBody>
      </p:sp>
      <p:sp>
        <p:nvSpPr>
          <p:cNvPr id="4" name="Retângulo 3"/>
          <p:cNvSpPr/>
          <p:nvPr/>
        </p:nvSpPr>
        <p:spPr>
          <a:xfrm>
            <a:off x="3935760" y="1268760"/>
            <a:ext cx="2430016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1000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(a &gt; 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100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a /= 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"FIM"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6816081" y="836713"/>
            <a:ext cx="350507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dirty="0" err="1"/>
              <a:t>int</a:t>
            </a:r>
            <a:r>
              <a:rPr lang="pt-BR" dirty="0"/>
              <a:t> a = 100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 err="1"/>
              <a:t>while</a:t>
            </a:r>
            <a:r>
              <a:rPr lang="pt-BR" dirty="0"/>
              <a:t> (a &gt; 100)   (a é 1000)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a /= 3 (a vira 333)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 err="1"/>
              <a:t>while</a:t>
            </a:r>
            <a:r>
              <a:rPr lang="pt-BR" dirty="0"/>
              <a:t> (a &gt; 100)  (a é 333)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a /= 3 (a vira 111)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 err="1"/>
              <a:t>While</a:t>
            </a:r>
            <a:r>
              <a:rPr lang="pt-BR" dirty="0"/>
              <a:t> (a &gt; 100) (a é 111)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a /= 3 (a vira 37)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 err="1"/>
              <a:t>While</a:t>
            </a:r>
            <a:r>
              <a:rPr lang="pt-BR" dirty="0"/>
              <a:t> (a &gt; 100) (a é 37)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 err="1"/>
              <a:t>Printf</a:t>
            </a:r>
            <a:r>
              <a:rPr lang="pt-BR" dirty="0"/>
              <a:t>(“FIM”)</a:t>
            </a:r>
          </a:p>
        </p:txBody>
      </p:sp>
      <p:sp>
        <p:nvSpPr>
          <p:cNvPr id="6" name="Retângulo Arredondado 5"/>
          <p:cNvSpPr/>
          <p:nvPr/>
        </p:nvSpPr>
        <p:spPr>
          <a:xfrm>
            <a:off x="3935760" y="1268760"/>
            <a:ext cx="1656184" cy="288032"/>
          </a:xfrm>
          <a:prstGeom prst="round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Arredondado 6"/>
          <p:cNvSpPr/>
          <p:nvPr/>
        </p:nvSpPr>
        <p:spPr>
          <a:xfrm>
            <a:off x="3990936" y="1532384"/>
            <a:ext cx="1961048" cy="330696"/>
          </a:xfrm>
          <a:prstGeom prst="round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Arredondado 7"/>
          <p:cNvSpPr/>
          <p:nvPr/>
        </p:nvSpPr>
        <p:spPr>
          <a:xfrm>
            <a:off x="4402118" y="1838672"/>
            <a:ext cx="1189827" cy="330696"/>
          </a:xfrm>
          <a:prstGeom prst="round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Arredondado 8"/>
          <p:cNvSpPr/>
          <p:nvPr/>
        </p:nvSpPr>
        <p:spPr>
          <a:xfrm>
            <a:off x="3990936" y="1514128"/>
            <a:ext cx="1961048" cy="330696"/>
          </a:xfrm>
          <a:prstGeom prst="round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Arredondado 9"/>
          <p:cNvSpPr/>
          <p:nvPr/>
        </p:nvSpPr>
        <p:spPr>
          <a:xfrm>
            <a:off x="4392395" y="1857460"/>
            <a:ext cx="1189827" cy="330696"/>
          </a:xfrm>
          <a:prstGeom prst="round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Arredondado 10"/>
          <p:cNvSpPr/>
          <p:nvPr/>
        </p:nvSpPr>
        <p:spPr>
          <a:xfrm>
            <a:off x="3990936" y="1548282"/>
            <a:ext cx="1961048" cy="330696"/>
          </a:xfrm>
          <a:prstGeom prst="round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Arredondado 11"/>
          <p:cNvSpPr/>
          <p:nvPr/>
        </p:nvSpPr>
        <p:spPr>
          <a:xfrm>
            <a:off x="4376547" y="1873268"/>
            <a:ext cx="1189827" cy="330696"/>
          </a:xfrm>
          <a:prstGeom prst="round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Arredondado 12"/>
          <p:cNvSpPr/>
          <p:nvPr/>
        </p:nvSpPr>
        <p:spPr>
          <a:xfrm>
            <a:off x="3990935" y="1524203"/>
            <a:ext cx="1961048" cy="330696"/>
          </a:xfrm>
          <a:prstGeom prst="round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Arredondado 13"/>
          <p:cNvSpPr/>
          <p:nvPr/>
        </p:nvSpPr>
        <p:spPr>
          <a:xfrm>
            <a:off x="4006998" y="2355686"/>
            <a:ext cx="1800970" cy="390402"/>
          </a:xfrm>
          <a:prstGeom prst="round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/>
          <p:cNvSpPr/>
          <p:nvPr/>
        </p:nvSpPr>
        <p:spPr>
          <a:xfrm>
            <a:off x="3782022" y="4411980"/>
            <a:ext cx="2430016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(a &gt; 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100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a /= 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"FIM"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6528049" y="4335487"/>
            <a:ext cx="3505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dirty="0" err="1"/>
              <a:t>int</a:t>
            </a:r>
            <a:r>
              <a:rPr lang="pt-BR" dirty="0"/>
              <a:t> a = 100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 err="1"/>
              <a:t>while</a:t>
            </a:r>
            <a:r>
              <a:rPr lang="pt-BR" dirty="0"/>
              <a:t> (a &gt; 100)   (a é 10)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 err="1"/>
              <a:t>Printf</a:t>
            </a:r>
            <a:r>
              <a:rPr lang="pt-BR" dirty="0"/>
              <a:t>(“FIM”)</a:t>
            </a:r>
          </a:p>
        </p:txBody>
      </p:sp>
      <p:sp>
        <p:nvSpPr>
          <p:cNvPr id="17" name="Retângulo Arredondado 16"/>
          <p:cNvSpPr/>
          <p:nvPr/>
        </p:nvSpPr>
        <p:spPr>
          <a:xfrm>
            <a:off x="3782022" y="4411980"/>
            <a:ext cx="1656184" cy="288032"/>
          </a:xfrm>
          <a:prstGeom prst="round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Arredondado 17"/>
          <p:cNvSpPr/>
          <p:nvPr/>
        </p:nvSpPr>
        <p:spPr>
          <a:xfrm>
            <a:off x="3799000" y="4732122"/>
            <a:ext cx="2025732" cy="327930"/>
          </a:xfrm>
          <a:prstGeom prst="round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Arredondado 18"/>
          <p:cNvSpPr/>
          <p:nvPr/>
        </p:nvSpPr>
        <p:spPr>
          <a:xfrm>
            <a:off x="3756098" y="5534950"/>
            <a:ext cx="2025732" cy="327930"/>
          </a:xfrm>
          <a:prstGeom prst="round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8162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WHILE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Resolva o problema inicial da aula de hoje:</a:t>
            </a:r>
          </a:p>
          <a:p>
            <a:pPr algn="just"/>
            <a:endParaRPr lang="pt-BR" sz="2000" dirty="0"/>
          </a:p>
          <a:p>
            <a:pPr algn="just"/>
            <a:r>
              <a:rPr lang="pt-BR" sz="1800" dirty="0"/>
              <a:t>Crie um algoritmo que enquanto o usuário não digitar um valor negativo, continue solicitando o número digitado pelo usuário. </a:t>
            </a:r>
          </a:p>
          <a:p>
            <a:pPr algn="just"/>
            <a:endParaRPr lang="pt-BR" sz="1800" dirty="0"/>
          </a:p>
          <a:p>
            <a:pPr algn="just"/>
            <a:r>
              <a:rPr lang="pt-BR" sz="1800" dirty="0"/>
              <a:t>Por fim, exiba a soma de todos os valores digitados pelo usuário (Exceto o negativo)</a:t>
            </a:r>
            <a:endParaRPr lang="pt-BR" sz="1600" dirty="0"/>
          </a:p>
          <a:p>
            <a:pPr algn="just"/>
            <a:endParaRPr lang="pt-BR" sz="18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560" y="4725144"/>
            <a:ext cx="8283010" cy="141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436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WHILE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  <a:endParaRPr lang="pt-BR" sz="1600" dirty="0"/>
          </a:p>
          <a:p>
            <a:pPr algn="just"/>
            <a:endParaRPr lang="pt-BR" sz="1800" dirty="0"/>
          </a:p>
        </p:txBody>
      </p:sp>
      <p:sp>
        <p:nvSpPr>
          <p:cNvPr id="5" name="Retângulo 4"/>
          <p:cNvSpPr/>
          <p:nvPr/>
        </p:nvSpPr>
        <p:spPr>
          <a:xfrm>
            <a:off x="1847528" y="2636912"/>
            <a:ext cx="8363272" cy="34163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soma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valor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um valor positivo a ser somado e um negativo </a:t>
            </a:r>
          </a:p>
          <a:p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				       para sair da repetição: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(valor &gt;=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&amp;valor);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(valor &gt;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    soma += valor;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"Total: 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soma);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0062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WHILE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Crie um algoritmo que enquanto o usuário não digitar a senha correta, informe na tela: “Senha errada” e solicite novamente a senha.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Use a senha </a:t>
            </a:r>
            <a:r>
              <a:rPr lang="pt-BR" sz="2000" u="sng" dirty="0"/>
              <a:t>OLAMUNDO</a:t>
            </a:r>
            <a:r>
              <a:rPr lang="pt-BR" sz="2000" dirty="0"/>
              <a:t>, lembrando que para comparação de </a:t>
            </a:r>
            <a:r>
              <a:rPr lang="pt-BR" sz="2000" dirty="0" err="1"/>
              <a:t>string</a:t>
            </a:r>
            <a:r>
              <a:rPr lang="pt-BR" sz="2000" dirty="0"/>
              <a:t> usamos o método </a:t>
            </a:r>
            <a:r>
              <a:rPr lang="pt-BR" sz="2000" u="sng" dirty="0" err="1"/>
              <a:t>strcmp</a:t>
            </a:r>
            <a:r>
              <a:rPr lang="pt-BR" sz="2000" dirty="0"/>
              <a:t> da biblioteca </a:t>
            </a:r>
            <a:r>
              <a:rPr lang="pt-BR" sz="2000" u="sng" dirty="0" err="1"/>
              <a:t>strings.h</a:t>
            </a:r>
            <a:r>
              <a:rPr lang="pt-BR" sz="2000" dirty="0"/>
              <a:t>.  </a:t>
            </a:r>
            <a:endParaRPr lang="pt-BR" sz="1600" dirty="0"/>
          </a:p>
          <a:p>
            <a:pPr algn="just"/>
            <a:endParaRPr lang="pt-BR" sz="18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784" y="4312596"/>
            <a:ext cx="3456384" cy="2301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888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WHILE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  <a:endParaRPr lang="pt-BR" sz="1600" dirty="0"/>
          </a:p>
          <a:p>
            <a:pPr algn="just"/>
            <a:endParaRPr lang="pt-BR" sz="1800" dirty="0"/>
          </a:p>
        </p:txBody>
      </p:sp>
      <p:sp>
        <p:nvSpPr>
          <p:cNvPr id="4" name="Retângulo 3"/>
          <p:cNvSpPr/>
          <p:nvPr/>
        </p:nvSpPr>
        <p:spPr>
          <a:xfrm>
            <a:off x="3935760" y="2249424"/>
            <a:ext cx="5614738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senha[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a senha: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senha);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strcmp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(senha,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"OLAMUNDO"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!=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"Senha errada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a senha: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senha);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}  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"ACESSOU"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23454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1143000"/>
            <a:ext cx="8229600" cy="5022304"/>
          </a:xfrm>
        </p:spPr>
        <p:txBody>
          <a:bodyPr>
            <a:normAutofit/>
          </a:bodyPr>
          <a:lstStyle/>
          <a:p>
            <a:pPr algn="ctr"/>
            <a:r>
              <a:rPr lang="pt-BR" sz="6000" dirty="0"/>
              <a:t>Estrutura de Repetição</a:t>
            </a:r>
            <a:br>
              <a:rPr lang="pt-BR" sz="6000" dirty="0"/>
            </a:br>
            <a:r>
              <a:rPr lang="pt-BR" sz="6000" dirty="0"/>
              <a:t>DO...WHILE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624998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Do... </a:t>
            </a:r>
            <a:r>
              <a:rPr lang="pt-BR" dirty="0" err="1"/>
              <a:t>While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Assim como é o </a:t>
            </a:r>
            <a:r>
              <a:rPr lang="pt-BR" sz="2000" dirty="0" err="1"/>
              <a:t>While</a:t>
            </a:r>
            <a:r>
              <a:rPr lang="pt-BR" sz="2000" dirty="0"/>
              <a:t>, o Do... </a:t>
            </a:r>
            <a:r>
              <a:rPr lang="pt-BR" sz="2000" dirty="0" err="1"/>
              <a:t>While</a:t>
            </a:r>
            <a:r>
              <a:rPr lang="pt-BR" sz="2000" dirty="0"/>
              <a:t> também é usado para repetir uma quantidade indeterminada de vezes.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Mas qual é a sua diferença para o </a:t>
            </a:r>
            <a:r>
              <a:rPr lang="pt-BR" sz="2000" dirty="0" err="1"/>
              <a:t>While</a:t>
            </a:r>
            <a:r>
              <a:rPr lang="pt-BR" sz="2000" dirty="0"/>
              <a:t>?</a:t>
            </a:r>
          </a:p>
          <a:p>
            <a:pPr lvl="1" algn="just"/>
            <a:r>
              <a:rPr lang="pt-BR" sz="2000" dirty="0"/>
              <a:t>No Do... </a:t>
            </a:r>
            <a:r>
              <a:rPr lang="pt-BR" sz="2000" dirty="0" err="1"/>
              <a:t>While</a:t>
            </a:r>
            <a:r>
              <a:rPr lang="pt-BR" sz="2000" dirty="0"/>
              <a:t> </a:t>
            </a:r>
            <a:r>
              <a:rPr lang="pt-BR" sz="2000" u="sng" dirty="0"/>
              <a:t>a condição vem após a ultima linha do trecho do código e não antes</a:t>
            </a:r>
            <a:r>
              <a:rPr lang="pt-BR" sz="2000" dirty="0"/>
              <a:t>, garantindo que o código seja </a:t>
            </a:r>
            <a:r>
              <a:rPr lang="pt-BR" sz="2000" u="sng" dirty="0"/>
              <a:t>executado pelo menos uma vez</a:t>
            </a:r>
            <a:r>
              <a:rPr lang="pt-BR" sz="2000" dirty="0"/>
              <a:t>.</a:t>
            </a:r>
          </a:p>
          <a:p>
            <a:pPr lvl="1" algn="just"/>
            <a:endParaRPr lang="pt-BR" sz="2000" dirty="0"/>
          </a:p>
          <a:p>
            <a:pPr algn="just"/>
            <a:r>
              <a:rPr lang="pt-BR" sz="2200" dirty="0"/>
              <a:t>Sua sintaxe é dada por:</a:t>
            </a:r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2286748" y="5445224"/>
            <a:ext cx="3816424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do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   //Código a ser repetido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(CONDICAO);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6132694" y="5999222"/>
            <a:ext cx="3732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Nesse caso, tem  “;” após o WHILE</a:t>
            </a:r>
          </a:p>
        </p:txBody>
      </p:sp>
      <p:sp>
        <p:nvSpPr>
          <p:cNvPr id="7" name="Retângulo Arredondado 6"/>
          <p:cNvSpPr/>
          <p:nvPr/>
        </p:nvSpPr>
        <p:spPr>
          <a:xfrm>
            <a:off x="4439816" y="6093296"/>
            <a:ext cx="216024" cy="275258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6597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Do... </a:t>
            </a:r>
            <a:r>
              <a:rPr lang="pt-BR" dirty="0" err="1"/>
              <a:t>While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Exemplo:</a:t>
            </a:r>
            <a:endParaRPr lang="pt-BR" sz="1800" dirty="0"/>
          </a:p>
        </p:txBody>
      </p:sp>
      <p:sp>
        <p:nvSpPr>
          <p:cNvPr id="15" name="Retângulo 14"/>
          <p:cNvSpPr/>
          <p:nvPr/>
        </p:nvSpPr>
        <p:spPr>
          <a:xfrm>
            <a:off x="4151784" y="2209800"/>
            <a:ext cx="2430016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(a &gt; 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100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a /= 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"FIM"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6897811" y="2133307"/>
            <a:ext cx="3505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dirty="0" err="1"/>
              <a:t>int</a:t>
            </a:r>
            <a:r>
              <a:rPr lang="pt-BR" dirty="0"/>
              <a:t> a = 100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 err="1"/>
              <a:t>while</a:t>
            </a:r>
            <a:r>
              <a:rPr lang="pt-BR" dirty="0"/>
              <a:t> (a &gt; 100)   (a é 10)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 err="1"/>
              <a:t>Printf</a:t>
            </a:r>
            <a:r>
              <a:rPr lang="pt-BR" dirty="0"/>
              <a:t>(“FIM”)</a:t>
            </a:r>
          </a:p>
        </p:txBody>
      </p:sp>
      <p:sp>
        <p:nvSpPr>
          <p:cNvPr id="17" name="Retângulo Arredondado 16"/>
          <p:cNvSpPr/>
          <p:nvPr/>
        </p:nvSpPr>
        <p:spPr>
          <a:xfrm>
            <a:off x="4151784" y="2209800"/>
            <a:ext cx="1656184" cy="288032"/>
          </a:xfrm>
          <a:prstGeom prst="round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Arredondado 17"/>
          <p:cNvSpPr/>
          <p:nvPr/>
        </p:nvSpPr>
        <p:spPr>
          <a:xfrm>
            <a:off x="4168762" y="2529942"/>
            <a:ext cx="2025732" cy="327930"/>
          </a:xfrm>
          <a:prstGeom prst="round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Arredondado 18"/>
          <p:cNvSpPr/>
          <p:nvPr/>
        </p:nvSpPr>
        <p:spPr>
          <a:xfrm>
            <a:off x="4125860" y="3332770"/>
            <a:ext cx="2025732" cy="327930"/>
          </a:xfrm>
          <a:prstGeom prst="round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/>
          <p:cNvSpPr/>
          <p:nvPr/>
        </p:nvSpPr>
        <p:spPr>
          <a:xfrm>
            <a:off x="2301589" y="4338855"/>
            <a:ext cx="2646926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do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a /=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(a &gt;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"FIM"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5663953" y="4162027"/>
            <a:ext cx="35050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dirty="0" err="1"/>
              <a:t>int</a:t>
            </a:r>
            <a:r>
              <a:rPr lang="pt-BR" dirty="0"/>
              <a:t> a = 100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a/=3 (a vira 3)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 err="1"/>
              <a:t>while</a:t>
            </a:r>
            <a:r>
              <a:rPr lang="pt-BR" dirty="0"/>
              <a:t> (a &gt; 100)   (a é 3)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 err="1"/>
              <a:t>Printf</a:t>
            </a:r>
            <a:r>
              <a:rPr lang="pt-BR" dirty="0"/>
              <a:t>(“FIM”)</a:t>
            </a:r>
          </a:p>
        </p:txBody>
      </p:sp>
      <p:sp>
        <p:nvSpPr>
          <p:cNvPr id="23" name="Retângulo Arredondado 22"/>
          <p:cNvSpPr/>
          <p:nvPr/>
        </p:nvSpPr>
        <p:spPr>
          <a:xfrm>
            <a:off x="2334236" y="4338855"/>
            <a:ext cx="1656184" cy="288032"/>
          </a:xfrm>
          <a:prstGeom prst="round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Arredondado 23"/>
          <p:cNvSpPr/>
          <p:nvPr/>
        </p:nvSpPr>
        <p:spPr>
          <a:xfrm>
            <a:off x="2711624" y="4927632"/>
            <a:ext cx="1008112" cy="229561"/>
          </a:xfrm>
          <a:prstGeom prst="round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Arredondado 24"/>
          <p:cNvSpPr/>
          <p:nvPr/>
        </p:nvSpPr>
        <p:spPr>
          <a:xfrm>
            <a:off x="2616940" y="5228376"/>
            <a:ext cx="1750868" cy="229561"/>
          </a:xfrm>
          <a:prstGeom prst="round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Arredondado 25"/>
          <p:cNvSpPr/>
          <p:nvPr/>
        </p:nvSpPr>
        <p:spPr>
          <a:xfrm>
            <a:off x="2374992" y="5516408"/>
            <a:ext cx="1750868" cy="229561"/>
          </a:xfrm>
          <a:prstGeom prst="round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3818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1" grpId="0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Do... </a:t>
            </a:r>
            <a:r>
              <a:rPr lang="pt-BR" dirty="0" err="1"/>
              <a:t>While</a:t>
            </a:r>
            <a:r>
              <a:rPr lang="pt-BR" dirty="0"/>
              <a:t>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Se o nossa atividade anterior </a:t>
            </a:r>
            <a:r>
              <a:rPr lang="pt-BR" sz="2000" u="sng" dirty="0"/>
              <a:t>não exibe-se a mensagem de erro</a:t>
            </a:r>
            <a:r>
              <a:rPr lang="pt-BR" sz="2000" dirty="0"/>
              <a:t>, apenas solicitasse uma nova senha enquanto o usuário não digitasse a correta.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Qual seria a melhor forma de resolve esse problema?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988" y="4221088"/>
            <a:ext cx="4010025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955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Do... </a:t>
            </a:r>
            <a:r>
              <a:rPr lang="pt-BR" dirty="0" err="1"/>
              <a:t>While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</a:p>
        </p:txBody>
      </p:sp>
      <p:sp>
        <p:nvSpPr>
          <p:cNvPr id="5" name="Retângulo 4"/>
          <p:cNvSpPr/>
          <p:nvPr/>
        </p:nvSpPr>
        <p:spPr>
          <a:xfrm>
            <a:off x="3188804" y="2842320"/>
            <a:ext cx="5814392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senha[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do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a senha: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	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senha);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}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strcmp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(senha,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"OLAMUNDO"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!=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"ACESSOU"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22300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BB18BA9D9AB6240B5154E147FB65CD8" ma:contentTypeVersion="4" ma:contentTypeDescription="Crie um novo documento." ma:contentTypeScope="" ma:versionID="d137e2844ba62bc793c1c8abf70138df">
  <xsd:schema xmlns:xsd="http://www.w3.org/2001/XMLSchema" xmlns:xs="http://www.w3.org/2001/XMLSchema" xmlns:p="http://schemas.microsoft.com/office/2006/metadata/properties" xmlns:ns2="374fe2b2-f112-4a7f-a75a-e4cf13299bfb" targetNamespace="http://schemas.microsoft.com/office/2006/metadata/properties" ma:root="true" ma:fieldsID="8c06492f1f7e45b2407bc3835eac0481" ns2:_="">
    <xsd:import namespace="374fe2b2-f112-4a7f-a75a-e4cf13299b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4fe2b2-f112-4a7f-a75a-e4cf13299b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0732DFA-0E28-4212-911D-0DC610C6260B}"/>
</file>

<file path=customXml/itemProps2.xml><?xml version="1.0" encoding="utf-8"?>
<ds:datastoreItem xmlns:ds="http://schemas.openxmlformats.org/officeDocument/2006/customXml" ds:itemID="{A44977A6-0298-494D-B56B-E2081A8FD625}"/>
</file>

<file path=customXml/itemProps3.xml><?xml version="1.0" encoding="utf-8"?>
<ds:datastoreItem xmlns:ds="http://schemas.openxmlformats.org/officeDocument/2006/customXml" ds:itemID="{C1569ADF-4C79-46E1-BADB-930216F6042D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1816</TotalTime>
  <Words>1001</Words>
  <Application>Microsoft Office PowerPoint</Application>
  <PresentationFormat>Widescreen</PresentationFormat>
  <Paragraphs>148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2" baseType="lpstr">
      <vt:lpstr>Calibri</vt:lpstr>
      <vt:lpstr>Consolas</vt:lpstr>
      <vt:lpstr>Georgia</vt:lpstr>
      <vt:lpstr>Trebuchet MS</vt:lpstr>
      <vt:lpstr>Wingdings 2</vt:lpstr>
      <vt:lpstr>Urbano</vt:lpstr>
      <vt:lpstr>Laboratório de Programação I Estrutura de Repetição – WHILE | Do... While</vt:lpstr>
      <vt:lpstr>Estrutura de Repetição</vt:lpstr>
      <vt:lpstr>Problema</vt:lpstr>
      <vt:lpstr>Estrutura de Repetição WHILE </vt:lpstr>
      <vt:lpstr>WHILE</vt:lpstr>
      <vt:lpstr>WHILE</vt:lpstr>
      <vt:lpstr>WHILE</vt:lpstr>
      <vt:lpstr>WHILE - Praticando</vt:lpstr>
      <vt:lpstr>WHILE - Praticando</vt:lpstr>
      <vt:lpstr>WHILE - Praticando</vt:lpstr>
      <vt:lpstr>WHILE - Praticando</vt:lpstr>
      <vt:lpstr>Estrutura de Repetição DO...WHILE </vt:lpstr>
      <vt:lpstr>Do... While </vt:lpstr>
      <vt:lpstr>Do... While</vt:lpstr>
      <vt:lpstr>Do... While - Praticando</vt:lpstr>
      <vt:lpstr>Do... While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Padrões de Projeto Padrões Criacionais(Revisão)</dc:title>
  <dc:creator>Carlos W. Gama</dc:creator>
  <cp:lastModifiedBy>Carlos W. Gama</cp:lastModifiedBy>
  <cp:revision>238</cp:revision>
  <dcterms:created xsi:type="dcterms:W3CDTF">2017-03-10T13:05:03Z</dcterms:created>
  <dcterms:modified xsi:type="dcterms:W3CDTF">2024-12-05T13:54:25Z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0x0101009BB18BA9D9AB6240B5154E147FB65CD8</vt:lpwstr>
  </property>
</Properties>
</file>