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1"/>
  </p:notesMasterIdLst>
  <p:sldIdLst>
    <p:sldId id="256" r:id="rId2"/>
    <p:sldId id="261" r:id="rId3"/>
    <p:sldId id="259" r:id="rId4"/>
    <p:sldId id="260" r:id="rId5"/>
    <p:sldId id="257" r:id="rId6"/>
    <p:sldId id="262" r:id="rId7"/>
    <p:sldId id="258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49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tângulo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tângulo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tângulo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tângulo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tângulo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tângulo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tângulo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tângulo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tângulo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tângulo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tângulo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07568" y="5301208"/>
            <a:ext cx="6400800" cy="1104528"/>
          </a:xfrm>
        </p:spPr>
        <p:txBody>
          <a:bodyPr/>
          <a:lstStyle/>
          <a:p>
            <a:pPr algn="l"/>
            <a:r>
              <a:rPr lang="pt-BR" dirty="0"/>
              <a:t>Professor: Carlos Alberto</a:t>
            </a:r>
          </a:p>
          <a:p>
            <a:pPr algn="l"/>
            <a:r>
              <a:rPr lang="pt-BR" dirty="0" err="1"/>
              <a:t>Email</a:t>
            </a:r>
            <a:r>
              <a:rPr lang="pt-BR" dirty="0"/>
              <a:t>: carloswgama@gmail.com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CDEBFA1-F37D-565C-4911-86AD91F6D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408" y="1412777"/>
            <a:ext cx="10801200" cy="2187674"/>
          </a:xfrm>
        </p:spPr>
        <p:txBody>
          <a:bodyPr>
            <a:noAutofit/>
          </a:bodyPr>
          <a:lstStyle/>
          <a:p>
            <a:r>
              <a:rPr lang="pt-BR" sz="4800" dirty="0"/>
              <a:t>Laboratório de Programação I</a:t>
            </a:r>
            <a:br>
              <a:rPr lang="pt-BR" sz="6000" dirty="0"/>
            </a:br>
            <a:r>
              <a:rPr lang="pt-BR" sz="5400" dirty="0"/>
              <a:t>Fluxograma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Fluxograma funciona igual ao modo textual, porém usando símbolos para definir o </a:t>
            </a:r>
            <a:r>
              <a:rPr lang="pt-BR" sz="2000" u="sng" dirty="0"/>
              <a:t>fluxo dos passos a seguir</a:t>
            </a:r>
            <a:r>
              <a:rPr lang="pt-BR" sz="2000" dirty="0"/>
              <a:t>.</a:t>
            </a:r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Fluxograma: Terminação 3"/>
          <p:cNvSpPr/>
          <p:nvPr/>
        </p:nvSpPr>
        <p:spPr>
          <a:xfrm>
            <a:off x="2351584" y="3068960"/>
            <a:ext cx="1728192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Início/Fim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4079776" y="3100898"/>
            <a:ext cx="4860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Define o inicio e o fim de um Fluxograma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4079777" y="3717032"/>
            <a:ext cx="6434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Recebe um valor, como um conteúdo digitado pelo usuário</a:t>
            </a:r>
          </a:p>
        </p:txBody>
      </p:sp>
      <p:sp>
        <p:nvSpPr>
          <p:cNvPr id="9" name="Fluxograma: Entrada Manual 8"/>
          <p:cNvSpPr/>
          <p:nvPr/>
        </p:nvSpPr>
        <p:spPr>
          <a:xfrm>
            <a:off x="2299647" y="3746939"/>
            <a:ext cx="1666528" cy="648072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Recebe valor</a:t>
            </a:r>
          </a:p>
        </p:txBody>
      </p:sp>
      <p:sp>
        <p:nvSpPr>
          <p:cNvPr id="10" name="Fluxograma: Exibir 9"/>
          <p:cNvSpPr/>
          <p:nvPr/>
        </p:nvSpPr>
        <p:spPr>
          <a:xfrm>
            <a:off x="1981200" y="4608694"/>
            <a:ext cx="2035678" cy="576064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Exibe informação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4079776" y="4696671"/>
            <a:ext cx="4342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Exibe uma informação a um usuário</a:t>
            </a:r>
          </a:p>
        </p:txBody>
      </p:sp>
      <p:sp>
        <p:nvSpPr>
          <p:cNvPr id="13" name="Fluxograma: Processo 12"/>
          <p:cNvSpPr/>
          <p:nvPr/>
        </p:nvSpPr>
        <p:spPr>
          <a:xfrm>
            <a:off x="2207568" y="5373216"/>
            <a:ext cx="1656184" cy="56387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Realiza operação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4057346" y="5385410"/>
            <a:ext cx="6153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Realiza alguma ação, que não seja receber ou exibir valor. Normalmente uma operação matemática.</a:t>
            </a:r>
          </a:p>
        </p:txBody>
      </p:sp>
      <p:sp>
        <p:nvSpPr>
          <p:cNvPr id="15" name="Fluxograma: Decisão 14"/>
          <p:cNvSpPr/>
          <p:nvPr/>
        </p:nvSpPr>
        <p:spPr>
          <a:xfrm>
            <a:off x="1991544" y="6021288"/>
            <a:ext cx="2016224" cy="76470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Decisão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082135" y="6110538"/>
            <a:ext cx="6153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Define um questionamento, que define qual caminho seguir. Normalmente é baseado em </a:t>
            </a:r>
            <a:r>
              <a:rPr lang="pt-BR" sz="2000" i="1" dirty="0" err="1"/>
              <a:t>true</a:t>
            </a:r>
            <a:r>
              <a:rPr lang="pt-BR" sz="2000" dirty="0"/>
              <a:t> ou </a:t>
            </a:r>
            <a:r>
              <a:rPr lang="pt-BR" sz="2000" i="1" dirty="0"/>
              <a:t>false.</a:t>
            </a:r>
          </a:p>
        </p:txBody>
      </p:sp>
    </p:spTree>
    <p:extLst>
      <p:ext uri="{BB962C8B-B14F-4D97-AF65-F5344CB8AC3E}">
        <p14:creationId xmlns:p14="http://schemas.microsoft.com/office/powerpoint/2010/main" val="392340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8" grpId="0"/>
      <p:bldP spid="9" grpId="0" animBg="1"/>
      <p:bldP spid="10" grpId="0" animBg="1"/>
      <p:bldP spid="11" grpId="0"/>
      <p:bldP spid="13" grpId="0" animBg="1"/>
      <p:bldP spid="14" grpId="0"/>
      <p:bldP spid="15" grpId="0" animBg="1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que é um algoritmo?</a:t>
            </a:r>
          </a:p>
          <a:p>
            <a:pPr lvl="1" algn="just"/>
            <a:r>
              <a:rPr lang="pt-BR" sz="1800" dirty="0"/>
              <a:t>É uma sequencia de passos finitos para resolver um problema. </a:t>
            </a:r>
          </a:p>
          <a:p>
            <a:pPr lvl="1" algn="just"/>
            <a:endParaRPr lang="pt-BR" sz="1800" dirty="0"/>
          </a:p>
          <a:p>
            <a:pPr algn="just"/>
            <a:r>
              <a:rPr lang="pt-BR" sz="2000" dirty="0"/>
              <a:t>E o que é um fluxograma? </a:t>
            </a:r>
          </a:p>
          <a:p>
            <a:pPr lvl="1" algn="just"/>
            <a:r>
              <a:rPr lang="pt-BR" sz="1800" dirty="0"/>
              <a:t>É a forma visual de demonstrar um algoritmo. </a:t>
            </a:r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862603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49424"/>
            <a:ext cx="4042792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Onde montar um algoritmo?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 próprio PowerPoint disponibiliza algumas figuras para a gente criar nossos fluxogramas:  </a:t>
            </a:r>
            <a:endParaRPr lang="pt-BR" sz="1800" dirty="0"/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687" y="0"/>
            <a:ext cx="4278467" cy="6574536"/>
          </a:xfrm>
          <a:prstGeom prst="rect">
            <a:avLst/>
          </a:prstGeom>
        </p:spPr>
      </p:pic>
      <p:sp>
        <p:nvSpPr>
          <p:cNvPr id="5" name="Retângulo Arredondado 4"/>
          <p:cNvSpPr/>
          <p:nvPr/>
        </p:nvSpPr>
        <p:spPr>
          <a:xfrm>
            <a:off x="6960096" y="5301208"/>
            <a:ext cx="3250704" cy="129614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9412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 - Terminações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Nossos algoritmos irão iniciar com o símbolo de terminação:</a:t>
            </a:r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Fluxograma: Terminação 3"/>
          <p:cNvSpPr/>
          <p:nvPr/>
        </p:nvSpPr>
        <p:spPr>
          <a:xfrm>
            <a:off x="5015880" y="2924944"/>
            <a:ext cx="1728192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Início</a:t>
            </a:r>
          </a:p>
        </p:txBody>
      </p:sp>
      <p:sp>
        <p:nvSpPr>
          <p:cNvPr id="17" name="Fluxograma: Terminação 16"/>
          <p:cNvSpPr/>
          <p:nvPr/>
        </p:nvSpPr>
        <p:spPr>
          <a:xfrm>
            <a:off x="5015880" y="4533716"/>
            <a:ext cx="1728192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Fim</a:t>
            </a:r>
          </a:p>
        </p:txBody>
      </p:sp>
      <p:cxnSp>
        <p:nvCxnSpPr>
          <p:cNvPr id="7" name="Conector de Seta Reta 6"/>
          <p:cNvCxnSpPr>
            <a:stCxn id="4" idx="2"/>
            <a:endCxn id="17" idx="0"/>
          </p:cNvCxnSpPr>
          <p:nvPr/>
        </p:nvCxnSpPr>
        <p:spPr>
          <a:xfrm>
            <a:off x="5879976" y="3356992"/>
            <a:ext cx="0" cy="11767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31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 – Recebendo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Entre o inicio e o fim, deverá ter os passos do algoritmo.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Sempre que quiser buscar uma ação usamos o símbolo: </a:t>
            </a:r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Fluxograma: Terminação 3"/>
          <p:cNvSpPr/>
          <p:nvPr/>
        </p:nvSpPr>
        <p:spPr>
          <a:xfrm>
            <a:off x="7824192" y="3507673"/>
            <a:ext cx="1728192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Início</a:t>
            </a:r>
          </a:p>
        </p:txBody>
      </p:sp>
      <p:sp>
        <p:nvSpPr>
          <p:cNvPr id="17" name="Fluxograma: Terminação 16"/>
          <p:cNvSpPr/>
          <p:nvPr/>
        </p:nvSpPr>
        <p:spPr>
          <a:xfrm>
            <a:off x="7824192" y="6182112"/>
            <a:ext cx="1728192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Fim</a:t>
            </a:r>
          </a:p>
        </p:txBody>
      </p:sp>
      <p:cxnSp>
        <p:nvCxnSpPr>
          <p:cNvPr id="7" name="Conector de Seta Reta 6"/>
          <p:cNvCxnSpPr>
            <a:stCxn id="4" idx="2"/>
            <a:endCxn id="17" idx="0"/>
          </p:cNvCxnSpPr>
          <p:nvPr/>
        </p:nvCxnSpPr>
        <p:spPr>
          <a:xfrm>
            <a:off x="8688288" y="3939722"/>
            <a:ext cx="0" cy="22423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Fluxograma: Entrada Manual 4"/>
          <p:cNvSpPr/>
          <p:nvPr/>
        </p:nvSpPr>
        <p:spPr>
          <a:xfrm>
            <a:off x="2855640" y="4281123"/>
            <a:ext cx="1944216" cy="720080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Recebe Dados</a:t>
            </a:r>
          </a:p>
        </p:txBody>
      </p:sp>
      <p:sp>
        <p:nvSpPr>
          <p:cNvPr id="11" name="Fluxograma: Entrada Manual 10"/>
          <p:cNvSpPr/>
          <p:nvPr/>
        </p:nvSpPr>
        <p:spPr>
          <a:xfrm>
            <a:off x="7716180" y="4662449"/>
            <a:ext cx="1944216" cy="720080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Informe sua idade</a:t>
            </a:r>
          </a:p>
        </p:txBody>
      </p:sp>
      <p:cxnSp>
        <p:nvCxnSpPr>
          <p:cNvPr id="12" name="Conector de Seta Reta 11"/>
          <p:cNvCxnSpPr>
            <a:stCxn id="4" idx="2"/>
            <a:endCxn id="11" idx="0"/>
          </p:cNvCxnSpPr>
          <p:nvPr/>
        </p:nvCxnSpPr>
        <p:spPr>
          <a:xfrm>
            <a:off x="8688288" y="3939721"/>
            <a:ext cx="0" cy="7947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2"/>
            <a:endCxn id="17" idx="0"/>
          </p:cNvCxnSpPr>
          <p:nvPr/>
        </p:nvCxnSpPr>
        <p:spPr>
          <a:xfrm>
            <a:off x="8688288" y="5382530"/>
            <a:ext cx="0" cy="7995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Fluxograma: Entrada Manual 17"/>
          <p:cNvSpPr/>
          <p:nvPr/>
        </p:nvSpPr>
        <p:spPr>
          <a:xfrm>
            <a:off x="7716180" y="4662449"/>
            <a:ext cx="1944216" cy="720080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idade</a:t>
            </a:r>
          </a:p>
        </p:txBody>
      </p:sp>
    </p:spTree>
    <p:extLst>
      <p:ext uri="{BB962C8B-B14F-4D97-AF65-F5344CB8AC3E}">
        <p14:creationId xmlns:p14="http://schemas.microsoft.com/office/powerpoint/2010/main" val="280517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7" grpId="0" animBg="1"/>
      <p:bldP spid="5" grpId="0" animBg="1"/>
      <p:bldP spid="11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de Decisão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Caso seu fluxograma possa seguir mais de um caminho, dependendo de uma condição, devemos usar o símbolo:</a:t>
            </a:r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15" name="Fluxograma: Decisão 14"/>
          <p:cNvSpPr/>
          <p:nvPr/>
        </p:nvSpPr>
        <p:spPr>
          <a:xfrm>
            <a:off x="1955131" y="3789040"/>
            <a:ext cx="2016224" cy="76470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Decisão</a:t>
            </a:r>
          </a:p>
        </p:txBody>
      </p:sp>
      <p:sp>
        <p:nvSpPr>
          <p:cNvPr id="17" name="Fluxograma: Terminação 16"/>
          <p:cNvSpPr/>
          <p:nvPr/>
        </p:nvSpPr>
        <p:spPr>
          <a:xfrm>
            <a:off x="6420036" y="3068960"/>
            <a:ext cx="1728192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Início</a:t>
            </a:r>
          </a:p>
        </p:txBody>
      </p:sp>
      <p:sp>
        <p:nvSpPr>
          <p:cNvPr id="18" name="Fluxograma: Terminação 17"/>
          <p:cNvSpPr/>
          <p:nvPr/>
        </p:nvSpPr>
        <p:spPr>
          <a:xfrm>
            <a:off x="6420036" y="6309320"/>
            <a:ext cx="1728192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Fim</a:t>
            </a:r>
          </a:p>
        </p:txBody>
      </p:sp>
      <p:cxnSp>
        <p:nvCxnSpPr>
          <p:cNvPr id="19" name="Conector de Seta Reta 18"/>
          <p:cNvCxnSpPr>
            <a:stCxn id="17" idx="2"/>
            <a:endCxn id="21" idx="0"/>
          </p:cNvCxnSpPr>
          <p:nvPr/>
        </p:nvCxnSpPr>
        <p:spPr>
          <a:xfrm>
            <a:off x="7284132" y="3501008"/>
            <a:ext cx="0" cy="3600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21" idx="2"/>
            <a:endCxn id="18" idx="0"/>
          </p:cNvCxnSpPr>
          <p:nvPr/>
        </p:nvCxnSpPr>
        <p:spPr>
          <a:xfrm>
            <a:off x="7284132" y="4509120"/>
            <a:ext cx="0" cy="1800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Fluxograma: Entrada Manual 20"/>
          <p:cNvSpPr/>
          <p:nvPr/>
        </p:nvSpPr>
        <p:spPr>
          <a:xfrm>
            <a:off x="6312024" y="3789040"/>
            <a:ext cx="1944216" cy="720080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idade</a:t>
            </a:r>
          </a:p>
        </p:txBody>
      </p:sp>
      <p:sp>
        <p:nvSpPr>
          <p:cNvPr id="22" name="Fluxograma: Decisão 21"/>
          <p:cNvSpPr/>
          <p:nvPr/>
        </p:nvSpPr>
        <p:spPr>
          <a:xfrm>
            <a:off x="6276020" y="4918856"/>
            <a:ext cx="2016224" cy="76470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idade &gt;= 18</a:t>
            </a:r>
          </a:p>
        </p:txBody>
      </p:sp>
      <p:cxnSp>
        <p:nvCxnSpPr>
          <p:cNvPr id="12" name="Conector de Seta Reta 11"/>
          <p:cNvCxnSpPr>
            <a:stCxn id="21" idx="2"/>
            <a:endCxn id="22" idx="0"/>
          </p:cNvCxnSpPr>
          <p:nvPr/>
        </p:nvCxnSpPr>
        <p:spPr>
          <a:xfrm>
            <a:off x="7284132" y="4509120"/>
            <a:ext cx="0" cy="4097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Conector Angulado 23"/>
          <p:cNvCxnSpPr>
            <a:stCxn id="22" idx="3"/>
            <a:endCxn id="18" idx="0"/>
          </p:cNvCxnSpPr>
          <p:nvPr/>
        </p:nvCxnSpPr>
        <p:spPr>
          <a:xfrm flipH="1">
            <a:off x="7284132" y="5301208"/>
            <a:ext cx="1008112" cy="1008112"/>
          </a:xfrm>
          <a:prstGeom prst="bentConnector4">
            <a:avLst>
              <a:gd name="adj1" fmla="val -122158"/>
              <a:gd name="adj2" fmla="val 6896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Conector Angulado 25"/>
          <p:cNvCxnSpPr>
            <a:stCxn id="22" idx="1"/>
            <a:endCxn id="18" idx="0"/>
          </p:cNvCxnSpPr>
          <p:nvPr/>
        </p:nvCxnSpPr>
        <p:spPr>
          <a:xfrm rot="10800000" flipH="1" flipV="1">
            <a:off x="6276020" y="5301208"/>
            <a:ext cx="1008112" cy="1008112"/>
          </a:xfrm>
          <a:prstGeom prst="bentConnector4">
            <a:avLst>
              <a:gd name="adj1" fmla="val -108991"/>
              <a:gd name="adj2" fmla="val 6896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8318313" y="493187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Verdade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231905" y="494116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Falso</a:t>
            </a:r>
          </a:p>
        </p:txBody>
      </p:sp>
    </p:spTree>
    <p:extLst>
      <p:ext uri="{BB962C8B-B14F-4D97-AF65-F5344CB8AC3E}">
        <p14:creationId xmlns:p14="http://schemas.microsoft.com/office/powerpoint/2010/main" val="2746096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8" grpId="0" animBg="1"/>
      <p:bldP spid="21" grpId="0" animBg="1"/>
      <p:bldP spid="22" grpId="0" animBg="1"/>
      <p:bldP spid="30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 – Informando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Para informar algo a quem está executando o fluxograma, usamos o símbolo:</a:t>
            </a:r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8" name="Fluxograma: Exibir 7"/>
          <p:cNvSpPr/>
          <p:nvPr/>
        </p:nvSpPr>
        <p:spPr>
          <a:xfrm>
            <a:off x="2135560" y="3939722"/>
            <a:ext cx="1872208" cy="732779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Exibir</a:t>
            </a:r>
          </a:p>
        </p:txBody>
      </p:sp>
      <p:sp>
        <p:nvSpPr>
          <p:cNvPr id="15" name="Fluxograma: Terminação 14"/>
          <p:cNvSpPr/>
          <p:nvPr/>
        </p:nvSpPr>
        <p:spPr>
          <a:xfrm>
            <a:off x="6420036" y="2780928"/>
            <a:ext cx="1728192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Início</a:t>
            </a:r>
          </a:p>
        </p:txBody>
      </p:sp>
      <p:sp>
        <p:nvSpPr>
          <p:cNvPr id="16" name="Fluxograma: Terminação 15"/>
          <p:cNvSpPr/>
          <p:nvPr/>
        </p:nvSpPr>
        <p:spPr>
          <a:xfrm>
            <a:off x="6420036" y="6309320"/>
            <a:ext cx="1728192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Fim</a:t>
            </a:r>
          </a:p>
        </p:txBody>
      </p:sp>
      <p:cxnSp>
        <p:nvCxnSpPr>
          <p:cNvPr id="19" name="Conector de Seta Reta 18"/>
          <p:cNvCxnSpPr>
            <a:stCxn id="15" idx="2"/>
            <a:endCxn id="21" idx="0"/>
          </p:cNvCxnSpPr>
          <p:nvPr/>
        </p:nvCxnSpPr>
        <p:spPr>
          <a:xfrm>
            <a:off x="7284132" y="3212976"/>
            <a:ext cx="0" cy="3600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Fluxograma: Entrada Manual 20"/>
          <p:cNvSpPr/>
          <p:nvPr/>
        </p:nvSpPr>
        <p:spPr>
          <a:xfrm>
            <a:off x="6312024" y="3501008"/>
            <a:ext cx="1944216" cy="720080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idade</a:t>
            </a:r>
          </a:p>
        </p:txBody>
      </p:sp>
      <p:sp>
        <p:nvSpPr>
          <p:cNvPr id="22" name="Fluxograma: Decisão 21"/>
          <p:cNvSpPr/>
          <p:nvPr/>
        </p:nvSpPr>
        <p:spPr>
          <a:xfrm>
            <a:off x="6276020" y="4581128"/>
            <a:ext cx="2016224" cy="76470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idade &gt;= 18</a:t>
            </a:r>
          </a:p>
        </p:txBody>
      </p:sp>
      <p:cxnSp>
        <p:nvCxnSpPr>
          <p:cNvPr id="23" name="Conector de Seta Reta 22"/>
          <p:cNvCxnSpPr>
            <a:stCxn id="21" idx="2"/>
            <a:endCxn id="22" idx="0"/>
          </p:cNvCxnSpPr>
          <p:nvPr/>
        </p:nvCxnSpPr>
        <p:spPr>
          <a:xfrm>
            <a:off x="7284132" y="4221088"/>
            <a:ext cx="0" cy="3600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Conector Angulado 23"/>
          <p:cNvCxnSpPr>
            <a:stCxn id="22" idx="3"/>
            <a:endCxn id="16" idx="0"/>
          </p:cNvCxnSpPr>
          <p:nvPr/>
        </p:nvCxnSpPr>
        <p:spPr>
          <a:xfrm flipH="1">
            <a:off x="7284132" y="4963480"/>
            <a:ext cx="1008112" cy="1345840"/>
          </a:xfrm>
          <a:prstGeom prst="bentConnector4">
            <a:avLst>
              <a:gd name="adj1" fmla="val -135325"/>
              <a:gd name="adj2" fmla="val 7735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onector Angulado 24"/>
          <p:cNvCxnSpPr>
            <a:stCxn id="22" idx="1"/>
            <a:endCxn id="16" idx="0"/>
          </p:cNvCxnSpPr>
          <p:nvPr/>
        </p:nvCxnSpPr>
        <p:spPr>
          <a:xfrm rot="10800000" flipH="1" flipV="1">
            <a:off x="6276020" y="4963480"/>
            <a:ext cx="1008112" cy="1345840"/>
          </a:xfrm>
          <a:prstGeom prst="bentConnector4">
            <a:avLst>
              <a:gd name="adj1" fmla="val -106065"/>
              <a:gd name="adj2" fmla="val 7735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8318313" y="4643844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Verdade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231905" y="4653136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Falso</a:t>
            </a:r>
          </a:p>
        </p:txBody>
      </p:sp>
      <p:sp>
        <p:nvSpPr>
          <p:cNvPr id="28" name="Fluxograma: Exibir 27"/>
          <p:cNvSpPr/>
          <p:nvPr/>
        </p:nvSpPr>
        <p:spPr>
          <a:xfrm>
            <a:off x="4156089" y="5144493"/>
            <a:ext cx="1872208" cy="732779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Você é menor de idade</a:t>
            </a:r>
          </a:p>
        </p:txBody>
      </p:sp>
      <p:sp>
        <p:nvSpPr>
          <p:cNvPr id="29" name="Fluxograma: Exibir 28"/>
          <p:cNvSpPr/>
          <p:nvPr/>
        </p:nvSpPr>
        <p:spPr>
          <a:xfrm>
            <a:off x="8688288" y="5144494"/>
            <a:ext cx="1872208" cy="732779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Você é maior de idade</a:t>
            </a:r>
          </a:p>
        </p:txBody>
      </p:sp>
      <p:cxnSp>
        <p:nvCxnSpPr>
          <p:cNvPr id="13" name="Conector Angulado 12"/>
          <p:cNvCxnSpPr>
            <a:stCxn id="22" idx="3"/>
            <a:endCxn id="29" idx="0"/>
          </p:cNvCxnSpPr>
          <p:nvPr/>
        </p:nvCxnSpPr>
        <p:spPr>
          <a:xfrm>
            <a:off x="8292244" y="4963481"/>
            <a:ext cx="1332148" cy="18101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Conector Angulado 30"/>
          <p:cNvCxnSpPr>
            <a:stCxn id="29" idx="2"/>
            <a:endCxn id="16" idx="0"/>
          </p:cNvCxnSpPr>
          <p:nvPr/>
        </p:nvCxnSpPr>
        <p:spPr>
          <a:xfrm rot="5400000">
            <a:off x="8238238" y="4923166"/>
            <a:ext cx="432048" cy="2340260"/>
          </a:xfrm>
          <a:prstGeom prst="bentConnector3">
            <a:avLst>
              <a:gd name="adj1" fmla="val 3293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Conector Angulado 41"/>
          <p:cNvCxnSpPr>
            <a:stCxn id="22" idx="1"/>
            <a:endCxn id="28" idx="0"/>
          </p:cNvCxnSpPr>
          <p:nvPr/>
        </p:nvCxnSpPr>
        <p:spPr>
          <a:xfrm rot="10800000" flipV="1">
            <a:off x="5092195" y="4963480"/>
            <a:ext cx="1183827" cy="18101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Conector Angulado 43"/>
          <p:cNvCxnSpPr>
            <a:stCxn id="28" idx="2"/>
            <a:endCxn id="16" idx="0"/>
          </p:cNvCxnSpPr>
          <p:nvPr/>
        </p:nvCxnSpPr>
        <p:spPr>
          <a:xfrm rot="16200000" flipH="1">
            <a:off x="5972139" y="4997326"/>
            <a:ext cx="432049" cy="2191939"/>
          </a:xfrm>
          <a:prstGeom prst="bentConnector3">
            <a:avLst>
              <a:gd name="adj1" fmla="val 3634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81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1" grpId="0" animBg="1"/>
      <p:bldP spid="22" grpId="0" animBg="1"/>
      <p:bldP spid="26" grpId="0"/>
      <p:bldP spid="27" grpId="0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 – Praticando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Como ficaria um algoritmo para informar se a pessoa deve se apresentar ao exercito sabendo que a pessoa deve ter 18 anos e ser homem</a:t>
            </a:r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999944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</a:t>
            </a:r>
          </a:p>
        </p:txBody>
      </p:sp>
      <p:sp>
        <p:nvSpPr>
          <p:cNvPr id="30" name="Fluxograma: Terminação 29"/>
          <p:cNvSpPr/>
          <p:nvPr/>
        </p:nvSpPr>
        <p:spPr>
          <a:xfrm>
            <a:off x="6762074" y="696831"/>
            <a:ext cx="1728192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Início</a:t>
            </a:r>
          </a:p>
        </p:txBody>
      </p:sp>
      <p:sp>
        <p:nvSpPr>
          <p:cNvPr id="32" name="Fluxograma: Entrada Manual 31"/>
          <p:cNvSpPr/>
          <p:nvPr/>
        </p:nvSpPr>
        <p:spPr>
          <a:xfrm>
            <a:off x="6852084" y="1340769"/>
            <a:ext cx="1548172" cy="573397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gênero</a:t>
            </a:r>
          </a:p>
        </p:txBody>
      </p:sp>
      <p:cxnSp>
        <p:nvCxnSpPr>
          <p:cNvPr id="6" name="Conector de Seta Reta 5"/>
          <p:cNvCxnSpPr>
            <a:stCxn id="30" idx="2"/>
            <a:endCxn id="32" idx="0"/>
          </p:cNvCxnSpPr>
          <p:nvPr/>
        </p:nvCxnSpPr>
        <p:spPr>
          <a:xfrm>
            <a:off x="7626170" y="1128880"/>
            <a:ext cx="0" cy="2692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Fluxograma: Decisão 8"/>
          <p:cNvSpPr/>
          <p:nvPr/>
        </p:nvSpPr>
        <p:spPr>
          <a:xfrm>
            <a:off x="6564052" y="2127701"/>
            <a:ext cx="2124236" cy="76470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700" dirty="0"/>
              <a:t>É homem?</a:t>
            </a:r>
          </a:p>
        </p:txBody>
      </p:sp>
      <p:cxnSp>
        <p:nvCxnSpPr>
          <p:cNvPr id="8" name="Conector de Seta Reta 7"/>
          <p:cNvCxnSpPr>
            <a:stCxn id="32" idx="2"/>
            <a:endCxn id="9" idx="0"/>
          </p:cNvCxnSpPr>
          <p:nvPr/>
        </p:nvCxnSpPr>
        <p:spPr>
          <a:xfrm>
            <a:off x="7626170" y="1914165"/>
            <a:ext cx="0" cy="2135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Fluxograma: Exibir 9"/>
          <p:cNvSpPr/>
          <p:nvPr/>
        </p:nvSpPr>
        <p:spPr>
          <a:xfrm>
            <a:off x="2567608" y="5081317"/>
            <a:ext cx="2592288" cy="792088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Não se apresenta ao exército</a:t>
            </a:r>
          </a:p>
        </p:txBody>
      </p:sp>
      <p:sp>
        <p:nvSpPr>
          <p:cNvPr id="13" name="Fluxograma: Exibir 12"/>
          <p:cNvSpPr/>
          <p:nvPr/>
        </p:nvSpPr>
        <p:spPr>
          <a:xfrm>
            <a:off x="7752184" y="5013176"/>
            <a:ext cx="2592288" cy="792088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Deve se apresenta ao exército</a:t>
            </a:r>
          </a:p>
        </p:txBody>
      </p:sp>
      <p:cxnSp>
        <p:nvCxnSpPr>
          <p:cNvPr id="12" name="Conector Angulado 11"/>
          <p:cNvCxnSpPr>
            <a:stCxn id="9" idx="1"/>
            <a:endCxn id="10" idx="0"/>
          </p:cNvCxnSpPr>
          <p:nvPr/>
        </p:nvCxnSpPr>
        <p:spPr>
          <a:xfrm rot="10800000" flipV="1">
            <a:off x="3863752" y="2510053"/>
            <a:ext cx="2700300" cy="257126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795411" y="2161973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17" name="Fluxograma: Terminação 16"/>
          <p:cNvSpPr/>
          <p:nvPr/>
        </p:nvSpPr>
        <p:spPr>
          <a:xfrm>
            <a:off x="5681954" y="6309320"/>
            <a:ext cx="1728192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Fim</a:t>
            </a:r>
          </a:p>
        </p:txBody>
      </p:sp>
      <p:cxnSp>
        <p:nvCxnSpPr>
          <p:cNvPr id="16" name="Conector Angulado 15"/>
          <p:cNvCxnSpPr>
            <a:stCxn id="10" idx="2"/>
            <a:endCxn id="17" idx="0"/>
          </p:cNvCxnSpPr>
          <p:nvPr/>
        </p:nvCxnSpPr>
        <p:spPr>
          <a:xfrm rot="16200000" flipH="1">
            <a:off x="4986945" y="4750213"/>
            <a:ext cx="435915" cy="268229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ector Angulado 19"/>
          <p:cNvCxnSpPr>
            <a:stCxn id="13" idx="2"/>
            <a:endCxn id="17" idx="0"/>
          </p:cNvCxnSpPr>
          <p:nvPr/>
        </p:nvCxnSpPr>
        <p:spPr>
          <a:xfrm rot="5400000">
            <a:off x="7545161" y="4806153"/>
            <a:ext cx="504056" cy="2502278"/>
          </a:xfrm>
          <a:prstGeom prst="bentConnector3">
            <a:avLst>
              <a:gd name="adj1" fmla="val 5292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Fluxograma: Entrada Manual 23"/>
          <p:cNvSpPr/>
          <p:nvPr/>
        </p:nvSpPr>
        <p:spPr>
          <a:xfrm>
            <a:off x="9048328" y="2852811"/>
            <a:ext cx="1116124" cy="528498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idade</a:t>
            </a:r>
          </a:p>
        </p:txBody>
      </p:sp>
      <p:cxnSp>
        <p:nvCxnSpPr>
          <p:cNvPr id="33" name="Conector Angulado 32"/>
          <p:cNvCxnSpPr>
            <a:stCxn id="9" idx="3"/>
            <a:endCxn id="24" idx="0"/>
          </p:cNvCxnSpPr>
          <p:nvPr/>
        </p:nvCxnSpPr>
        <p:spPr>
          <a:xfrm>
            <a:off x="8688288" y="2510053"/>
            <a:ext cx="918102" cy="39560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>
            <a:off x="8845815" y="2140721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Sim</a:t>
            </a:r>
          </a:p>
        </p:txBody>
      </p:sp>
      <p:sp>
        <p:nvSpPr>
          <p:cNvPr id="36" name="Fluxograma: Decisão 35"/>
          <p:cNvSpPr/>
          <p:nvPr/>
        </p:nvSpPr>
        <p:spPr>
          <a:xfrm>
            <a:off x="6576698" y="3738591"/>
            <a:ext cx="2124236" cy="76470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700" dirty="0"/>
              <a:t>Idade = 18</a:t>
            </a:r>
          </a:p>
        </p:txBody>
      </p:sp>
      <p:cxnSp>
        <p:nvCxnSpPr>
          <p:cNvPr id="38" name="Conector Angulado 37"/>
          <p:cNvCxnSpPr>
            <a:stCxn id="24" idx="2"/>
            <a:endCxn id="36" idx="0"/>
          </p:cNvCxnSpPr>
          <p:nvPr/>
        </p:nvCxnSpPr>
        <p:spPr>
          <a:xfrm rot="5400000">
            <a:off x="8443962" y="2576163"/>
            <a:ext cx="357282" cy="196757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Conector Angulado 39"/>
          <p:cNvCxnSpPr>
            <a:stCxn id="36" idx="3"/>
            <a:endCxn id="13" idx="0"/>
          </p:cNvCxnSpPr>
          <p:nvPr/>
        </p:nvCxnSpPr>
        <p:spPr>
          <a:xfrm>
            <a:off x="8700934" y="4120944"/>
            <a:ext cx="347394" cy="89223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Conector Angulado 44"/>
          <p:cNvCxnSpPr>
            <a:stCxn id="36" idx="1"/>
            <a:endCxn id="10" idx="0"/>
          </p:cNvCxnSpPr>
          <p:nvPr/>
        </p:nvCxnSpPr>
        <p:spPr>
          <a:xfrm rot="10800000" flipV="1">
            <a:off x="3863752" y="4120943"/>
            <a:ext cx="2712946" cy="96037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CaixaDeTexto 45"/>
          <p:cNvSpPr txBox="1"/>
          <p:nvPr/>
        </p:nvSpPr>
        <p:spPr>
          <a:xfrm>
            <a:off x="5492950" y="3684249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8763589" y="3796534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Sim</a:t>
            </a:r>
          </a:p>
        </p:txBody>
      </p:sp>
    </p:spTree>
    <p:extLst>
      <p:ext uri="{BB962C8B-B14F-4D97-AF65-F5344CB8AC3E}">
        <p14:creationId xmlns:p14="http://schemas.microsoft.com/office/powerpoint/2010/main" val="84263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 animBg="1"/>
      <p:bldP spid="9" grpId="0" animBg="1"/>
      <p:bldP spid="10" grpId="0" animBg="1"/>
      <p:bldP spid="13" grpId="0" animBg="1"/>
      <p:bldP spid="14" grpId="0"/>
      <p:bldP spid="17" grpId="0" animBg="1"/>
      <p:bldP spid="24" grpId="0" animBg="1"/>
      <p:bldP spid="35" grpId="0"/>
      <p:bldP spid="36" grpId="0" animBg="1"/>
      <p:bldP spid="46" grpId="0"/>
      <p:bldP spid="4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49424"/>
            <a:ext cx="5050905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Também possível que no meio do seu algoritmo seja preciso realizar uma ação. Para isso, usamos o símbolo: </a:t>
            </a:r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Fluxograma: Processo 3"/>
          <p:cNvSpPr/>
          <p:nvPr/>
        </p:nvSpPr>
        <p:spPr>
          <a:xfrm>
            <a:off x="2063552" y="3501008"/>
            <a:ext cx="1800200" cy="64807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Operação</a:t>
            </a:r>
          </a:p>
        </p:txBody>
      </p:sp>
      <p:sp>
        <p:nvSpPr>
          <p:cNvPr id="5" name="Fluxograma: Terminação 4"/>
          <p:cNvSpPr/>
          <p:nvPr/>
        </p:nvSpPr>
        <p:spPr>
          <a:xfrm>
            <a:off x="7991158" y="692696"/>
            <a:ext cx="1728192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Início</a:t>
            </a:r>
          </a:p>
        </p:txBody>
      </p:sp>
      <p:sp>
        <p:nvSpPr>
          <p:cNvPr id="6" name="Fluxograma: Entrada Manual 5"/>
          <p:cNvSpPr/>
          <p:nvPr/>
        </p:nvSpPr>
        <p:spPr>
          <a:xfrm>
            <a:off x="8081168" y="1336634"/>
            <a:ext cx="1548172" cy="573397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nota1</a:t>
            </a:r>
          </a:p>
        </p:txBody>
      </p:sp>
      <p:cxnSp>
        <p:nvCxnSpPr>
          <p:cNvPr id="7" name="Conector de Seta Reta 6"/>
          <p:cNvCxnSpPr>
            <a:stCxn id="5" idx="2"/>
            <a:endCxn id="6" idx="0"/>
          </p:cNvCxnSpPr>
          <p:nvPr/>
        </p:nvCxnSpPr>
        <p:spPr>
          <a:xfrm>
            <a:off x="8855254" y="1124745"/>
            <a:ext cx="0" cy="2692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6" idx="2"/>
          </p:cNvCxnSpPr>
          <p:nvPr/>
        </p:nvCxnSpPr>
        <p:spPr>
          <a:xfrm>
            <a:off x="8855254" y="1910030"/>
            <a:ext cx="0" cy="2135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Fluxograma: Terminação 11"/>
          <p:cNvSpPr/>
          <p:nvPr/>
        </p:nvSpPr>
        <p:spPr>
          <a:xfrm>
            <a:off x="7858249" y="6294161"/>
            <a:ext cx="1728192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Fim</a:t>
            </a:r>
          </a:p>
        </p:txBody>
      </p:sp>
      <p:sp>
        <p:nvSpPr>
          <p:cNvPr id="22" name="Fluxograma: Entrada Manual 21"/>
          <p:cNvSpPr/>
          <p:nvPr/>
        </p:nvSpPr>
        <p:spPr>
          <a:xfrm>
            <a:off x="8081168" y="2065583"/>
            <a:ext cx="1548172" cy="573397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nota2</a:t>
            </a:r>
          </a:p>
        </p:txBody>
      </p:sp>
      <p:sp>
        <p:nvSpPr>
          <p:cNvPr id="23" name="Fluxograma: Processo 22"/>
          <p:cNvSpPr/>
          <p:nvPr/>
        </p:nvSpPr>
        <p:spPr>
          <a:xfrm>
            <a:off x="7955154" y="2957168"/>
            <a:ext cx="1800200" cy="45972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Calcula Média</a:t>
            </a:r>
          </a:p>
        </p:txBody>
      </p:sp>
      <p:cxnSp>
        <p:nvCxnSpPr>
          <p:cNvPr id="25" name="Conector de Seta Reta 24"/>
          <p:cNvCxnSpPr>
            <a:stCxn id="22" idx="2"/>
            <a:endCxn id="23" idx="0"/>
          </p:cNvCxnSpPr>
          <p:nvPr/>
        </p:nvCxnSpPr>
        <p:spPr>
          <a:xfrm>
            <a:off x="8855254" y="2638980"/>
            <a:ext cx="0" cy="3181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Fluxograma: Exibir 25"/>
          <p:cNvSpPr/>
          <p:nvPr/>
        </p:nvSpPr>
        <p:spPr>
          <a:xfrm>
            <a:off x="6606037" y="5087073"/>
            <a:ext cx="1800200" cy="459496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Aprovado</a:t>
            </a:r>
          </a:p>
        </p:txBody>
      </p:sp>
      <p:sp>
        <p:nvSpPr>
          <p:cNvPr id="27" name="Fluxograma: Exibir 26"/>
          <p:cNvSpPr/>
          <p:nvPr/>
        </p:nvSpPr>
        <p:spPr>
          <a:xfrm>
            <a:off x="8679854" y="5087073"/>
            <a:ext cx="1979712" cy="459496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Reprovado</a:t>
            </a:r>
          </a:p>
        </p:txBody>
      </p:sp>
      <p:sp>
        <p:nvSpPr>
          <p:cNvPr id="28" name="Fluxograma: Decisão 27"/>
          <p:cNvSpPr/>
          <p:nvPr/>
        </p:nvSpPr>
        <p:spPr>
          <a:xfrm>
            <a:off x="7793136" y="3733417"/>
            <a:ext cx="2124236" cy="76470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700" dirty="0"/>
              <a:t>Média &gt;= 6</a:t>
            </a:r>
          </a:p>
        </p:txBody>
      </p:sp>
      <p:cxnSp>
        <p:nvCxnSpPr>
          <p:cNvPr id="30" name="Conector de Seta Reta 29"/>
          <p:cNvCxnSpPr>
            <a:stCxn id="23" idx="2"/>
            <a:endCxn id="28" idx="0"/>
          </p:cNvCxnSpPr>
          <p:nvPr/>
        </p:nvCxnSpPr>
        <p:spPr>
          <a:xfrm>
            <a:off x="8855254" y="3416889"/>
            <a:ext cx="0" cy="3165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Conector Angulado 31"/>
          <p:cNvCxnSpPr>
            <a:stCxn id="28" idx="3"/>
            <a:endCxn id="27" idx="0"/>
          </p:cNvCxnSpPr>
          <p:nvPr/>
        </p:nvCxnSpPr>
        <p:spPr>
          <a:xfrm flipH="1">
            <a:off x="9669710" y="4115769"/>
            <a:ext cx="247662" cy="971304"/>
          </a:xfrm>
          <a:prstGeom prst="bentConnector4">
            <a:avLst>
              <a:gd name="adj1" fmla="val -92303"/>
              <a:gd name="adj2" fmla="val 6968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Conector Angulado 33"/>
          <p:cNvCxnSpPr>
            <a:stCxn id="28" idx="1"/>
            <a:endCxn id="26" idx="0"/>
          </p:cNvCxnSpPr>
          <p:nvPr/>
        </p:nvCxnSpPr>
        <p:spPr>
          <a:xfrm rot="10800000" flipV="1">
            <a:off x="7506139" y="4115769"/>
            <a:ext cx="286999" cy="97130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ector Angulado 36"/>
          <p:cNvCxnSpPr>
            <a:stCxn id="26" idx="2"/>
            <a:endCxn id="12" idx="0"/>
          </p:cNvCxnSpPr>
          <p:nvPr/>
        </p:nvCxnSpPr>
        <p:spPr>
          <a:xfrm rot="16200000" flipH="1">
            <a:off x="7740445" y="5312261"/>
            <a:ext cx="747592" cy="121620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Conector Angulado 38"/>
          <p:cNvCxnSpPr>
            <a:stCxn id="27" idx="2"/>
            <a:endCxn id="12" idx="0"/>
          </p:cNvCxnSpPr>
          <p:nvPr/>
        </p:nvCxnSpPr>
        <p:spPr>
          <a:xfrm rot="5400000">
            <a:off x="8822232" y="5446684"/>
            <a:ext cx="747592" cy="947365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9793541" y="3753078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7207719" y="3733416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Sim</a:t>
            </a:r>
          </a:p>
        </p:txBody>
      </p:sp>
    </p:spTree>
    <p:extLst>
      <p:ext uri="{BB962C8B-B14F-4D97-AF65-F5344CB8AC3E}">
        <p14:creationId xmlns:p14="http://schemas.microsoft.com/office/powerpoint/2010/main" val="368910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2" grpId="0" animBg="1"/>
      <p:bldP spid="22" grpId="0" animBg="1"/>
      <p:bldP spid="23" grpId="0" animBg="1"/>
      <p:bldP spid="26" grpId="0" animBg="1"/>
      <p:bldP spid="27" grpId="0" animBg="1"/>
      <p:bldP spid="28" grpId="0" animBg="1"/>
      <p:bldP spid="40" grpId="0"/>
      <p:bldP spid="4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 – Praticando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receba o valor de um produto e cheque se a pessoa quer pagar a vista ou parcelado.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Se for pagar a vista:</a:t>
            </a:r>
          </a:p>
          <a:p>
            <a:pPr lvl="1" algn="just"/>
            <a:r>
              <a:rPr lang="pt-BR" sz="1800" dirty="0"/>
              <a:t>Exiba o valor total do produto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Se for pagar parcelado:</a:t>
            </a:r>
          </a:p>
          <a:p>
            <a:pPr lvl="1" algn="just"/>
            <a:r>
              <a:rPr lang="pt-BR" sz="1800" dirty="0"/>
              <a:t>Descubra em quantas parcelas, </a:t>
            </a:r>
          </a:p>
          <a:p>
            <a:pPr lvl="1" algn="just"/>
            <a:r>
              <a:rPr lang="pt-BR" sz="1800" dirty="0"/>
              <a:t>Calcule o preço de cada parcela</a:t>
            </a:r>
          </a:p>
          <a:p>
            <a:pPr lvl="1" algn="just"/>
            <a:r>
              <a:rPr lang="pt-BR" sz="1800" dirty="0"/>
              <a:t>Exiba o preço da parcela </a:t>
            </a:r>
          </a:p>
          <a:p>
            <a:pPr lvl="1" algn="just"/>
            <a:endParaRPr lang="pt-BR" sz="1800" dirty="0"/>
          </a:p>
          <a:p>
            <a:pPr algn="just"/>
            <a:r>
              <a:rPr lang="pt-BR" sz="2000" dirty="0"/>
              <a:t>OBS: Pense que quem vai executar o algoritmo é uma Programa (Computador) e não a própria pessoa.</a:t>
            </a:r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589764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</a:t>
            </a:r>
          </a:p>
        </p:txBody>
      </p:sp>
      <p:sp>
        <p:nvSpPr>
          <p:cNvPr id="5" name="Fluxograma: Terminação 4"/>
          <p:cNvSpPr/>
          <p:nvPr/>
        </p:nvSpPr>
        <p:spPr>
          <a:xfrm>
            <a:off x="5537938" y="188640"/>
            <a:ext cx="1728192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Início</a:t>
            </a:r>
          </a:p>
        </p:txBody>
      </p:sp>
      <p:sp>
        <p:nvSpPr>
          <p:cNvPr id="6" name="Fluxograma: Entrada Manual 5"/>
          <p:cNvSpPr/>
          <p:nvPr/>
        </p:nvSpPr>
        <p:spPr>
          <a:xfrm>
            <a:off x="5807968" y="800939"/>
            <a:ext cx="1188132" cy="404581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preço</a:t>
            </a:r>
          </a:p>
        </p:txBody>
      </p:sp>
      <p:cxnSp>
        <p:nvCxnSpPr>
          <p:cNvPr id="7" name="Conector de Seta Reta 6"/>
          <p:cNvCxnSpPr>
            <a:stCxn id="5" idx="2"/>
            <a:endCxn id="6" idx="0"/>
          </p:cNvCxnSpPr>
          <p:nvPr/>
        </p:nvCxnSpPr>
        <p:spPr>
          <a:xfrm>
            <a:off x="6402034" y="620688"/>
            <a:ext cx="0" cy="2207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6" idx="2"/>
            <a:endCxn id="32" idx="0"/>
          </p:cNvCxnSpPr>
          <p:nvPr/>
        </p:nvCxnSpPr>
        <p:spPr>
          <a:xfrm>
            <a:off x="6402034" y="1205519"/>
            <a:ext cx="0" cy="3155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Fluxograma: Entrada Manual 31"/>
          <p:cNvSpPr/>
          <p:nvPr/>
        </p:nvSpPr>
        <p:spPr>
          <a:xfrm>
            <a:off x="5807968" y="1480650"/>
            <a:ext cx="1188132" cy="404581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parcelar</a:t>
            </a:r>
          </a:p>
        </p:txBody>
      </p:sp>
      <p:sp>
        <p:nvSpPr>
          <p:cNvPr id="35" name="Fluxograma: Decisão 34"/>
          <p:cNvSpPr/>
          <p:nvPr/>
        </p:nvSpPr>
        <p:spPr>
          <a:xfrm>
            <a:off x="5087888" y="2160360"/>
            <a:ext cx="2628292" cy="76470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700" dirty="0"/>
              <a:t>É parcelado?</a:t>
            </a:r>
          </a:p>
        </p:txBody>
      </p:sp>
      <p:cxnSp>
        <p:nvCxnSpPr>
          <p:cNvPr id="37" name="Conector de Seta Reta 36"/>
          <p:cNvCxnSpPr>
            <a:stCxn id="32" idx="2"/>
            <a:endCxn id="35" idx="0"/>
          </p:cNvCxnSpPr>
          <p:nvPr/>
        </p:nvCxnSpPr>
        <p:spPr>
          <a:xfrm>
            <a:off x="6402034" y="1885230"/>
            <a:ext cx="0" cy="2751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Fluxograma: Exibir 37"/>
          <p:cNvSpPr/>
          <p:nvPr/>
        </p:nvSpPr>
        <p:spPr>
          <a:xfrm>
            <a:off x="2927648" y="4797152"/>
            <a:ext cx="1584176" cy="576064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Preço total</a:t>
            </a:r>
          </a:p>
        </p:txBody>
      </p:sp>
      <p:sp>
        <p:nvSpPr>
          <p:cNvPr id="39" name="Fluxograma: Exibir 38"/>
          <p:cNvSpPr/>
          <p:nvPr/>
        </p:nvSpPr>
        <p:spPr>
          <a:xfrm>
            <a:off x="7887199" y="4703083"/>
            <a:ext cx="1584176" cy="576064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Preço Parcela</a:t>
            </a:r>
          </a:p>
        </p:txBody>
      </p:sp>
      <p:cxnSp>
        <p:nvCxnSpPr>
          <p:cNvPr id="41" name="Conector Angulado 40"/>
          <p:cNvCxnSpPr>
            <a:stCxn id="35" idx="1"/>
            <a:endCxn id="38" idx="0"/>
          </p:cNvCxnSpPr>
          <p:nvPr/>
        </p:nvCxnSpPr>
        <p:spPr>
          <a:xfrm rot="10800000" flipV="1">
            <a:off x="3719736" y="2542712"/>
            <a:ext cx="1368152" cy="225444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Fluxograma: Entrada Manual 41"/>
          <p:cNvSpPr/>
          <p:nvPr/>
        </p:nvSpPr>
        <p:spPr>
          <a:xfrm>
            <a:off x="7824192" y="2925065"/>
            <a:ext cx="1710190" cy="597533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Quantidade parcelas</a:t>
            </a:r>
          </a:p>
        </p:txBody>
      </p:sp>
      <p:cxnSp>
        <p:nvCxnSpPr>
          <p:cNvPr id="44" name="Conector Angulado 43"/>
          <p:cNvCxnSpPr>
            <a:stCxn id="35" idx="3"/>
            <a:endCxn id="42" idx="0"/>
          </p:cNvCxnSpPr>
          <p:nvPr/>
        </p:nvCxnSpPr>
        <p:spPr>
          <a:xfrm>
            <a:off x="7716181" y="2542713"/>
            <a:ext cx="963107" cy="44210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CaixaDeTexto 44"/>
          <p:cNvSpPr txBox="1"/>
          <p:nvPr/>
        </p:nvSpPr>
        <p:spPr>
          <a:xfrm>
            <a:off x="3678448" y="219810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47" name="CaixaDeTexto 46"/>
          <p:cNvSpPr txBox="1"/>
          <p:nvPr/>
        </p:nvSpPr>
        <p:spPr>
          <a:xfrm>
            <a:off x="7919521" y="2198100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Sim</a:t>
            </a:r>
          </a:p>
        </p:txBody>
      </p:sp>
      <p:sp>
        <p:nvSpPr>
          <p:cNvPr id="48" name="Fluxograma: Processo 47"/>
          <p:cNvSpPr/>
          <p:nvPr/>
        </p:nvSpPr>
        <p:spPr>
          <a:xfrm>
            <a:off x="7743184" y="3928066"/>
            <a:ext cx="1881209" cy="50405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Calcula preço da parcela</a:t>
            </a:r>
          </a:p>
        </p:txBody>
      </p:sp>
      <p:cxnSp>
        <p:nvCxnSpPr>
          <p:cNvPr id="50" name="Conector de Seta Reta 49"/>
          <p:cNvCxnSpPr>
            <a:stCxn id="42" idx="2"/>
            <a:endCxn id="48" idx="0"/>
          </p:cNvCxnSpPr>
          <p:nvPr/>
        </p:nvCxnSpPr>
        <p:spPr>
          <a:xfrm>
            <a:off x="8679288" y="3522598"/>
            <a:ext cx="4501" cy="4054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>
            <a:stCxn id="48" idx="2"/>
            <a:endCxn id="39" idx="0"/>
          </p:cNvCxnSpPr>
          <p:nvPr/>
        </p:nvCxnSpPr>
        <p:spPr>
          <a:xfrm flipH="1">
            <a:off x="8679288" y="4432123"/>
            <a:ext cx="4501" cy="2709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Fluxograma: Terminação 53"/>
          <p:cNvSpPr/>
          <p:nvPr/>
        </p:nvSpPr>
        <p:spPr>
          <a:xfrm>
            <a:off x="5449896" y="6309320"/>
            <a:ext cx="1728192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Fim</a:t>
            </a:r>
          </a:p>
        </p:txBody>
      </p:sp>
      <p:cxnSp>
        <p:nvCxnSpPr>
          <p:cNvPr id="56" name="Conector Angulado 55"/>
          <p:cNvCxnSpPr>
            <a:stCxn id="38" idx="2"/>
            <a:endCxn id="54" idx="0"/>
          </p:cNvCxnSpPr>
          <p:nvPr/>
        </p:nvCxnSpPr>
        <p:spPr>
          <a:xfrm rot="16200000" flipH="1">
            <a:off x="4548812" y="4544140"/>
            <a:ext cx="936104" cy="259425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Conector Angulado 57"/>
          <p:cNvCxnSpPr>
            <a:stCxn id="39" idx="2"/>
            <a:endCxn id="54" idx="0"/>
          </p:cNvCxnSpPr>
          <p:nvPr/>
        </p:nvCxnSpPr>
        <p:spPr>
          <a:xfrm rot="5400000">
            <a:off x="6981555" y="4611587"/>
            <a:ext cx="1030173" cy="2365295"/>
          </a:xfrm>
          <a:prstGeom prst="bentConnector3">
            <a:avLst>
              <a:gd name="adj1" fmla="val 5429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29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32" grpId="0" animBg="1"/>
      <p:bldP spid="35" grpId="0" animBg="1"/>
      <p:bldP spid="38" grpId="0" animBg="1"/>
      <p:bldP spid="39" grpId="0" animBg="1"/>
      <p:bldP spid="42" grpId="0" animBg="1"/>
      <p:bldP spid="45" grpId="0"/>
      <p:bldP spid="47" grpId="0"/>
      <p:bldP spid="48" grpId="0" animBg="1"/>
      <p:bldP spid="5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 – Praticando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Também podemos ter um uma estrutura de repetição.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Uma </a:t>
            </a:r>
            <a:r>
              <a:rPr lang="pt-BR" sz="2000" u="sng" dirty="0"/>
              <a:t>estrutura de repetição</a:t>
            </a:r>
            <a:r>
              <a:rPr lang="pt-BR" sz="2000" dirty="0"/>
              <a:t> é definido por uma </a:t>
            </a:r>
            <a:r>
              <a:rPr lang="pt-BR" sz="2000" u="sng" dirty="0"/>
              <a:t>estrutura de decisão</a:t>
            </a:r>
            <a:r>
              <a:rPr lang="pt-BR" sz="2000" dirty="0"/>
              <a:t>  que dependendo da reposta volta para um momento mais antigo do código:</a:t>
            </a:r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628021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 – Praticando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 algn="just">
              <a:buNone/>
            </a:pPr>
            <a:r>
              <a:rPr lang="pt-BR" sz="2000" dirty="0"/>
              <a:t>Exemplo:</a:t>
            </a:r>
          </a:p>
          <a:p>
            <a:pPr algn="just"/>
            <a:endParaRPr lang="pt-BR" sz="2000" dirty="0"/>
          </a:p>
        </p:txBody>
      </p:sp>
      <p:sp>
        <p:nvSpPr>
          <p:cNvPr id="4" name="Fluxograma: Terminação 3"/>
          <p:cNvSpPr/>
          <p:nvPr/>
        </p:nvSpPr>
        <p:spPr>
          <a:xfrm>
            <a:off x="5285910" y="2043424"/>
            <a:ext cx="1728192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Início</a:t>
            </a:r>
          </a:p>
        </p:txBody>
      </p:sp>
      <p:sp>
        <p:nvSpPr>
          <p:cNvPr id="5" name="Fluxograma: Entrada Manual 4"/>
          <p:cNvSpPr/>
          <p:nvPr/>
        </p:nvSpPr>
        <p:spPr>
          <a:xfrm>
            <a:off x="5375920" y="3009516"/>
            <a:ext cx="1548172" cy="573397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resposta</a:t>
            </a:r>
          </a:p>
        </p:txBody>
      </p:sp>
      <p:cxnSp>
        <p:nvCxnSpPr>
          <p:cNvPr id="6" name="Conector de Seta Reta 5"/>
          <p:cNvCxnSpPr>
            <a:stCxn id="4" idx="2"/>
            <a:endCxn id="5" idx="0"/>
          </p:cNvCxnSpPr>
          <p:nvPr/>
        </p:nvCxnSpPr>
        <p:spPr>
          <a:xfrm>
            <a:off x="6150006" y="2475473"/>
            <a:ext cx="0" cy="5913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Fluxograma: Decisão 6"/>
          <p:cNvSpPr/>
          <p:nvPr/>
        </p:nvSpPr>
        <p:spPr>
          <a:xfrm>
            <a:off x="5087888" y="3847725"/>
            <a:ext cx="2124236" cy="76470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700" dirty="0"/>
              <a:t>Resposta correta?</a:t>
            </a:r>
          </a:p>
        </p:txBody>
      </p:sp>
      <p:cxnSp>
        <p:nvCxnSpPr>
          <p:cNvPr id="8" name="Conector de Seta Reta 7"/>
          <p:cNvCxnSpPr>
            <a:stCxn id="5" idx="2"/>
            <a:endCxn id="7" idx="0"/>
          </p:cNvCxnSpPr>
          <p:nvPr/>
        </p:nvCxnSpPr>
        <p:spPr>
          <a:xfrm>
            <a:off x="6150006" y="3582913"/>
            <a:ext cx="0" cy="2648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Fluxograma: Exibir 8"/>
          <p:cNvSpPr/>
          <p:nvPr/>
        </p:nvSpPr>
        <p:spPr>
          <a:xfrm>
            <a:off x="7968328" y="3972855"/>
            <a:ext cx="1946702" cy="514445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Tente de novo</a:t>
            </a:r>
          </a:p>
        </p:txBody>
      </p:sp>
      <p:sp>
        <p:nvSpPr>
          <p:cNvPr id="11" name="Fluxograma: Terminação 10"/>
          <p:cNvSpPr/>
          <p:nvPr/>
        </p:nvSpPr>
        <p:spPr>
          <a:xfrm>
            <a:off x="5290255" y="6093296"/>
            <a:ext cx="1728192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Fim</a:t>
            </a:r>
          </a:p>
        </p:txBody>
      </p:sp>
      <p:sp>
        <p:nvSpPr>
          <p:cNvPr id="21" name="Fluxograma: Exibir 20"/>
          <p:cNvSpPr/>
          <p:nvPr/>
        </p:nvSpPr>
        <p:spPr>
          <a:xfrm>
            <a:off x="4668670" y="5115057"/>
            <a:ext cx="2962672" cy="688211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Parabéns! Resposta Correta</a:t>
            </a:r>
          </a:p>
        </p:txBody>
      </p:sp>
      <p:cxnSp>
        <p:nvCxnSpPr>
          <p:cNvPr id="23" name="Conector de Seta Reta 22"/>
          <p:cNvCxnSpPr>
            <a:stCxn id="7" idx="2"/>
            <a:endCxn id="21" idx="0"/>
          </p:cNvCxnSpPr>
          <p:nvPr/>
        </p:nvCxnSpPr>
        <p:spPr>
          <a:xfrm>
            <a:off x="6150006" y="4612430"/>
            <a:ext cx="0" cy="5026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stCxn id="21" idx="2"/>
            <a:endCxn id="11" idx="0"/>
          </p:cNvCxnSpPr>
          <p:nvPr/>
        </p:nvCxnSpPr>
        <p:spPr>
          <a:xfrm>
            <a:off x="6150007" y="5803268"/>
            <a:ext cx="4345" cy="2900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5578481" y="4643787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Sim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212124" y="3885969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Não</a:t>
            </a:r>
          </a:p>
        </p:txBody>
      </p:sp>
      <p:cxnSp>
        <p:nvCxnSpPr>
          <p:cNvPr id="35" name="Conector de Seta Reta 34"/>
          <p:cNvCxnSpPr>
            <a:stCxn id="7" idx="3"/>
            <a:endCxn id="9" idx="1"/>
          </p:cNvCxnSpPr>
          <p:nvPr/>
        </p:nvCxnSpPr>
        <p:spPr>
          <a:xfrm>
            <a:off x="7212124" y="4230077"/>
            <a:ext cx="7562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Conector Angulado 37"/>
          <p:cNvCxnSpPr>
            <a:stCxn id="9" idx="0"/>
            <a:endCxn id="5" idx="0"/>
          </p:cNvCxnSpPr>
          <p:nvPr/>
        </p:nvCxnSpPr>
        <p:spPr>
          <a:xfrm rot="16200000" flipV="1">
            <a:off x="7092845" y="2124019"/>
            <a:ext cx="905999" cy="2791673"/>
          </a:xfrm>
          <a:prstGeom prst="bentConnector3">
            <a:avLst>
              <a:gd name="adj1" fmla="val 131561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65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11" grpId="0" animBg="1"/>
      <p:bldP spid="21" grpId="0" animBg="1"/>
      <p:bldP spid="32" grpId="0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 – Praticando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Na atividade anterior (pagamento parcela) ao final do algoritmo peça para o algoritmo checar se o usuário quer confirmar o pagamento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Caso queira, finaliza.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Caso não queira volta para checar se ele quer ou não parcelar. </a:t>
            </a:r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437493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</a:t>
            </a:r>
          </a:p>
        </p:txBody>
      </p:sp>
      <p:sp>
        <p:nvSpPr>
          <p:cNvPr id="5" name="Fluxograma: Terminação 4"/>
          <p:cNvSpPr/>
          <p:nvPr/>
        </p:nvSpPr>
        <p:spPr>
          <a:xfrm>
            <a:off x="4241794" y="188640"/>
            <a:ext cx="1728192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Início</a:t>
            </a:r>
          </a:p>
        </p:txBody>
      </p:sp>
      <p:sp>
        <p:nvSpPr>
          <p:cNvPr id="6" name="Fluxograma: Entrada Manual 5"/>
          <p:cNvSpPr/>
          <p:nvPr/>
        </p:nvSpPr>
        <p:spPr>
          <a:xfrm>
            <a:off x="4511824" y="728931"/>
            <a:ext cx="1188132" cy="404581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preço</a:t>
            </a:r>
          </a:p>
        </p:txBody>
      </p:sp>
      <p:cxnSp>
        <p:nvCxnSpPr>
          <p:cNvPr id="7" name="Conector de Seta Reta 6"/>
          <p:cNvCxnSpPr>
            <a:stCxn id="5" idx="2"/>
            <a:endCxn id="6" idx="0"/>
          </p:cNvCxnSpPr>
          <p:nvPr/>
        </p:nvCxnSpPr>
        <p:spPr>
          <a:xfrm>
            <a:off x="5105890" y="620688"/>
            <a:ext cx="0" cy="2207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6" idx="2"/>
            <a:endCxn id="32" idx="0"/>
          </p:cNvCxnSpPr>
          <p:nvPr/>
        </p:nvCxnSpPr>
        <p:spPr>
          <a:xfrm>
            <a:off x="5105890" y="1133511"/>
            <a:ext cx="0" cy="3155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Fluxograma: Entrada Manual 31"/>
          <p:cNvSpPr/>
          <p:nvPr/>
        </p:nvSpPr>
        <p:spPr>
          <a:xfrm>
            <a:off x="4511824" y="1408642"/>
            <a:ext cx="1188132" cy="404581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parcelar</a:t>
            </a:r>
          </a:p>
        </p:txBody>
      </p:sp>
      <p:sp>
        <p:nvSpPr>
          <p:cNvPr id="35" name="Fluxograma: Decisão 34"/>
          <p:cNvSpPr/>
          <p:nvPr/>
        </p:nvSpPr>
        <p:spPr>
          <a:xfrm>
            <a:off x="3791744" y="2016344"/>
            <a:ext cx="2628292" cy="76470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700" dirty="0"/>
              <a:t>É parcelado?</a:t>
            </a:r>
          </a:p>
        </p:txBody>
      </p:sp>
      <p:cxnSp>
        <p:nvCxnSpPr>
          <p:cNvPr id="37" name="Conector de Seta Reta 36"/>
          <p:cNvCxnSpPr>
            <a:stCxn id="32" idx="2"/>
            <a:endCxn id="35" idx="0"/>
          </p:cNvCxnSpPr>
          <p:nvPr/>
        </p:nvCxnSpPr>
        <p:spPr>
          <a:xfrm>
            <a:off x="5105890" y="1813222"/>
            <a:ext cx="0" cy="2031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Fluxograma: Exibir 37"/>
          <p:cNvSpPr/>
          <p:nvPr/>
        </p:nvSpPr>
        <p:spPr>
          <a:xfrm>
            <a:off x="1631504" y="4293096"/>
            <a:ext cx="1584176" cy="576064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Preço total</a:t>
            </a:r>
          </a:p>
        </p:txBody>
      </p:sp>
      <p:sp>
        <p:nvSpPr>
          <p:cNvPr id="39" name="Fluxograma: Exibir 38"/>
          <p:cNvSpPr/>
          <p:nvPr/>
        </p:nvSpPr>
        <p:spPr>
          <a:xfrm>
            <a:off x="6591055" y="4342923"/>
            <a:ext cx="1584176" cy="576064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Preço Parcela</a:t>
            </a:r>
          </a:p>
        </p:txBody>
      </p:sp>
      <p:cxnSp>
        <p:nvCxnSpPr>
          <p:cNvPr id="41" name="Conector Angulado 40"/>
          <p:cNvCxnSpPr>
            <a:stCxn id="35" idx="1"/>
            <a:endCxn id="38" idx="0"/>
          </p:cNvCxnSpPr>
          <p:nvPr/>
        </p:nvCxnSpPr>
        <p:spPr>
          <a:xfrm rot="10800000" flipV="1">
            <a:off x="2423592" y="2398696"/>
            <a:ext cx="1368152" cy="189440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Fluxograma: Entrada Manual 41"/>
          <p:cNvSpPr/>
          <p:nvPr/>
        </p:nvSpPr>
        <p:spPr>
          <a:xfrm>
            <a:off x="6528048" y="2564905"/>
            <a:ext cx="1710190" cy="597533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Quantidade parcelas</a:t>
            </a:r>
          </a:p>
        </p:txBody>
      </p:sp>
      <p:cxnSp>
        <p:nvCxnSpPr>
          <p:cNvPr id="44" name="Conector Angulado 43"/>
          <p:cNvCxnSpPr>
            <a:stCxn id="35" idx="3"/>
            <a:endCxn id="42" idx="0"/>
          </p:cNvCxnSpPr>
          <p:nvPr/>
        </p:nvCxnSpPr>
        <p:spPr>
          <a:xfrm>
            <a:off x="6420037" y="2398697"/>
            <a:ext cx="963107" cy="22596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CaixaDeTexto 44"/>
          <p:cNvSpPr txBox="1"/>
          <p:nvPr/>
        </p:nvSpPr>
        <p:spPr>
          <a:xfrm>
            <a:off x="2382304" y="2054084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47" name="CaixaDeTexto 46"/>
          <p:cNvSpPr txBox="1"/>
          <p:nvPr/>
        </p:nvSpPr>
        <p:spPr>
          <a:xfrm>
            <a:off x="6623377" y="2054084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Sim</a:t>
            </a:r>
          </a:p>
        </p:txBody>
      </p:sp>
      <p:sp>
        <p:nvSpPr>
          <p:cNvPr id="48" name="Fluxograma: Processo 47"/>
          <p:cNvSpPr/>
          <p:nvPr/>
        </p:nvSpPr>
        <p:spPr>
          <a:xfrm>
            <a:off x="6447040" y="3567906"/>
            <a:ext cx="1881209" cy="50405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Calcula preço da parcela</a:t>
            </a:r>
          </a:p>
        </p:txBody>
      </p:sp>
      <p:cxnSp>
        <p:nvCxnSpPr>
          <p:cNvPr id="50" name="Conector de Seta Reta 49"/>
          <p:cNvCxnSpPr>
            <a:stCxn id="42" idx="2"/>
            <a:endCxn id="48" idx="0"/>
          </p:cNvCxnSpPr>
          <p:nvPr/>
        </p:nvCxnSpPr>
        <p:spPr>
          <a:xfrm>
            <a:off x="7383144" y="3162438"/>
            <a:ext cx="4501" cy="4054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>
            <a:stCxn id="48" idx="2"/>
            <a:endCxn id="39" idx="0"/>
          </p:cNvCxnSpPr>
          <p:nvPr/>
        </p:nvCxnSpPr>
        <p:spPr>
          <a:xfrm flipH="1">
            <a:off x="7383144" y="4071963"/>
            <a:ext cx="4501" cy="2709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Fluxograma: Terminação 53"/>
          <p:cNvSpPr/>
          <p:nvPr/>
        </p:nvSpPr>
        <p:spPr>
          <a:xfrm>
            <a:off x="4153752" y="6237312"/>
            <a:ext cx="1728192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Fim</a:t>
            </a:r>
          </a:p>
        </p:txBody>
      </p:sp>
      <p:cxnSp>
        <p:nvCxnSpPr>
          <p:cNvPr id="56" name="Conector Angulado 55"/>
          <p:cNvCxnSpPr>
            <a:stCxn id="38" idx="2"/>
            <a:endCxn id="54" idx="0"/>
          </p:cNvCxnSpPr>
          <p:nvPr/>
        </p:nvCxnSpPr>
        <p:spPr>
          <a:xfrm rot="16200000" flipH="1">
            <a:off x="3036644" y="4256108"/>
            <a:ext cx="1368152" cy="259425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Conector Angulado 57"/>
          <p:cNvCxnSpPr>
            <a:stCxn id="39" idx="2"/>
            <a:endCxn id="54" idx="0"/>
          </p:cNvCxnSpPr>
          <p:nvPr/>
        </p:nvCxnSpPr>
        <p:spPr>
          <a:xfrm rot="5400000">
            <a:off x="5541335" y="4395503"/>
            <a:ext cx="1318325" cy="2365295"/>
          </a:xfrm>
          <a:prstGeom prst="bentConnector3">
            <a:avLst>
              <a:gd name="adj1" fmla="val 47763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Fluxograma: Entrada Manual 28"/>
          <p:cNvSpPr/>
          <p:nvPr/>
        </p:nvSpPr>
        <p:spPr>
          <a:xfrm>
            <a:off x="4175670" y="5353785"/>
            <a:ext cx="1710190" cy="332656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Confirmação</a:t>
            </a:r>
          </a:p>
        </p:txBody>
      </p:sp>
      <p:cxnSp>
        <p:nvCxnSpPr>
          <p:cNvPr id="14" name="Conector Angulado 13"/>
          <p:cNvCxnSpPr>
            <a:stCxn id="38" idx="2"/>
            <a:endCxn id="29" idx="0"/>
          </p:cNvCxnSpPr>
          <p:nvPr/>
        </p:nvCxnSpPr>
        <p:spPr>
          <a:xfrm rot="16200000" flipH="1">
            <a:off x="3468234" y="3824519"/>
            <a:ext cx="517891" cy="2607173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ector Angulado 15"/>
          <p:cNvCxnSpPr>
            <a:stCxn id="39" idx="2"/>
            <a:endCxn id="29" idx="0"/>
          </p:cNvCxnSpPr>
          <p:nvPr/>
        </p:nvCxnSpPr>
        <p:spPr>
          <a:xfrm rot="5400000">
            <a:off x="5972922" y="3976830"/>
            <a:ext cx="468064" cy="2352378"/>
          </a:xfrm>
          <a:prstGeom prst="bentConnector3">
            <a:avLst>
              <a:gd name="adj1" fmla="val 4369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Fluxograma: Decisão 35"/>
          <p:cNvSpPr/>
          <p:nvPr/>
        </p:nvSpPr>
        <p:spPr>
          <a:xfrm>
            <a:off x="7551317" y="5128104"/>
            <a:ext cx="2628292" cy="76470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700" dirty="0"/>
              <a:t>Finalizar?</a:t>
            </a:r>
          </a:p>
        </p:txBody>
      </p:sp>
      <p:cxnSp>
        <p:nvCxnSpPr>
          <p:cNvPr id="19" name="Conector de Seta Reta 18"/>
          <p:cNvCxnSpPr>
            <a:stCxn id="29" idx="3"/>
            <a:endCxn id="36" idx="1"/>
          </p:cNvCxnSpPr>
          <p:nvPr/>
        </p:nvCxnSpPr>
        <p:spPr>
          <a:xfrm flipV="1">
            <a:off x="5885861" y="5510457"/>
            <a:ext cx="1665457" cy="96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ector Angulado 21"/>
          <p:cNvCxnSpPr>
            <a:stCxn id="36" idx="2"/>
            <a:endCxn id="54" idx="0"/>
          </p:cNvCxnSpPr>
          <p:nvPr/>
        </p:nvCxnSpPr>
        <p:spPr>
          <a:xfrm rot="5400000">
            <a:off x="6769404" y="4141254"/>
            <a:ext cx="344504" cy="3847615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7092211" y="6094272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Sim</a:t>
            </a:r>
          </a:p>
        </p:txBody>
      </p:sp>
      <p:cxnSp>
        <p:nvCxnSpPr>
          <p:cNvPr id="25" name="Conector Angulado 24"/>
          <p:cNvCxnSpPr>
            <a:stCxn id="36" idx="0"/>
            <a:endCxn id="32" idx="0"/>
          </p:cNvCxnSpPr>
          <p:nvPr/>
        </p:nvCxnSpPr>
        <p:spPr>
          <a:xfrm rot="16200000" flipV="1">
            <a:off x="5146176" y="1408816"/>
            <a:ext cx="3679005" cy="3759573"/>
          </a:xfrm>
          <a:prstGeom prst="bentConnector3">
            <a:avLst>
              <a:gd name="adj1" fmla="val 10450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9072173" y="4581128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Não</a:t>
            </a:r>
          </a:p>
        </p:txBody>
      </p:sp>
    </p:spTree>
    <p:extLst>
      <p:ext uri="{BB962C8B-B14F-4D97-AF65-F5344CB8AC3E}">
        <p14:creationId xmlns:p14="http://schemas.microsoft.com/office/powerpoint/2010/main" val="46871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6" grpId="0" animBg="1"/>
      <p:bldP spid="23" grpId="0"/>
      <p:bldP spid="2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 – Praticando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Então um algoritmo na visão de software, podemos:</a:t>
            </a:r>
          </a:p>
          <a:p>
            <a:pPr lvl="1" algn="just"/>
            <a:r>
              <a:rPr lang="pt-BR" sz="1800" dirty="0"/>
              <a:t>Buscar valores</a:t>
            </a:r>
          </a:p>
          <a:p>
            <a:pPr lvl="1" algn="just"/>
            <a:r>
              <a:rPr lang="pt-BR" sz="1800" dirty="0"/>
              <a:t>Definir uma Estrutura Linear ou com mais uma direção</a:t>
            </a:r>
          </a:p>
          <a:p>
            <a:pPr lvl="1" algn="just"/>
            <a:r>
              <a:rPr lang="pt-BR" sz="1800" dirty="0"/>
              <a:t>Exibir valores</a:t>
            </a:r>
          </a:p>
          <a:p>
            <a:pPr lvl="1" algn="just"/>
            <a:r>
              <a:rPr lang="pt-BR" sz="1800" dirty="0"/>
              <a:t>Realização alguma operação (Como operações matemáticas)</a:t>
            </a:r>
          </a:p>
          <a:p>
            <a:pPr lvl="1" algn="just"/>
            <a:r>
              <a:rPr lang="pt-BR" sz="1800" dirty="0"/>
              <a:t>Usar Estruturas de Decisão e Repetição</a:t>
            </a:r>
          </a:p>
          <a:p>
            <a:pPr lvl="1" algn="just"/>
            <a:endParaRPr lang="pt-BR" sz="1800" dirty="0"/>
          </a:p>
          <a:p>
            <a:pPr algn="just"/>
            <a:r>
              <a:rPr lang="pt-BR" sz="2000" dirty="0"/>
              <a:t>Tudo isso usaremos quando formos criar o algoritmo de um programa.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502332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 – Praticando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que é uma estrutura de decisão?</a:t>
            </a:r>
          </a:p>
          <a:p>
            <a:pPr lvl="1" algn="just"/>
            <a:r>
              <a:rPr lang="pt-BR" sz="1800" dirty="0"/>
              <a:t>É uma estrutura que dependendo de uma condição irá executar passos X ou Y.</a:t>
            </a:r>
          </a:p>
          <a:p>
            <a:pPr lvl="1" algn="just"/>
            <a:endParaRPr lang="pt-BR" sz="1800" dirty="0"/>
          </a:p>
          <a:p>
            <a:pPr algn="just"/>
            <a:r>
              <a:rPr lang="pt-BR" sz="2000" dirty="0"/>
              <a:t>O que é uma estrutura de repetição?</a:t>
            </a:r>
          </a:p>
          <a:p>
            <a:pPr lvl="1" algn="just"/>
            <a:r>
              <a:rPr lang="pt-BR" sz="1800" dirty="0"/>
              <a:t>É uma estrutura que dependendo de uma condição poderá ficar repetindo alguns passos.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57305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0" ma:contentTypeDescription="Crie um novo documento." ma:contentTypeScope="" ma:versionID="8d2370ab5a92c900c9496cf828b71e6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74c6ccb71ee63fbc30cff3237551ec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36688D4-18AE-4B79-8EB5-CFC6F4DA3B37}"/>
</file>

<file path=customXml/itemProps2.xml><?xml version="1.0" encoding="utf-8"?>
<ds:datastoreItem xmlns:ds="http://schemas.openxmlformats.org/officeDocument/2006/customXml" ds:itemID="{39CC4205-E78C-4950-A91F-D0A4DA6B556C}"/>
</file>

<file path=customXml/itemProps3.xml><?xml version="1.0" encoding="utf-8"?>
<ds:datastoreItem xmlns:ds="http://schemas.openxmlformats.org/officeDocument/2006/customXml" ds:itemID="{B803126E-CBBB-4047-B9D7-A042A7976BC2}"/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1765</TotalTime>
  <Words>693</Words>
  <Application>Microsoft Office PowerPoint</Application>
  <PresentationFormat>Widescreen</PresentationFormat>
  <Paragraphs>173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Calibri</vt:lpstr>
      <vt:lpstr>Georgia</vt:lpstr>
      <vt:lpstr>Trebuchet MS</vt:lpstr>
      <vt:lpstr>Wingdings 2</vt:lpstr>
      <vt:lpstr>Urbano</vt:lpstr>
      <vt:lpstr>Laboratório de Programação I Fluxograma</vt:lpstr>
      <vt:lpstr>Fluxograma</vt:lpstr>
      <vt:lpstr>Fluxograma</vt:lpstr>
      <vt:lpstr>Fluxograma</vt:lpstr>
      <vt:lpstr>Fluxograma - Terminações</vt:lpstr>
      <vt:lpstr>Fluxograma – Recebendo dados</vt:lpstr>
      <vt:lpstr>Estrutura de Decisão</vt:lpstr>
      <vt:lpstr>Fluxograma – Informando </vt:lpstr>
      <vt:lpstr>Fluxograma – Praticando </vt:lpstr>
      <vt:lpstr>Resultado</vt:lpstr>
      <vt:lpstr>Fluxograma </vt:lpstr>
      <vt:lpstr>Fluxograma – Praticando </vt:lpstr>
      <vt:lpstr>Resultado</vt:lpstr>
      <vt:lpstr>Fluxograma – Praticando </vt:lpstr>
      <vt:lpstr>Fluxograma – Praticando </vt:lpstr>
      <vt:lpstr>Fluxograma – Praticando </vt:lpstr>
      <vt:lpstr>Resultado</vt:lpstr>
      <vt:lpstr>Fluxograma – Praticando </vt:lpstr>
      <vt:lpstr>Fluxograma – Praticando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176</cp:revision>
  <dcterms:created xsi:type="dcterms:W3CDTF">2017-03-10T13:05:03Z</dcterms:created>
  <dcterms:modified xsi:type="dcterms:W3CDTF">2024-12-05T12:41:00Z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